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a62fb840884be2" /><Relationship Type="http://schemas.openxmlformats.org/officeDocument/2006/relationships/extended-properties" Target="/docProps/app.xml" Id="Ra71ff4aa18804c4c" /><Relationship Type="http://schemas.openxmlformats.org/officeDocument/2006/relationships/officeDocument" Target="/ppt/presentation.xml" Id="R4623574dc6a14f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661d2d91de4b44"/>
  </p:sldMasterIdLst>
  <p:notesMasterIdLst>
    <p:notesMasterId xmlns:r="http://schemas.openxmlformats.org/officeDocument/2006/relationships" r:id="Rce4c529e7f754bb8"/>
  </p:notesMasterIdLst>
  <p:sldIdLst>
    <p:sldId xmlns:r="http://schemas.openxmlformats.org/officeDocument/2006/relationships" id="256" r:id="R1634d4c6d6f14f10"/>
    <p:sldId xmlns:r="http://schemas.openxmlformats.org/officeDocument/2006/relationships" id="257" r:id="Rcba67e35a02a4855"/>
    <p:sldId xmlns:r="http://schemas.openxmlformats.org/officeDocument/2006/relationships" id="258" r:id="R9bff4a46a71a493c"/>
    <p:sldId xmlns:r="http://schemas.openxmlformats.org/officeDocument/2006/relationships" id="259" r:id="R43e2fb8ba9824b9c"/>
    <p:sldId xmlns:r="http://schemas.openxmlformats.org/officeDocument/2006/relationships" id="260" r:id="R79790635044142e2"/>
    <p:sldId xmlns:r="http://schemas.openxmlformats.org/officeDocument/2006/relationships" id="261" r:id="Rc647c5a043f94fa8"/>
    <p:sldId xmlns:r="http://schemas.openxmlformats.org/officeDocument/2006/relationships" id="262" r:id="R4a2870aabbdd4183"/>
    <p:sldId xmlns:r="http://schemas.openxmlformats.org/officeDocument/2006/relationships" id="263" r:id="R561b0282afcc4aa1"/>
    <p:sldId xmlns:r="http://schemas.openxmlformats.org/officeDocument/2006/relationships" id="264" r:id="R79a9950a18d34224"/>
    <p:sldId xmlns:r="http://schemas.openxmlformats.org/officeDocument/2006/relationships" id="265" r:id="R3abc528711f04fb8"/>
    <p:sldId xmlns:r="http://schemas.openxmlformats.org/officeDocument/2006/relationships" id="266" r:id="Ra9ed73464d4c447c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67c08deb47424f" /><Relationship Type="http://schemas.openxmlformats.org/officeDocument/2006/relationships/slideMaster" Target="/ppt/slideMasters/slideMaster1.xml" Id="Rd2661d2d91de4b44" /><Relationship Type="http://schemas.openxmlformats.org/officeDocument/2006/relationships/notesMaster" Target="/ppt/notesMasters/notesMaster1.xml" Id="Rce4c529e7f754bb8" /><Relationship Type="http://schemas.openxmlformats.org/officeDocument/2006/relationships/presProps" Target="/ppt/presProps.xml" Id="R63ea481c3bab478c" /><Relationship Type="http://schemas.openxmlformats.org/officeDocument/2006/relationships/tableStyles" Target="/ppt/tableStyles.xml" Id="R7bd3436c58d64f38" /><Relationship Type="http://schemas.openxmlformats.org/officeDocument/2006/relationships/slide" Target="/ppt/slides/slide1.xml" Id="R1634d4c6d6f14f10" /><Relationship Type="http://schemas.openxmlformats.org/officeDocument/2006/relationships/slide" Target="/ppt/slides/slide2.xml" Id="Rcba67e35a02a4855" /><Relationship Type="http://schemas.openxmlformats.org/officeDocument/2006/relationships/slide" Target="/ppt/slides/slide3.xml" Id="R9bff4a46a71a493c" /><Relationship Type="http://schemas.openxmlformats.org/officeDocument/2006/relationships/slide" Target="/ppt/slides/slide4.xml" Id="R43e2fb8ba9824b9c" /><Relationship Type="http://schemas.openxmlformats.org/officeDocument/2006/relationships/slide" Target="/ppt/slides/slide5.xml" Id="R79790635044142e2" /><Relationship Type="http://schemas.openxmlformats.org/officeDocument/2006/relationships/slide" Target="/ppt/slides/slide6.xml" Id="Rc647c5a043f94fa8" /><Relationship Type="http://schemas.openxmlformats.org/officeDocument/2006/relationships/slide" Target="/ppt/slides/slide7.xml" Id="R4a2870aabbdd4183" /><Relationship Type="http://schemas.openxmlformats.org/officeDocument/2006/relationships/slide" Target="/ppt/slides/slide8.xml" Id="R561b0282afcc4aa1" /><Relationship Type="http://schemas.openxmlformats.org/officeDocument/2006/relationships/slide" Target="/ppt/slides/slide9.xml" Id="R79a9950a18d34224" /><Relationship Type="http://schemas.openxmlformats.org/officeDocument/2006/relationships/slide" Target="/ppt/slides/slide10.xml" Id="R3abc528711f04fb8" /><Relationship Type="http://schemas.openxmlformats.org/officeDocument/2006/relationships/slide" Target="/ppt/slides/slide11.xml" Id="Ra9ed73464d4c44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938e64cfcf44e8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efb457adb04cd7" /><Relationship Type="http://schemas.openxmlformats.org/officeDocument/2006/relationships/notesMaster" Target="/ppt/notesMasters/notesMaster1.xml" Id="Rbe1b975671b34f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cc26f4d8595483d" /><Relationship Type="http://schemas.openxmlformats.org/officeDocument/2006/relationships/notesMaster" Target="/ppt/notesMasters/notesMaster1.xml" Id="R77589d49563042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afeafe321648f5" /><Relationship Type="http://schemas.openxmlformats.org/officeDocument/2006/relationships/notesMaster" Target="/ppt/notesMasters/notesMaster1.xml" Id="R02e978517d6f41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f4838109c84aad" /><Relationship Type="http://schemas.openxmlformats.org/officeDocument/2006/relationships/notesMaster" Target="/ppt/notesMasters/notesMaster1.xml" Id="Rf0eb8fe7cc0b440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1b4df1ef324a5c" /><Relationship Type="http://schemas.openxmlformats.org/officeDocument/2006/relationships/notesMaster" Target="/ppt/notesMasters/notesMaster1.xml" Id="Ra5e44aa26aca41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401f5a993174af9" /><Relationship Type="http://schemas.openxmlformats.org/officeDocument/2006/relationships/notesMaster" Target="/ppt/notesMasters/notesMaster1.xml" Id="R18a930a850ff48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f5bb77fcbb4909" /><Relationship Type="http://schemas.openxmlformats.org/officeDocument/2006/relationships/notesMaster" Target="/ppt/notesMasters/notesMaster1.xml" Id="R60bb410085af4ae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ab7fac04b9c4e1c" /><Relationship Type="http://schemas.openxmlformats.org/officeDocument/2006/relationships/notesMaster" Target="/ppt/notesMasters/notesMaster1.xml" Id="R273a2f060683440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422df3b676456e" /><Relationship Type="http://schemas.openxmlformats.org/officeDocument/2006/relationships/notesMaster" Target="/ppt/notesMasters/notesMaster1.xml" Id="R72271382ba4148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89fdc48f75e4f90" /><Relationship Type="http://schemas.openxmlformats.org/officeDocument/2006/relationships/notesMaster" Target="/ppt/notesMasters/notesMaster1.xml" Id="R06051bb9daf048e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759a928ff854b5d" /><Relationship Type="http://schemas.openxmlformats.org/officeDocument/2006/relationships/notesMaster" Target="/ppt/notesMasters/notesMaster1.xml" Id="R241df644e8e540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MCP is the connector layer between an AI application and external tools or knowledge. The core teaching point is that the protocol standardizes access while the host still owns control.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chapters/10-financial-mcp.md</a:t>
            </a:r>
          </a:p>
          <a:p xmlns:a="http://schemas.openxmlformats.org/drawingml/2006/main">
            <a:r>
              <a:t>- https://modelcontextprotocol.io/specification/2026-07-28/architecture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Without a shared protocol, every application-to-system pair needs custom integration code. Anthropic described this fragmentation as a scalability problem when introducing MCP.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https://www.anthropic.com/news/model-context-protocol</a:t>
            </a:r>
          </a:p>
          <a:p xmlns:a="http://schemas.openxmlformats.org/drawingml/2006/main">
            <a:r>
              <a:t>- chapters/10-financial-mcp.md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Anthropic announced and open-sourced MCP on 25 November 2024 as a universal standard for connecting AI systems with data sources. The visual is a screenshot of the official announcement page.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https://www.anthropic.com/news/model-context-protocol</a:t>
            </a:r>
          </a:p>
          <a:p xmlns:a="http://schemas.openxmlformats.org/drawingml/2006/main">
            <a:r>
              <a:t>- assets/lesson-10/anthropic-mcp-launch.png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left side shows the many-to-many connector problem. The right side shows the architectural benefit: applications and servers implement one shared contract. The N + M notation is an explanatory model, not a protocol performance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https://www.anthropic.com/news/model-context-protocol</a:t>
            </a:r>
          </a:p>
          <a:p xmlns:a="http://schemas.openxmlformats.org/drawingml/2006/main">
            <a:r>
              <a:t>- https://modelcontextprotocol.io/specification/2026-07-28/architecture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current specification uses a client-host-server architecture. A host can run several client instances, and each client communicates with exactly one server. MCP 2026-07-28 is stateless: every request carries protocol version and capabilities.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https://modelcontextprotocol.io/specification/2026-07-28/architecture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MCP servers expose prompts, resources, and tools. The current specification describes prompts as user-controlled, resources as application-controlled, and tools as model-controlled. Model-controlled means the model may propose a call; host policy still decides whether execution is permitted.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https://modelcontextprotocol.io/specification/2026-07-28/server/index</a:t>
            </a:r>
          </a:p>
          <a:p xmlns:a="http://schemas.openxmlformats.org/drawingml/2006/main">
            <a:r>
              <a:t>- src/finai_academy/financial_mcp_server.py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lesson deliberately discovers and inspects capabilities before execution, even though server/discover is optional in the 2026-07-28 stateless protocol. This creates a clear teaching sequence: understand the schema, apply policy, call, validate, and record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https://modelcontextprotocol.io/specification/2026-07-28/architecture</a:t>
            </a:r>
          </a:p>
          <a:p xmlns:a="http://schemas.openxmlformats.org/drawingml/2006/main">
            <a:r>
              <a:t>- notebooks/10_financial_mcp.ipynb</a:t>
            </a:r>
          </a:p>
          <a:p xmlns:a="http://schemas.openxmlformats.org/drawingml/2006/main">
            <a:r>
              <a:t>- src/finai_academy/financial_mcp_client.py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finance example connects annual reports, internal research, and approved metrics through focused MCP servers. The course server exposes finance://coverage, get_company_metric, search_financial_documents, and compare_companies.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src/finai_academy/financial_mcp_server.py</a:t>
            </a:r>
          </a:p>
          <a:p xmlns:a="http://schemas.openxmlformats.org/drawingml/2006/main">
            <a:r>
              <a:t>- notebooks/10_financial_mcp.ipynb</a:t>
            </a:r>
          </a:p>
          <a:p xmlns:a="http://schemas.openxmlformats.org/drawingml/2006/main">
            <a:r>
              <a:t>- chapters/10-financial-mcp.md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protocol does not make a discovered server trustworthy. The host must enforce authentication, approval, allowlists, argument validation, and evidence. MCP supports local stdio and remote HTTP transports; the trust policy remains a host responsibility.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https://modelcontextprotocol.io/specification/2026-07-28/architecture</a:t>
            </a:r>
          </a:p>
          <a:p xmlns:a="http://schemas.openxmlformats.org/drawingml/2006/main">
            <a:r>
              <a:t>- https://modelcontextprotocol.io/specification/2026-07-28/basic/transports</a:t>
            </a:r>
          </a:p>
          <a:p xmlns:a="http://schemas.openxmlformats.org/drawingml/2006/main">
            <a:r>
              <a:t>- chapters/10-financial-mcp.md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check that learners can explain the integration problem, the host's responsibility, and the one-client-to-one-server relationship.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https://www.anthropic.com/news/model-context-protocol</a:t>
            </a:r>
          </a:p>
          <a:p xmlns:a="http://schemas.openxmlformats.org/drawingml/2006/main">
            <a:r>
              <a:t>- https://modelcontextprotocol.io/specification/2026-07-28/architecture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correct the quiz and transition to Lesson 11, where an agent plans across several controlled capabilities.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chapters/10-financial-mcp.md</a:t>
            </a:r>
          </a:p>
          <a:p xmlns:a="http://schemas.openxmlformats.org/drawingml/2006/main">
            <a:r>
              <a:t>- https://modelcontextprotocol.io/specification/2026-07-28/architecture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550d2a80ee48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f97b6cf201400e" /><Relationship Type="http://schemas.openxmlformats.org/officeDocument/2006/relationships/slideLayout" Target="/ppt/slideLayouts/slideLayout1.xml" Id="Rd95d00155f1e4c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5d00155f1e4c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8cd2bf3314506" /><Relationship Type="http://schemas.openxmlformats.org/officeDocument/2006/relationships/notesSlide" Target="/ppt/notesSlides/notesSlide1.xml" Id="Rc3743c4810214e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7afb6dcdcb4f90" /><Relationship Type="http://schemas.openxmlformats.org/officeDocument/2006/relationships/notesSlide" Target="/ppt/notesSlides/notesSlide2.xml" Id="R8b2847879b824b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e120eb96b4f42" /><Relationship Type="http://schemas.openxmlformats.org/officeDocument/2006/relationships/image" Target="/ppt/media/image.jpeg" Id="Rfb92e5bc55b54634" /><Relationship Type="http://schemas.openxmlformats.org/officeDocument/2006/relationships/notesSlide" Target="/ppt/notesSlides/notesSlide3.xml" Id="Ra13a9a16554444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576213e6a14666" /><Relationship Type="http://schemas.openxmlformats.org/officeDocument/2006/relationships/notesSlide" Target="/ppt/notesSlides/notesSlide4.xml" Id="R532f6f36ebbd4d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aeda0dc404201" /><Relationship Type="http://schemas.openxmlformats.org/officeDocument/2006/relationships/notesSlide" Target="/ppt/notesSlides/notesSlide5.xml" Id="R0bafeee7e10843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d6f7e68834a2c" /><Relationship Type="http://schemas.openxmlformats.org/officeDocument/2006/relationships/notesSlide" Target="/ppt/notesSlides/notesSlide6.xml" Id="R6a280f942a454e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6d5bad9d734f0c" /><Relationship Type="http://schemas.openxmlformats.org/officeDocument/2006/relationships/notesSlide" Target="/ppt/notesSlides/notesSlide7.xml" Id="R14ce7be4c66e4a7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375ca82754f27" /><Relationship Type="http://schemas.openxmlformats.org/officeDocument/2006/relationships/notesSlide" Target="/ppt/notesSlides/notesSlide8.xml" Id="R846e3f22320648d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caa27461aa4426" /><Relationship Type="http://schemas.openxmlformats.org/officeDocument/2006/relationships/notesSlide" Target="/ppt/notesSlides/notesSlide9.xml" Id="Rbc2e424948bd4f9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9f99784f894942" /><Relationship Type="http://schemas.openxmlformats.org/officeDocument/2006/relationships/notesSlide" Target="/ppt/notesSlides/notesSlide10.xml" Id="Rc55a117bb60d46e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249814856948f5" /><Relationship Type="http://schemas.openxmlformats.org/officeDocument/2006/relationships/notesSlide" Target="/ppt/notesSlides/notesSlide11.xml" Id="R73e7df350a8e4f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Connect Financial Tools with MCP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One open protocol for AI applications, tools, and financial knowledge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10  ·  10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Without MCP, every AI application needs custom integrations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COUPLING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ACEE8A9-C6EE-4C93-8000-6C57BE461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181350" y="3105150"/>
            <a:ext cx="8534400" cy="438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C8C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0EA249-C75F-4ABE-823A-37F2954A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81350" y="3543300"/>
            <a:ext cx="8534400" cy="609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C8C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7F65571-24E5-405E-9C7D-9420CF2B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81350" y="3543300"/>
            <a:ext cx="8534400" cy="1657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C8C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796D142-E54B-4538-B363-9F76F756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81350" y="3543300"/>
            <a:ext cx="853440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C8C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76D273F-531E-448D-B09F-1010E589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181350" y="3105150"/>
            <a:ext cx="8534400" cy="1771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C8C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1477782-8191-4061-A819-C831298A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181350" y="4152900"/>
            <a:ext cx="8534400" cy="723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C8C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00A5846-4DDF-43C4-80B6-9AD383ED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81350" y="4876800"/>
            <a:ext cx="853440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C8C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026B92-6F4D-43DE-90B1-236BDCE1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81350" y="4876800"/>
            <a:ext cx="8534400" cy="1371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C8C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FD12EC5-F95B-4DFB-A136-696E0B31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181350" y="3105150"/>
            <a:ext cx="8534400" cy="3105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C8C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08E877-9532-43BB-80A0-4C163949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181350" y="4152900"/>
            <a:ext cx="8534400" cy="2057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C8C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DBFA912-3D8A-4286-B447-21715802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181350" y="5200650"/>
            <a:ext cx="8534400" cy="1009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C8C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360C909-3FDA-4FAA-B330-3447A08F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81350" y="6210300"/>
            <a:ext cx="8534400" cy="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C8C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A94C715-6534-46D3-BA80-462E40FC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349C4"/>
                </a:solidFill>
              </a:defRPr>
            </a:pPr>
            <a:r>
              <a:rPr sz="1350" b="1">
                <a:solidFill>
                  <a:srgbClr val="2349C4"/>
                </a:solidFill>
              </a:rPr>
              <a:t>AI APPLICATIONS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1F91A43-C61E-425B-9A1A-028F3D02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7625" y="23336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98000"/>
                </a:solidFill>
              </a:defRPr>
            </a:pPr>
            <a:r>
              <a:rPr sz="1350" b="1">
                <a:solidFill>
                  <a:srgbClr val="F98000"/>
                </a:solidFill>
              </a:rPr>
              <a:t>FINANCIAL SYSTEMS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DB50574-624E-4809-9A6F-4BFDF061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43250"/>
            <a:ext cx="18478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02B3A"/>
          </a:solidFill>
          <a:ln xmlns:a="http://schemas.openxmlformats.org/drawingml/2006/main" w="14288">
            <a:solidFill>
              <a:srgbClr val="002B3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Analyst</a:t>
            </a:r>
          </a:p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Copilot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A7971B4-F7ED-4F21-B0F2-449192E5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76750"/>
            <a:ext cx="18478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02B3A"/>
          </a:solidFill>
          <a:ln xmlns:a="http://schemas.openxmlformats.org/drawingml/2006/main" w="14288">
            <a:solidFill>
              <a:srgbClr val="002B3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Research</a:t>
            </a:r>
          </a:p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Agent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7E8F92C-A2F3-4AA1-A9FB-C3714155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18478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02B3A"/>
          </a:solidFill>
          <a:ln xmlns:a="http://schemas.openxmlformats.org/drawingml/2006/main" w="14288">
            <a:solidFill>
              <a:srgbClr val="002B3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Planning</a:t>
            </a:r>
          </a:p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Assistant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D0F1F4A-DA21-4D6D-9ED6-0E11A910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2762250"/>
            <a:ext cx="20955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349C4"/>
          </a:solidFill>
          <a:ln xmlns:a="http://schemas.openxmlformats.org/drawingml/2006/main" w="14288">
            <a:solidFill>
              <a:srgbClr val="2349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Annual filings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E7F6BDC-0016-4D21-AE4C-C713D10F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810000"/>
            <a:ext cx="20955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6B7E8"/>
          </a:solidFill>
          <a:ln xmlns:a="http://schemas.openxmlformats.org/drawingml/2006/main" w="14288">
            <a:solidFill>
              <a:srgbClr val="16B7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Internal research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64FA3E6-86D4-4C56-B03E-5EF49A91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4857750"/>
            <a:ext cx="20955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9964"/>
          </a:solidFill>
          <a:ln xmlns:a="http://schemas.openxmlformats.org/drawingml/2006/main" w="14288">
            <a:solidFill>
              <a:srgbClr val="2E996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Metric store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5BC1EB1-8D5F-4432-9F66-061C7F286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5905500"/>
            <a:ext cx="20955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98000"/>
          </a:solidFill>
          <a:ln xmlns:a="http://schemas.openxmlformats.org/drawingml/2006/main" w="14288">
            <a:solidFill>
              <a:srgbClr val="F9800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CRM / workflow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E1E6E37-8E8F-477A-A313-1F7D654D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638550"/>
            <a:ext cx="333375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98000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D6101C9-2624-4A8D-A8A7-1FA868D9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9095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F98000"/>
                </a:solidFill>
              </a:defRPr>
            </a:pPr>
            <a:r>
              <a:rPr sz="4050" b="1">
                <a:solidFill>
                  <a:srgbClr val="F98000"/>
                </a:solidFill>
              </a:rPr>
              <a:t>3 × 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8DA8DA6-93B7-4C77-A4EE-5AFE1A49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2B3A"/>
                </a:solidFill>
              </a:defRPr>
            </a:pPr>
            <a:r>
              <a:rPr sz="1800" b="1">
                <a:solidFill>
                  <a:srgbClr val="002B3A"/>
                </a:solidFill>
              </a:rPr>
              <a:t>12 custom connectors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E9BD5F9-1D0E-417A-9CDF-A492D3AB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9530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Every new app or system adds more code to build, secure, and maintain.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5FC84D7-E4CA-41DD-AB86-C54B3036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6905625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2B3A"/>
                </a:solidFill>
              </a:defRPr>
            </a:pPr>
            <a:r>
              <a:rPr sz="1200" b="1">
                <a:solidFill>
                  <a:srgbClr val="002B3A"/>
                </a:solidFill>
              </a:rPr>
              <a:t>The integration surface grows as N × M.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ORIGIN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Anthropic introduced MCP as an open connector standard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ORIGIN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B6FAFB-D2BE-473B-BE0B-AF6CEDCA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574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98000"/>
                </a:solidFill>
              </a:defRPr>
            </a:pPr>
            <a:r>
              <a:rPr sz="3150" b="1">
                <a:solidFill>
                  <a:srgbClr val="F98000"/>
                </a:solidFill>
              </a:rPr>
              <a:t>25 NOV</a:t>
            </a:r>
          </a:p>
          <a:p xmlns:a="http://schemas.openxmlformats.org/drawingml/2006/main">
            <a:pPr algn="l">
              <a:defRPr sz="3150" b="1">
                <a:solidFill>
                  <a:srgbClr val="F98000"/>
                </a:solidFill>
              </a:defRPr>
            </a:pPr>
            <a:r>
              <a:rPr sz="3150" b="1">
                <a:solidFill>
                  <a:srgbClr val="F98000"/>
                </a:solidFill>
              </a:rPr>
              <a:t>2024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7D3281-7262-403D-A326-4D79887D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76650"/>
            <a:ext cx="4095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2B3A"/>
                </a:solidFill>
              </a:defRPr>
            </a:pPr>
            <a:r>
              <a:rPr sz="2250" b="1">
                <a:solidFill>
                  <a:srgbClr val="002B3A"/>
                </a:solidFill>
              </a:rPr>
              <a:t>Anthropic open-sourced the</a:t>
            </a:r>
          </a:p>
          <a:p xmlns:a="http://schemas.openxmlformats.org/drawingml/2006/main">
            <a:pPr algn="l">
              <a:defRPr sz="2250" b="1">
                <a:solidFill>
                  <a:srgbClr val="002B3A"/>
                </a:solidFill>
              </a:defRPr>
            </a:pPr>
            <a:r>
              <a:rPr sz="2250" b="1">
                <a:solidFill>
                  <a:srgbClr val="002B3A"/>
                </a:solidFill>
              </a:rPr>
              <a:t>Model Context Protocol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56803BC-9503-4F74-9CD7-1414E180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57750"/>
            <a:ext cx="400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8333A"/>
                </a:solidFill>
              </a:defRPr>
            </a:pPr>
            <a:r>
              <a:rPr sz="1575" b="0">
                <a:solidFill>
                  <a:srgbClr val="28333A"/>
                </a:solidFill>
              </a:rPr>
              <a:t>A universal protocol for AI applications to connect with tools and data sources.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9E10F7E-D4A3-4BC4-8FEA-BF8295EA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09600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349C4"/>
                </a:solidFill>
              </a:defRPr>
            </a:pPr>
            <a:r>
              <a:rPr sz="1350" b="1">
                <a:solidFill>
                  <a:srgbClr val="2349C4"/>
                </a:solidFill>
              </a:rPr>
              <a:t>Created at Anthropic. Built as an open ecosystem standard.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92e5bc55b5463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72125" y="2400300"/>
            <a:ext cx="8001000" cy="4500563"/>
          </a:xfrm>
          <a:prstGeom xmlns:a="http://schemas.openxmlformats.org/drawingml/2006/main" prst="roundRect">
            <a:avLst>
              <a:gd name="adj" fmla="val 2540"/>
            </a:avLst>
          </a:prstGeom>
        </p:spPr>
      </p:pic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CCAD2F-6378-412D-8F19-7F7FA5E0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69532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Official Anthropic announcement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WHY MCP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shared protocol replaces a web of custom connectors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STANDARD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6974B2-DBF6-4BC6-AD4F-0B4E00F0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33362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98000"/>
                </a:solidFill>
              </a:defRPr>
            </a:pPr>
            <a:r>
              <a:rPr sz="1500" b="1">
                <a:solidFill>
                  <a:srgbClr val="F98000"/>
                </a:solidFill>
              </a:rPr>
              <a:t>BEFORE MCP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B749CB-20F3-476E-87FB-036015237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33362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349C4"/>
                </a:solidFill>
              </a:defRPr>
            </a:pPr>
            <a:r>
              <a:rPr sz="1500" b="1">
                <a:solidFill>
                  <a:srgbClr val="2349C4"/>
                </a:solidFill>
              </a:rPr>
              <a:t>WITH MCP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84A2FC-7818-4947-9380-6FF90D6E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76500"/>
            <a:ext cx="9525" cy="447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1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4193A8-1C82-4125-A988-24998A03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71750" y="3314700"/>
            <a:ext cx="295275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3CBD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533552-2282-45CA-8D33-406F7681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71750" y="3448050"/>
            <a:ext cx="2952750" cy="866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3CBD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F9521C-9348-481A-B599-7F1B5ED21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71750" y="3448050"/>
            <a:ext cx="2952750" cy="1866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3CBD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7A261E0-9680-4C5B-BF5E-2A568C9B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71750" y="3448050"/>
            <a:ext cx="2952750" cy="286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3CBD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065971-F820-4990-9F06-59143252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71750" y="3314700"/>
            <a:ext cx="2952750" cy="13239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3CBD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15BEFA-A0CA-4164-B12C-1074E333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71750" y="4314825"/>
            <a:ext cx="295275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3CBD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7A1FCB9-6D01-49B8-B50C-3834D24A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71750" y="4638675"/>
            <a:ext cx="2952750" cy="676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3CBD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2727E3-7685-4D1B-A77F-9B6B46D8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71750" y="4638675"/>
            <a:ext cx="2952750" cy="1676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3CBD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F07C408-EF40-45C0-A366-A44357F4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71750" y="3314700"/>
            <a:ext cx="2952750" cy="2514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3CBD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D590BF8-AF6E-4788-B598-B4F2226B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71750" y="4314825"/>
            <a:ext cx="2952750" cy="1514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3CBD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A6DA70-5F2D-40AD-BC9E-1998E7A5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71750" y="5314950"/>
            <a:ext cx="2952750" cy="514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3CBD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3F62089-6C2F-4D88-A545-84885605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71750" y="5829300"/>
            <a:ext cx="2952750" cy="485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3CBD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1A9D46A-0994-4061-9C09-774A98AD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143250"/>
            <a:ext cx="1285875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02B3A"/>
          </a:solidFill>
          <a:ln xmlns:a="http://schemas.openxmlformats.org/drawingml/2006/main" w="14288">
            <a:solidFill>
              <a:srgbClr val="002B3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APP 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BF83EB5-B20A-42EC-AE70-FCC69D2B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333875"/>
            <a:ext cx="1285875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02B3A"/>
          </a:solidFill>
          <a:ln xmlns:a="http://schemas.openxmlformats.org/drawingml/2006/main" w="14288">
            <a:solidFill>
              <a:srgbClr val="002B3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APP 2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4FF832D-13C3-4410-BFC9-3C8F52440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524500"/>
            <a:ext cx="1285875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02B3A"/>
          </a:solidFill>
          <a:ln xmlns:a="http://schemas.openxmlformats.org/drawingml/2006/main" w="14288">
            <a:solidFill>
              <a:srgbClr val="002B3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APP 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13B58D2-3944-4BAA-9C2E-5054FB36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48000"/>
            <a:ext cx="1476375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2349C4"/>
          </a:solidFill>
          <a:ln xmlns:a="http://schemas.openxmlformats.org/drawingml/2006/main" w="14288">
            <a:solidFill>
              <a:srgbClr val="2349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FILINGS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E1EDCDB-99DB-4958-9525-5A1D0FB5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048125"/>
            <a:ext cx="1476375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16B7E8"/>
          </a:solidFill>
          <a:ln xmlns:a="http://schemas.openxmlformats.org/drawingml/2006/main" w="14288">
            <a:solidFill>
              <a:srgbClr val="16B7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RESEARCH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2317035-862F-4500-9F33-DC7C9260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048250"/>
            <a:ext cx="1476375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2E9964"/>
          </a:solidFill>
          <a:ln xmlns:a="http://schemas.openxmlformats.org/drawingml/2006/main" w="14288">
            <a:solidFill>
              <a:srgbClr val="2E996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METRICS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A66435-923F-4264-A25A-C235E58F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048375"/>
            <a:ext cx="1476375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98000"/>
          </a:solidFill>
          <a:ln xmlns:a="http://schemas.openxmlformats.org/drawingml/2006/main" w="14288">
            <a:solidFill>
              <a:srgbClr val="F9800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CRM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A924410-EF67-4A87-BD20-639A4FE1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6515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98000"/>
                </a:solidFill>
              </a:defRPr>
            </a:pPr>
            <a:r>
              <a:rPr sz="1650" b="1">
                <a:solidFill>
                  <a:srgbClr val="F98000"/>
                </a:solidFill>
              </a:rPr>
              <a:t>N × M custom code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C6DAA30-C4CE-40BA-941D-B0A390D8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53625" y="3448050"/>
            <a:ext cx="1190625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349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773F19E-8D2D-40EC-9B0D-CD171C87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953625" y="4476750"/>
            <a:ext cx="1190625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349C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02B7CD2-9F34-4B31-AC9C-98F7EA72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953625" y="4476750"/>
            <a:ext cx="1190625" cy="1352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349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5C097F-3A9C-4061-AA4B-167448F40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2477750" y="3314700"/>
            <a:ext cx="1238250" cy="1162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B7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FF128D3-BEC1-44D5-A0AA-7B7626E2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2477750" y="4314825"/>
            <a:ext cx="123825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B7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4CAC6AE-799B-4592-BCA7-F4ADB0A5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477750" y="4476750"/>
            <a:ext cx="1238250" cy="838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B7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D011BD6-5DB2-4881-A3BC-9E440E3C2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477750" y="4476750"/>
            <a:ext cx="1238250" cy="18383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B7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62F0478-2DBD-43FE-A71D-8FB5F9F58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43250"/>
            <a:ext cx="1285875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02B3A"/>
          </a:solidFill>
          <a:ln xmlns:a="http://schemas.openxmlformats.org/drawingml/2006/main" w="14288">
            <a:solidFill>
              <a:srgbClr val="002B3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APP 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D0335CD-4DD0-4A3B-830D-57211806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333875"/>
            <a:ext cx="1285875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02B3A"/>
          </a:solidFill>
          <a:ln xmlns:a="http://schemas.openxmlformats.org/drawingml/2006/main" w="14288">
            <a:solidFill>
              <a:srgbClr val="002B3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APP 2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C035D0E-0716-48E9-97F7-64052554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524500"/>
            <a:ext cx="1285875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02B3A"/>
          </a:solidFill>
          <a:ln xmlns:a="http://schemas.openxmlformats.org/drawingml/2006/main" w="14288">
            <a:solidFill>
              <a:srgbClr val="002B3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APP 3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E36B365-C3C4-4F5A-9380-9DF0E370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638550"/>
            <a:ext cx="1524000" cy="1676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9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F71332E-BCBD-4310-938D-79C45812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038600"/>
            <a:ext cx="11811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349C4"/>
                </a:solidFill>
              </a:defRPr>
            </a:pPr>
            <a:r>
              <a:rPr sz="2550" b="1">
                <a:solidFill>
                  <a:srgbClr val="2349C4"/>
                </a:solidFill>
              </a:rPr>
              <a:t>MCP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12866ED-B575-4327-9F5A-3DB6A873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3048000"/>
            <a:ext cx="1381125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2349C4"/>
          </a:solidFill>
          <a:ln xmlns:a="http://schemas.openxmlformats.org/drawingml/2006/main" w="14288">
            <a:solidFill>
              <a:srgbClr val="2349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FILINGS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791D4C8-C602-40DF-9465-CAC1553A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4048125"/>
            <a:ext cx="1381125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16B7E8"/>
          </a:solidFill>
          <a:ln xmlns:a="http://schemas.openxmlformats.org/drawingml/2006/main" w="14288">
            <a:solidFill>
              <a:srgbClr val="16B7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RESEARCH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06350F6-85C9-4340-BC53-73056BE0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5048250"/>
            <a:ext cx="1381125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2E9964"/>
          </a:solidFill>
          <a:ln xmlns:a="http://schemas.openxmlformats.org/drawingml/2006/main" w="14288">
            <a:solidFill>
              <a:srgbClr val="2E996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METRICS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5B718DA-F59E-42C7-A4EF-57710A38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6048375"/>
            <a:ext cx="1381125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98000"/>
          </a:solidFill>
          <a:ln xmlns:a="http://schemas.openxmlformats.org/drawingml/2006/main" w="14288">
            <a:solidFill>
              <a:srgbClr val="F9800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CRM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9205DB6-3F36-429E-8F5C-71648771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151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349C4"/>
                </a:solidFill>
              </a:defRPr>
            </a:pPr>
            <a:r>
              <a:rPr sz="1650" b="1">
                <a:solidFill>
                  <a:srgbClr val="2349C4"/>
                </a:solidFill>
              </a:rPr>
              <a:t>N + M protocol endpoints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MCP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host controls one MCP client per server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ARCH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A321F7-C4C4-4BAC-B3FE-A9D7CD9B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34375" y="3638550"/>
            <a:ext cx="22383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980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929CE2-311C-4297-8AA9-0AECA167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34375" y="4924425"/>
            <a:ext cx="22383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980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868B2F-94DE-410E-9AF1-461F98D6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34375" y="6210300"/>
            <a:ext cx="22383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9800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6DC31AB-7515-493F-BF9D-687D7E27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7620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23813">
            <a:solidFill>
              <a:srgbClr val="2349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4A0A87-72E0-4530-9F7B-F5E2B20C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349C4"/>
                </a:solidFill>
              </a:defRPr>
            </a:pPr>
            <a:r>
              <a:rPr sz="1725" b="1">
                <a:solidFill>
                  <a:srgbClr val="2349C4"/>
                </a:solidFill>
              </a:rPr>
              <a:t>HOST  /  AI APPLICATION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E79150-BB0B-42AE-B4C4-986C4BAE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718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Owns context, lifecycle, consent, policy, and the final answer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3E4777-59A3-42F3-9EBE-9E1AEC49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238500"/>
            <a:ext cx="34290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49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2B3A"/>
                </a:solidFill>
              </a:defRPr>
            </a:pPr>
            <a:r>
              <a:rPr sz="1425" b="1">
                <a:solidFill>
                  <a:srgbClr val="002B3A"/>
                </a:solidFill>
              </a:rPr>
              <a:t>MCP CLIENT 1</a:t>
            </a:r>
          </a:p>
          <a:p xmlns:a="http://schemas.openxmlformats.org/drawingml/2006/main">
            <a:pPr algn="ctr">
              <a:defRPr sz="1425" b="1">
                <a:solidFill>
                  <a:srgbClr val="002B3A"/>
                </a:solidFill>
              </a:defRPr>
            </a:pPr>
            <a:r>
              <a:rPr sz="1425" b="1">
                <a:solidFill>
                  <a:srgbClr val="002B3A"/>
                </a:solidFill>
              </a:rPr>
              <a:t>one connection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798222-0197-497E-9DDE-E530E549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524375"/>
            <a:ext cx="34290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349C4"/>
          </a:solidFill>
          <a:ln xmlns:a="http://schemas.openxmlformats.org/drawingml/2006/main" w="14288">
            <a:solidFill>
              <a:srgbClr val="2349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MCP CLIENT 2</a:t>
            </a:r>
          </a:p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one connection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D24FD5-1319-46CD-80DC-2F44FC28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810250"/>
            <a:ext cx="34290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49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2B3A"/>
                </a:solidFill>
              </a:defRPr>
            </a:pPr>
            <a:r>
              <a:rPr sz="1425" b="1">
                <a:solidFill>
                  <a:srgbClr val="002B3A"/>
                </a:solidFill>
              </a:rPr>
              <a:t>MCP CLIENT 3</a:t>
            </a:r>
          </a:p>
          <a:p xmlns:a="http://schemas.openxmlformats.org/drawingml/2006/main">
            <a:pPr algn="ctr">
              <a:defRPr sz="1425" b="1">
                <a:solidFill>
                  <a:srgbClr val="002B3A"/>
                </a:solidFill>
              </a:defRPr>
            </a:pPr>
            <a:r>
              <a:rPr sz="1425" b="1">
                <a:solidFill>
                  <a:srgbClr val="002B3A"/>
                </a:solidFill>
              </a:rPr>
              <a:t>one connection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8F90BF6-45EE-4CB7-ACCF-6EB19D18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00500"/>
            <a:ext cx="257175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02B3A"/>
          </a:solidFill>
          <a:ln xmlns:a="http://schemas.openxmlformats.org/drawingml/2006/main" w="14288">
            <a:solidFill>
              <a:srgbClr val="002B3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MODEL + USER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7E80A35-8AE5-4CE9-846B-EFCF2B9A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476875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8000"/>
                </a:solidFill>
              </a:defRPr>
            </a:pPr>
            <a:r>
              <a:rPr sz="1350" b="1">
                <a:solidFill>
                  <a:srgbClr val="F98000"/>
                </a:solidFill>
              </a:rPr>
              <a:t>policy gate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C95CB05-9875-4C1A-B9C4-6E4E75B3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238500"/>
            <a:ext cx="33337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349C4"/>
          </a:solidFill>
          <a:ln xmlns:a="http://schemas.openxmlformats.org/drawingml/2006/main" w="14288">
            <a:solidFill>
              <a:srgbClr val="2349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MCP SERVER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Annual reports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A8B554A-A141-4C72-B7CF-00507EB8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524375"/>
            <a:ext cx="33337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6B7E8"/>
          </a:solidFill>
          <a:ln xmlns:a="http://schemas.openxmlformats.org/drawingml/2006/main" w="14288">
            <a:solidFill>
              <a:srgbClr val="16B7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MCP SERVER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Internal research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F2C2C50-7649-4EC4-B4F8-496A8BA0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810250"/>
            <a:ext cx="33337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E9964"/>
          </a:solidFill>
          <a:ln xmlns:a="http://schemas.openxmlformats.org/drawingml/2006/main" w="14288">
            <a:solidFill>
              <a:srgbClr val="2E996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MCP SERVER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Metric store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FA495F-1FB9-4F27-A6C5-F0C4B166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7151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2B3A"/>
                </a:solidFill>
              </a:defRPr>
            </a:pPr>
            <a:r>
              <a:rPr sz="1350" b="1">
                <a:solidFill>
                  <a:srgbClr val="002B3A"/>
                </a:solidFill>
              </a:rPr>
              <a:t>Each client communicates with exactly one server.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THREE PRIMITIVES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Resources, tools, and prompts serve different jobs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PRIMITIVES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1391B8-DEC0-487E-9266-4D6A0BFB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28900"/>
            <a:ext cx="1428750" cy="1428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B7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9DC9091-3F28-45FF-BA0E-F6028BFC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09900"/>
            <a:ext cx="666750" cy="666750"/>
          </a:xfrm>
          <a:prstGeom xmlns:a="http://schemas.openxmlformats.org/drawingml/2006/main" prst="flowChartDocument">
            <a:avLst/>
          </a:prstGeom>
          <a:solidFill xmlns:a="http://schemas.openxmlformats.org/drawingml/2006/main">
            <a:srgbClr val="16B7E8"/>
          </a:solidFill>
          <a:ln xmlns:a="http://schemas.openxmlformats.org/drawingml/2006/main" w="0">
            <a:solidFill>
              <a:srgbClr val="16B7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9476C0-811E-4CFD-9100-C4A39AAA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72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6B7E8"/>
                </a:solidFill>
              </a:defRPr>
            </a:pPr>
            <a:r>
              <a:rPr sz="2100" b="1">
                <a:solidFill>
                  <a:srgbClr val="16B7E8"/>
                </a:solidFill>
              </a:rPr>
              <a:t>RESOURCE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CC13E56-0AC6-450B-8627-ACE61FE3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7625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2B3A"/>
                </a:solidFill>
              </a:defRPr>
            </a:pPr>
            <a:r>
              <a:rPr sz="1425" b="1">
                <a:solidFill>
                  <a:srgbClr val="002B3A"/>
                </a:solidFill>
              </a:rPr>
              <a:t>application-controlled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BA13BD-D96B-4D39-B56A-C77360C6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578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finance://coverage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4AD3BB-0429-45C2-A6B7-2B2AD8CB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28900"/>
            <a:ext cx="1428750" cy="1428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2E996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9115510-D753-42EF-912C-3761A0D5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09900"/>
            <a:ext cx="666750" cy="666750"/>
          </a:xfrm>
          <a:prstGeom xmlns:a="http://schemas.openxmlformats.org/drawingml/2006/main" prst="gear6">
            <a:avLst/>
          </a:prstGeom>
          <a:solidFill xmlns:a="http://schemas.openxmlformats.org/drawingml/2006/main">
            <a:srgbClr val="2E9964"/>
          </a:solidFill>
          <a:ln xmlns:a="http://schemas.openxmlformats.org/drawingml/2006/main" w="0">
            <a:solidFill>
              <a:srgbClr val="2E996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E2C737-8ED9-4139-B8A0-A8DD8ABA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2672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E9964"/>
                </a:solidFill>
              </a:defRPr>
            </a:pPr>
            <a:r>
              <a:rPr sz="2100" b="1">
                <a:solidFill>
                  <a:srgbClr val="2E9964"/>
                </a:solidFill>
              </a:rPr>
              <a:t>TOOL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36A07F-AB9F-4241-8CF7-B9019D2F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7625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2B3A"/>
                </a:solidFill>
              </a:defRPr>
            </a:pPr>
            <a:r>
              <a:rPr sz="1425" b="1">
                <a:solidFill>
                  <a:srgbClr val="002B3A"/>
                </a:solidFill>
              </a:rPr>
              <a:t>model-controlled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095C87-AA83-4A2D-9852-01833DA1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52578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get_company_metric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B158312-7A78-4EA6-831F-0C1BAF8F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28900"/>
            <a:ext cx="1428750" cy="1428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F9800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216AF72-CF6D-4B99-89AD-9E08E768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3009900"/>
            <a:ext cx="666750" cy="666750"/>
          </a:xfrm>
          <a:prstGeom xmlns:a="http://schemas.openxmlformats.org/drawingml/2006/main" prst="wedgeRoundRectCallout">
            <a:avLst/>
          </a:prstGeom>
          <a:solidFill xmlns:a="http://schemas.openxmlformats.org/drawingml/2006/main">
            <a:srgbClr val="F98000"/>
          </a:solidFill>
          <a:ln xmlns:a="http://schemas.openxmlformats.org/drawingml/2006/main" w="0">
            <a:solidFill>
              <a:srgbClr val="F9800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22358E0-FDBC-4F3E-9387-636EA21D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2672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98000"/>
                </a:solidFill>
              </a:defRPr>
            </a:pPr>
            <a:r>
              <a:rPr sz="2100" b="1">
                <a:solidFill>
                  <a:srgbClr val="F98000"/>
                </a:solidFill>
              </a:rPr>
              <a:t>PROMPT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62AAC41-E83E-454E-A140-9BD65271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7625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2B3A"/>
                </a:solidFill>
              </a:defRPr>
            </a:pPr>
            <a:r>
              <a:rPr sz="1425" b="1">
                <a:solidFill>
                  <a:srgbClr val="002B3A"/>
                </a:solidFill>
              </a:rPr>
              <a:t>user-controlled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F794154-864C-4AA5-8BAE-FCAC2690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2578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compare_companies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EB6AAE-4A5D-4FF2-941F-FEC8E01F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333750"/>
            <a:ext cx="15240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E1E7"/>
          </a:solidFill>
          <a:ln xmlns:a="http://schemas.openxmlformats.org/drawingml/2006/main" w="0">
            <a:solidFill>
              <a:srgbClr val="D9E1E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03CB615-8DF9-43CB-98E1-5A37BC11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333750"/>
            <a:ext cx="15240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E1E7"/>
          </a:solidFill>
          <a:ln xmlns:a="http://schemas.openxmlformats.org/drawingml/2006/main" w="0">
            <a:solidFill>
              <a:srgbClr val="D9E1E7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BAFF2EC-186C-4103-ADA8-B0795754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286500"/>
            <a:ext cx="10287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5F8FA"/>
          </a:solidFill>
          <a:ln xmlns:a="http://schemas.openxmlformats.org/drawingml/2006/main" w="14288">
            <a:solidFill>
              <a:srgbClr val="D9E1E7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2B3A"/>
                </a:solidFill>
              </a:defRPr>
            </a:pPr>
            <a:r>
              <a:rPr sz="1875" b="1">
                <a:solidFill>
                  <a:srgbClr val="002B3A"/>
                </a:solidFill>
              </a:rPr>
              <a:t>Different controller, same MCP protocol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DISCOVERY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 happens before execution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DISCOVERY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763806-718B-4323-84D0-F32C3159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91000"/>
            <a:ext cx="118110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E1E7"/>
          </a:solidFill>
          <a:ln xmlns:a="http://schemas.openxmlformats.org/drawingml/2006/main" w="0">
            <a:solidFill>
              <a:srgbClr val="D9E1E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F5958F-9995-4AD2-935E-0B8F2947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24250"/>
            <a:ext cx="12382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B7E8"/>
          </a:solidFill>
          <a:ln xmlns:a="http://schemas.openxmlformats.org/drawingml/2006/main" w="0">
            <a:solidFill>
              <a:srgbClr val="16B7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47DE56-7696-4DF2-9140-0D66908A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04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17924A8-1FA8-4050-81FA-4F296F11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9814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DISCOVER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E75EAEA-8849-440C-B9AF-34D55961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8333A"/>
                </a:solidFill>
              </a:defRPr>
            </a:pPr>
            <a:r>
              <a:rPr sz="1275" b="0">
                <a:solidFill>
                  <a:srgbClr val="28333A"/>
                </a:solidFill>
              </a:rPr>
              <a:t>server/discover or list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DBB3F6-6A6F-4D0D-AE96-786CDEBF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524250"/>
            <a:ext cx="12382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49C4"/>
          </a:solidFill>
          <a:ln xmlns:a="http://schemas.openxmlformats.org/drawingml/2006/main" w="0">
            <a:solidFill>
              <a:srgbClr val="2349C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3933B87-FC98-4A0C-B507-C9417BAE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6004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B9D86E-6BAD-4E1B-87D0-13A3B429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814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INSPECT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7F94DD9-4689-4048-9452-512AF66A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9530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8333A"/>
                </a:solidFill>
              </a:defRPr>
            </a:pPr>
            <a:r>
              <a:rPr sz="1275" b="0">
                <a:solidFill>
                  <a:srgbClr val="28333A"/>
                </a:solidFill>
              </a:rPr>
              <a:t>name + input schema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631FEEA-A738-46F3-BD7C-9248BC22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524250"/>
            <a:ext cx="12382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8000"/>
          </a:solidFill>
          <a:ln xmlns:a="http://schemas.openxmlformats.org/drawingml/2006/main" w="0">
            <a:solidFill>
              <a:srgbClr val="F9800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99E07FF-E278-4B31-9AD1-A30ACEBB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004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592CE27-F5E3-40BB-84B8-D2F00E00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9814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APPROVE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CB62DE-BCB9-4859-A119-0E2607FD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530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8333A"/>
                </a:solidFill>
              </a:defRPr>
            </a:pPr>
            <a:r>
              <a:rPr sz="1275" b="0">
                <a:solidFill>
                  <a:srgbClr val="28333A"/>
                </a:solidFill>
              </a:rPr>
              <a:t>host policy gate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2B3E7D-CA5E-45E6-9878-38B52C62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524250"/>
            <a:ext cx="12382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B3A"/>
          </a:solidFill>
          <a:ln xmlns:a="http://schemas.openxmlformats.org/drawingml/2006/main" w="0">
            <a:solidFill>
              <a:srgbClr val="002B3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D6798CD-C303-43B8-9E0C-172882C6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6004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DEE8463-6C9E-4647-AEB3-61FDA499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CALL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1F1CE42-F37C-4A39-A6EA-425DAE41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9530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8333A"/>
                </a:solidFill>
              </a:defRPr>
            </a:pPr>
            <a:r>
              <a:rPr sz="1275" b="0">
                <a:solidFill>
                  <a:srgbClr val="28333A"/>
                </a:solidFill>
              </a:rPr>
              <a:t>resource or tool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0394577-51FB-4390-B370-44C7D7825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524250"/>
            <a:ext cx="12382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964"/>
          </a:solidFill>
          <a:ln xmlns:a="http://schemas.openxmlformats.org/drawingml/2006/main" w="0">
            <a:solidFill>
              <a:srgbClr val="2E996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6F14FAB-5FAD-4D90-AC6C-79B9DC89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6004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741D233-5333-4CD0-BE03-2F60E060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39814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VALIDATE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AC332DB-CB3C-44B6-BC1E-BB7F4380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9530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8333A"/>
                </a:solidFill>
              </a:defRPr>
            </a:pPr>
            <a:r>
              <a:rPr sz="1275" b="0">
                <a:solidFill>
                  <a:srgbClr val="28333A"/>
                </a:solidFill>
              </a:rPr>
              <a:t>result + domain rules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44790FD-C98C-4E39-8517-CB33A7EA7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3524250"/>
            <a:ext cx="12382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49C4"/>
          </a:solidFill>
          <a:ln xmlns:a="http://schemas.openxmlformats.org/drawingml/2006/main" w="0">
            <a:solidFill>
              <a:srgbClr val="2349C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2A46DAD-971A-47C0-B7D5-A0CF118D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36004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272D526-6DD6-4705-9B33-FC76AC4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39814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RECORD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7F5A07E-1E9B-452B-8407-3BEFA5A3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49530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8333A"/>
                </a:solidFill>
              </a:defRPr>
            </a:pPr>
            <a:r>
              <a:rPr sz="1275" b="0">
                <a:solidFill>
                  <a:srgbClr val="28333A"/>
                </a:solidFill>
              </a:rPr>
              <a:t>source + evidence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BDED020-4C61-4F99-8490-8E7FB2E8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1150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2B3A"/>
                </a:solidFill>
              </a:defRPr>
            </a:pPr>
            <a:r>
              <a:rPr sz="1725" b="1">
                <a:solidFill>
                  <a:srgbClr val="002B3A"/>
                </a:solidFill>
              </a:rPr>
              <a:t>Our host chooses to discover first, then permits only a validated read-only call.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A272BAA-160A-43AA-B0A0-1A525224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67056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349C4"/>
                </a:solidFill>
              </a:defRPr>
            </a:pPr>
            <a:r>
              <a:rPr sz="1275" b="1">
                <a:solidFill>
                  <a:srgbClr val="2349C4"/>
                </a:solidFill>
              </a:rPr>
              <a:t>LOCAL STDIO   ·   REMOTE MCP   ·   same control pattern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FINANCE USE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69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MCP gives finance assistants controlled access to internal knowledge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FINANCE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53C040-5B55-477B-9F49-F832C488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24250" y="3571875"/>
            <a:ext cx="276225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E1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A816EB-330A-409B-BA70-5F8AE9EC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524250" y="4524375"/>
            <a:ext cx="2762250" cy="428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E1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D2E1AB-2508-4CB3-A8DF-965C6C9C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524250" y="4524375"/>
            <a:ext cx="2762250" cy="1809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E1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0D66FE-21E1-43BE-AA49-10F1AFF5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953500" y="4524375"/>
            <a:ext cx="23812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9800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9D9B6B-DDD6-4D37-AE0F-D0BE58C5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250"/>
            <a:ext cx="2381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2349C4"/>
          </a:solidFill>
          <a:ln xmlns:a="http://schemas.openxmlformats.org/drawingml/2006/main" w="14288">
            <a:solidFill>
              <a:srgbClr val="2349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ANNUAL REPORTS</a:t>
            </a:r>
          </a:p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PDF + tables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3D16500-29A9-4A32-AC87-DAF6CD71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24375"/>
            <a:ext cx="2381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B7E8"/>
          </a:solidFill>
          <a:ln xmlns:a="http://schemas.openxmlformats.org/drawingml/2006/main" w="14288">
            <a:solidFill>
              <a:srgbClr val="16B7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INTERNAL RESEARCH</a:t>
            </a:r>
          </a:p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notes + memos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F6AC407-B0C6-4221-ACA5-B71C622F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05500"/>
            <a:ext cx="2381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2E9964"/>
          </a:solidFill>
          <a:ln xmlns:a="http://schemas.openxmlformats.org/drawingml/2006/main" w="14288">
            <a:solidFill>
              <a:srgbClr val="2E996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METRIC STORE</a:t>
            </a:r>
          </a:p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approved KPIs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3E3EEE-A524-49E5-AAF2-E05F4232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29000"/>
            <a:ext cx="2857500" cy="2190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349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E8FC1E-B562-4CC5-9811-6D96C9F2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100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349C4"/>
                </a:solidFill>
              </a:defRPr>
            </a:pPr>
            <a:r>
              <a:rPr sz="2250" b="1">
                <a:solidFill>
                  <a:srgbClr val="2349C4"/>
                </a:solidFill>
              </a:rPr>
              <a:t>MCP</a:t>
            </a:r>
          </a:p>
          <a:p xmlns:a="http://schemas.openxmlformats.org/drawingml/2006/main">
            <a:pPr algn="ctr">
              <a:defRPr sz="2250" b="1">
                <a:solidFill>
                  <a:srgbClr val="2349C4"/>
                </a:solidFill>
              </a:defRPr>
            </a:pPr>
            <a:r>
              <a:rPr sz="2250" b="1">
                <a:solidFill>
                  <a:srgbClr val="2349C4"/>
                </a:solidFill>
              </a:rPr>
              <a:t>SERVERS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8C505D-607B-4C22-90E0-3341D8F7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7625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standard capabilities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243D46-184E-43DE-8A0C-3760E334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676650"/>
            <a:ext cx="28575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002B3A"/>
          </a:solidFill>
          <a:ln xmlns:a="http://schemas.openxmlformats.org/drawingml/2006/main" w="14288">
            <a:solidFill>
              <a:srgbClr val="002B3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FINANCE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ASSISTANT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8B959D-D3AB-4802-9B83-E7FD224D4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480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349C4"/>
                </a:solidFill>
              </a:defRPr>
            </a:pPr>
            <a:r>
              <a:rPr sz="1200" b="1">
                <a:solidFill>
                  <a:srgbClr val="2349C4"/>
                </a:solidFill>
              </a:rPr>
              <a:t>finance://coverage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6537011-DE9E-4671-8B0D-60F36AEB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150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B7E8"/>
                </a:solidFill>
              </a:defRPr>
            </a:pPr>
            <a:r>
              <a:rPr sz="1200" b="1">
                <a:solidFill>
                  <a:srgbClr val="16B7E8"/>
                </a:solidFill>
              </a:rPr>
              <a:t>search_financial_documents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00A83E3-EBF8-4DEC-84D7-D8FF196C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905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9964"/>
                </a:solidFill>
              </a:defRPr>
            </a:pPr>
            <a:r>
              <a:rPr sz="1200" b="1">
                <a:solidFill>
                  <a:srgbClr val="2E9964"/>
                </a:solidFill>
              </a:rPr>
              <a:t>get_company_metric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BE0BEAE-6987-40A1-9D39-881DF8B9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5524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98000"/>
                </a:solidFill>
              </a:defRPr>
            </a:pPr>
            <a:r>
              <a:rPr sz="1200" b="1">
                <a:solidFill>
                  <a:srgbClr val="F98000"/>
                </a:solidFill>
              </a:rPr>
              <a:t>compare_companies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8E4999-743A-4137-8104-BA9EC856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572250"/>
            <a:ext cx="8858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14288">
            <a:solidFill>
              <a:srgbClr val="F9800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A1CBAFA-8912-44C0-BD01-5CD4C683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667500"/>
            <a:ext cx="828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2B3A"/>
                </a:solidFill>
              </a:defRPr>
            </a:pPr>
            <a:r>
              <a:rPr sz="1500" b="1">
                <a:solidFill>
                  <a:srgbClr val="002B3A"/>
                </a:solidFill>
              </a:rPr>
              <a:t>One assistant can answer with the source, date, and evidence ID attached.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TRUST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protocol standardizes access, not trust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TRUST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AB45E9C-1636-4A19-9620-B72BDE84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191625" y="4524375"/>
            <a:ext cx="21431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980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BDF6099-4BE9-4643-A84A-B9F996CFA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50"/>
            <a:ext cx="8572500" cy="4476750"/>
          </a:xfrm>
          <a:prstGeom xmlns:a="http://schemas.openxmlformats.org/drawingml/2006/main" prst="roundRect">
            <a:avLst>
              <a:gd name="adj" fmla="val 2553"/>
            </a:avLst>
          </a:prstGeom>
          <a:noFill xmlns:a="http://schemas.openxmlformats.org/drawingml/2006/main"/>
          <a:ln xmlns:a="http://schemas.openxmlformats.org/drawingml/2006/main" w="28575">
            <a:solidFill>
              <a:srgbClr val="2349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7D7A0C-9551-4D6C-8DCA-1D90B5CB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71750"/>
            <a:ext cx="704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349C4"/>
                </a:solidFill>
              </a:defRPr>
            </a:pPr>
            <a:r>
              <a:rPr sz="1800" b="1">
                <a:solidFill>
                  <a:srgbClr val="2349C4"/>
                </a:solidFill>
              </a:rPr>
              <a:t>HOST  /  TRUST BOUNDARY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F528F5-AB72-43AB-A27E-3BC854DA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219450"/>
            <a:ext cx="2286000" cy="2476500"/>
          </a:xfrm>
          <a:prstGeom xmlns:a="http://schemas.openxmlformats.org/drawingml/2006/main" prst="pentagon">
            <a:avLst/>
          </a:prstGeom>
          <a:solidFill xmlns:a="http://schemas.openxmlformats.org/drawingml/2006/main">
            <a:srgbClr val="2349C4"/>
          </a:solidFill>
          <a:ln xmlns:a="http://schemas.openxmlformats.org/drawingml/2006/main" w="0">
            <a:solidFill>
              <a:srgbClr val="2349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HOST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POLICY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444B06-B3A0-44A8-9DE4-F1C456D4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86125"/>
            <a:ext cx="2095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98000"/>
          </a:solidFill>
          <a:ln xmlns:a="http://schemas.openxmlformats.org/drawingml/2006/main" w="14288">
            <a:solidFill>
              <a:srgbClr val="F9800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AUTHENTICATION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077B54A-6E6B-4BAB-8912-A3BB4624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86250"/>
            <a:ext cx="2095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98000"/>
          </a:solidFill>
          <a:ln xmlns:a="http://schemas.openxmlformats.org/drawingml/2006/main" w="14288">
            <a:solidFill>
              <a:srgbClr val="F9800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APPROVAL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37BC50-8BB7-4903-843D-DECA30CE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286375"/>
            <a:ext cx="2095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6B7E8"/>
          </a:solidFill>
          <a:ln xmlns:a="http://schemas.openxmlformats.org/drawingml/2006/main" w="14288">
            <a:solidFill>
              <a:srgbClr val="16B7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ALLOWLIST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3642682-D7E2-4A6C-83BD-09299C5D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24250"/>
            <a:ext cx="2095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2E9964"/>
          </a:solidFill>
          <a:ln xmlns:a="http://schemas.openxmlformats.org/drawingml/2006/main" w="14288">
            <a:solidFill>
              <a:srgbClr val="2E996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ARGUMENT VALIDATION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9A22DE5-125D-47A1-845F-9B7AC9BB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00625"/>
            <a:ext cx="2095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2E9964"/>
          </a:solidFill>
          <a:ln xmlns:a="http://schemas.openxmlformats.org/drawingml/2006/main" w="14288">
            <a:solidFill>
              <a:srgbClr val="2E996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EVIDENCE TRAIL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F9C4CE0-80B9-451B-B272-404945E7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714750"/>
            <a:ext cx="2857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002B3A"/>
          </a:solidFill>
          <a:ln xmlns:a="http://schemas.openxmlformats.org/drawingml/2006/main" w="14288">
            <a:solidFill>
              <a:srgbClr val="002B3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DISCOVERED</a:t>
            </a:r>
          </a:p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MCP SERVER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CA9D43-837E-4087-B739-5B018D17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6197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349C4"/>
                </a:solidFill>
              </a:defRPr>
            </a:pPr>
            <a:r>
              <a:rPr sz="1200" b="1">
                <a:solidFill>
                  <a:srgbClr val="2349C4"/>
                </a:solidFill>
              </a:rPr>
              <a:t>LOCAL STDIO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4E37B6-27D1-4AF5-B292-054C820B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56197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or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F0D1E39-05B4-4E82-863A-9C6EE20C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56197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98000"/>
                </a:solidFill>
              </a:defRPr>
            </a:pPr>
            <a:r>
              <a:rPr sz="1200" b="1">
                <a:solidFill>
                  <a:srgbClr val="F98000"/>
                </a:solidFill>
              </a:rPr>
              <a:t>REMOTE MCP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3D611E9-B709-4A42-A828-9C35C3C7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0007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server_url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0BC7603-C5A3-40AE-9CF5-CC320722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7067550"/>
            <a:ext cx="99060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14288">
            <a:solidFill>
              <a:srgbClr val="F9800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2B3A"/>
                </a:solidFill>
              </a:defRPr>
            </a:pPr>
            <a:r>
              <a:rPr sz="1800" b="1">
                <a:solidFill>
                  <a:srgbClr val="002B3A"/>
                </a:solidFill>
              </a:rPr>
              <a:t>DISCOVERY IS NOT PERMISSION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Quick quiz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Choose one answer for each question.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10  ·  3 QUESTIONS  ·  3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question-1">
            <a:extLst xmlns:a="http://schemas.openxmlformats.org/drawingml/2006/main">
              <a:ext uri="{FF2B5EF4-FFF2-40B4-BE49-F238E27FC236}">
                <a16:creationId xmlns:a16="http://schemas.microsoft.com/office/drawing/2014/main" id="{17B5CC66-75DD-43C6-9873-E42B3A70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1. What problem is MCP designed to reduce?</a:t>
            </a:r>
          </a:p>
        </p:txBody>
      </p:sp>
      <p:sp>
        <p:nvSpPr>
          <p:cNvPr id="9" name="quiz-options-1">
            <a:extLst xmlns:a="http://schemas.openxmlformats.org/drawingml/2006/main">
              <a:ext uri="{FF2B5EF4-FFF2-40B4-BE49-F238E27FC236}">
                <a16:creationId xmlns:a16="http://schemas.microsoft.com/office/drawing/2014/main" id="{A1D2FDA2-DE28-4C65-AB8E-88510D15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Custom point-to-point integrations     |     B  Model training     |     C  PDF size</a:t>
            </a:r>
          </a:p>
        </p:txBody>
      </p:sp>
      <p:sp>
        <p:nvSpPr>
          <p:cNvPr id="10" name="quiz-question-2">
            <a:extLst xmlns:a="http://schemas.openxmlformats.org/drawingml/2006/main">
              <a:ext uri="{FF2B5EF4-FFF2-40B4-BE49-F238E27FC236}">
                <a16:creationId xmlns:a16="http://schemas.microsoft.com/office/drawing/2014/main" id="{48ED16F8-77D6-4787-A61A-3FAFCC59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2. Who owns permission and the final answer?</a:t>
            </a:r>
          </a:p>
        </p:txBody>
      </p:sp>
      <p:sp>
        <p:nvSpPr>
          <p:cNvPr id="11" name="quiz-options-2">
            <a:extLst xmlns:a="http://schemas.openxmlformats.org/drawingml/2006/main">
              <a:ext uri="{FF2B5EF4-FFF2-40B4-BE49-F238E27FC236}">
                <a16:creationId xmlns:a16="http://schemas.microsoft.com/office/drawing/2014/main" id="{79E028B2-2EE3-4D92-8642-F1573CE6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Host     |     B  MCP server     |     C  Transport</a:t>
            </a:r>
          </a:p>
        </p:txBody>
      </p:sp>
      <p:sp>
        <p:nvSpPr>
          <p:cNvPr id="12" name="quiz-question-3">
            <a:extLst xmlns:a="http://schemas.openxmlformats.org/drawingml/2006/main">
              <a:ext uri="{FF2B5EF4-FFF2-40B4-BE49-F238E27FC236}">
                <a16:creationId xmlns:a16="http://schemas.microsoft.com/office/drawing/2014/main" id="{C877F1C8-723B-4A79-8AC4-28D8BEAB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3. In the architecture, one MCP client talks to...</a:t>
            </a:r>
          </a:p>
        </p:txBody>
      </p:sp>
      <p:sp>
        <p:nvSpPr>
          <p:cNvPr id="13" name="quiz-options-3">
            <a:extLst xmlns:a="http://schemas.openxmlformats.org/drawingml/2006/main">
              <a:ext uri="{FF2B5EF4-FFF2-40B4-BE49-F238E27FC236}">
                <a16:creationId xmlns:a16="http://schemas.microsoft.com/office/drawing/2014/main" id="{E8198A8E-27CE-4F4B-9B98-68D73683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Exactly one server     |     B  Every server     |     C  No server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Check the idea, not only the letter.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10  ·  ANSWERS  ·  LESSON 11 NEXT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answer-1">
            <a:extLst xmlns:a="http://schemas.openxmlformats.org/drawingml/2006/main">
              <a:ext uri="{FF2B5EF4-FFF2-40B4-BE49-F238E27FC236}">
                <a16:creationId xmlns:a16="http://schemas.microsoft.com/office/drawing/2014/main" id="{4366CD08-8A77-4911-8FD5-2D4CC876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1. A. Custom point-to-point integrations</a:t>
            </a:r>
          </a:p>
        </p:txBody>
      </p:sp>
      <p:sp>
        <p:nvSpPr>
          <p:cNvPr id="9" name="quiz-explanation-1">
            <a:extLst xmlns:a="http://schemas.openxmlformats.org/drawingml/2006/main">
              <a:ext uri="{FF2B5EF4-FFF2-40B4-BE49-F238E27FC236}">
                <a16:creationId xmlns:a16="http://schemas.microsoft.com/office/drawing/2014/main" id="{2D7BF189-1B4B-4635-B45F-33B3FFB5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MCP replaces many custom connectors with one shared protocol contract.</a:t>
            </a:r>
          </a:p>
        </p:txBody>
      </p:sp>
      <p:sp>
        <p:nvSpPr>
          <p:cNvPr id="10" name="quiz-answer-2">
            <a:extLst xmlns:a="http://schemas.openxmlformats.org/drawingml/2006/main">
              <a:ext uri="{FF2B5EF4-FFF2-40B4-BE49-F238E27FC236}">
                <a16:creationId xmlns:a16="http://schemas.microsoft.com/office/drawing/2014/main" id="{A7EF8FC2-60BA-4323-A8C0-46E7819E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2. A. Host</a:t>
            </a:r>
          </a:p>
        </p:txBody>
      </p:sp>
      <p:sp>
        <p:nvSpPr>
          <p:cNvPr id="11" name="quiz-explanation-2">
            <a:extLst xmlns:a="http://schemas.openxmlformats.org/drawingml/2006/main">
              <a:ext uri="{FF2B5EF4-FFF2-40B4-BE49-F238E27FC236}">
                <a16:creationId xmlns:a16="http://schemas.microsoft.com/office/drawing/2014/main" id="{560AE864-B571-4F92-BD00-23DCB841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host owns context, consent, policy, evidence, and the final response.</a:t>
            </a:r>
          </a:p>
        </p:txBody>
      </p:sp>
      <p:sp>
        <p:nvSpPr>
          <p:cNvPr id="12" name="quiz-answer-3">
            <a:extLst xmlns:a="http://schemas.openxmlformats.org/drawingml/2006/main">
              <a:ext uri="{FF2B5EF4-FFF2-40B4-BE49-F238E27FC236}">
                <a16:creationId xmlns:a16="http://schemas.microsoft.com/office/drawing/2014/main" id="{53160A10-5E9B-493D-8665-2591C9C9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3. A. Exactly one server</a:t>
            </a:r>
          </a:p>
        </p:txBody>
      </p:sp>
      <p:sp>
        <p:nvSpPr>
          <p:cNvPr id="13" name="quiz-explanation-3">
            <a:extLst xmlns:a="http://schemas.openxmlformats.org/drawingml/2006/main">
              <a:ext uri="{FF2B5EF4-FFF2-40B4-BE49-F238E27FC236}">
                <a16:creationId xmlns:a16="http://schemas.microsoft.com/office/drawing/2014/main" id="{75A39432-9EF2-4CF9-AE50-0504A75D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host may run many clients, but each client communicates with one server. Lesson 11 adds planning across capabilities.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2026-08-26T11:13:13.3900000Z</dcterms:created>
  <dcterms:modified xsi:type="dcterms:W3CDTF">2026-08-26T11:13:13.3900000Z</dcterms:modified>
</coreProperties>
</file>