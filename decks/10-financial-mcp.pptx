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615bf320c44704" /><Relationship Type="http://schemas.openxmlformats.org/officeDocument/2006/relationships/extended-properties" Target="/docProps/app.xml" Id="R590cb9bc166747bb" /><Relationship Type="http://schemas.openxmlformats.org/officeDocument/2006/relationships/officeDocument" Target="/ppt/presentation.xml" Id="R829fedc368ed4b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ec187b0974e44"/>
  </p:sldMasterIdLst>
  <p:notesMasterIdLst>
    <p:notesMasterId xmlns:r="http://schemas.openxmlformats.org/officeDocument/2006/relationships" r:id="Rf07b1a3f617d48e2"/>
  </p:notesMasterIdLst>
  <p:sldIdLst>
    <p:sldId xmlns:r="http://schemas.openxmlformats.org/officeDocument/2006/relationships" id="256" r:id="R87f43d056bbd4979"/>
    <p:sldId xmlns:r="http://schemas.openxmlformats.org/officeDocument/2006/relationships" id="257" r:id="R4ca5d7f16b4e458f"/>
    <p:sldId xmlns:r="http://schemas.openxmlformats.org/officeDocument/2006/relationships" id="258" r:id="Redbe858add714ed9"/>
    <p:sldId xmlns:r="http://schemas.openxmlformats.org/officeDocument/2006/relationships" id="259" r:id="R46ca3e9e3b5b42a2"/>
    <p:sldId xmlns:r="http://schemas.openxmlformats.org/officeDocument/2006/relationships" id="260" r:id="Rd105bd7d2b3746a2"/>
    <p:sldId xmlns:r="http://schemas.openxmlformats.org/officeDocument/2006/relationships" id="261" r:id="R50e217fda75e49e2"/>
    <p:sldId xmlns:r="http://schemas.openxmlformats.org/officeDocument/2006/relationships" id="262" r:id="Rb2ba63736d6c401c"/>
    <p:sldId xmlns:r="http://schemas.openxmlformats.org/officeDocument/2006/relationships" id="263" r:id="Re44ce5ae02bf4926"/>
    <p:sldId xmlns:r="http://schemas.openxmlformats.org/officeDocument/2006/relationships" id="264" r:id="Rc7df9206b87a446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0b133f45c4249" /><Relationship Type="http://schemas.openxmlformats.org/officeDocument/2006/relationships/slideMaster" Target="/ppt/slideMasters/slideMaster1.xml" Id="Rf1cec187b0974e44" /><Relationship Type="http://schemas.openxmlformats.org/officeDocument/2006/relationships/notesMaster" Target="/ppt/notesMasters/notesMaster1.xml" Id="Rf07b1a3f617d48e2" /><Relationship Type="http://schemas.openxmlformats.org/officeDocument/2006/relationships/presProps" Target="/ppt/presProps.xml" Id="Rca3a6f8546994918" /><Relationship Type="http://schemas.openxmlformats.org/officeDocument/2006/relationships/tableStyles" Target="/ppt/tableStyles.xml" Id="R2d1f865518134130" /><Relationship Type="http://schemas.openxmlformats.org/officeDocument/2006/relationships/slide" Target="/ppt/slides/slide1.xml" Id="R87f43d056bbd4979" /><Relationship Type="http://schemas.openxmlformats.org/officeDocument/2006/relationships/slide" Target="/ppt/slides/slide2.xml" Id="R4ca5d7f16b4e458f" /><Relationship Type="http://schemas.openxmlformats.org/officeDocument/2006/relationships/slide" Target="/ppt/slides/slide3.xml" Id="Redbe858add714ed9" /><Relationship Type="http://schemas.openxmlformats.org/officeDocument/2006/relationships/slide" Target="/ppt/slides/slide4.xml" Id="R46ca3e9e3b5b42a2" /><Relationship Type="http://schemas.openxmlformats.org/officeDocument/2006/relationships/slide" Target="/ppt/slides/slide5.xml" Id="Rd105bd7d2b3746a2" /><Relationship Type="http://schemas.openxmlformats.org/officeDocument/2006/relationships/slide" Target="/ppt/slides/slide6.xml" Id="R50e217fda75e49e2" /><Relationship Type="http://schemas.openxmlformats.org/officeDocument/2006/relationships/slide" Target="/ppt/slides/slide7.xml" Id="Rb2ba63736d6c401c" /><Relationship Type="http://schemas.openxmlformats.org/officeDocument/2006/relationships/slide" Target="/ppt/slides/slide8.xml" Id="Re44ce5ae02bf4926" /><Relationship Type="http://schemas.openxmlformats.org/officeDocument/2006/relationships/slide" Target="/ppt/slides/slide9.xml" Id="Rc7df9206b87a44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5f82b80c6d48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7a0d285f3043b4" /><Relationship Type="http://schemas.openxmlformats.org/officeDocument/2006/relationships/notesMaster" Target="/ppt/notesMasters/notesMaster1.xml" Id="Ra2d02205bca34b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c12b33b7bf4a6b" /><Relationship Type="http://schemas.openxmlformats.org/officeDocument/2006/relationships/notesMaster" Target="/ppt/notesMasters/notesMaster1.xml" Id="R1899d7ed14bc47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38f34cb76e47a1" /><Relationship Type="http://schemas.openxmlformats.org/officeDocument/2006/relationships/notesMaster" Target="/ppt/notesMasters/notesMaster1.xml" Id="R5b7801ea328b4c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5afa6752e432a" /><Relationship Type="http://schemas.openxmlformats.org/officeDocument/2006/relationships/notesMaster" Target="/ppt/notesMasters/notesMaster1.xml" Id="Rc6de35b0db9c46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3a8e5f6b2f46b2" /><Relationship Type="http://schemas.openxmlformats.org/officeDocument/2006/relationships/notesMaster" Target="/ppt/notesMasters/notesMaster1.xml" Id="Rceb5cdc2705e42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c536019a9846df" /><Relationship Type="http://schemas.openxmlformats.org/officeDocument/2006/relationships/notesMaster" Target="/ppt/notesMasters/notesMaster1.xml" Id="Ra3231fa9265d49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e4909b02d341a8" /><Relationship Type="http://schemas.openxmlformats.org/officeDocument/2006/relationships/notesMaster" Target="/ppt/notesMasters/notesMaster1.xml" Id="R6a61059f35bf4f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0e01ac317345e1" /><Relationship Type="http://schemas.openxmlformats.org/officeDocument/2006/relationships/notesMaster" Target="/ppt/notesMasters/notesMaster1.xml" Id="R859f460ad25442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0240b1a4dd4401" /><Relationship Type="http://schemas.openxmlformats.org/officeDocument/2006/relationships/notesMaster" Target="/ppt/notesMasters/notesMaster1.xml" Id="R5073d060d3f34b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chapters/10-financial-mcp.md</a:t>
            </a:r>
          </a:p>
          <a:p xmlns:a="http://schemas.openxmlformats.org/drawingml/2006/main">
            <a:r>
              <a:t>https://modelcontextprotocol.io/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chapters/10-financial-mcp.md</a:t>
            </a:r>
          </a:p>
          <a:p xmlns:a="http://schemas.openxmlformats.org/drawingml/2006/main">
            <a:r>
              <a:t>https://modelcontextprotocol.io/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chapters/10-financial-mcp.md</a:t>
            </a:r>
          </a:p>
          <a:p xmlns:a="http://schemas.openxmlformats.org/drawingml/2006/main">
            <a:r>
              <a:t>https://modelcontextprotocol.io/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chapters/10-financial-mcp.md</a:t>
            </a:r>
          </a:p>
          <a:p xmlns:a="http://schemas.openxmlformats.org/drawingml/2006/main">
            <a:r>
              <a:t>https://modelcontextprotocol.io/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chapters/10-financial-mcp.md</a:t>
            </a:r>
          </a:p>
          <a:p xmlns:a="http://schemas.openxmlformats.org/drawingml/2006/main">
            <a:r>
              <a:t>https://github.com/modelcontextprotocol/python-sdk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chapters/10-financial-mcp.md</a:t>
            </a:r>
          </a:p>
          <a:p xmlns:a="http://schemas.openxmlformats.org/drawingml/2006/main">
            <a:r>
              <a:t>https://github.com/modelcontextprotocol/python-sdk/blob/main/docs/get-started/first-steps.md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chapters/10-financial-mcp.md</a:t>
            </a:r>
          </a:p>
          <a:p xmlns:a="http://schemas.openxmlformats.org/drawingml/2006/main">
            <a:r>
              <a:t>https://modelcontextprotocol.io/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chapters/10-financial-mcp.md</a:t>
            </a:r>
          </a:p>
          <a:p xmlns:a="http://schemas.openxmlformats.org/drawingml/2006/main">
            <a:r>
              <a:t>https://modelcontextprotocol.io/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chapters/10-financial-mcp.md</a:t>
            </a:r>
          </a:p>
          <a:p xmlns:a="http://schemas.openxmlformats.org/drawingml/2006/main">
            <a:r>
              <a:t>https://github.com/modelcontextprotocol/python-sdk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25471c4f8541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963313976a4fa7" /><Relationship Type="http://schemas.openxmlformats.org/officeDocument/2006/relationships/slideLayout" Target="/ppt/slideLayouts/slideLayout1.xml" Id="R2c80a9b087e74b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80a9b087e74b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1a13f72244556" /><Relationship Type="http://schemas.openxmlformats.org/officeDocument/2006/relationships/notesSlide" Target="/ppt/notesSlides/notesSlide1.xml" Id="Ra878d66b27104a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4acfefc9f4c6c" /><Relationship Type="http://schemas.openxmlformats.org/officeDocument/2006/relationships/notesSlide" Target="/ppt/notesSlides/notesSlide2.xml" Id="R99b473a2154644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1e90bd6ee47c6" /><Relationship Type="http://schemas.openxmlformats.org/officeDocument/2006/relationships/notesSlide" Target="/ppt/notesSlides/notesSlide3.xml" Id="Rc24b01e084214b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fb5c16fef4ffd" /><Relationship Type="http://schemas.openxmlformats.org/officeDocument/2006/relationships/notesSlide" Target="/ppt/notesSlides/notesSlide4.xml" Id="R249d3a9ce4df46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eb0a766634f09" /><Relationship Type="http://schemas.openxmlformats.org/officeDocument/2006/relationships/notesSlide" Target="/ppt/notesSlides/notesSlide5.xml" Id="R8ec6c59db9d4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a5401672543d7" /><Relationship Type="http://schemas.openxmlformats.org/officeDocument/2006/relationships/notesSlide" Target="/ppt/notesSlides/notesSlide6.xml" Id="R46f4a4a697d642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bf40d4845404f" /><Relationship Type="http://schemas.openxmlformats.org/officeDocument/2006/relationships/notesSlide" Target="/ppt/notesSlides/notesSlide7.xml" Id="R427e7a9aebcd41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4b0a4571344a1" /><Relationship Type="http://schemas.openxmlformats.org/officeDocument/2006/relationships/notesSlide" Target="/ppt/notesSlides/notesSlide8.xml" Id="Rfd34e09c675f4a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f2620efd04840" /><Relationship Type="http://schemas.openxmlformats.org/officeDocument/2006/relationships/notesSlide" Target="/ppt/notesSlides/notesSlide9.xml" Id="R9fb92955e48f4f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Build a Financial MCP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Discover capabilities instead of importing server functions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SESSION 10  ·  10 MIN CONCEPTS + 30 MIN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DIRECT IMPORT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Direct import creates tight coupling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imports function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Function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owns logic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breaks contract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finds failure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moves together</a:t>
            </a:r>
          </a:p>
        </p:txBody>
      </p:sp>
      <p:cxnSp>
        <p:nvCxnSpPr>
          <p:cNvPr id="57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8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Coupling makes a process boundary hard to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direct import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shared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COUPLING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MCP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Host, client, server, transport</a:t>
            </a:r>
          </a:p>
        </p:txBody>
      </p:sp>
      <p:sp>
        <p:nvSpPr>
          <p:cNvPr id="3" name="decision-source">
            <a:extLst xmlns:a="http://schemas.openxmlformats.org/drawingml/2006/main">
              <a:ext uri="{FF2B5EF4-FFF2-40B4-BE49-F238E27FC236}">
                <a16:creationId xmlns:a16="http://schemas.microsoft.com/office/drawing/2014/main" id="{F0F1628B-25FC-4A7D-9ACB-11ED41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24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E4FD-810A-4BB6-A9E2-9D453E2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HOST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52CC-262C-4723-8C2E-E432627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owns lifecycle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and permission</a:t>
            </a:r>
          </a:p>
        </p:txBody>
      </p:sp>
      <p:sp>
        <p:nvSpPr>
          <p:cNvPr id="6" name="decision-child">
            <a:extLst xmlns:a="http://schemas.openxmlformats.org/drawingml/2006/main">
              <a:ext uri="{FF2B5EF4-FFF2-40B4-BE49-F238E27FC236}">
                <a16:creationId xmlns:a16="http://schemas.microsoft.com/office/drawing/2014/main" id="{E359D7F5-9555-4867-8587-2F8EC52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32575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5E62-2BDC-4F11-8E8E-92ACD6B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MCP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2A998-C21C-458F-BEED-486513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647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discovers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and calls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capabilities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313B-A32E-4318-B50D-32C786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910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schema · request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response</a:t>
            </a:r>
          </a:p>
        </p:txBody>
      </p:sp>
      <p:sp>
        <p:nvSpPr>
          <p:cNvPr id="10" name="decision-parent">
            <a:extLst xmlns:a="http://schemas.openxmlformats.org/drawingml/2006/main">
              <a:ext uri="{FF2B5EF4-FFF2-40B4-BE49-F238E27FC236}">
                <a16:creationId xmlns:a16="http://schemas.microsoft.com/office/drawing/2014/main" id="{7E8CC043-3F7C-4B5E-B01A-E942C33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3543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FD15-7156-4E52-87B2-404D626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MCP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EFAC4-B99C-4E5B-B744-4D0EEDB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declares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capabilities</a:t>
            </a:r>
          </a:p>
        </p:txBody>
      </p:sp>
      <p:cxnSp>
        <p:nvCxnSpPr>
          <p:cNvPr id="32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32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0">
            <a:off x="842010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EF3A-6A25-4B3F-8E60-6108148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12039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4947E-2E2C-4D5A-B088-DFED206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TRANSPORT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A217F-7E45-4462-994A-E1A794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local stdio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4CAF0-D3F9-408B-B959-2864FA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058E3-0326-4715-852F-1F8B32F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HOST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9B25E-ADFB-4067-BF4C-46A5AE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context · allowlist · final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DAY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The host owns context, policy, and the final answer.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MCP PRIMITIVES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Resources, tools, prompts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finance://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proposes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host approves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read-only calls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PROMPTS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compare_companies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Each primitive has a different controller.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CAPABILITY CATALOG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server, four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RESOURCE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finance://coverage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application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read-only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get_company_metric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metric lookup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host approved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compare_companies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controlled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resource, two read-only tools, one prompt.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CATALOG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Discovery happens at runtime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resources, tools, prompts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INSPECT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names and schemas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host policy checks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read-only capability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source and evidence</a:t>
            </a:r>
          </a:p>
        </p:txBody>
      </p:sp>
      <p:cxnSp>
        <p:nvCxnSpPr>
          <p:cNvPr id="57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8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Schemas are input to a host decision.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runtime discovery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host decision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DISCOVER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LOCAL TRANSPORT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stdio carries local protocol messages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HOST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starts subprocess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opens stdio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lists capabilities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reads and calls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HOST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closes transport</a:t>
            </a:r>
          </a:p>
        </p:txBody>
      </p:sp>
      <p:cxnSp>
        <p:nvCxnSpPr>
          <p:cNvPr id="57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8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Local stdio carries messages. It is not authentication.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local process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standard streams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STDIO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TRUST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Discovery is not permission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ALLOWLIST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known tool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host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unknown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PERMIT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safe arguments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typed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bad 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STOP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PRESERVE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source, 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Discovery describes an offer. The host permits the call.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PERMISSION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PRODUCTION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3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MCP standardizes access. The host keeps policy and evidence.</a:t>
            </a:r>
          </a:p>
        </p:txBody>
      </p:sp>
      <p:sp>
        <p:nvSpPr>
          <p:cNvPr id="3" name="decision-source">
            <a:extLst xmlns:a="http://schemas.openxmlformats.org/drawingml/2006/main">
              <a:ext uri="{FF2B5EF4-FFF2-40B4-BE49-F238E27FC236}">
                <a16:creationId xmlns:a16="http://schemas.microsoft.com/office/drawing/2014/main" id="{F0F1628B-25FC-4A7D-9ACB-11ED41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24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E4FD-810A-4BB6-A9E2-9D453E2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MCP SERVER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52CC-262C-4723-8C2E-E432627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declares read-only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capabilities</a:t>
            </a:r>
          </a:p>
        </p:txBody>
      </p:sp>
      <p:sp>
        <p:nvSpPr>
          <p:cNvPr id="6" name="decision-child">
            <a:extLst xmlns:a="http://schemas.openxmlformats.org/drawingml/2006/main">
              <a:ext uri="{FF2B5EF4-FFF2-40B4-BE49-F238E27FC236}">
                <a16:creationId xmlns:a16="http://schemas.microsoft.com/office/drawing/2014/main" id="{E359D7F5-9555-4867-8587-2F8EC52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32575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5E62-2BDC-4F11-8E8E-92ACD6B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2A998-C21C-458F-BEED-486513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647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discovery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allowlist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313B-A32E-4318-B50D-32C786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910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trace · validation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final synthesis</a:t>
            </a:r>
          </a:p>
        </p:txBody>
      </p:sp>
      <p:sp>
        <p:nvSpPr>
          <p:cNvPr id="10" name="decision-parent">
            <a:extLst xmlns:a="http://schemas.openxmlformats.org/drawingml/2006/main">
              <a:ext uri="{FF2B5EF4-FFF2-40B4-BE49-F238E27FC236}">
                <a16:creationId xmlns:a16="http://schemas.microsoft.com/office/drawing/2014/main" id="{7E8CC043-3F7C-4B5E-B01A-E942C33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3543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FD15-7156-4E52-87B2-404D626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LESSON 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EFAC4-B99C-4E5B-B744-4D0EEDB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plans across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capabilities</a:t>
            </a:r>
          </a:p>
        </p:txBody>
      </p:sp>
      <p:cxnSp>
        <p:nvCxnSpPr>
          <p:cNvPr id="32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32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0">
            <a:off x="842010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EF3A-6A25-4B3F-8E60-6108148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12039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4947E-2E2C-4D5A-B088-DFED206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KEEP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A217F-7E45-4462-994A-E1A794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discovery · policy · 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4CAF0-D3F9-408B-B959-2864FA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058E3-0326-4715-852F-1F8B32F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DO NOT ASSUME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9B25E-ADFB-4067-BF4C-46A5AE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discovery grants permission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DAY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Next: plan across financial capabilities with host control.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2026-08-22T06:12:29.8350000Z</dcterms:created>
  <dcterms:modified xsi:type="dcterms:W3CDTF">2026-08-22T06:12:29.8350000Z</dcterms:modified>
</coreProperties>
</file>