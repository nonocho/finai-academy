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3f52ebfd0e44d48" /><Relationship Type="http://schemas.openxmlformats.org/officeDocument/2006/relationships/extended-properties" Target="/docProps/app.xml" Id="Rff7b1e6b3cc14ca5" /><Relationship Type="http://schemas.openxmlformats.org/officeDocument/2006/relationships/officeDocument" Target="/ppt/presentation.xml" Id="R04c29de43c364d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71836cfa134fb9"/>
  </p:sldMasterIdLst>
  <p:notesMasterIdLst>
    <p:notesMasterId xmlns:r="http://schemas.openxmlformats.org/officeDocument/2006/relationships" r:id="R6afbc287c4fa4b8d"/>
  </p:notesMasterIdLst>
  <p:sldIdLst>
    <p:sldId xmlns:r="http://schemas.openxmlformats.org/officeDocument/2006/relationships" id="256" r:id="Re4eb756ef0204014"/>
    <p:sldId xmlns:r="http://schemas.openxmlformats.org/officeDocument/2006/relationships" id="257" r:id="Rbb5794a66bec475c"/>
    <p:sldId xmlns:r="http://schemas.openxmlformats.org/officeDocument/2006/relationships" id="258" r:id="R7ba17464267e43ca"/>
    <p:sldId xmlns:r="http://schemas.openxmlformats.org/officeDocument/2006/relationships" id="259" r:id="R9387d9c5728c4581"/>
    <p:sldId xmlns:r="http://schemas.openxmlformats.org/officeDocument/2006/relationships" id="260" r:id="R2c1f3c892f9f4ccd"/>
    <p:sldId xmlns:r="http://schemas.openxmlformats.org/officeDocument/2006/relationships" id="261" r:id="Rb6d43b8982d44bdc"/>
    <p:sldId xmlns:r="http://schemas.openxmlformats.org/officeDocument/2006/relationships" id="262" r:id="Rb588fd324958471a"/>
    <p:sldId xmlns:r="http://schemas.openxmlformats.org/officeDocument/2006/relationships" id="263" r:id="R808ed1438d1f4ad0"/>
    <p:sldId xmlns:r="http://schemas.openxmlformats.org/officeDocument/2006/relationships" id="264" r:id="Rfb2169458f9948e3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3d0e55ad72c479b" /><Relationship Type="http://schemas.openxmlformats.org/officeDocument/2006/relationships/slideMaster" Target="/ppt/slideMasters/slideMaster1.xml" Id="Rc171836cfa134fb9" /><Relationship Type="http://schemas.openxmlformats.org/officeDocument/2006/relationships/notesMaster" Target="/ppt/notesMasters/notesMaster1.xml" Id="R6afbc287c4fa4b8d" /><Relationship Type="http://schemas.openxmlformats.org/officeDocument/2006/relationships/presProps" Target="/ppt/presProps.xml" Id="Ree435539128e44c1" /><Relationship Type="http://schemas.openxmlformats.org/officeDocument/2006/relationships/tableStyles" Target="/ppt/tableStyles.xml" Id="Rca03bfe3423b4248" /><Relationship Type="http://schemas.openxmlformats.org/officeDocument/2006/relationships/slide" Target="/ppt/slides/slide1.xml" Id="Re4eb756ef0204014" /><Relationship Type="http://schemas.openxmlformats.org/officeDocument/2006/relationships/slide" Target="/ppt/slides/slide2.xml" Id="Rbb5794a66bec475c" /><Relationship Type="http://schemas.openxmlformats.org/officeDocument/2006/relationships/slide" Target="/ppt/slides/slide3.xml" Id="R7ba17464267e43ca" /><Relationship Type="http://schemas.openxmlformats.org/officeDocument/2006/relationships/slide" Target="/ppt/slides/slide4.xml" Id="R9387d9c5728c4581" /><Relationship Type="http://schemas.openxmlformats.org/officeDocument/2006/relationships/slide" Target="/ppt/slides/slide5.xml" Id="R2c1f3c892f9f4ccd" /><Relationship Type="http://schemas.openxmlformats.org/officeDocument/2006/relationships/slide" Target="/ppt/slides/slide6.xml" Id="Rb6d43b8982d44bdc" /><Relationship Type="http://schemas.openxmlformats.org/officeDocument/2006/relationships/slide" Target="/ppt/slides/slide7.xml" Id="Rb588fd324958471a" /><Relationship Type="http://schemas.openxmlformats.org/officeDocument/2006/relationships/slide" Target="/ppt/slides/slide8.xml" Id="R808ed1438d1f4ad0" /><Relationship Type="http://schemas.openxmlformats.org/officeDocument/2006/relationships/slide" Target="/ppt/slides/slide9.xml" Id="Rfb2169458f9948e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054578adad146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dc000309bea4f2b" /><Relationship Type="http://schemas.openxmlformats.org/officeDocument/2006/relationships/notesMaster" Target="/ppt/notesMasters/notesMaster1.xml" Id="R920a3b9407df46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0f2806778044f1" /><Relationship Type="http://schemas.openxmlformats.org/officeDocument/2006/relationships/notesMaster" Target="/ppt/notesMasters/notesMaster1.xml" Id="Rb2dd49c86d1a47d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f039e1982a34742" /><Relationship Type="http://schemas.openxmlformats.org/officeDocument/2006/relationships/notesMaster" Target="/ppt/notesMasters/notesMaster1.xml" Id="R8b5a605d4d63423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60e4a4997774c18" /><Relationship Type="http://schemas.openxmlformats.org/officeDocument/2006/relationships/notesMaster" Target="/ppt/notesMasters/notesMaster1.xml" Id="R5dd0aa3c81ac43f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9a19b9771784ee5" /><Relationship Type="http://schemas.openxmlformats.org/officeDocument/2006/relationships/notesMaster" Target="/ppt/notesMasters/notesMaster1.xml" Id="R85bd35d5324b4b5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afccf8bf0854eb8" /><Relationship Type="http://schemas.openxmlformats.org/officeDocument/2006/relationships/notesMaster" Target="/ppt/notesMasters/notesMaster1.xml" Id="Read6397049cd4ba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2e5a1d3dd94108" /><Relationship Type="http://schemas.openxmlformats.org/officeDocument/2006/relationships/notesMaster" Target="/ppt/notesMasters/notesMaster1.xml" Id="R1ab94a23857c4b2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98f1a968704114" /><Relationship Type="http://schemas.openxmlformats.org/officeDocument/2006/relationships/notesMaster" Target="/ppt/notesMasters/notesMaster1.xml" Id="R5a06c738ed774ef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ae018c5ad644186" /><Relationship Type="http://schemas.openxmlformats.org/officeDocument/2006/relationships/notesMaster" Target="/ppt/notesMasters/notesMaster1.xml" Id="Rec055a1958ff4dc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structured outputs to the next application boundary: which source information enters each call.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- https://developers.openai.com/api/docs/guides/prompt-caching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 the five mechanisms. Context supplies information now; Cache reuses a prefix; Memory retains state; Grounding checks evidence support; RAG selects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https://developers.openai.com/api/docs/guides/prompt-caching</a:t>
            </a:r>
          </a:p>
          <a:p xmlns:a="http://schemas.openxmlformats.org/drawingml/2006/main">
            <a:r>
              <a:t>- https://docs.langchain.com/oss/python/langgraph/add-memory</a:t>
            </a:r>
          </a:p>
          <a:p xmlns:a="http://schemas.openxmlformats.org/drawingml/2006/main">
            <a:r>
              <a:t>- https://arxiv.org/abs/2005.11401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ContextDecision as a typed application record: estimated input, available capacity, route and reason are produced before generation.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https://developers.openai.com/api/docs/guides/prompt-caching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Only the stable prefix is reusable. The answer is generated for each question, and latency alone does not prove a cache hit.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https://developers.openai.com/api/docs/guides/prompt-caching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context window is capacity, not guaranteed attention. Separate the deterministic budget gate from empirical question-level evaluation.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https://arxiv.org/abs/2307.03172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complete context for one bounded stable source; use retrieval when evidence must be selected from a large or changing corpus.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https://arxiv.org/abs/2005.11401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Move into the notebook: budget the NVIDIA extract, inspect ContextDecision, measure two calls, then force an explicit RAG route.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- https://developers.openai.com/api/docs/guides/prompt-caching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Check the three core decisions before the lesson closes.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for one letter per question.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chapters/03-cag-financial-document.md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Correct the quiz and restate the practical rule behind each answer.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learners to explain each rule in their own words.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chapters/03-cag-financial-document.md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464aa6544740f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b2323f0a12c45d6" /><Relationship Type="http://schemas.openxmlformats.org/officeDocument/2006/relationships/slideLayout" Target="/ppt/slideLayouts/slideLayout1.xml" Id="Ra7a4424259d3496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a4424259d3496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9980850a774786" /><Relationship Type="http://schemas.openxmlformats.org/officeDocument/2006/relationships/notesSlide" Target="/ppt/notesSlides/notesSlide1.xml" Id="R2577afbc9f9545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26c296ac1e4339" /><Relationship Type="http://schemas.openxmlformats.org/officeDocument/2006/relationships/notesSlide" Target="/ppt/notesSlides/notesSlide2.xml" Id="Rf34eace3492641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16bceb0ec4be0" /><Relationship Type="http://schemas.openxmlformats.org/officeDocument/2006/relationships/notesSlide" Target="/ppt/notesSlides/notesSlide3.xml" Id="R2238324130b64c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e74a8b8c124075" /><Relationship Type="http://schemas.openxmlformats.org/officeDocument/2006/relationships/notesSlide" Target="/ppt/notesSlides/notesSlide4.xml" Id="R4c45aaa894bf4fd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db44b88c644130" /><Relationship Type="http://schemas.openxmlformats.org/officeDocument/2006/relationships/notesSlide" Target="/ppt/notesSlides/notesSlide5.xml" Id="R562b62f5d02b40f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f5b6094d8642ff" /><Relationship Type="http://schemas.openxmlformats.org/officeDocument/2006/relationships/notesSlide" Target="/ppt/notesSlides/notesSlide6.xml" Id="Rb0f1ffa338134d5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26ad1a4cc048c4" /><Relationship Type="http://schemas.openxmlformats.org/officeDocument/2006/relationships/notesSlide" Target="/ppt/notesSlides/notesSlide7.xml" Id="Rf6d25cdd37c040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5bb4d70bcd4d24" /><Relationship Type="http://schemas.openxmlformats.org/officeDocument/2006/relationships/notesSlide" Target="/ppt/notesSlides/notesSlide8.xml" Id="R731fbdb8df8346d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5f3a23e7bb4c4b" /><Relationship Type="http://schemas.openxmlformats.org/officeDocument/2006/relationships/notesSlide" Target="/ppt/notesSlides/notesSlide9.xml" Id="R885a1a3dafeb4c0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1AC7A-C390-4918-960F-B031B7C9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82EC5-19B2-4E56-87B3-7ADF11BC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049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B1E4B-A80D-4DD8-B9C5-6F19ACF9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933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Context Engineering &amp; CAG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3E63A-968D-469D-97F9-C2D3B82A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240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Complete-document analysis before retrieval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333EC-2C9C-4877-BD13-41F8B87F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10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03  ·  10:45–11:30  ·  15 MIN CONCEPTS + 30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3877F-F854-40AF-9C55-8A4B72F8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1628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7675025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5AB1E4-42AC-4F38-9832-61AB9F79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SYSTEM BOUNDARIES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87317-1AE5-4283-B66E-4DB26DCD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Five mechanisms, five distinct responsibilities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5C689-54CE-4FC2-A8FF-E88EDD6E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5474F-D624-489B-92E8-BD4182BD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Information supplied to this model call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A7CE9-8603-4733-86A0-82043036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08B5E-14CF-4E16-BADC-18EA4B9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CACHE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4DF7E-874E-4566-BFD4-563B7D2D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625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Reuse of an exact stable prefix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0359C-EF48-41D4-A6E9-00E41CF1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67000"/>
            <a:ext cx="78105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2E685-CEFF-4453-8C95-28578E2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051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separate = {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A30A9-E2C4-4827-8E19-657027C5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147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0A2EB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00A2EB"/>
                </a:solidFill>
                <a:latin typeface="Consolas"/>
                <a:ea typeface="Consolas"/>
                <a:cs typeface="Consolas"/>
              </a:rPr>
              <a:t>  "memory": interaction_state,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31728-B735-42CB-93A0-1EC165D1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24350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"grounding": evidence_support,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3C876-E68B-49CA-BC42-27F65639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9339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"RAG": selected_evidence 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656D8-F2F5-4064-95D9-4ECB8677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762625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Mechanisms can coexist; none is a synonym for another.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BA0A2-12FF-4F25-862C-AE57B222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BD8D42-E860-4B95-87E4-3C7FF1FC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224F1-4BCA-4A2F-84C4-3FDCAE79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54E057-3E14-470C-8862-AC0BFD9D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BOUNDARIES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DE638-85F0-4B8A-A0CD-DDDC9FD4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723630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ROUTING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ContextDecision makes the CAG/RAG gate inspectable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Estimate complete input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COUNT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Compare available capacity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Return route + reason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RECORD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Generate only after gate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RUN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TYPED STATE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Context
Decision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route · tokens
reason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The same object becomes trace data in Lesson 07.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DECISION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5AB1E4-42AC-4F38-9832-61AB9F79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PROMPT CACHING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87317-1AE5-4283-B66E-4DB26DCD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CAG reuses the document prefix, not the answer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5C689-54CE-4FC2-A8FF-E88EDD6E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STABLE PREFIX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5474F-D624-489B-92E8-BD4182BD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Instructions + source remain byte-for-byte identical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A7CE9-8603-4733-86A0-82043036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08B5E-14CF-4E16-BADC-18EA4B9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VARIABLE SUFFIX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4DF7E-874E-4566-BFD4-563B7D2D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625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Each question is appended after the document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0359C-EF48-41D4-A6E9-00E41CF1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67000"/>
            <a:ext cx="78105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2E685-CEFF-4453-8C95-28578E2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051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Request A: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A30A9-E2C4-4827-8E19-657027C5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147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0A2EB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00A2EB"/>
                </a:solidFill>
                <a:latin typeface="Consolas"/>
                <a:ea typeface="Consolas"/>
                <a:cs typeface="Consolas"/>
              </a:rPr>
              <a:t>policy → document → question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31728-B735-42CB-93A0-1EC165D1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24350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Request B: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3C876-E68B-49CA-BC42-27F65639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9339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policy → document → question 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656D8-F2F5-4064-95D9-4ECB8677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762625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Measure cache telemetry; latency alone does not prove a hit.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BA0A2-12FF-4F25-862C-AE57B222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BD8D42-E860-4B95-87E4-3C7FF1FC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224F1-4BCA-4A2F-84C4-3FDCAE79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54E057-3E14-470C-8862-AC0BFD9D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CACHE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DE638-85F0-4B8A-A0CD-DDDC9FD4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723630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0BC54A-1309-460D-AD2B-0F18507E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FAILURE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2B95A1-7E53-412C-8974-DFB6A8DF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long context can fit and still be the wrong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C2FBE-FCE9-4D4C-9DBD-D89790B0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181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The window is capacity—not guaranteed attention.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60789-BA8D-4377-A318-F3BEDA9C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52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2BA03-1788-4BE1-A884-B111371C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92F82-4B68-493F-A374-EE0CF32C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Window overflow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641AFC-2FEB-434F-ADB4-9127D780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EEE86-8AD2-4FC0-A0CA-3F399245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Relevance dilution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A9F77B-9D95-469A-B256-2B019874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0B1BF-7CCF-4161-9AFF-CC9F8DCA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Lost in the middle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8CF07A-926D-46C1-84B0-CB0E949F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E6400-99FC-4D00-A8CB-D89D7FA7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Latency and cost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04CD7E-4803-4104-8338-9D962B7E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270AE8-D659-434A-B5EA-AB73577F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Privacy scope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780C9E-1A2E-4219-955F-7ED3FB5C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496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Use a deterministic budget gate; evaluate attention with representative questions.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DF59FE-4FEE-42DE-92D0-4AA13823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D1BFF5-CF10-414F-A9A1-5F4FE7F2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A777C2-72B8-4165-974F-061823F0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6DE7B0-9049-4B6C-8B3A-B01028AA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FAILURE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657728-BC95-4348-AF6C-34919712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106566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EB10B4-0FED-42C3-8AA0-5BAB4CEF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ROUTING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BB064-4AE8-44EA-963D-8F76C6A2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CAG fits bounded sources; RAG selects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A505F-3B0C-49A0-98CF-6D6175D6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0"/>
            <a:ext cx="4381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Direct CAG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41D26-D959-489A-A086-84E33038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One stable, bounded document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22A8F-16AD-44AB-BA1E-BB7C095B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241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C6626-7591-4116-BDA4-36A1BF72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5750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Retrieval + RAG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A65EC-CF94-4DE7-B420-D90CF126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052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Large, changing or multi-document corpus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E439B-7E83-494E-A3B5-46C4B699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[USE]  complete context · repeated questions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113A5-935F-4D64-84B0-5B781937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666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[USE]  select evidence · preserve citations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22730-1A2F-437A-8161-C3EA5A7E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343650"/>
            <a:ext cx="1181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route is an application decision recorded before generation.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99A9B-F12A-48FE-953D-620804A3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4C9EE8-1362-49E4-BFD2-8CCFD9A2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206614-6877-4386-9D02-F474A613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1FCDDD-754E-4B46-A9F3-09ADE649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ROUTING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3E1F1-C1E6-4C5D-B5BB-8ED1767C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780342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NOTEBOOK MISSION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Make the CAG boundary visible before building retrieval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Load the NVIDIA fiscal 2026 extract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RUN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Visualize the context allocation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Ask two repeated-prefix questions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MEASURE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Force the budget gate to reject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NOW RUN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Notebook 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Load → budget → ask → stress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Five executable figures; same notebook code with Ollama or OpenAI.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NOTEBOOK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1AC7A-C390-4918-960F-B031B7C9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82EC5-19B2-4E56-87B3-7ADF11BC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049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B1E4B-A80D-4DD8-B9C5-6F19ACF9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933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Quick quiz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3E63A-968D-469D-97F9-C2D3B82A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240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Choose one answer for each question.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333EC-2C9C-4877-BD13-41F8B87F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10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03  ·  3 QUESTIONS  ·  3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3877F-F854-40AF-9C55-8A4B72F8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1628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question-1">
            <a:extLst xmlns:a="http://schemas.openxmlformats.org/drawingml/2006/main">
              <a:ext uri="{FF2B5EF4-FFF2-40B4-BE49-F238E27FC236}">
                <a16:creationId xmlns:a16="http://schemas.microsoft.com/office/drawing/2014/main" id="{701EDEF2-0EDE-4EBA-8C08-BDFB693E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1. When is CAG a good first route?</a:t>
            </a:r>
          </a:p>
        </p:txBody>
      </p:sp>
      <p:sp>
        <p:nvSpPr>
          <p:cNvPr id="9" name="quiz-options-1">
            <a:extLst xmlns:a="http://schemas.openxmlformats.org/drawingml/2006/main">
              <a:ext uri="{FF2B5EF4-FFF2-40B4-BE49-F238E27FC236}">
                <a16:creationId xmlns:a16="http://schemas.microsoft.com/office/drawing/2014/main" id="{25DC8C3A-7428-4CD7-88ED-402F25467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One bounded document fits     |     B  Millions of files     |     C  No source exists</a:t>
            </a:r>
          </a:p>
        </p:txBody>
      </p:sp>
      <p:sp>
        <p:nvSpPr>
          <p:cNvPr id="10" name="quiz-question-2">
            <a:extLst xmlns:a="http://schemas.openxmlformats.org/drawingml/2006/main">
              <a:ext uri="{FF2B5EF4-FFF2-40B4-BE49-F238E27FC236}">
                <a16:creationId xmlns:a16="http://schemas.microsoft.com/office/drawing/2014/main" id="{345F5A28-D23A-47D4-9557-51B2B041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2. Does a cache prove that an answer is grounded?</a:t>
            </a:r>
          </a:p>
        </p:txBody>
      </p:sp>
      <p:sp>
        <p:nvSpPr>
          <p:cNvPr id="11" name="quiz-options-2">
            <a:extLst xmlns:a="http://schemas.openxmlformats.org/drawingml/2006/main">
              <a:ext uri="{FF2B5EF4-FFF2-40B4-BE49-F238E27FC236}">
                <a16:creationId xmlns:a16="http://schemas.microsoft.com/office/drawing/2014/main" id="{4126F217-F7ED-4ACE-8941-8EA25E978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Always     |     B  No     |     C  Only with streaming</a:t>
            </a:r>
          </a:p>
        </p:txBody>
      </p:sp>
      <p:sp>
        <p:nvSpPr>
          <p:cNvPr id="12" name="quiz-question-3">
            <a:extLst xmlns:a="http://schemas.openxmlformats.org/drawingml/2006/main">
              <a:ext uri="{FF2B5EF4-FFF2-40B4-BE49-F238E27FC236}">
                <a16:creationId xmlns:a16="http://schemas.microsoft.com/office/drawing/2014/main" id="{53D2F7D8-0E44-44F4-98D9-EB519BF0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3. What does RAG do before generation?</a:t>
            </a:r>
          </a:p>
        </p:txBody>
      </p:sp>
      <p:sp>
        <p:nvSpPr>
          <p:cNvPr id="13" name="quiz-options-3">
            <a:extLst xmlns:a="http://schemas.openxmlformats.org/drawingml/2006/main">
              <a:ext uri="{FF2B5EF4-FFF2-40B4-BE49-F238E27FC236}">
                <a16:creationId xmlns:a16="http://schemas.microsoft.com/office/drawing/2014/main" id="{2E522A68-7CDD-4D76-A2AA-BA692179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Select evidence     |     B  Train a model     |     C  Remove citations</a:t>
            </a:r>
          </a:p>
        </p:txBody>
      </p:sp>
    </p:spTree>
    <p:extLst>
      <p:ext uri="{BB962C8B-B14F-4D97-AF65-F5344CB8AC3E}">
        <p14:creationId xmlns:p14="http://schemas.microsoft.com/office/powerpoint/2010/main" val="7675025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1AC7A-C390-4918-960F-B031B7C9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82EC5-19B2-4E56-87B3-7ADF11BC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049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B1E4B-A80D-4DD8-B9C5-6F19ACF9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933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Answers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3E63A-968D-469D-97F9-C2D3B82A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240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Check the idea, not only the letter.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333EC-2C9C-4877-BD13-41F8B87F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10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03  ·  CORRECTION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3877F-F854-40AF-9C55-8A4B72F8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1628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answer-1">
            <a:extLst xmlns:a="http://schemas.openxmlformats.org/drawingml/2006/main">
              <a:ext uri="{FF2B5EF4-FFF2-40B4-BE49-F238E27FC236}">
                <a16:creationId xmlns:a16="http://schemas.microsoft.com/office/drawing/2014/main" id="{1A74C5CB-75F9-48AD-822A-69D990D6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1. A. One bounded document fits</a:t>
            </a:r>
          </a:p>
        </p:txBody>
      </p:sp>
      <p:sp>
        <p:nvSpPr>
          <p:cNvPr id="9" name="quiz-explanation-1">
            <a:extLst xmlns:a="http://schemas.openxmlformats.org/drawingml/2006/main">
              <a:ext uri="{FF2B5EF4-FFF2-40B4-BE49-F238E27FC236}">
                <a16:creationId xmlns:a16="http://schemas.microsoft.com/office/drawing/2014/main" id="{207853E3-FB20-44D4-A6D1-BA0D3DB7B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CAG works when the complete source can stay inside the context budget.</a:t>
            </a:r>
          </a:p>
        </p:txBody>
      </p:sp>
      <p:sp>
        <p:nvSpPr>
          <p:cNvPr id="10" name="quiz-answer-2">
            <a:extLst xmlns:a="http://schemas.openxmlformats.org/drawingml/2006/main">
              <a:ext uri="{FF2B5EF4-FFF2-40B4-BE49-F238E27FC236}">
                <a16:creationId xmlns:a16="http://schemas.microsoft.com/office/drawing/2014/main" id="{78500EFD-B26A-4DAE-9A45-8482BEE6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2. B. No</a:t>
            </a:r>
          </a:p>
        </p:txBody>
      </p:sp>
      <p:sp>
        <p:nvSpPr>
          <p:cNvPr id="11" name="quiz-explanation-2">
            <a:extLst xmlns:a="http://schemas.openxmlformats.org/drawingml/2006/main">
              <a:ext uri="{FF2B5EF4-FFF2-40B4-BE49-F238E27FC236}">
                <a16:creationId xmlns:a16="http://schemas.microsoft.com/office/drawing/2014/main" id="{991B9827-4B74-443A-A5A9-265E5013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cache reuses input bytes; grounding still needs evidence checks.</a:t>
            </a:r>
          </a:p>
        </p:txBody>
      </p:sp>
      <p:sp>
        <p:nvSpPr>
          <p:cNvPr id="12" name="quiz-answer-3">
            <a:extLst xmlns:a="http://schemas.openxmlformats.org/drawingml/2006/main">
              <a:ext uri="{FF2B5EF4-FFF2-40B4-BE49-F238E27FC236}">
                <a16:creationId xmlns:a16="http://schemas.microsoft.com/office/drawing/2014/main" id="{6DDBC1B7-1AF6-4212-AA76-7629EF16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3. A. Select evidence</a:t>
            </a:r>
          </a:p>
        </p:txBody>
      </p:sp>
      <p:sp>
        <p:nvSpPr>
          <p:cNvPr id="13" name="quiz-explanation-3">
            <a:extLst xmlns:a="http://schemas.openxmlformats.org/drawingml/2006/main">
              <a:ext uri="{FF2B5EF4-FFF2-40B4-BE49-F238E27FC236}">
                <a16:creationId xmlns:a16="http://schemas.microsoft.com/office/drawing/2014/main" id="{F75A1060-5E96-4C82-9CAB-17B756A9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RAG retrieves a smaller relevant evidence set before the model answers.</a:t>
            </a:r>
          </a:p>
        </p:txBody>
      </p:sp>
    </p:spTree>
    <p:extLst>
      <p:ext uri="{BB962C8B-B14F-4D97-AF65-F5344CB8AC3E}">
        <p14:creationId xmlns:p14="http://schemas.microsoft.com/office/powerpoint/2010/main" val="7675025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2026-08-24T19:24:31.6470000Z</dcterms:created>
  <dcterms:modified xsi:type="dcterms:W3CDTF">2026-08-24T19:24:31.6470000Z</dcterms:modified>
</coreProperties>
</file>