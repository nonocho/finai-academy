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31ccd13c40475f" /><Relationship Type="http://schemas.openxmlformats.org/officeDocument/2006/relationships/extended-properties" Target="/docProps/app.xml" Id="R74de851492064175" /><Relationship Type="http://schemas.openxmlformats.org/officeDocument/2006/relationships/officeDocument" Target="/ppt/presentation.xml" Id="R5dc41756def04b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a1a195022354c97"/>
  </p:sldMasterIdLst>
  <p:notesMasterIdLst>
    <p:notesMasterId xmlns:r="http://schemas.openxmlformats.org/officeDocument/2006/relationships" r:id="Rf81ecdf2599d4ea3"/>
  </p:notesMasterIdLst>
  <p:sldIdLst>
    <p:sldId xmlns:r="http://schemas.openxmlformats.org/officeDocument/2006/relationships" id="256" r:id="R3357926226ce4e81"/>
    <p:sldId xmlns:r="http://schemas.openxmlformats.org/officeDocument/2006/relationships" id="257" r:id="Re55b7b5cbd98475b"/>
    <p:sldId xmlns:r="http://schemas.openxmlformats.org/officeDocument/2006/relationships" id="258" r:id="Ra239a3e9b62c49fc"/>
    <p:sldId xmlns:r="http://schemas.openxmlformats.org/officeDocument/2006/relationships" id="259" r:id="R659fd9eccc034404"/>
    <p:sldId xmlns:r="http://schemas.openxmlformats.org/officeDocument/2006/relationships" id="260" r:id="R55bfef7c2b0e4e6d"/>
    <p:sldId xmlns:r="http://schemas.openxmlformats.org/officeDocument/2006/relationships" id="261" r:id="R1e1a816a53af4b57"/>
    <p:sldId xmlns:r="http://schemas.openxmlformats.org/officeDocument/2006/relationships" id="262" r:id="R6456ac5e49ca4111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db245fc64c44414" /><Relationship Type="http://schemas.openxmlformats.org/officeDocument/2006/relationships/slideMaster" Target="/ppt/slideMasters/slideMaster1.xml" Id="R9a1a195022354c97" /><Relationship Type="http://schemas.openxmlformats.org/officeDocument/2006/relationships/notesMaster" Target="/ppt/notesMasters/notesMaster1.xml" Id="Rf81ecdf2599d4ea3" /><Relationship Type="http://schemas.openxmlformats.org/officeDocument/2006/relationships/presProps" Target="/ppt/presProps.xml" Id="R4308d212b3414f28" /><Relationship Type="http://schemas.openxmlformats.org/officeDocument/2006/relationships/tableStyles" Target="/ppt/tableStyles.xml" Id="R2a03aa9386f34045" /><Relationship Type="http://schemas.openxmlformats.org/officeDocument/2006/relationships/slide" Target="/ppt/slides/slide1.xml" Id="R3357926226ce4e81" /><Relationship Type="http://schemas.openxmlformats.org/officeDocument/2006/relationships/slide" Target="/ppt/slides/slide2.xml" Id="Re55b7b5cbd98475b" /><Relationship Type="http://schemas.openxmlformats.org/officeDocument/2006/relationships/slide" Target="/ppt/slides/slide3.xml" Id="Ra239a3e9b62c49fc" /><Relationship Type="http://schemas.openxmlformats.org/officeDocument/2006/relationships/slide" Target="/ppt/slides/slide4.xml" Id="R659fd9eccc034404" /><Relationship Type="http://schemas.openxmlformats.org/officeDocument/2006/relationships/slide" Target="/ppt/slides/slide5.xml" Id="R55bfef7c2b0e4e6d" /><Relationship Type="http://schemas.openxmlformats.org/officeDocument/2006/relationships/slide" Target="/ppt/slides/slide6.xml" Id="R1e1a816a53af4b57" /><Relationship Type="http://schemas.openxmlformats.org/officeDocument/2006/relationships/slide" Target="/ppt/slides/slide7.xml" Id="R6456ac5e49ca41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c989c462dc146b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d6e9c9f4d2046a8" /><Relationship Type="http://schemas.openxmlformats.org/officeDocument/2006/relationships/notesMaster" Target="/ppt/notesMasters/notesMaster1.xml" Id="Re75ca3680d8e40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5a471ad558749dc" /><Relationship Type="http://schemas.openxmlformats.org/officeDocument/2006/relationships/notesMaster" Target="/ppt/notesMasters/notesMaster1.xml" Id="R3230249a60e2421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bdba732dcff4aae" /><Relationship Type="http://schemas.openxmlformats.org/officeDocument/2006/relationships/notesMaster" Target="/ppt/notesMasters/notesMaster1.xml" Id="R12dea0663d6241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dde90b66bd74fdb" /><Relationship Type="http://schemas.openxmlformats.org/officeDocument/2006/relationships/notesMaster" Target="/ppt/notesMasters/notesMaster1.xml" Id="R2dd761cac6d84b0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c8bb842518a443d" /><Relationship Type="http://schemas.openxmlformats.org/officeDocument/2006/relationships/notesMaster" Target="/ppt/notesMasters/notesMaster1.xml" Id="Rc6b9a6587864495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e7da773bf134b91" /><Relationship Type="http://schemas.openxmlformats.org/officeDocument/2006/relationships/notesMaster" Target="/ppt/notesMasters/notesMaster1.xml" Id="R6bbaf7bc7f3e40e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cc92e990a29430b" /><Relationship Type="http://schemas.openxmlformats.org/officeDocument/2006/relationships/notesMaster" Target="/ppt/notesMasters/notesMaster1.xml" Id="R5df8d1c3960449a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engineering question: when is the simplest complete-document path sufficient, and when must the application retrieve evidence?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context engineering from prompt wording. Walk through every token consumer, including the answer reservation.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https://developers.openai.com/api/docs/guides/prompt-caching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central architecture diagram. The budget gate is deterministic; grounding is verified after the model response.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Exact prefix reuse is the portable design rule. A provider cache is an efficiency feature; inspect returned usage metadata before claiming a hit.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https://developers.openai.com/api/docs/guides/prompt-caching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Distinguish capacity from attention. The cited study found that performance can vary with the position of relevant information in long contexts.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https://arxiv.org/abs/2307.03172</a:t>
            </a:r>
          </a:p>
          <a:p xmlns:a="http://schemas.openxmlformats.org/drawingml/2006/main">
            <a:r>
              <a:t>- https://developers.openai.com/api/docs/guides/prompt-caching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the class to choose the route for a single annual report, then for several years and companies. Record the route before generation.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Move into Notebook 03. Students will produce five figures, make two model calls and observe the budget gate reject a longer stress document.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- https://developers.openai.com/api/docs/guides/prompt-caching</a:t>
            </a:r>
          </a:p>
          <a:p xmlns:a="http://schemas.openxmlformats.org/drawingml/2006/main">
            <a:r>
              <a:t>- https://arxiv.org/abs/2307.03172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75cc33a4104f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0836e0e764d42e0" /><Relationship Type="http://schemas.openxmlformats.org/officeDocument/2006/relationships/slideLayout" Target="/ppt/slideLayouts/slideLayout1.xml" Id="R331608b6371b448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31608b6371b448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8d01853d1a4f42" /><Relationship Type="http://schemas.openxmlformats.org/officeDocument/2006/relationships/notesSlide" Target="/ppt/notesSlides/notesSlide1.xml" Id="Rff0ec0a910b84c0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457903c75d456a" /><Relationship Type="http://schemas.openxmlformats.org/officeDocument/2006/relationships/notesSlide" Target="/ppt/notesSlides/notesSlide2.xml" Id="R495beb9c9e8b49a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4db6d1e7464094" /><Relationship Type="http://schemas.openxmlformats.org/officeDocument/2006/relationships/notesSlide" Target="/ppt/notesSlides/notesSlide3.xml" Id="R3ca3f720773a4ad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368734fdb442fd" /><Relationship Type="http://schemas.openxmlformats.org/officeDocument/2006/relationships/notesSlide" Target="/ppt/notesSlides/notesSlide4.xml" Id="R4c6ba04fa2234b0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f17914cf754637" /><Relationship Type="http://schemas.openxmlformats.org/officeDocument/2006/relationships/notesSlide" Target="/ppt/notesSlides/notesSlide5.xml" Id="Reeb81c893df9474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c8273ef0f34d33" /><Relationship Type="http://schemas.openxmlformats.org/officeDocument/2006/relationships/notesSlide" Target="/ppt/notesSlides/notesSlide6.xml" Id="R9ca701c2b15645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ad9494c22f4ca5" /><Relationship Type="http://schemas.openxmlformats.org/officeDocument/2006/relationships/notesSlide" Target="/ppt/notesSlides/notesSlide7.xml" Id="Refb84ec558b84bc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1AC7A-C390-4918-960F-B031B7C9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82EC5-19B2-4E56-87B3-7ADF11BC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049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8B1E4B-A80D-4DD8-B9C5-6F19ACF9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933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Context Engineering &amp; CAG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3E63A-968D-469D-97F9-C2D3B82A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240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Complete-document analysis before retrieval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333EC-2C9C-4877-BD13-41F8B87F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10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03  ·  10:45–11:30  ·  15 MIN CONCEPTS + 30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3877F-F854-40AF-9C55-8A4B72F8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1628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Financial Analyst Copilot</a:t>
            </a:r>
          </a:p>
        </p:txBody>
      </p:sp>
    </p:spTree>
    <p:extLst>
      <p:ext uri="{BB962C8B-B14F-4D97-AF65-F5344CB8AC3E}">
        <p14:creationId xmlns:p14="http://schemas.microsoft.com/office/powerpoint/2010/main" val="7675025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5AB1E4-42AC-4F38-9832-61AB9F79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CONTEXT COMPOSITION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87317-1AE5-4283-B66E-4DB26DCD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Context engineering controls what the model can see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5C689-54CE-4FC2-A8FF-E88EDD6E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STABLE POLICY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5474F-D624-489B-92E8-BD4182BD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Role, evidence rules and output contract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A7CE9-8603-4733-86A0-82043036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409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08B5E-14CF-4E16-BADC-18EA4B95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WORKING CONTEXT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4DF7E-874E-4566-BFD4-563B7D2D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625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Complete document plus the current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0359C-EF48-41D4-A6E9-00E41CF1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67000"/>
            <a:ext cx="78105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2E685-CEFF-4453-8C95-28578E2D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1051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request = {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1A30A9-E2C4-4827-8E19-657027C5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147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0A2EB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00A2EB"/>
                </a:solidFill>
                <a:latin typeface="Consolas"/>
                <a:ea typeface="Consolas"/>
                <a:cs typeface="Consolas"/>
              </a:rPr>
              <a:t>  "instructions": stable_policy,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31728-B735-42CB-93A0-1EC165D1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24350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"document": full_source,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3C876-E68B-49CA-BC42-27F65639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9339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"question": current_question  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F656D8-F2F5-4064-95D9-4ECB8677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762625"/>
            <a:ext cx="628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Budget the complete request—not the document in isolation.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BA0A2-12FF-4F25-862C-AE57B222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BD8D42-E860-4B95-87E4-3C7FF1FC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224F1-4BCA-4A2F-84C4-3FDCAE79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54E057-3E14-470C-8862-AC0BFD9D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CONTEXT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ADE638-85F0-4B8A-A0CD-DDDC9FD4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723630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C48A24-E18F-4399-84FF-49EC1D75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CAG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4DED0-BD05-4639-BE3C-BD8A49B9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full-context answer passes through four explicit stages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0C483-A890-47EA-A072-5D9086A1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E515B-5F3B-40A3-8912-9F85F0FE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194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Complete document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F432C-0929-4FB7-9EB4-33A2C51C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LOAD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A1F7B-8EE0-471C-AA17-75A5671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099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63C6A-1C80-47E2-9174-F44504B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957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1B42D-9ED7-495A-B9A4-706CAD68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657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Context budget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9279A-F56C-43A4-BB61-5DBED2EC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957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GATE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D85C8-4C83-4C3E-8F6A-367A4318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488D8-189E-4BB9-9C55-CA27344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339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2B6DC-830C-4BC9-8851-A3888182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958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Stable prompt prefix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92F15-B968-44A2-AC9F-1F44F75B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REUSE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FCC08-CC44-427D-9C16-AD71F4A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863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19D6C-4B5E-42DF-9DFC-40856CEA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721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A7A6E-EE89-4E7C-A0E4-A0D3E684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340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Grounded model answer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232DB-9ADA-4EC0-9488-23F6FAAF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721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VERIFY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021EC-EF4B-4696-AC90-EE4C0AB7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9245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510A64-1653-4D80-B5B0-A343D07C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14650"/>
            <a:ext cx="33337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24CC2-8886-4470-A433-8B2BDCC9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BOUNDED SOURCE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10502-B50A-464D-8CBF-05C06A0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CAG
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057516-ABAC-4FB1-A462-D76649AC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95300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 retrieval.
One complete source.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74979B-71B7-425A-85CB-FF6AD6AC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667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If the gate rejects the prompt, stop before the model call.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53963-99F6-474D-AE9E-6D102866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8137A-5475-4121-BA20-053FF731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26838F-9E9E-49AC-8F5A-4888689C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2728AD-6B3E-41C8-9959-16F49065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ARCHITECTURE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00A979-B0DA-491D-BECE-B4073BB3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234532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5AB1E4-42AC-4F38-9832-61AB9F79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PROMPT CACHING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87317-1AE5-4283-B66E-4DB26DCD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CAG reuses the document prefix, not the answer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5C689-54CE-4FC2-A8FF-E88EDD6E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STABLE PREFIX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5474F-D624-489B-92E8-BD4182BD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Instructions + source remain byte-for-byte identical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A7CE9-8603-4733-86A0-82043036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409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08B5E-14CF-4E16-BADC-18EA4B95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VARIABLE SUFFIX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4DF7E-874E-4566-BFD4-563B7D2D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625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Each question is appended after the document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0359C-EF48-41D4-A6E9-00E41CF1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67000"/>
            <a:ext cx="78105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2E685-CEFF-4453-8C95-28578E2D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1051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Request A: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1A30A9-E2C4-4827-8E19-657027C5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147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0A2EB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00A2EB"/>
                </a:solidFill>
                <a:latin typeface="Consolas"/>
                <a:ea typeface="Consolas"/>
                <a:cs typeface="Consolas"/>
              </a:rPr>
              <a:t>policy → document → question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31728-B735-42CB-93A0-1EC165D1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24350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Request B: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3C876-E68B-49CA-BC42-27F65639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9339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policy → document → question 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F656D8-F2F5-4064-95D9-4ECB8677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762625"/>
            <a:ext cx="628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Measure cache telemetry; latency alone does not prove a hit.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BA0A2-12FF-4F25-862C-AE57B222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BD8D42-E860-4B95-87E4-3C7FF1FC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224F1-4BCA-4A2F-84C4-3FDCAE79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54E057-3E14-470C-8862-AC0BFD9D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CACHE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ADE638-85F0-4B8A-A0CD-DDDC9FD4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723630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0BC54A-1309-460D-AD2B-0F18507E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FAILURE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2B95A1-7E53-412C-8974-DFB6A8DF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long context can fit and still be the wrong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1C2FBE-FCE9-4D4C-9DBD-D89790B0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1811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The window is capacity—not guaranteed attention.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F60789-BA8D-4377-A318-F3BEDA9C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52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2BA03-1788-4BE1-A884-B111371C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D92F82-4B68-493F-A374-EE0CF32C7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Window overflow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641AFC-2FEB-434F-ADB4-9127D780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0EEE86-8AD2-4FC0-A0CA-3F399245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Relevance dilution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A9F77B-9D95-469A-B256-2B019874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20B1BF-7CCF-4161-9AFF-CC9F8DCA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Lost in the middle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8CF07A-926D-46C1-84B0-CB0E949F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8E6400-99FC-4D00-A8CB-D89D7FA7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Latency and cost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04CD7E-4803-4104-8338-9D962B7E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270AE8-D659-434A-B5EA-AB73577F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Privacy scope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780C9E-1A2E-4219-955F-7ED3FB5C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4960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Use a deterministic budget gate; evaluate attention with representative questions.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DF59FE-4FEE-42DE-92D0-4AA13823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D1BFF5-CF10-414F-A9A1-5F4FE7F2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A777C2-72B8-4165-974F-061823F0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6DE7B0-9049-4B6C-8B3A-B01028AA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FAILURE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657728-BC95-4348-AF6C-34919712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106566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EB10B4-0FED-42C3-8AA0-5BAB4CEF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ROUTING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5BB064-4AE8-44EA-963D-8F76C6A2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CAG fits bounded sources; RAG selects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A505F-3B0C-49A0-98CF-6D6175D6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0"/>
            <a:ext cx="4381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Direct CAG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41D26-D959-489A-A086-84E33038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One stable, bounded document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522A8F-16AD-44AB-BA1E-BB7C095B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241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C6626-7591-4116-BDA4-36A1BF72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5750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Retrieval + RAG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3A65EC-CF94-4DE7-B420-D90CF126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052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Large, changing or multi-document corpus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8E439B-7E83-494E-A3B5-46C4B699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[USE]  complete context · repeated questions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113A5-935F-4D64-84B0-5B781937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53000"/>
            <a:ext cx="666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[USE]  select evidence · preserve citations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22730-1A2F-437A-8161-C3EA5A7E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343650"/>
            <a:ext cx="1181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route is an application decision recorded before generation.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99A9B-F12A-48FE-953D-620804A3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4C9EE8-1362-49E4-BFD2-8CCFD9A2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206614-6877-4386-9D02-F474A613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1FCDDD-754E-4B46-A9F3-09ADE649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ROUTING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F3E1F1-C1E6-4C5D-B5BB-8ED1767C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780342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C48A24-E18F-4399-84FF-49EC1D75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NOTEBOOK MISSION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4DED0-BD05-4639-BE3C-BD8A49B9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Make the CAG boundary visible before building retrieval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0C483-A890-47EA-A072-5D9086A1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E515B-5F3B-40A3-8912-9F85F0FE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194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Load the NVIDIA fiscal 2026 extract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F432C-0929-4FB7-9EB4-33A2C51C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RUN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A1F7B-8EE0-471C-AA17-75A5671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099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63C6A-1C80-47E2-9174-F44504B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957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1B42D-9ED7-495A-B9A4-706CAD68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657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Visualize the context allocation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9279A-F56C-43A4-BB61-5DBED2EC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957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D85C8-4C83-4C3E-8F6A-367A4318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488D8-189E-4BB9-9C55-CA27344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339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2B6DC-830C-4BC9-8851-A3888182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958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Ask two repeated-prefix questions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92F15-B968-44A2-AC9F-1F44F75B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MEASURE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FCC08-CC44-427D-9C16-AD71F4A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863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19D6C-4B5E-42DF-9DFC-40856CEA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721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A7A6E-EE89-4E7C-A0E4-A0D3E684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340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Force the budget gate to reject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232DB-9ADA-4EC0-9488-23F6FAAF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721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021EC-EF4B-4696-AC90-EE4C0AB7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9245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510A64-1653-4D80-B5B0-A343D07C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14650"/>
            <a:ext cx="33337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24CC2-8886-4470-A433-8B2BDCC9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NOW RUN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10502-B50A-464D-8CBF-05C06A0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Notebook 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057516-ABAC-4FB1-A462-D76649AC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95300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Load → budget → ask → stress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74979B-71B7-425A-85CB-FF6AD6AC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667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Five executable figures; same notebook code with Ollama or OpenAI.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53963-99F6-474D-AE9E-6D102866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8137A-5475-4121-BA20-053FF731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26838F-9E9E-49AC-8F5A-4888689C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2728AD-6B3E-41C8-9959-16F49065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NOTEBOOK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00A979-B0DA-491D-BECE-B4073BB3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234532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2026-08-15T08:39:08.0500000Z</dcterms:created>
  <dcterms:modified xsi:type="dcterms:W3CDTF">2026-08-15T08:39:08.0500000Z</dcterms:modified>
</coreProperties>
</file>