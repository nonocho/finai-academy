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dd4a5c88624bff" /><Relationship Type="http://schemas.openxmlformats.org/officeDocument/2006/relationships/extended-properties" Target="/docProps/app.xml" Id="R2cc9fbd04b86432d" /><Relationship Type="http://schemas.openxmlformats.org/officeDocument/2006/relationships/officeDocument" Target="/ppt/presentation.xml" Id="R959f6372603540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20e093630742ae"/>
  </p:sldMasterIdLst>
  <p:notesMasterIdLst>
    <p:notesMasterId xmlns:r="http://schemas.openxmlformats.org/officeDocument/2006/relationships" r:id="Rd125b9492f254ec6"/>
  </p:notesMasterIdLst>
  <p:sldIdLst>
    <p:sldId xmlns:r="http://schemas.openxmlformats.org/officeDocument/2006/relationships" id="256" r:id="R826e4f3e30b44882"/>
    <p:sldId xmlns:r="http://schemas.openxmlformats.org/officeDocument/2006/relationships" id="257" r:id="R30554c0e7bc64d1c"/>
    <p:sldId xmlns:r="http://schemas.openxmlformats.org/officeDocument/2006/relationships" id="258" r:id="R286efe27989b4be5"/>
    <p:sldId xmlns:r="http://schemas.openxmlformats.org/officeDocument/2006/relationships" id="259" r:id="Rfdde8bfaf30447fa"/>
    <p:sldId xmlns:r="http://schemas.openxmlformats.org/officeDocument/2006/relationships" id="260" r:id="R4f6a742e29444350"/>
    <p:sldId xmlns:r="http://schemas.openxmlformats.org/officeDocument/2006/relationships" id="261" r:id="Re88b444427984b7e"/>
    <p:sldId xmlns:r="http://schemas.openxmlformats.org/officeDocument/2006/relationships" id="262" r:id="Rde2c7e27fb6647c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bff866bc48046e3" /><Relationship Type="http://schemas.openxmlformats.org/officeDocument/2006/relationships/slideMaster" Target="/ppt/slideMasters/slideMaster1.xml" Id="Rfe20e093630742ae" /><Relationship Type="http://schemas.openxmlformats.org/officeDocument/2006/relationships/notesMaster" Target="/ppt/notesMasters/notesMaster1.xml" Id="Rd125b9492f254ec6" /><Relationship Type="http://schemas.openxmlformats.org/officeDocument/2006/relationships/presProps" Target="/ppt/presProps.xml" Id="R5ec6b10f0b0c4fb8" /><Relationship Type="http://schemas.openxmlformats.org/officeDocument/2006/relationships/tableStyles" Target="/ppt/tableStyles.xml" Id="R1b25b8aa26c84c31" /><Relationship Type="http://schemas.openxmlformats.org/officeDocument/2006/relationships/slide" Target="/ppt/slides/slide1.xml" Id="R826e4f3e30b44882" /><Relationship Type="http://schemas.openxmlformats.org/officeDocument/2006/relationships/slide" Target="/ppt/slides/slide2.xml" Id="R30554c0e7bc64d1c" /><Relationship Type="http://schemas.openxmlformats.org/officeDocument/2006/relationships/slide" Target="/ppt/slides/slide3.xml" Id="R286efe27989b4be5" /><Relationship Type="http://schemas.openxmlformats.org/officeDocument/2006/relationships/slide" Target="/ppt/slides/slide4.xml" Id="Rfdde8bfaf30447fa" /><Relationship Type="http://schemas.openxmlformats.org/officeDocument/2006/relationships/slide" Target="/ppt/slides/slide5.xml" Id="R4f6a742e29444350" /><Relationship Type="http://schemas.openxmlformats.org/officeDocument/2006/relationships/slide" Target="/ppt/slides/slide6.xml" Id="Re88b444427984b7e" /><Relationship Type="http://schemas.openxmlformats.org/officeDocument/2006/relationships/slide" Target="/ppt/slides/slide7.xml" Id="Rde2c7e27fb6647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46bdc565ea41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031759b8c8451a" /><Relationship Type="http://schemas.openxmlformats.org/officeDocument/2006/relationships/notesMaster" Target="/ppt/notesMasters/notesMaster1.xml" Id="Ra1611fc936b04b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f3a41168fa429e" /><Relationship Type="http://schemas.openxmlformats.org/officeDocument/2006/relationships/notesMaster" Target="/ppt/notesMasters/notesMaster1.xml" Id="Rd460ad0282f949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80665a781d428b" /><Relationship Type="http://schemas.openxmlformats.org/officeDocument/2006/relationships/notesMaster" Target="/ppt/notesMasters/notesMaster1.xml" Id="R6ca022c8eba74d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ffee38d083456f" /><Relationship Type="http://schemas.openxmlformats.org/officeDocument/2006/relationships/notesMaster" Target="/ppt/notesMasters/notesMaster1.xml" Id="R98506883e2494a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1ea51e56ba404f" /><Relationship Type="http://schemas.openxmlformats.org/officeDocument/2006/relationships/notesMaster" Target="/ppt/notesMasters/notesMaster1.xml" Id="R7b963139150f40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3489fd58a14dea" /><Relationship Type="http://schemas.openxmlformats.org/officeDocument/2006/relationships/notesMaster" Target="/ppt/notesMasters/notesMaster1.xml" Id="R282b0d52500c4d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8d41de3d759415c" /><Relationship Type="http://schemas.openxmlformats.org/officeDocument/2006/relationships/notesMaster" Target="/ppt/notesMasters/notesMaster1.xml" Id="Rb6cedca55f3f4f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structured outputs to the next application boundary: which source information enters each call.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- https://developers.openai.com/api/docs/guides/prompt-caching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Name the five mechanisms. Context supplies information now; Cache reuses a prefix; Memory retains state; Grounding checks evidence support; RAG selects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https://developers.openai.com/api/docs/guides/prompt-caching</a:t>
            </a:r>
          </a:p>
          <a:p xmlns:a="http://schemas.openxmlformats.org/drawingml/2006/main">
            <a:r>
              <a:t>- https://docs.langchain.com/oss/python/langgraph/add-memory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ContextDecision as a typed application record: estimated input, available capacity, route and reason are produced before generation.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https://developers.openai.com/api/docs/guides/prompt-caching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the stable prefix is reusable. The answer is generated for each question, and latency alone does not prove a cache hit.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https://developers.openai.com/api/docs/guides/prompt-caching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context window is capacity, not guaranteed attention. Separate the deterministic budget gate from empirical question-level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https://arxiv.org/abs/2307.03172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complete context for one bounded stable source; use retrieval when evidence must be selected from a large or changing corpus.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Move into the notebook: budget the NVIDIA extract, inspect ContextDecision, measure two calls, then force an explicit RAG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- https://developers.openai.com/api/docs/guides/prompt-caching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5cc226238a4e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74ede2c7884606" /><Relationship Type="http://schemas.openxmlformats.org/officeDocument/2006/relationships/slideLayout" Target="/ppt/slideLayouts/slideLayout1.xml" Id="Rbe686148ae2443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86148ae2443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af9eeabd44026" /><Relationship Type="http://schemas.openxmlformats.org/officeDocument/2006/relationships/notesSlide" Target="/ppt/notesSlides/notesSlide1.xml" Id="R70f1282c932648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ca946f69a4558" /><Relationship Type="http://schemas.openxmlformats.org/officeDocument/2006/relationships/notesSlide" Target="/ppt/notesSlides/notesSlide2.xml" Id="R05693910fd8644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fac5c3b924fb8" /><Relationship Type="http://schemas.openxmlformats.org/officeDocument/2006/relationships/notesSlide" Target="/ppt/notesSlides/notesSlide3.xml" Id="R9b8c5b3c16ae4f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14f96e1f44e85" /><Relationship Type="http://schemas.openxmlformats.org/officeDocument/2006/relationships/notesSlide" Target="/ppt/notesSlides/notesSlide4.xml" Id="Rb5423c607ab047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23fbf029c4942" /><Relationship Type="http://schemas.openxmlformats.org/officeDocument/2006/relationships/notesSlide" Target="/ppt/notesSlides/notesSlide5.xml" Id="R088f31dd700e44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c77d37ca44647" /><Relationship Type="http://schemas.openxmlformats.org/officeDocument/2006/relationships/notesSlide" Target="/ppt/notesSlides/notesSlide6.xml" Id="R668e3b621e4047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359be2c964d78" /><Relationship Type="http://schemas.openxmlformats.org/officeDocument/2006/relationships/notesSlide" Target="/ppt/notesSlides/notesSlide7.xml" Id="Rdff07fbcf28241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1AC7A-C390-4918-960F-B031B7C9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82EC5-19B2-4E56-87B3-7ADF11B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04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B1E4B-A80D-4DD8-B9C5-6F19ACF9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Context Engineering &amp; CAG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3E63A-968D-469D-97F9-C2D3B82A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Complete-document analysis before retrieval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333EC-2C9C-4877-BD13-41F8B87F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10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03  ·  10:45–11:30  ·  15 MIN CONCEPTS + 30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3877F-F854-40AF-9C55-8A4B72F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628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767502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AB1E4-42AC-4F38-9832-61AB9F79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SYSTEM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87317-1AE5-4283-B66E-4DB26DCD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Five mechanisms, five distinct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5C689-54CE-4FC2-A8FF-E88EDD6E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5474F-D624-489B-92E8-BD4182BD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Information supplied to this model call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A7CE9-8603-4733-86A0-82043036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08B5E-14CF-4E16-BADC-18EA4B9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CACHE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4DF7E-874E-4566-BFD4-563B7D2D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Reuse of an exact stable prefix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0359C-EF48-41D4-A6E9-00E41CF1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7810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2E685-CEFF-4453-8C95-28578E2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separate = {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30A9-E2C4-4827-8E19-657027C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0A2EB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0A2EB"/>
                </a:solidFill>
                <a:latin typeface="Consolas"/>
                <a:ea typeface="Consolas"/>
                <a:cs typeface="Consolas"/>
              </a:rPr>
              <a:t>  "memory": interaction_state,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31728-B735-42CB-93A0-1EC165D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243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"grounding": evidence_support,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3C876-E68B-49CA-BC42-27F6563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"RAG": selected_evidence 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656D8-F2F5-4064-95D9-4ECB8677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6262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Mechanisms can coexist; none is a synonym for another.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BA0A2-12FF-4F25-862C-AE57B22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D8D42-E860-4B95-87E4-3C7FF1FC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224F1-4BCA-4A2F-84C4-3FDCAE79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4E057-3E14-470C-8862-AC0BFD9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DE638-85F0-4B8A-A0CD-DDDC9FD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723630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C48A24-E18F-4399-84FF-49EC1D75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ROUTING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4DED0-BD05-4639-BE3C-BD8A49B9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ContextDecision makes the CAG/RAG gate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0C483-A890-47EA-A072-5D9086A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E515B-5F3B-40A3-8912-9F85F0FE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194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Estimate complete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F432C-0929-4FB7-9EB4-33A2C51C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A1F7B-8EE0-471C-AA17-75A5671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09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63C6A-1C80-47E2-9174-F44504B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1B42D-9ED7-495A-B9A4-706CAD68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57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Compare available capacity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9279A-F56C-43A4-BB61-5DBED2E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D85C8-4C83-4C3E-8F6A-367A431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481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488D8-189E-4BB9-9C55-CA27344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2B6DC-830C-4BC9-8851-A3888182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958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Return route + reason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92F15-B968-44A2-AC9F-1F44F75B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RECORD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FCC08-CC44-427D-9C16-AD71F4A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863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19D6C-4B5E-42DF-9DFC-40856CEA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A7A6E-EE89-4E7C-A0E4-A0D3E684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340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Generate only after 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232DB-9ADA-4EC0-9488-23F6FAAF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721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RUN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021EC-EF4B-4696-AC90-EE4C0AB7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245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10A64-1653-4D80-B5B0-A343D07C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146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24CC2-8886-4470-A433-8B2BDCC9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TYPED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10502-B50A-464D-8CBF-05C06A0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Context
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57516-ABAC-4FB1-A462-D76649A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route · tokens
reason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4979B-71B7-425A-85CB-FF6AD6A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667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The same object becomes trace data in Lesson 07.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53963-99F6-474D-AE9E-6D102866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8137A-5475-4121-BA20-053FF731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6838F-9E9E-49AC-8F5A-4888689C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2728AD-6B3E-41C8-9959-16F49065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0A979-B0DA-491D-BECE-B4073BB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23453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AB1E4-42AC-4F38-9832-61AB9F79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PROMPT CACHING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87317-1AE5-4283-B66E-4DB26DCD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CAG reuses the document prefix, not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5C689-54CE-4FC2-A8FF-E88EDD6E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STABLE PREFIX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5474F-D624-489B-92E8-BD4182BD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Instructions + source remain byte-for-byte identical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A7CE9-8603-4733-86A0-82043036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08B5E-14CF-4E16-BADC-18EA4B9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VARIABLE SUFFIX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4DF7E-874E-4566-BFD4-563B7D2D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Each question is appended after the document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0359C-EF48-41D4-A6E9-00E41CF1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7810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2E685-CEFF-4453-8C95-28578E2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Request A: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30A9-E2C4-4827-8E19-657027C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0A2EB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0A2EB"/>
                </a:solidFill>
                <a:latin typeface="Consolas"/>
                <a:ea typeface="Consolas"/>
                <a:cs typeface="Consolas"/>
              </a:rPr>
              <a:t>policy → document → question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31728-B735-42CB-93A0-1EC165D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243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Request B: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3C876-E68B-49CA-BC42-27F6563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policy → document → question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656D8-F2F5-4064-95D9-4ECB8677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6262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Measure cache telemetry; latency alone does not prove a hit.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BA0A2-12FF-4F25-862C-AE57B22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D8D42-E860-4B95-87E4-3C7FF1FC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224F1-4BCA-4A2F-84C4-3FDCAE79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4E057-3E14-470C-8862-AC0BFD9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CACHE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DE638-85F0-4B8A-A0CD-DDDC9FD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72363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BC54A-1309-460D-AD2B-0F18507E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FAILURE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95A1-7E53-412C-8974-DFB6A8DF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long context can fit and still be the wrong strategy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2FBE-FCE9-4D4C-9DBD-D89790B0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181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The window is capacity—not guaranteed attention.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60789-BA8D-4377-A318-F3BEDA9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2BA03-1788-4BE1-A884-B111371C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92F82-4B68-493F-A374-EE0CF32C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Window overflow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41AFC-2FEB-434F-ADB4-9127D78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EEE86-8AD2-4FC0-A0CA-3F399245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Relevance dilution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9F77B-9D95-469A-B256-2B01987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0B1BF-7CCF-4161-9AFF-CC9F8DCA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Lost in the middle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CF07A-926D-46C1-84B0-CB0E949F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E6400-99FC-4D00-A8CB-D89D7FA7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Latency and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4CD7E-4803-4104-8338-9D962B7E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70AE8-D659-434A-B5EA-AB73577F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Privacy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80C9E-1A2E-4219-955F-7ED3FB5C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9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Use a deterministic budget gate; evaluate attention with representative questions.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F59FE-4FEE-42DE-92D0-4AA1382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1BFF5-CF10-414F-A9A1-5F4FE7F2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777C2-72B8-4165-974F-061823F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DE7B0-9049-4B6C-8B3A-B01028AA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57728-BC95-4348-AF6C-3491971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0656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B10B4-0FED-42C3-8AA0-5BAB4CEF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ROUTING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BB064-4AE8-44EA-963D-8F76C6A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CAG fits bounded sources; RAG selects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A505F-3B0C-49A0-98CF-6D6175D6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Direct CAG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1D26-D959-489A-A086-84E3303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One stable, bounded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22A8F-16AD-44AB-BA1E-BB7C095B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C6626-7591-4116-BDA4-36A1BF72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Retrieval + 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A65EC-CF94-4DE7-B420-D90CF126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Large, changing or multi-document corpus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E439B-7E83-494E-A3B5-46C4B699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[USE]  complete context · repeated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113A5-935F-4D64-84B0-5B78193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[USE]  select evidence · preserve citations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22730-1A2F-437A-8161-C3EA5A7E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43650"/>
            <a:ext cx="1181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route is an application decision recorded before generation.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99A9B-F12A-48FE-953D-620804A3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C9EE8-1362-49E4-BFD2-8CCFD9A2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06614-6877-4386-9D02-F474A613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FCDDD-754E-4B46-A9F3-09ADE649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3E1F1-C1E6-4C5D-B5BB-8ED1767C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8034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C48A24-E18F-4399-84FF-49EC1D75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NOTEBOOK 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4DED0-BD05-4639-BE3C-BD8A49B9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Make the CAG boundary visible before building retrieval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0C483-A890-47EA-A072-5D9086A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E515B-5F3B-40A3-8912-9F85F0FE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194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Load the NVIDIA fiscal 2026 extract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F432C-0929-4FB7-9EB4-33A2C51C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RUN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A1F7B-8EE0-471C-AA17-75A5671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09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63C6A-1C80-47E2-9174-F44504B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1B42D-9ED7-495A-B9A4-706CAD68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57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Visualize the context allocation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9279A-F56C-43A4-BB61-5DBED2E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D85C8-4C83-4C3E-8F6A-367A431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481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488D8-189E-4BB9-9C55-CA27344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2B6DC-830C-4BC9-8851-A3888182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958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Ask two repeated-prefix questions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92F15-B968-44A2-AC9F-1F44F75B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MEASURE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FCC08-CC44-427D-9C16-AD71F4A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863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19D6C-4B5E-42DF-9DFC-40856CEA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A7A6E-EE89-4E7C-A0E4-A0D3E684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340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Force the budget gate to reject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232DB-9ADA-4EC0-9488-23F6FAAF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721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021EC-EF4B-4696-AC90-EE4C0AB7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245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10A64-1653-4D80-B5B0-A343D07C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146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24CC2-8886-4470-A433-8B2BDCC9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NOW 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10502-B50A-464D-8CBF-05C06A0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Notebook 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57516-ABAC-4FB1-A462-D76649A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Load → budget → ask → stress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4979B-71B7-425A-85CB-FF6AD6A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667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Five executable figures; same notebook code with Ollama or OpenAI.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53963-99F6-474D-AE9E-6D102866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8137A-5475-4121-BA20-053FF731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6838F-9E9E-49AC-8F5A-4888689C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2728AD-6B3E-41C8-9959-16F49065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NOTEBOOK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0A979-B0DA-491D-BECE-B4073BB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3453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2026-08-16T08:19:48.6720000Z</dcterms:created>
  <dcterms:modified xsi:type="dcterms:W3CDTF">2026-08-16T08:19:48.6720000Z</dcterms:modified>
</coreProperties>
</file>