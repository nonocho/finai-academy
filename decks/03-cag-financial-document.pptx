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92323edde284ae1" /><Relationship Type="http://schemas.openxmlformats.org/officeDocument/2006/relationships/extended-properties" Target="/docProps/app.xml" Id="R4cf8a8854f4a4d66" /><Relationship Type="http://schemas.openxmlformats.org/officeDocument/2006/relationships/officeDocument" Target="/ppt/presentation.xml" Id="Raf28a380d22b41d5" /></Relationships>
</file>

<file path=ppt/presentation.xml><?xml version="1.0" encoding="utf-8"?>
<p:presentation xmlns:p="http://schemas.openxmlformats.org/presentationml/2006/main">
  <p:sldMasterIdLst>
    <p:sldMasterId xmlns:r="http://schemas.openxmlformats.org/officeDocument/2006/relationships" id="2147483648" r:id="R58f3199fe63a4a3c"/>
  </p:sldMasterIdLst>
  <p:notesMasterIdLst>
    <p:notesMasterId xmlns:r="http://schemas.openxmlformats.org/officeDocument/2006/relationships" r:id="R7f150942a7da437d"/>
  </p:notesMasterIdLst>
  <p:sldIdLst>
    <p:sldId xmlns:r="http://schemas.openxmlformats.org/officeDocument/2006/relationships" id="256" r:id="Ra19ac6ef618941ae"/>
    <p:sldId xmlns:r="http://schemas.openxmlformats.org/officeDocument/2006/relationships" id="257" r:id="R7469bba171fb4195"/>
    <p:sldId xmlns:r="http://schemas.openxmlformats.org/officeDocument/2006/relationships" id="258" r:id="Redda25379b5447c6"/>
    <p:sldId xmlns:r="http://schemas.openxmlformats.org/officeDocument/2006/relationships" id="259" r:id="Re4ac552db9fc43ed"/>
    <p:sldId xmlns:r="http://schemas.openxmlformats.org/officeDocument/2006/relationships" id="260" r:id="R6a6e5df0607b4999"/>
    <p:sldId xmlns:r="http://schemas.openxmlformats.org/officeDocument/2006/relationships" id="261" r:id="Rffdd68368ef04a20"/>
    <p:sldId xmlns:r="http://schemas.openxmlformats.org/officeDocument/2006/relationships" id="262" r:id="Rc76c0f34d29b4abd"/>
    <p:sldId xmlns:r="http://schemas.openxmlformats.org/officeDocument/2006/relationships" id="263" r:id="Rf6365b8b7f734295"/>
    <p:sldId xmlns:r="http://schemas.openxmlformats.org/officeDocument/2006/relationships" id="264" r:id="Rac5a7e8d177047cf"/>
    <p:sldId xmlns:r="http://schemas.openxmlformats.org/officeDocument/2006/relationships" id="265" r:id="Rf2d288507e554b9b"/>
    <p:sldId xmlns:r="http://schemas.openxmlformats.org/officeDocument/2006/relationships" id="266" r:id="R82281b2b14e94332"/>
    <p:sldId xmlns:r="http://schemas.openxmlformats.org/officeDocument/2006/relationships" id="267" r:id="Rf9b62eda253d4689"/>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4ed30ecc90f4772" /><Relationship Type="http://schemas.openxmlformats.org/officeDocument/2006/relationships/slideMaster" Target="/ppt/slideMasters/slideMaster1.xml" Id="R58f3199fe63a4a3c" /><Relationship Type="http://schemas.openxmlformats.org/officeDocument/2006/relationships/notesMaster" Target="/ppt/notesMasters/notesMaster1.xml" Id="R7f150942a7da437d" /><Relationship Type="http://schemas.openxmlformats.org/officeDocument/2006/relationships/presProps" Target="/ppt/presProps.xml" Id="R08afc6f5127a491a" /><Relationship Type="http://schemas.openxmlformats.org/officeDocument/2006/relationships/tableStyles" Target="/ppt/tableStyles.xml" Id="R49a78e70c4eb49fe" /><Relationship Type="http://schemas.openxmlformats.org/officeDocument/2006/relationships/slide" Target="/ppt/slides/slide1.xml" Id="Ra19ac6ef618941ae" /><Relationship Type="http://schemas.openxmlformats.org/officeDocument/2006/relationships/slide" Target="/ppt/slides/slide2.xml" Id="R7469bba171fb4195" /><Relationship Type="http://schemas.openxmlformats.org/officeDocument/2006/relationships/slide" Target="/ppt/slides/slide3.xml" Id="Redda25379b5447c6" /><Relationship Type="http://schemas.openxmlformats.org/officeDocument/2006/relationships/slide" Target="/ppt/slides/slide4.xml" Id="Re4ac552db9fc43ed" /><Relationship Type="http://schemas.openxmlformats.org/officeDocument/2006/relationships/slide" Target="/ppt/slides/slide5.xml" Id="R6a6e5df0607b4999" /><Relationship Type="http://schemas.openxmlformats.org/officeDocument/2006/relationships/slide" Target="/ppt/slides/slide6.xml" Id="Rffdd68368ef04a20" /><Relationship Type="http://schemas.openxmlformats.org/officeDocument/2006/relationships/slide" Target="/ppt/slides/slide7.xml" Id="Rc76c0f34d29b4abd" /><Relationship Type="http://schemas.openxmlformats.org/officeDocument/2006/relationships/slide" Target="/ppt/slides/slide8.xml" Id="Rf6365b8b7f734295" /><Relationship Type="http://schemas.openxmlformats.org/officeDocument/2006/relationships/slide" Target="/ppt/slides/slide9.xml" Id="Rac5a7e8d177047cf" /><Relationship Type="http://schemas.openxmlformats.org/officeDocument/2006/relationships/slide" Target="/ppt/slides/slide10.xml" Id="Rf2d288507e554b9b" /><Relationship Type="http://schemas.openxmlformats.org/officeDocument/2006/relationships/slide" Target="/ppt/slides/slide11.xml" Id="R82281b2b14e94332" /><Relationship Type="http://schemas.openxmlformats.org/officeDocument/2006/relationships/slide" Target="/ppt/slides/slide12.xml" Id="Rf9b62eda253d46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7a4cd383cb44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cd449359a0240b3" /><Relationship Type="http://schemas.openxmlformats.org/officeDocument/2006/relationships/notesMaster" Target="/ppt/notesMasters/notesMaster1.xml" Id="Rb8baa2aecf7845d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4e5c8f5c5734e78" /><Relationship Type="http://schemas.openxmlformats.org/officeDocument/2006/relationships/notesMaster" Target="/ppt/notesMasters/notesMaster1.xml" Id="R82bedb9f5ae14702" /></Relationships>
</file>

<file path=ppt/notesSlides/_rels/notesSlide3.xml.rels>&#65279;<?xml version="1.0" encoding="utf-8"?><Relationships xmlns="http://schemas.openxmlformats.org/package/2006/relationships"><Relationship Type="http://schemas.openxmlformats.org/officeDocument/2006/relationships/slide" Target="/ppt/slides/slide3.xml" Id="R13017d2fd2764999" /><Relationship Type="http://schemas.openxmlformats.org/officeDocument/2006/relationships/notesMaster" Target="/ppt/notesMasters/notesMaster1.xml" Id="Rc4116a30e5074b8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1fe384098e4ee8" /><Relationship Type="http://schemas.openxmlformats.org/officeDocument/2006/relationships/notesMaster" Target="/ppt/notesMasters/notesMaster1.xml" Id="Rfd80f947f98b4ecc" /></Relationships>
</file>

<file path=ppt/notesSlides/_rels/notesSlide5.xml.rels>&#65279;<?xml version="1.0" encoding="utf-8"?><Relationships xmlns="http://schemas.openxmlformats.org/package/2006/relationships"><Relationship Type="http://schemas.openxmlformats.org/officeDocument/2006/relationships/slide" Target="/ppt/slides/slide5.xml" Id="R17876d6859d443b4" /><Relationship Type="http://schemas.openxmlformats.org/officeDocument/2006/relationships/notesMaster" Target="/ppt/notesMasters/notesMaster1.xml" Id="Rd7e38bcbc8f140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df14f7136784486" /><Relationship Type="http://schemas.openxmlformats.org/officeDocument/2006/relationships/notesMaster" Target="/ppt/notesMasters/notesMaster1.xml" Id="R7f43b8171df84df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b5670a3ed26468d" /><Relationship Type="http://schemas.openxmlformats.org/officeDocument/2006/relationships/notesMaster" Target="/ppt/notesMasters/notesMaster1.xml" Id="R202d8e57ac3347fd"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c2bb7fd99c419a" /><Relationship Type="http://schemas.openxmlformats.org/officeDocument/2006/relationships/notesMaster" Target="/ppt/notesMasters/notesMaster1.xml" Id="R67d2c584040046ac" /></Relationships>
</file>

<file path=ppt/notesSlides/_rels/notesSlide9.xml.rels>&#65279;<?xml version="1.0" encoding="utf-8"?><Relationships xmlns="http://schemas.openxmlformats.org/package/2006/relationships"><Relationship Type="http://schemas.openxmlformats.org/officeDocument/2006/relationships/slide" Target="/ppt/slides/slide9.xml" Id="R28ce5f0436914f2d" /><Relationship Type="http://schemas.openxmlformats.org/officeDocument/2006/relationships/notesMaster" Target="/ppt/notesMasters/notesMaster1.xml" Id="Ra26f2012945c4c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8a3c7eb22d9455d" /><Relationship Type="http://schemas.openxmlformats.org/officeDocument/2006/relationships/notesMaster" Target="/ppt/notesMasters/notesMaster1.xml" Id="R73e14dcf996c48d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45b4d22d5484182" /><Relationship Type="http://schemas.openxmlformats.org/officeDocument/2006/relationships/notesMaster" Target="/ppt/notesMasters/notesMaster1.xml" Id="Rfdf03c68e312456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9f2da1c682f4af8" /><Relationship Type="http://schemas.openxmlformats.org/officeDocument/2006/relationships/notesMaster" Target="/ppt/notesMasters/notesMaster1.xml" Id="R99281c5923ff403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decision, not the acronyms: should the application send a complete bounded source, or retrieve only the evidence needed? The lesson answers that question before teaching retrieval mechanics.</a:t>
            </a:r>
          </a:p>
          <a:p xmlns:a="http://schemas.openxmlformats.org/drawingml/2006/main">
            <a:r>
              <a:t/>
            </a:r>
          </a:p>
          <a:p xmlns:a="http://schemas.openxmlformats.org/drawingml/2006/main">
            <a:r>
              <a:t>[Sources]</a:t>
            </a:r>
          </a:p>
          <a:p xmlns:a="http://schemas.openxmlformats.org/drawingml/2006/main">
            <a:r>
              <a:t>- https://www.sec.gov/Archives/edgar/data/1045810/000104581026000021/nvda-20260125.htm</a:t>
            </a:r>
          </a:p>
          <a:p xmlns:a="http://schemas.openxmlformats.org/drawingml/2006/main">
            <a:r>
              <a:t>- https://developers.openai.com/api/docs/guides/prompt-caching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two engineering responsibilities. Prompt engineering specifies behaviour and output. Context engineering determines the evidence, tools, and state available to the call. They work together but solve different failures.</a:t>
            </a:r>
          </a:p>
          <a:p xmlns:a="http://schemas.openxmlformats.org/drawingml/2006/main">
            <a:r>
              <a:t/>
            </a:r>
          </a:p>
          <a:p xmlns:a="http://schemas.openxmlformats.org/drawingml/2006/main">
            <a:r>
              <a:t>[Sources]</a:t>
            </a:r>
          </a:p>
          <a:p xmlns:a="http://schemas.openxmlformats.org/drawingml/2006/main">
            <a:r>
              <a:t>- https://developers.openai.com/api/docs/guides/prompt-engineering</a:t>
            </a:r>
          </a:p>
          <a:p xmlns:a="http://schemas.openxmlformats.org/drawingml/2006/main">
            <a:r>
              <a:t>- https://developers.openai.com/api/docs/guides/prompt-caching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repository now preserves the official primary filing. The SEC index records accession 0001045810-26-000021, filing date February 25, 2026, report period January 25, 2026, and primary document size 1,967,816 bytes. The browser-rendered saved document is verified in the course manifest.</a:t>
            </a:r>
          </a:p>
          <a:p xmlns:a="http://schemas.openxmlformats.org/drawingml/2006/main">
            <a:r>
              <a:t/>
            </a:r>
          </a:p>
          <a:p xmlns:a="http://schemas.openxmlformats.org/drawingml/2006/main">
            <a:r>
              <a:t>[Sources]</a:t>
            </a:r>
          </a:p>
          <a:p xmlns:a="http://schemas.openxmlformats.org/drawingml/2006/main">
            <a:r>
              <a:t>- https://www.sec.gov/Archives/edgar/data/1045810/000104581026000021/0001045810-26-000021-index.htm</a:t>
            </a:r>
          </a:p>
          <a:p xmlns:a="http://schemas.openxmlformats.org/drawingml/2006/main">
            <a:r>
              <a:t>- https://www.sec.gov/Archives/edgar/data/1045810/000104581026000021/nvda-20260125.htm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Budget every component: instructions, evidence, question, and an answer reserve. The course uses a transparent four-characters-per-token estimate so students can see the application rule; production systems should use the selected model's tokenizer and verified limits.</a:t>
            </a:r>
          </a:p>
          <a:p xmlns:a="http://schemas.openxmlformats.org/drawingml/2006/main">
            <a:r>
              <a:t/>
            </a:r>
          </a:p>
          <a:p xmlns:a="http://schemas.openxmlformats.org/drawingml/2006/main">
            <a:r>
              <a:t>[Sources]</a:t>
            </a:r>
          </a:p>
          <a:p xmlns:a="http://schemas.openxmlformats.org/drawingml/2006/main">
            <a:r>
              <a:t>- chapters/03-cag-financial-document.md</a:t>
            </a:r>
          </a:p>
          <a:p xmlns:a="http://schemas.openxmlformats.org/drawingml/2006/main">
            <a:r>
              <a:t>- https://developers.openai.com/api/docs/guides/prompt-caching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OpenAI prompt caching reuses eligible exact prefixes automatically. Put stable content first and dynamic content last. For GPT-5.6 and later, the guide states a 1,024-token minimum cacheable prompt length. A cache stores reusable processing state—not answers—and cached-token telemetry is the evidence of reuse.</a:t>
            </a:r>
          </a:p>
          <a:p xmlns:a="http://schemas.openxmlformats.org/drawingml/2006/main">
            <a:r>
              <a:t/>
            </a:r>
          </a:p>
          <a:p xmlns:a="http://schemas.openxmlformats.org/drawingml/2006/main">
            <a:r>
              <a:t>[Sources]</a:t>
            </a:r>
          </a:p>
          <a:p xmlns:a="http://schemas.openxmlformats.org/drawingml/2006/main">
            <a:r>
              <a:t>- https://developers.openai.com/api/docs/guides/prompt-caching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Liu et al. varied the position of the answer-bearing document among 20 retrieved documents. In the published example shown, accuracy was strongest near the beginning and improved again near the end, with weaker results through much of the middle. The implication is not that every model has the same curve; it is that fit and use must be evaluated separately.</a:t>
            </a:r>
          </a:p>
          <a:p xmlns:a="http://schemas.openxmlformats.org/drawingml/2006/main">
            <a:r>
              <a:t/>
            </a:r>
          </a:p>
          <a:p xmlns:a="http://schemas.openxmlformats.org/drawingml/2006/main">
            <a:r>
              <a:t>[Sources]</a:t>
            </a:r>
          </a:p>
          <a:p xmlns:a="http://schemas.openxmlformats.org/drawingml/2006/main">
            <a:r>
              <a:t>- https://arxiv.org/abs/2307.03172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CAG works best when a complete bounded source is useful across repeated questions. RAG earns its infrastructure when the corpus is too large, changes frequently, or each question needs only a selective evidence set. Both still require grounding checks.</a:t>
            </a:r>
          </a:p>
          <a:p xmlns:a="http://schemas.openxmlformats.org/drawingml/2006/main">
            <a:r>
              <a:t/>
            </a:r>
          </a:p>
          <a:p xmlns:a="http://schemas.openxmlformats.org/drawingml/2006/main">
            <a:r>
              <a:t>[Sources]</a:t>
            </a:r>
          </a:p>
          <a:p xmlns:a="http://schemas.openxmlformats.org/drawingml/2006/main">
            <a:r>
              <a:t>- https://developers.openai.com/api/docs/guides/prompt-caching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is application state, not an intuition hidden in notebook code. Record the document estimate, prompt overhead, available capacity, route, and reason before generation. Later lessons can log the same typed object as trace data.</a:t>
            </a:r>
          </a:p>
          <a:p xmlns:a="http://schemas.openxmlformats.org/drawingml/2006/main">
            <a:r>
              <a:t/>
            </a:r>
          </a:p>
          <a:p xmlns:a="http://schemas.openxmlformats.org/drawingml/2006/main">
            <a:r>
              <a:t>[Sources]</a:t>
            </a:r>
          </a:p>
          <a:p xmlns:a="http://schemas.openxmlformats.org/drawingml/2006/main">
            <a:r>
              <a:t>- https://developers.openai.com/api/docs/guides/prompt-caching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deterministic course estimates using four characters per token: approximately 1,598 tokens for the bounded official context pack and 495,672 for the saved complete filing. In the 8,192-token teaching window, the pack routes to CAG and the complete filing routes to RAG.</a:t>
            </a:r>
          </a:p>
          <a:p xmlns:a="http://schemas.openxmlformats.org/drawingml/2006/main">
            <a:r>
              <a:t/>
            </a:r>
          </a:p>
          <a:p xmlns:a="http://schemas.openxmlformats.org/drawingml/2006/main">
            <a:r>
              <a:t>[Sources]</a:t>
            </a:r>
          </a:p>
          <a:p xmlns:a="http://schemas.openxmlformats.org/drawingml/2006/main">
            <a:r>
              <a:t>- https://www.sec.gov/Archives/edgar/data/1045810/000104581026000021/nvda-20260125.htm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compact notebook now has 15 cells. Students verify the official file, build the source-derived pack, visualize the budget, ask two repeated-prefix questions, inspect cache telemetry when available, and route the complete filing to RAG. No synthetic appendix is required.</a:t>
            </a:r>
          </a:p>
          <a:p xmlns:a="http://schemas.openxmlformats.org/drawingml/2006/main">
            <a:r>
              <a:t/>
            </a:r>
          </a:p>
          <a:p xmlns:a="http://schemas.openxmlformats.org/drawingml/2006/main">
            <a:r>
              <a:t>[Sources]</a:t>
            </a:r>
          </a:p>
          <a:p xmlns:a="http://schemas.openxmlformats.org/drawingml/2006/main">
            <a:r>
              <a:t>- https://www.sec.gov/Archives/edgar/data/1045810/000104581026000021/nvda-20260125.htm</a:t>
            </a:r>
          </a:p>
          <a:p xmlns:a="http://schemas.openxmlformats.org/drawingml/2006/main">
            <a:r>
              <a:t>- https://developers.openai.com/api/docs/guides/prompt-caching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learners to answer before showing the correction. The questions test the three architecture boundaries: artifact choice, cache evidence, and retrieval need.</a:t>
            </a:r>
          </a:p>
          <a:p xmlns:a="http://schemas.openxmlformats.org/drawingml/2006/main">
            <a:r>
              <a:t/>
            </a:r>
          </a:p>
          <a:p xmlns:a="http://schemas.openxmlformats.org/drawingml/2006/main">
            <a:r>
              <a:t>[Sources]</a:t>
            </a:r>
          </a:p>
          <a:p xmlns:a="http://schemas.openxmlformats.org/drawingml/2006/main">
            <a:r>
              <a:t>- chapters/03-cag-financial-document.md</a:t>
            </a:r>
          </a:p>
          <a:p xmlns:a="http://schemas.openxmlformats.org/drawingml/2006/main">
            <a:r>
              <a:t>- https://developers.openai.com/api/docs/guides/prompt-caching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resolving the opening question. For this application, the source-derived bounded pack uses CAG and the complete filing uses RAG. The decision is recorded before generation, and neither route removes the need for grounding.</a:t>
            </a:r>
          </a:p>
          <a:p xmlns:a="http://schemas.openxmlformats.org/drawingml/2006/main">
            <a:r>
              <a:t/>
            </a:r>
          </a:p>
          <a:p xmlns:a="http://schemas.openxmlformats.org/drawingml/2006/main">
            <a:r>
              <a:t>[Sources]</a:t>
            </a:r>
          </a:p>
          <a:p xmlns:a="http://schemas.openxmlformats.org/drawingml/2006/main">
            <a:r>
              <a:t>- chapters/03-cag-financial-document.md</a:t>
            </a:r>
          </a:p>
          <a:p xmlns:a="http://schemas.openxmlformats.org/drawingml/2006/main">
            <a:r>
              <a:t>- https://developers.openai.com/api/docs/guides/prompt-caching</a:t>
            </a:r>
          </a:p>
          <a:p xmlns:a="http://schemas.openxmlformats.org/drawingml/2006/main">
            <a:r>
              <a:t>- https://www.sec.gov/Archives/edgar/data/1045810/000104581026000021/nvda-20260125.htm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d61b02f3a34e0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d8bed65d7454046" /><Relationship Type="http://schemas.openxmlformats.org/officeDocument/2006/relationships/slideLayout" Target="/ppt/slideLayouts/slideLayout1.xml" Id="Rb917fa8b4894440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917fa8b4894440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0a42973808f4c78" /><Relationship Type="http://schemas.openxmlformats.org/officeDocument/2006/relationships/notesSlide" Target="/ppt/notesSlides/notesSlide1.xml" Id="R8c640ef6e8b24c0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82a5571f1184ac5" /><Relationship Type="http://schemas.openxmlformats.org/officeDocument/2006/relationships/notesSlide" Target="/ppt/notesSlides/notesSlide2.xml" Id="R9a4f7d7447874d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dd1864b3cb341bc" /><Relationship Type="http://schemas.openxmlformats.org/officeDocument/2006/relationships/image" Target="/ppt/media/image.jpeg" Id="R177ae91fa9b14222" /><Relationship Type="http://schemas.openxmlformats.org/officeDocument/2006/relationships/notesSlide" Target="/ppt/notesSlides/notesSlide3.xml" Id="R78d03c277c8b4a8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1ab99adc5304756" /><Relationship Type="http://schemas.openxmlformats.org/officeDocument/2006/relationships/notesSlide" Target="/ppt/notesSlides/notesSlide4.xml" Id="Rbdca51632ee74a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376dba22495411c" /><Relationship Type="http://schemas.openxmlformats.org/officeDocument/2006/relationships/notesSlide" Target="/ppt/notesSlides/notesSlide5.xml" Id="Re2933a47f8ed4b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427c4a193dd4be3" /><Relationship Type="http://schemas.openxmlformats.org/officeDocument/2006/relationships/image" Target="/ppt/media/image.png" Id="R7b55342db35d4e46" /><Relationship Type="http://schemas.openxmlformats.org/officeDocument/2006/relationships/notesSlide" Target="/ppt/notesSlides/notesSlide6.xml" Id="Rb0068f6f14fb4a4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262b4f29ea64dd7" /><Relationship Type="http://schemas.openxmlformats.org/officeDocument/2006/relationships/notesSlide" Target="/ppt/notesSlides/notesSlide7.xml" Id="R71cd82d596af41e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70ae23629a94455" /><Relationship Type="http://schemas.openxmlformats.org/officeDocument/2006/relationships/notesSlide" Target="/ppt/notesSlides/notesSlide8.xml" Id="Rb0d1bd3e95f74ec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c698aa0f41a46ea" /><Relationship Type="http://schemas.openxmlformats.org/officeDocument/2006/relationships/notesSlide" Target="/ppt/notesSlides/notesSlide9.xml" Id="Rae0848c1b42846e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2cffb362ec44c6f" /><Relationship Type="http://schemas.openxmlformats.org/officeDocument/2006/relationships/notesSlide" Target="/ppt/notesSlides/notesSlide10.xml" Id="R74ef5c881393498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8946772723f436b" /><Relationship Type="http://schemas.openxmlformats.org/officeDocument/2006/relationships/notesSlide" Target="/ppt/notesSlides/notesSlide11.xml" Id="Ra9dd1cb915fa4e5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50fcd063d6e44cf" /><Relationship Type="http://schemas.openxmlformats.org/officeDocument/2006/relationships/notesSlide" Target="/ppt/notesSlides/notesSlide12.xml" Id="R2c96fa619bab4323" /></Relationships>
</file>

<file path=ppt/slides/slide1.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91AC7A-C390-4918-960F-B031B7C93A63}"/>
              </a:ext>
            </a:extLst>
          </p:cNvPr>
          <p:cNvSpPr>
            <a:spLocks xmlns:a="http://schemas.openxmlformats.org/drawingml/2006/main" noGrp="1"/>
          </p:cNvSpPr>
          <p:nvPr/>
        </p:nvSpPr>
        <p:spPr>
          <a:xfrm xmlns:a="http://schemas.openxmlformats.org/drawingml/2006/main">
            <a:off x="971550" y="781050"/>
            <a:ext cx="1257300" cy="76200"/>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2" name="">
            <a:extLst xmlns:a="http://schemas.openxmlformats.org/drawingml/2006/main">
              <a:ext uri="{FF2B5EF4-FFF2-40B4-BE49-F238E27FC236}">
                <a16:creationId xmlns:a16="http://schemas.microsoft.com/office/drawing/2014/main" id="{64682EC5-19B2-4E56-87B3-7ADF11BC6291}"/>
              </a:ext>
            </a:extLst>
          </p:cNvPr>
          <p:cNvSpPr>
            <a:spLocks xmlns:a="http://schemas.openxmlformats.org/drawingml/2006/main" noGrp="1"/>
          </p:cNvSpPr>
          <p:nvPr/>
        </p:nvSpPr>
        <p:spPr>
          <a:xfrm xmlns:a="http://schemas.openxmlformats.org/drawingml/2006/main">
            <a:off x="971550" y="11049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500" b="1">
                <a:solidFill>
                  <a:srgbClr val="1F40CB"/>
                </a:solidFill>
                <a:latin typeface="Calibri"/>
                <a:ea typeface="Calibri"/>
                <a:cs typeface="Calibri"/>
              </a:defRPr>
            </a:pPr>
            <a:r>
              <a:rPr sz="1500" b="1">
                <a:solidFill>
                  <a:srgbClr val="1F40CB"/>
                </a:solidFill>
                <a:latin typeface="Calibri"/>
                <a:ea typeface="Calibri"/>
                <a:cs typeface="Calibri"/>
              </a:rPr>
              <a:t>FIRST FINANCE</a:t>
            </a:r>
          </a:p>
        </p:txBody>
      </p:sp>
      <p:sp>
        <p:nvSpPr>
          <p:cNvPr id="3" name="">
            <a:extLst xmlns:a="http://schemas.openxmlformats.org/drawingml/2006/main">
              <a:ext uri="{FF2B5EF4-FFF2-40B4-BE49-F238E27FC236}">
                <a16:creationId xmlns:a16="http://schemas.microsoft.com/office/drawing/2014/main" id="{728B1E4B-A80D-4DD8-B9C5-6F19ACF9BC87}"/>
              </a:ext>
            </a:extLst>
          </p:cNvPr>
          <p:cNvSpPr>
            <a:spLocks xmlns:a="http://schemas.openxmlformats.org/drawingml/2006/main" noGrp="1"/>
          </p:cNvSpPr>
          <p:nvPr/>
        </p:nvSpPr>
        <p:spPr>
          <a:xfrm xmlns:a="http://schemas.openxmlformats.org/drawingml/2006/main">
            <a:off x="971550" y="2400300"/>
            <a:ext cx="9334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4950" b="1">
                <a:solidFill>
                  <a:srgbClr val="051C2A"/>
                </a:solidFill>
                <a:latin typeface="Calibri"/>
                <a:ea typeface="Calibri"/>
                <a:cs typeface="Calibri"/>
              </a:defRPr>
            </a:pPr>
            <a:r>
              <a:rPr sz="4950" b="1">
                <a:solidFill>
                  <a:srgbClr val="051C2A"/>
                </a:solidFill>
                <a:latin typeface="Calibri"/>
                <a:ea typeface="Calibri"/>
                <a:cs typeface="Calibri"/>
              </a:rPr>
              <a:t>One Document or Retrieval?</a:t>
            </a:r>
          </a:p>
        </p:txBody>
      </p:sp>
      <p:sp>
        <p:nvSpPr>
          <p:cNvPr id="4" name="">
            <a:extLst xmlns:a="http://schemas.openxmlformats.org/drawingml/2006/main">
              <a:ext uri="{FF2B5EF4-FFF2-40B4-BE49-F238E27FC236}">
                <a16:creationId xmlns:a16="http://schemas.microsoft.com/office/drawing/2014/main" id="{EE83E63A-968D-469D-97F9-C2D3B82A7E4D}"/>
              </a:ext>
            </a:extLst>
          </p:cNvPr>
          <p:cNvSpPr>
            <a:spLocks xmlns:a="http://schemas.openxmlformats.org/drawingml/2006/main" noGrp="1"/>
          </p:cNvSpPr>
          <p:nvPr/>
        </p:nvSpPr>
        <p:spPr>
          <a:xfrm xmlns:a="http://schemas.openxmlformats.org/drawingml/2006/main">
            <a:off x="971550" y="36385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400">
                <a:solidFill>
                  <a:srgbClr val="373738"/>
                </a:solidFill>
                <a:latin typeface="Calibri"/>
                <a:ea typeface="Calibri"/>
                <a:cs typeface="Calibri"/>
              </a:defRPr>
            </a:pPr>
            <a:r>
              <a:rPr sz="2400">
                <a:solidFill>
                  <a:srgbClr val="373738"/>
                </a:solidFill>
                <a:latin typeface="Calibri"/>
                <a:ea typeface="Calibri"/>
                <a:cs typeface="Calibri"/>
              </a:rPr>
              <a:t>Choose CAG or RAG before generation</a:t>
            </a:r>
          </a:p>
        </p:txBody>
      </p:sp>
      <p:sp>
        <p:nvSpPr>
          <p:cNvPr id="5" name="">
            <a:extLst xmlns:a="http://schemas.openxmlformats.org/drawingml/2006/main">
              <a:ext uri="{FF2B5EF4-FFF2-40B4-BE49-F238E27FC236}">
                <a16:creationId xmlns:a16="http://schemas.microsoft.com/office/drawing/2014/main" id="{001333EC-2C9C-4877-BD13-41F8B87FC676}"/>
              </a:ext>
            </a:extLst>
          </p:cNvPr>
          <p:cNvSpPr>
            <a:spLocks xmlns:a="http://schemas.openxmlformats.org/drawingml/2006/main" noGrp="1"/>
          </p:cNvSpPr>
          <p:nvPr/>
        </p:nvSpPr>
        <p:spPr>
          <a:xfrm xmlns:a="http://schemas.openxmlformats.org/drawingml/2006/main">
            <a:off x="971550" y="6610350"/>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1F40CB"/>
                </a:solidFill>
                <a:latin typeface="Calibri"/>
                <a:ea typeface="Calibri"/>
                <a:cs typeface="Calibri"/>
              </a:defRPr>
            </a:pPr>
            <a:r>
              <a:rPr sz="1425" b="1">
                <a:solidFill>
                  <a:srgbClr val="1F40CB"/>
                </a:solidFill>
                <a:latin typeface="Calibri"/>
                <a:ea typeface="Calibri"/>
                <a:cs typeface="Calibri"/>
              </a:rPr>
              <a:t>SESSION 03  ·  10:45–11:30  ·  18 MIN CONCEPTS + 25 MIN NOTEBOOK</a:t>
            </a:r>
          </a:p>
        </p:txBody>
      </p:sp>
      <p:sp>
        <p:nvSpPr>
          <p:cNvPr id="6" name="">
            <a:extLst xmlns:a="http://schemas.openxmlformats.org/drawingml/2006/main">
              <a:ext uri="{FF2B5EF4-FFF2-40B4-BE49-F238E27FC236}">
                <a16:creationId xmlns:a16="http://schemas.microsoft.com/office/drawing/2014/main" id="{C1C3877F-F854-40AF-9C55-8A4B72F80AEA}"/>
              </a:ext>
            </a:extLst>
          </p:cNvPr>
          <p:cNvSpPr>
            <a:spLocks xmlns:a="http://schemas.openxmlformats.org/drawingml/2006/main" noGrp="1"/>
          </p:cNvSpPr>
          <p:nvPr/>
        </p:nvSpPr>
        <p:spPr>
          <a:xfrm xmlns:a="http://schemas.openxmlformats.org/drawingml/2006/main">
            <a:off x="971550" y="7162800"/>
            <a:ext cx="514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800">
                <a:solidFill>
                  <a:srgbClr val="051C2A"/>
                </a:solidFill>
                <a:latin typeface="Calibri"/>
                <a:ea typeface="Calibri"/>
                <a:cs typeface="Calibri"/>
              </a:defRPr>
            </a:pPr>
            <a:r>
              <a:rPr sz="1800">
                <a:solidFill>
                  <a:srgbClr val="051C2A"/>
                </a:solidFill>
                <a:latin typeface="Calibri"/>
                <a:ea typeface="Calibri"/>
                <a:cs typeface="Calibri"/>
              </a:rPr>
              <a:t>First Finance - Arnaud Demes</a:t>
            </a:r>
          </a:p>
        </p:txBody>
      </p:sp>
    </p:spTree>
    <p:extLst>
      <p:ext uri="{BB962C8B-B14F-4D97-AF65-F5344CB8AC3E}">
        <p14:creationId xmlns:p14="http://schemas.microsoft.com/office/powerpoint/2010/main" val="767502565"/>
      </p:ext>
    </p:extLst>
  </p:cSld>
</p:sld>
</file>

<file path=ppt/slides/slide2.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FEB10B4-0FED-42C3-8AA0-5BAB4CEF90E7}"/>
              </a:ext>
            </a:extLst>
          </p:cNvPr>
          <p:cNvSpPr>
            <a:spLocks xmlns:a="http://schemas.openxmlformats.org/drawingml/2006/main" noGrp="1"/>
          </p:cNvSpPr>
          <p:nvPr/>
        </p:nvSpPr>
        <p:spPr>
          <a:xfrm xmlns:a="http://schemas.openxmlformats.org/drawingml/2006/main">
            <a:off x="971550" y="7239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CORE DISTINCTION</a:t>
            </a:r>
          </a:p>
        </p:txBody>
      </p:sp>
      <p:sp>
        <p:nvSpPr>
          <p:cNvPr id="2" name="">
            <a:extLst xmlns:a="http://schemas.openxmlformats.org/drawingml/2006/main">
              <a:ext uri="{FF2B5EF4-FFF2-40B4-BE49-F238E27FC236}">
                <a16:creationId xmlns:a16="http://schemas.microsoft.com/office/drawing/2014/main" id="{865BB064-4AE8-44EA-963D-8F76C6A28D53}"/>
              </a:ext>
            </a:extLst>
          </p:cNvPr>
          <p:cNvSpPr>
            <a:spLocks xmlns:a="http://schemas.openxmlformats.org/drawingml/2006/main" noGrp="1"/>
          </p:cNvSpPr>
          <p:nvPr/>
        </p:nvSpPr>
        <p:spPr>
          <a:xfrm xmlns:a="http://schemas.openxmlformats.org/drawingml/2006/main">
            <a:off x="971550" y="1181100"/>
            <a:ext cx="13239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3600" b="1">
                <a:solidFill>
                  <a:srgbClr val="051C2A"/>
                </a:solidFill>
                <a:latin typeface="Calibri"/>
                <a:ea typeface="Calibri"/>
                <a:cs typeface="Calibri"/>
              </a:defRPr>
            </a:pPr>
            <a:r>
              <a:rPr sz="3600" b="1">
                <a:solidFill>
                  <a:srgbClr val="051C2A"/>
                </a:solidFill>
                <a:latin typeface="Calibri"/>
                <a:ea typeface="Calibri"/>
                <a:cs typeface="Calibri"/>
              </a:rPr>
              <a:t>Prompting controls behaviour; context controls evidence</a:t>
            </a:r>
          </a:p>
        </p:txBody>
      </p:sp>
      <p:sp>
        <p:nvSpPr>
          <p:cNvPr id="3" name="">
            <a:extLst xmlns:a="http://schemas.openxmlformats.org/drawingml/2006/main">
              <a:ext uri="{FF2B5EF4-FFF2-40B4-BE49-F238E27FC236}">
                <a16:creationId xmlns:a16="http://schemas.microsoft.com/office/drawing/2014/main" id="{51CA505F-3B0C-49A0-98CF-6D6175D62EAB}"/>
              </a:ext>
            </a:extLst>
          </p:cNvPr>
          <p:cNvSpPr>
            <a:spLocks xmlns:a="http://schemas.openxmlformats.org/drawingml/2006/main" noGrp="1"/>
          </p:cNvSpPr>
          <p:nvPr/>
        </p:nvSpPr>
        <p:spPr>
          <a:xfrm xmlns:a="http://schemas.openxmlformats.org/drawingml/2006/main">
            <a:off x="1066800" y="2857500"/>
            <a:ext cx="4381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4350" b="1">
                <a:solidFill>
                  <a:srgbClr val="051C2A"/>
                </a:solidFill>
                <a:latin typeface="Calibri"/>
                <a:ea typeface="Calibri"/>
                <a:cs typeface="Calibri"/>
              </a:defRPr>
            </a:pPr>
            <a:r>
              <a:rPr sz="4350" b="1">
                <a:solidFill>
                  <a:srgbClr val="051C2A"/>
                </a:solidFill>
                <a:latin typeface="Calibri"/>
                <a:ea typeface="Calibri"/>
                <a:cs typeface="Calibri"/>
              </a:rPr>
              <a:t>Prompt</a:t>
            </a:r>
          </a:p>
        </p:txBody>
      </p:sp>
      <p:sp>
        <p:nvSpPr>
          <p:cNvPr id="4" name="">
            <a:extLst xmlns:a="http://schemas.openxmlformats.org/drawingml/2006/main">
              <a:ext uri="{FF2B5EF4-FFF2-40B4-BE49-F238E27FC236}">
                <a16:creationId xmlns:a16="http://schemas.microsoft.com/office/drawing/2014/main" id="{7AD41D26-D959-489A-A086-84E330386F5D}"/>
              </a:ext>
            </a:extLst>
          </p:cNvPr>
          <p:cNvSpPr>
            <a:spLocks xmlns:a="http://schemas.openxmlformats.org/drawingml/2006/main" noGrp="1"/>
          </p:cNvSpPr>
          <p:nvPr/>
        </p:nvSpPr>
        <p:spPr>
          <a:xfrm xmlns:a="http://schemas.openxmlformats.org/drawingml/2006/main">
            <a:off x="1066800" y="39052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650">
                <a:solidFill>
                  <a:srgbClr val="373738"/>
                </a:solidFill>
                <a:latin typeface="Calibri"/>
                <a:ea typeface="Calibri"/>
                <a:cs typeface="Calibri"/>
              </a:defRPr>
            </a:pPr>
            <a:r>
              <a:rPr sz="1650">
                <a:solidFill>
                  <a:srgbClr val="373738"/>
                </a:solidFill>
                <a:latin typeface="Calibri"/>
                <a:ea typeface="Calibri"/>
                <a:cs typeface="Calibri"/>
              </a:rPr>
              <a:t>Instructions · examples · output contract</a:t>
            </a:r>
          </a:p>
        </p:txBody>
      </p:sp>
      <p:sp>
        <p:nvSpPr>
          <p:cNvPr id="5" name="">
            <a:extLst xmlns:a="http://schemas.openxmlformats.org/drawingml/2006/main">
              <a:ext uri="{FF2B5EF4-FFF2-40B4-BE49-F238E27FC236}">
                <a16:creationId xmlns:a16="http://schemas.microsoft.com/office/drawing/2014/main" id="{5B522A8F-16AD-44AB-BA1E-BB7C095B3A39}"/>
              </a:ext>
            </a:extLst>
          </p:cNvPr>
          <p:cNvSpPr>
            <a:spLocks xmlns:a="http://schemas.openxmlformats.org/drawingml/2006/main" noGrp="1"/>
          </p:cNvSpPr>
          <p:nvPr/>
        </p:nvSpPr>
        <p:spPr>
          <a:xfrm xmlns:a="http://schemas.openxmlformats.org/drawingml/2006/main">
            <a:off x="6477000" y="2724150"/>
            <a:ext cx="19050" cy="31432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6" name="">
            <a:extLst xmlns:a="http://schemas.openxmlformats.org/drawingml/2006/main">
              <a:ext uri="{FF2B5EF4-FFF2-40B4-BE49-F238E27FC236}">
                <a16:creationId xmlns:a16="http://schemas.microsoft.com/office/drawing/2014/main" id="{3E7C6626-7591-4116-BDA4-36A1BF728E57}"/>
              </a:ext>
            </a:extLst>
          </p:cNvPr>
          <p:cNvSpPr>
            <a:spLocks xmlns:a="http://schemas.openxmlformats.org/drawingml/2006/main" noGrp="1"/>
          </p:cNvSpPr>
          <p:nvPr/>
        </p:nvSpPr>
        <p:spPr>
          <a:xfrm xmlns:a="http://schemas.openxmlformats.org/drawingml/2006/main">
            <a:off x="7239000" y="2857500"/>
            <a:ext cx="4953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4350" b="1">
                <a:solidFill>
                  <a:srgbClr val="1F40CB"/>
                </a:solidFill>
                <a:latin typeface="Calibri"/>
                <a:ea typeface="Calibri"/>
                <a:cs typeface="Calibri"/>
              </a:defRPr>
            </a:pPr>
            <a:r>
              <a:rPr sz="4350" b="1">
                <a:solidFill>
                  <a:srgbClr val="1F40CB"/>
                </a:solidFill>
                <a:latin typeface="Calibri"/>
                <a:ea typeface="Calibri"/>
                <a:cs typeface="Calibri"/>
              </a:rPr>
              <a:t>Context</a:t>
            </a:r>
          </a:p>
        </p:txBody>
      </p:sp>
      <p:sp>
        <p:nvSpPr>
          <p:cNvPr id="7" name="">
            <a:extLst xmlns:a="http://schemas.openxmlformats.org/drawingml/2006/main">
              <a:ext uri="{FF2B5EF4-FFF2-40B4-BE49-F238E27FC236}">
                <a16:creationId xmlns:a16="http://schemas.microsoft.com/office/drawing/2014/main" id="{913A65EC-CF94-4DE7-B420-D90CF126DC5B}"/>
              </a:ext>
            </a:extLst>
          </p:cNvPr>
          <p:cNvSpPr>
            <a:spLocks xmlns:a="http://schemas.openxmlformats.org/drawingml/2006/main" noGrp="1"/>
          </p:cNvSpPr>
          <p:nvPr/>
        </p:nvSpPr>
        <p:spPr>
          <a:xfrm xmlns:a="http://schemas.openxmlformats.org/drawingml/2006/main">
            <a:off x="7239000" y="3905250"/>
            <a:ext cx="552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650">
                <a:solidFill>
                  <a:srgbClr val="373738"/>
                </a:solidFill>
                <a:latin typeface="Calibri"/>
                <a:ea typeface="Calibri"/>
                <a:cs typeface="Calibri"/>
              </a:defRPr>
            </a:pPr>
            <a:r>
              <a:rPr sz="1650">
                <a:solidFill>
                  <a:srgbClr val="373738"/>
                </a:solidFill>
                <a:latin typeface="Calibri"/>
                <a:ea typeface="Calibri"/>
                <a:cs typeface="Calibri"/>
              </a:rPr>
              <a:t>Documents · tools · memory · retrieved evidence</a:t>
            </a:r>
          </a:p>
        </p:txBody>
      </p:sp>
      <p:sp>
        <p:nvSpPr>
          <p:cNvPr id="8" name="">
            <a:extLst xmlns:a="http://schemas.openxmlformats.org/drawingml/2006/main">
              <a:ext uri="{FF2B5EF4-FFF2-40B4-BE49-F238E27FC236}">
                <a16:creationId xmlns:a16="http://schemas.microsoft.com/office/drawing/2014/main" id="{C08E439B-7E83-494E-A3B5-46C4B69928CF}"/>
              </a:ext>
            </a:extLst>
          </p:cNvPr>
          <p:cNvSpPr>
            <a:spLocks xmlns:a="http://schemas.openxmlformats.org/drawingml/2006/main" noGrp="1"/>
          </p:cNvSpPr>
          <p:nvPr/>
        </p:nvSpPr>
        <p:spPr>
          <a:xfrm xmlns:a="http://schemas.openxmlformats.org/drawingml/2006/main">
            <a:off x="1066800" y="4953000"/>
            <a:ext cx="571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725" b="1">
                <a:solidFill>
                  <a:srgbClr val="051C2A"/>
                </a:solidFill>
                <a:latin typeface="Calibri"/>
                <a:ea typeface="Calibri"/>
                <a:cs typeface="Calibri"/>
              </a:defRPr>
            </a:pPr>
            <a:r>
              <a:rPr sz="1725" b="1">
                <a:solidFill>
                  <a:srgbClr val="051C2A"/>
                </a:solidFill>
                <a:latin typeface="Calibri"/>
                <a:ea typeface="Calibri"/>
                <a:cs typeface="Calibri"/>
              </a:rPr>
              <a:t>[CONTROLS]  what the model should do</a:t>
            </a:r>
          </a:p>
        </p:txBody>
      </p:sp>
      <p:sp>
        <p:nvSpPr>
          <p:cNvPr id="9" name="">
            <a:extLst xmlns:a="http://schemas.openxmlformats.org/drawingml/2006/main">
              <a:ext uri="{FF2B5EF4-FFF2-40B4-BE49-F238E27FC236}">
                <a16:creationId xmlns:a16="http://schemas.microsoft.com/office/drawing/2014/main" id="{C6B113A5-935F-4D64-84B0-5B781937EF01}"/>
              </a:ext>
            </a:extLst>
          </p:cNvPr>
          <p:cNvSpPr>
            <a:spLocks xmlns:a="http://schemas.openxmlformats.org/drawingml/2006/main" noGrp="1"/>
          </p:cNvSpPr>
          <p:nvPr/>
        </p:nvSpPr>
        <p:spPr>
          <a:xfrm xmlns:a="http://schemas.openxmlformats.org/drawingml/2006/main">
            <a:off x="7239000" y="49530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725" b="1">
                <a:solidFill>
                  <a:srgbClr val="F07D00"/>
                </a:solidFill>
                <a:latin typeface="Calibri"/>
                <a:ea typeface="Calibri"/>
                <a:cs typeface="Calibri"/>
              </a:defRPr>
            </a:pPr>
            <a:r>
              <a:rPr sz="1725" b="1">
                <a:solidFill>
                  <a:srgbClr val="F07D00"/>
                </a:solidFill>
                <a:latin typeface="Calibri"/>
                <a:ea typeface="Calibri"/>
                <a:cs typeface="Calibri"/>
              </a:rPr>
              <a:t>[CONTROLS]  what the model can use</a:t>
            </a:r>
          </a:p>
        </p:txBody>
      </p:sp>
      <p:sp>
        <p:nvSpPr>
          <p:cNvPr id="10" name="">
            <a:extLst xmlns:a="http://schemas.openxmlformats.org/drawingml/2006/main">
              <a:ext uri="{FF2B5EF4-FFF2-40B4-BE49-F238E27FC236}">
                <a16:creationId xmlns:a16="http://schemas.microsoft.com/office/drawing/2014/main" id="{C0422730-1A2F-437A-8161-C3EA5A7E3843}"/>
              </a:ext>
            </a:extLst>
          </p:cNvPr>
          <p:cNvSpPr>
            <a:spLocks xmlns:a="http://schemas.openxmlformats.org/drawingml/2006/main" noGrp="1"/>
          </p:cNvSpPr>
          <p:nvPr/>
        </p:nvSpPr>
        <p:spPr>
          <a:xfrm xmlns:a="http://schemas.openxmlformats.org/drawingml/2006/main">
            <a:off x="1066800" y="6343650"/>
            <a:ext cx="1181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025" b="1">
                <a:solidFill>
                  <a:srgbClr val="051C2A"/>
                </a:solidFill>
                <a:latin typeface="Calibri"/>
                <a:ea typeface="Calibri"/>
                <a:cs typeface="Calibri"/>
              </a:defRPr>
            </a:pPr>
            <a:r>
              <a:rPr sz="2025" b="1">
                <a:solidFill>
                  <a:srgbClr val="051C2A"/>
                </a:solidFill>
                <a:latin typeface="Calibri"/>
                <a:ea typeface="Calibri"/>
                <a:cs typeface="Calibri"/>
              </a:rPr>
              <a:t>A better prompt cannot supply missing evidence; more evidence cannot repair a vague contract.</a:t>
            </a:r>
          </a:p>
        </p:txBody>
      </p:sp>
      <p:sp>
        <p:nvSpPr>
          <p:cNvPr id="11" name="">
            <a:extLst xmlns:a="http://schemas.openxmlformats.org/drawingml/2006/main">
              <a:ext uri="{FF2B5EF4-FFF2-40B4-BE49-F238E27FC236}">
                <a16:creationId xmlns:a16="http://schemas.microsoft.com/office/drawing/2014/main" id="{1CA99A9B-F12A-48FE-953D-620804A38EED}"/>
              </a:ext>
            </a:extLst>
          </p:cNvPr>
          <p:cNvSpPr>
            <a:spLocks xmlns:a="http://schemas.openxmlformats.org/drawingml/2006/main" noGrp="1"/>
          </p:cNvSpPr>
          <p:nvPr/>
        </p:nvSpPr>
        <p:spPr>
          <a:xfrm xmlns:a="http://schemas.openxmlformats.org/drawingml/2006/main">
            <a:off x="857250" y="7905750"/>
            <a:ext cx="1352550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2" name="">
            <a:extLst xmlns:a="http://schemas.openxmlformats.org/drawingml/2006/main">
              <a:ext uri="{FF2B5EF4-FFF2-40B4-BE49-F238E27FC236}">
                <a16:creationId xmlns:a16="http://schemas.microsoft.com/office/drawing/2014/main" id="{3D4C9EE8-1362-49E4-BFD2-8CCFD9A293C5}"/>
              </a:ext>
            </a:extLst>
          </p:cNvPr>
          <p:cNvSpPr>
            <a:spLocks xmlns:a="http://schemas.openxmlformats.org/drawingml/2006/main" noGrp="1"/>
          </p:cNvSpPr>
          <p:nvPr/>
        </p:nvSpPr>
        <p:spPr>
          <a:xfrm xmlns:a="http://schemas.openxmlformats.org/drawingml/2006/main">
            <a:off x="857250" y="7905750"/>
            <a:ext cx="8001000" cy="28575"/>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13" name="">
            <a:extLst xmlns:a="http://schemas.openxmlformats.org/drawingml/2006/main">
              <a:ext uri="{FF2B5EF4-FFF2-40B4-BE49-F238E27FC236}">
                <a16:creationId xmlns:a16="http://schemas.microsoft.com/office/drawing/2014/main" id="{24206614-6877-4386-9D02-F474A613C115}"/>
              </a:ext>
            </a:extLst>
          </p:cNvPr>
          <p:cNvSpPr>
            <a:spLocks xmlns:a="http://schemas.openxmlformats.org/drawingml/2006/main" noGrp="1"/>
          </p:cNvSpPr>
          <p:nvPr/>
        </p:nvSpPr>
        <p:spPr>
          <a:xfrm xmlns:a="http://schemas.openxmlformats.org/drawingml/2006/main">
            <a:off x="971550" y="81534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275">
                <a:solidFill>
                  <a:srgbClr val="9E9FA2"/>
                </a:solidFill>
                <a:latin typeface="Calibri"/>
                <a:ea typeface="Calibri"/>
                <a:cs typeface="Calibri"/>
              </a:defRPr>
            </a:pPr>
            <a:r>
              <a:rPr sz="1275">
                <a:solidFill>
                  <a:srgbClr val="9E9FA2"/>
                </a:solidFill>
                <a:latin typeface="Calibri"/>
                <a:ea typeface="Calibri"/>
                <a:cs typeface="Calibri"/>
              </a:rPr>
              <a:t>First Finance - Arnaud Demes</a:t>
            </a:r>
          </a:p>
        </p:txBody>
      </p:sp>
      <p:sp>
        <p:nvSpPr>
          <p:cNvPr id="14" name="">
            <a:extLst xmlns:a="http://schemas.openxmlformats.org/drawingml/2006/main">
              <a:ext uri="{FF2B5EF4-FFF2-40B4-BE49-F238E27FC236}">
                <a16:creationId xmlns:a16="http://schemas.microsoft.com/office/drawing/2014/main" id="{7B1FCDDD-754E-4B46-A9F3-09ADE649CF72}"/>
              </a:ext>
            </a:extLst>
          </p:cNvPr>
          <p:cNvSpPr>
            <a:spLocks xmlns:a="http://schemas.openxmlformats.org/drawingml/2006/main" noGrp="1"/>
          </p:cNvSpPr>
          <p:nvPr/>
        </p:nvSpPr>
        <p:spPr>
          <a:xfrm xmlns:a="http://schemas.openxmlformats.org/drawingml/2006/main">
            <a:off x="12477750" y="8153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BOUNDARY</a:t>
            </a:r>
          </a:p>
        </p:txBody>
      </p:sp>
      <p:sp>
        <p:nvSpPr>
          <p:cNvPr id="15" name="">
            <a:extLst xmlns:a="http://schemas.openxmlformats.org/drawingml/2006/main">
              <a:ext uri="{FF2B5EF4-FFF2-40B4-BE49-F238E27FC236}">
                <a16:creationId xmlns:a16="http://schemas.microsoft.com/office/drawing/2014/main" id="{62F3E1F1-C1E6-4C5D-B5BB-8ED1767C9D2F}"/>
              </a:ext>
            </a:extLst>
          </p:cNvPr>
          <p:cNvSpPr>
            <a:spLocks xmlns:a="http://schemas.openxmlformats.org/drawingml/2006/main" noGrp="1"/>
          </p:cNvSpPr>
          <p:nvPr/>
        </p:nvSpPr>
        <p:spPr>
          <a:xfrm xmlns:a="http://schemas.openxmlformats.org/drawingml/2006/main">
            <a:off x="14097000" y="8153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02</a:t>
            </a:r>
          </a:p>
        </p:txBody>
      </p:sp>
    </p:spTree>
    <p:extLst>
      <p:ext uri="{BB962C8B-B14F-4D97-AF65-F5344CB8AC3E}">
        <p14:creationId xmlns:p14="http://schemas.microsoft.com/office/powerpoint/2010/main" val="1878034231"/>
      </p:ext>
    </p:extLst>
  </p:cSld>
</p:sld>
</file>

<file path=ppt/slides/slide3.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25AB1E4-42AC-4F38-9832-61AB9F79D31D}"/>
              </a:ext>
            </a:extLst>
          </p:cNvPr>
          <p:cNvSpPr>
            <a:spLocks xmlns:a="http://schemas.openxmlformats.org/drawingml/2006/main" noGrp="1"/>
          </p:cNvSpPr>
          <p:nvPr/>
        </p:nvSpPr>
        <p:spPr>
          <a:xfrm xmlns:a="http://schemas.openxmlformats.org/drawingml/2006/main">
            <a:off x="971550" y="7239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OFFICIAL SOURCE</a:t>
            </a:r>
          </a:p>
        </p:txBody>
      </p:sp>
      <p:sp>
        <p:nvSpPr>
          <p:cNvPr id="2" name="">
            <a:extLst xmlns:a="http://schemas.openxmlformats.org/drawingml/2006/main">
              <a:ext uri="{FF2B5EF4-FFF2-40B4-BE49-F238E27FC236}">
                <a16:creationId xmlns:a16="http://schemas.microsoft.com/office/drawing/2014/main" id="{4FC87317-1AE5-4283-B66E-4DB26DCD07BA}"/>
              </a:ext>
            </a:extLst>
          </p:cNvPr>
          <p:cNvSpPr>
            <a:spLocks xmlns:a="http://schemas.openxmlformats.org/drawingml/2006/main" noGrp="1"/>
          </p:cNvSpPr>
          <p:nvPr/>
        </p:nvSpPr>
        <p:spPr>
          <a:xfrm xmlns:a="http://schemas.openxmlformats.org/drawingml/2006/main">
            <a:off x="971550" y="1181100"/>
            <a:ext cx="13239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3600" b="1">
                <a:solidFill>
                  <a:srgbClr val="051C2A"/>
                </a:solidFill>
                <a:latin typeface="Calibri"/>
                <a:ea typeface="Calibri"/>
                <a:cs typeface="Calibri"/>
              </a:defRPr>
            </a:pPr>
            <a:r>
              <a:rPr sz="3600" b="1">
                <a:solidFill>
                  <a:srgbClr val="051C2A"/>
                </a:solidFill>
                <a:latin typeface="Calibri"/>
                <a:ea typeface="Calibri"/>
                <a:cs typeface="Calibri"/>
              </a:rPr>
              <a:t>The source is one 1.98 MB filing—not a pasted fact card</a:t>
            </a:r>
          </a:p>
        </p:txBody>
      </p:sp>
      <p:sp>
        <p:nvSpPr>
          <p:cNvPr id="3" name="">
            <a:extLst xmlns:a="http://schemas.openxmlformats.org/drawingml/2006/main">
              <a:ext uri="{FF2B5EF4-FFF2-40B4-BE49-F238E27FC236}">
                <a16:creationId xmlns:a16="http://schemas.microsoft.com/office/drawing/2014/main" id="{2225C689-54CE-4FC2-A8FF-E88EDD6E73E1}"/>
              </a:ext>
            </a:extLst>
          </p:cNvPr>
          <p:cNvSpPr>
            <a:spLocks xmlns:a="http://schemas.openxmlformats.org/drawingml/2006/main" noGrp="1"/>
          </p:cNvSpPr>
          <p:nvPr/>
        </p:nvSpPr>
        <p:spPr>
          <a:xfrm xmlns:a="http://schemas.openxmlformats.org/drawingml/2006/main">
            <a:off x="1066800" y="28765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575" b="1">
                <a:solidFill>
                  <a:srgbClr val="1F40CB"/>
                </a:solidFill>
                <a:latin typeface="Calibri"/>
                <a:ea typeface="Calibri"/>
                <a:cs typeface="Calibri"/>
              </a:defRPr>
            </a:pPr>
            <a:r>
              <a:rPr sz="1575" b="1">
                <a:solidFill>
                  <a:srgbClr val="1F40CB"/>
                </a:solidFill>
                <a:latin typeface="Calibri"/>
                <a:ea typeface="Calibri"/>
                <a:cs typeface="Calibri"/>
              </a:rPr>
              <a:t>SEC PROVENANCE</a:t>
            </a:r>
          </a:p>
        </p:txBody>
      </p:sp>
      <p:sp>
        <p:nvSpPr>
          <p:cNvPr id="4" name="">
            <a:extLst xmlns:a="http://schemas.openxmlformats.org/drawingml/2006/main">
              <a:ext uri="{FF2B5EF4-FFF2-40B4-BE49-F238E27FC236}">
                <a16:creationId xmlns:a16="http://schemas.microsoft.com/office/drawing/2014/main" id="{AB35474F-D624-489B-92E8-BD4182BDBA92}"/>
              </a:ext>
            </a:extLst>
          </p:cNvPr>
          <p:cNvSpPr>
            <a:spLocks xmlns:a="http://schemas.openxmlformats.org/drawingml/2006/main" noGrp="1"/>
          </p:cNvSpPr>
          <p:nvPr/>
        </p:nvSpPr>
        <p:spPr>
          <a:xfrm xmlns:a="http://schemas.openxmlformats.org/drawingml/2006/main">
            <a:off x="1066800" y="335280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025" b="1">
                <a:solidFill>
                  <a:srgbClr val="051C2A"/>
                </a:solidFill>
                <a:latin typeface="Calibri"/>
                <a:ea typeface="Calibri"/>
                <a:cs typeface="Calibri"/>
              </a:defRPr>
            </a:pPr>
            <a:r>
              <a:rPr sz="2025" b="1">
                <a:solidFill>
                  <a:srgbClr val="051C2A"/>
                </a:solidFill>
                <a:latin typeface="Calibri"/>
                <a:ea typeface="Calibri"/>
                <a:cs typeface="Calibri"/>
              </a:rPr>
              <a:t>FY2026 Form 10-K
Accession 0001045810-26-000021</a:t>
            </a:r>
          </a:p>
        </p:txBody>
      </p:sp>
      <p:sp>
        <p:nvSpPr>
          <p:cNvPr id="5" name="">
            <a:extLst xmlns:a="http://schemas.openxmlformats.org/drawingml/2006/main">
              <a:ext uri="{FF2B5EF4-FFF2-40B4-BE49-F238E27FC236}">
                <a16:creationId xmlns:a16="http://schemas.microsoft.com/office/drawing/2014/main" id="{CB6A7CE9-8603-4733-86A0-820430368077}"/>
              </a:ext>
            </a:extLst>
          </p:cNvPr>
          <p:cNvSpPr>
            <a:spLocks xmlns:a="http://schemas.openxmlformats.org/drawingml/2006/main" noGrp="1"/>
          </p:cNvSpPr>
          <p:nvPr/>
        </p:nvSpPr>
        <p:spPr>
          <a:xfrm xmlns:a="http://schemas.openxmlformats.org/drawingml/2006/main">
            <a:off x="1066800" y="4324350"/>
            <a:ext cx="4095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6" name="">
            <a:extLst xmlns:a="http://schemas.openxmlformats.org/drawingml/2006/main">
              <a:ext uri="{FF2B5EF4-FFF2-40B4-BE49-F238E27FC236}">
                <a16:creationId xmlns:a16="http://schemas.microsoft.com/office/drawing/2014/main" id="{48208B5E-14CF-4E16-BADC-18EA4B95A2C8}"/>
              </a:ext>
            </a:extLst>
          </p:cNvPr>
          <p:cNvSpPr>
            <a:spLocks xmlns:a="http://schemas.openxmlformats.org/drawingml/2006/main" noGrp="1"/>
          </p:cNvSpPr>
          <p:nvPr/>
        </p:nvSpPr>
        <p:spPr>
          <a:xfrm xmlns:a="http://schemas.openxmlformats.org/drawingml/2006/main">
            <a:off x="1066800" y="468630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575" b="1">
                <a:solidFill>
                  <a:srgbClr val="00A2EB"/>
                </a:solidFill>
                <a:latin typeface="Calibri"/>
                <a:ea typeface="Calibri"/>
                <a:cs typeface="Calibri"/>
              </a:defRPr>
            </a:pPr>
            <a:r>
              <a:rPr sz="1575" b="1">
                <a:solidFill>
                  <a:srgbClr val="00A2EB"/>
                </a:solidFill>
                <a:latin typeface="Calibri"/>
                <a:ea typeface="Calibri"/>
                <a:cs typeface="Calibri"/>
              </a:rPr>
              <a:t>TWO ARTIFACTS</a:t>
            </a:r>
          </a:p>
        </p:txBody>
      </p:sp>
      <p:sp>
        <p:nvSpPr>
          <p:cNvPr id="7" name="">
            <a:extLst xmlns:a="http://schemas.openxmlformats.org/drawingml/2006/main">
              <a:ext uri="{FF2B5EF4-FFF2-40B4-BE49-F238E27FC236}">
                <a16:creationId xmlns:a16="http://schemas.microsoft.com/office/drawing/2014/main" id="{5324DF7E-874E-4566-BFD4-563B7D2DC563}"/>
              </a:ext>
            </a:extLst>
          </p:cNvPr>
          <p:cNvSpPr>
            <a:spLocks xmlns:a="http://schemas.openxmlformats.org/drawingml/2006/main" noGrp="1"/>
          </p:cNvSpPr>
          <p:nvPr/>
        </p:nvSpPr>
        <p:spPr>
          <a:xfrm xmlns:a="http://schemas.openxmlformats.org/drawingml/2006/main">
            <a:off x="1066800" y="51625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025" b="1">
                <a:solidFill>
                  <a:srgbClr val="051C2A"/>
                </a:solidFill>
                <a:latin typeface="Calibri"/>
                <a:ea typeface="Calibri"/>
                <a:cs typeface="Calibri"/>
              </a:defRPr>
            </a:pPr>
            <a:r>
              <a:rPr sz="2025" b="1">
                <a:solidFill>
                  <a:srgbClr val="051C2A"/>
                </a:solidFill>
                <a:latin typeface="Calibri"/>
                <a:ea typeface="Calibri"/>
                <a:cs typeface="Calibri"/>
              </a:rPr>
              <a:t>Complete filing for corpus decisions
Bounded pack for repeated questions</a:t>
            </a:r>
          </a:p>
        </p:txBody>
      </p:sp>
      <p:sp>
        <p:nvSpPr>
          <p:cNvPr id="14" name="">
            <a:extLst xmlns:a="http://schemas.openxmlformats.org/drawingml/2006/main">
              <a:ext uri="{FF2B5EF4-FFF2-40B4-BE49-F238E27FC236}">
                <a16:creationId xmlns:a16="http://schemas.microsoft.com/office/drawing/2014/main" id="{12ABA0A2-12FF-4F25-862C-AE57B2222EEA}"/>
              </a:ext>
            </a:extLst>
          </p:cNvPr>
          <p:cNvSpPr>
            <a:spLocks xmlns:a="http://schemas.openxmlformats.org/drawingml/2006/main" noGrp="1"/>
          </p:cNvSpPr>
          <p:nvPr/>
        </p:nvSpPr>
        <p:spPr>
          <a:xfrm xmlns:a="http://schemas.openxmlformats.org/drawingml/2006/main">
            <a:off x="857250" y="7905750"/>
            <a:ext cx="1352550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5" name="">
            <a:extLst xmlns:a="http://schemas.openxmlformats.org/drawingml/2006/main">
              <a:ext uri="{FF2B5EF4-FFF2-40B4-BE49-F238E27FC236}">
                <a16:creationId xmlns:a16="http://schemas.microsoft.com/office/drawing/2014/main" id="{DABD8D42-E860-4B95-87E4-3C7FF1FC93AE}"/>
              </a:ext>
            </a:extLst>
          </p:cNvPr>
          <p:cNvSpPr>
            <a:spLocks xmlns:a="http://schemas.openxmlformats.org/drawingml/2006/main" noGrp="1"/>
          </p:cNvSpPr>
          <p:nvPr/>
        </p:nvSpPr>
        <p:spPr>
          <a:xfrm xmlns:a="http://schemas.openxmlformats.org/drawingml/2006/main">
            <a:off x="857250" y="7905750"/>
            <a:ext cx="8001000" cy="28575"/>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16" name="">
            <a:extLst xmlns:a="http://schemas.openxmlformats.org/drawingml/2006/main">
              <a:ext uri="{FF2B5EF4-FFF2-40B4-BE49-F238E27FC236}">
                <a16:creationId xmlns:a16="http://schemas.microsoft.com/office/drawing/2014/main" id="{97D224F1-4BCA-4A2F-84C4-3FDCAE79E925}"/>
              </a:ext>
            </a:extLst>
          </p:cNvPr>
          <p:cNvSpPr>
            <a:spLocks xmlns:a="http://schemas.openxmlformats.org/drawingml/2006/main" noGrp="1"/>
          </p:cNvSpPr>
          <p:nvPr/>
        </p:nvSpPr>
        <p:spPr>
          <a:xfrm xmlns:a="http://schemas.openxmlformats.org/drawingml/2006/main">
            <a:off x="971550" y="81534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275">
                <a:solidFill>
                  <a:srgbClr val="9E9FA2"/>
                </a:solidFill>
                <a:latin typeface="Calibri"/>
                <a:ea typeface="Calibri"/>
                <a:cs typeface="Calibri"/>
              </a:defRPr>
            </a:pPr>
            <a:r>
              <a:rPr sz="1275">
                <a:solidFill>
                  <a:srgbClr val="9E9FA2"/>
                </a:solidFill>
                <a:latin typeface="Calibri"/>
                <a:ea typeface="Calibri"/>
                <a:cs typeface="Calibri"/>
              </a:rPr>
              <a:t>First Finance - Arnaud Demes</a:t>
            </a:r>
          </a:p>
        </p:txBody>
      </p:sp>
      <p:sp>
        <p:nvSpPr>
          <p:cNvPr id="17" name="">
            <a:extLst xmlns:a="http://schemas.openxmlformats.org/drawingml/2006/main">
              <a:ext uri="{FF2B5EF4-FFF2-40B4-BE49-F238E27FC236}">
                <a16:creationId xmlns:a16="http://schemas.microsoft.com/office/drawing/2014/main" id="{E854E057-3E14-470C-8862-AC0BFD9D53C6}"/>
              </a:ext>
            </a:extLst>
          </p:cNvPr>
          <p:cNvSpPr>
            <a:spLocks xmlns:a="http://schemas.openxmlformats.org/drawingml/2006/main" noGrp="1"/>
          </p:cNvSpPr>
          <p:nvPr/>
        </p:nvSpPr>
        <p:spPr>
          <a:xfrm xmlns:a="http://schemas.openxmlformats.org/drawingml/2006/main">
            <a:off x="12477750" y="8153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SOURCE</a:t>
            </a:r>
          </a:p>
        </p:txBody>
      </p:sp>
      <p:sp>
        <p:nvSpPr>
          <p:cNvPr id="18" name="">
            <a:extLst xmlns:a="http://schemas.openxmlformats.org/drawingml/2006/main">
              <a:ext uri="{FF2B5EF4-FFF2-40B4-BE49-F238E27FC236}">
                <a16:creationId xmlns:a16="http://schemas.microsoft.com/office/drawing/2014/main" id="{7AADE638-85F0-4B8A-A0CD-DDDC9FD4291B}"/>
              </a:ext>
            </a:extLst>
          </p:cNvPr>
          <p:cNvSpPr>
            <a:spLocks xmlns:a="http://schemas.openxmlformats.org/drawingml/2006/main" noGrp="1"/>
          </p:cNvSpPr>
          <p:nvPr/>
        </p:nvSpPr>
        <p:spPr>
          <a:xfrm xmlns:a="http://schemas.openxmlformats.org/drawingml/2006/main">
            <a:off x="14097000" y="8153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03</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177ae91fa9b14222"/>
          <a:srcRect xmlns:a="http://schemas.openxmlformats.org/drawingml/2006/main" l="0" t="5556" r="0" b="5556"/>
          <a:stretch xmlns:a="http://schemas.openxmlformats.org/drawingml/2006/main">
            <a:fillRect l="0" t="0" r="0" b="0"/>
          </a:stretch>
        </p:blipFill>
        <p:spPr>
          <a:xfrm xmlns:a="http://schemas.openxmlformats.org/drawingml/2006/main">
            <a:off x="6191250" y="2667000"/>
            <a:ext cx="7810500" cy="3905250"/>
          </a:xfrm>
          <a:prstGeom xmlns:a="http://schemas.openxmlformats.org/drawingml/2006/main" prst="roundRect">
            <a:avLst>
              <a:gd name="adj" fmla="val 2927"/>
            </a:avLst>
          </a:prstGeom>
        </p:spPr>
      </p:pic>
    </p:spTree>
    <p:extLst>
      <p:ext uri="{BB962C8B-B14F-4D97-AF65-F5344CB8AC3E}">
        <p14:creationId xmlns:p14="http://schemas.microsoft.com/office/powerpoint/2010/main" val="772363078"/>
      </p:ext>
    </p:extLst>
  </p:cSld>
</p:sld>
</file>

<file path=ppt/slides/slide4.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7C48A24-E18F-4399-84FF-49EC1D75EC4A}"/>
              </a:ext>
            </a:extLst>
          </p:cNvPr>
          <p:cNvSpPr>
            <a:spLocks xmlns:a="http://schemas.openxmlformats.org/drawingml/2006/main" noGrp="1"/>
          </p:cNvSpPr>
          <p:nvPr/>
        </p:nvSpPr>
        <p:spPr>
          <a:xfrm xmlns:a="http://schemas.openxmlformats.org/drawingml/2006/main">
            <a:off x="971550" y="7239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CONTEXT BUDGET</a:t>
            </a:r>
          </a:p>
        </p:txBody>
      </p:sp>
      <p:sp>
        <p:nvSpPr>
          <p:cNvPr id="2" name="">
            <a:extLst xmlns:a="http://schemas.openxmlformats.org/drawingml/2006/main">
              <a:ext uri="{FF2B5EF4-FFF2-40B4-BE49-F238E27FC236}">
                <a16:creationId xmlns:a16="http://schemas.microsoft.com/office/drawing/2014/main" id="{7574DED0-BD05-4639-BE3C-BD8A49B9E36F}"/>
              </a:ext>
            </a:extLst>
          </p:cNvPr>
          <p:cNvSpPr>
            <a:spLocks xmlns:a="http://schemas.openxmlformats.org/drawingml/2006/main" noGrp="1"/>
          </p:cNvSpPr>
          <p:nvPr/>
        </p:nvSpPr>
        <p:spPr>
          <a:xfrm xmlns:a="http://schemas.openxmlformats.org/drawingml/2006/main">
            <a:off x="971550" y="1181100"/>
            <a:ext cx="13239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3600" b="1">
                <a:solidFill>
                  <a:srgbClr val="051C2A"/>
                </a:solidFill>
                <a:latin typeface="Calibri"/>
                <a:ea typeface="Calibri"/>
                <a:cs typeface="Calibri"/>
              </a:defRPr>
            </a:pPr>
            <a:r>
              <a:rPr sz="3600" b="1">
                <a:solidFill>
                  <a:srgbClr val="051C2A"/>
                </a:solidFill>
                <a:latin typeface="Calibri"/>
                <a:ea typeface="Calibri"/>
                <a:cs typeface="Calibri"/>
              </a:rPr>
              <a:t>The context window is a budget—not a document bin</a:t>
            </a:r>
          </a:p>
        </p:txBody>
      </p:sp>
      <p:sp>
        <p:nvSpPr>
          <p:cNvPr id="3" name="">
            <a:extLst xmlns:a="http://schemas.openxmlformats.org/drawingml/2006/main">
              <a:ext uri="{FF2B5EF4-FFF2-40B4-BE49-F238E27FC236}">
                <a16:creationId xmlns:a16="http://schemas.microsoft.com/office/drawing/2014/main" id="{B710C483-A890-47EA-A072-5D9086A148F5}"/>
              </a:ext>
            </a:extLst>
          </p:cNvPr>
          <p:cNvSpPr>
            <a:spLocks xmlns:a="http://schemas.openxmlformats.org/drawingml/2006/main" noGrp="1"/>
          </p:cNvSpPr>
          <p:nvPr/>
        </p:nvSpPr>
        <p:spPr>
          <a:xfrm xmlns:a="http://schemas.openxmlformats.org/drawingml/2006/main">
            <a:off x="1162050" y="28575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01</a:t>
            </a:r>
          </a:p>
        </p:txBody>
      </p:sp>
      <p:sp>
        <p:nvSpPr>
          <p:cNvPr id="4" name="">
            <a:extLst xmlns:a="http://schemas.openxmlformats.org/drawingml/2006/main">
              <a:ext uri="{FF2B5EF4-FFF2-40B4-BE49-F238E27FC236}">
                <a16:creationId xmlns:a16="http://schemas.microsoft.com/office/drawing/2014/main" id="{8A4E515B-5F3B-40A3-8912-9F85F0FE7567}"/>
              </a:ext>
            </a:extLst>
          </p:cNvPr>
          <p:cNvSpPr>
            <a:spLocks xmlns:a="http://schemas.openxmlformats.org/drawingml/2006/main" noGrp="1"/>
          </p:cNvSpPr>
          <p:nvPr/>
        </p:nvSpPr>
        <p:spPr>
          <a:xfrm xmlns:a="http://schemas.openxmlformats.org/drawingml/2006/main">
            <a:off x="2143125" y="28194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Reserve answer capacity</a:t>
            </a:r>
          </a:p>
        </p:txBody>
      </p:sp>
      <p:sp>
        <p:nvSpPr>
          <p:cNvPr id="5" name="">
            <a:extLst xmlns:a="http://schemas.openxmlformats.org/drawingml/2006/main">
              <a:ext uri="{FF2B5EF4-FFF2-40B4-BE49-F238E27FC236}">
                <a16:creationId xmlns:a16="http://schemas.microsoft.com/office/drawing/2014/main" id="{A2CF432C-0929-4FB7-9EB4-33A2C51C41DC}"/>
              </a:ext>
            </a:extLst>
          </p:cNvPr>
          <p:cNvSpPr>
            <a:spLocks xmlns:a="http://schemas.openxmlformats.org/drawingml/2006/main" noGrp="1"/>
          </p:cNvSpPr>
          <p:nvPr/>
        </p:nvSpPr>
        <p:spPr>
          <a:xfrm xmlns:a="http://schemas.openxmlformats.org/drawingml/2006/main">
            <a:off x="8572500" y="28575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OUTPUT</a:t>
            </a:r>
          </a:p>
        </p:txBody>
      </p:sp>
      <p:sp>
        <p:nvSpPr>
          <p:cNvPr id="6" name="">
            <a:extLst xmlns:a="http://schemas.openxmlformats.org/drawingml/2006/main">
              <a:ext uri="{FF2B5EF4-FFF2-40B4-BE49-F238E27FC236}">
                <a16:creationId xmlns:a16="http://schemas.microsoft.com/office/drawing/2014/main" id="{179A1F7B-8EE0-471C-AA17-75A56716B8A1}"/>
              </a:ext>
            </a:extLst>
          </p:cNvPr>
          <p:cNvSpPr>
            <a:spLocks xmlns:a="http://schemas.openxmlformats.org/drawingml/2006/main" noGrp="1"/>
          </p:cNvSpPr>
          <p:nvPr/>
        </p:nvSpPr>
        <p:spPr>
          <a:xfrm xmlns:a="http://schemas.openxmlformats.org/drawingml/2006/main">
            <a:off x="2143125" y="34099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7" name="">
            <a:extLst xmlns:a="http://schemas.openxmlformats.org/drawingml/2006/main">
              <a:ext uri="{FF2B5EF4-FFF2-40B4-BE49-F238E27FC236}">
                <a16:creationId xmlns:a16="http://schemas.microsoft.com/office/drawing/2014/main" id="{C5F63C6A-1C80-47E2-9174-F44504BE7A86}"/>
              </a:ext>
            </a:extLst>
          </p:cNvPr>
          <p:cNvSpPr>
            <a:spLocks xmlns:a="http://schemas.openxmlformats.org/drawingml/2006/main" noGrp="1"/>
          </p:cNvSpPr>
          <p:nvPr/>
        </p:nvSpPr>
        <p:spPr>
          <a:xfrm xmlns:a="http://schemas.openxmlformats.org/drawingml/2006/main">
            <a:off x="1162050" y="36957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02</a:t>
            </a:r>
          </a:p>
        </p:txBody>
      </p:sp>
      <p:sp>
        <p:nvSpPr>
          <p:cNvPr id="8" name="">
            <a:extLst xmlns:a="http://schemas.openxmlformats.org/drawingml/2006/main">
              <a:ext uri="{FF2B5EF4-FFF2-40B4-BE49-F238E27FC236}">
                <a16:creationId xmlns:a16="http://schemas.microsoft.com/office/drawing/2014/main" id="{9521B42D-9ED7-495A-B9A4-706CAD687326}"/>
              </a:ext>
            </a:extLst>
          </p:cNvPr>
          <p:cNvSpPr>
            <a:spLocks xmlns:a="http://schemas.openxmlformats.org/drawingml/2006/main" noGrp="1"/>
          </p:cNvSpPr>
          <p:nvPr/>
        </p:nvSpPr>
        <p:spPr>
          <a:xfrm xmlns:a="http://schemas.openxmlformats.org/drawingml/2006/main">
            <a:off x="2143125" y="36576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Add instructions + question</a:t>
            </a:r>
          </a:p>
        </p:txBody>
      </p:sp>
      <p:sp>
        <p:nvSpPr>
          <p:cNvPr id="9" name="">
            <a:extLst xmlns:a="http://schemas.openxmlformats.org/drawingml/2006/main">
              <a:ext uri="{FF2B5EF4-FFF2-40B4-BE49-F238E27FC236}">
                <a16:creationId xmlns:a16="http://schemas.microsoft.com/office/drawing/2014/main" id="{3879279A-F56C-43A4-BB61-5DBED2EC9897}"/>
              </a:ext>
            </a:extLst>
          </p:cNvPr>
          <p:cNvSpPr>
            <a:spLocks xmlns:a="http://schemas.openxmlformats.org/drawingml/2006/main" noGrp="1"/>
          </p:cNvSpPr>
          <p:nvPr/>
        </p:nvSpPr>
        <p:spPr>
          <a:xfrm xmlns:a="http://schemas.openxmlformats.org/drawingml/2006/main">
            <a:off x="8572500" y="36957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ADD</a:t>
            </a:r>
          </a:p>
        </p:txBody>
      </p:sp>
      <p:sp>
        <p:nvSpPr>
          <p:cNvPr id="10" name="">
            <a:extLst xmlns:a="http://schemas.openxmlformats.org/drawingml/2006/main">
              <a:ext uri="{FF2B5EF4-FFF2-40B4-BE49-F238E27FC236}">
                <a16:creationId xmlns:a16="http://schemas.microsoft.com/office/drawing/2014/main" id="{17DD85C8-4C83-4C3E-8F6A-367A43180458}"/>
              </a:ext>
            </a:extLst>
          </p:cNvPr>
          <p:cNvSpPr>
            <a:spLocks xmlns:a="http://schemas.openxmlformats.org/drawingml/2006/main" noGrp="1"/>
          </p:cNvSpPr>
          <p:nvPr/>
        </p:nvSpPr>
        <p:spPr>
          <a:xfrm xmlns:a="http://schemas.openxmlformats.org/drawingml/2006/main">
            <a:off x="2143125" y="42481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1" name="">
            <a:extLst xmlns:a="http://schemas.openxmlformats.org/drawingml/2006/main">
              <a:ext uri="{FF2B5EF4-FFF2-40B4-BE49-F238E27FC236}">
                <a16:creationId xmlns:a16="http://schemas.microsoft.com/office/drawing/2014/main" id="{56A488D8-189E-4BB9-9C55-CA27344D4880}"/>
              </a:ext>
            </a:extLst>
          </p:cNvPr>
          <p:cNvSpPr>
            <a:spLocks xmlns:a="http://schemas.openxmlformats.org/drawingml/2006/main" noGrp="1"/>
          </p:cNvSpPr>
          <p:nvPr/>
        </p:nvSpPr>
        <p:spPr>
          <a:xfrm xmlns:a="http://schemas.openxmlformats.org/drawingml/2006/main">
            <a:off x="1162050" y="45339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03</a:t>
            </a:r>
          </a:p>
        </p:txBody>
      </p:sp>
      <p:sp>
        <p:nvSpPr>
          <p:cNvPr id="12" name="">
            <a:extLst xmlns:a="http://schemas.openxmlformats.org/drawingml/2006/main">
              <a:ext uri="{FF2B5EF4-FFF2-40B4-BE49-F238E27FC236}">
                <a16:creationId xmlns:a16="http://schemas.microsoft.com/office/drawing/2014/main" id="{2062B6DC-830C-4BC9-8851-A3888182AE1E}"/>
              </a:ext>
            </a:extLst>
          </p:cNvPr>
          <p:cNvSpPr>
            <a:spLocks xmlns:a="http://schemas.openxmlformats.org/drawingml/2006/main" noGrp="1"/>
          </p:cNvSpPr>
          <p:nvPr/>
        </p:nvSpPr>
        <p:spPr>
          <a:xfrm xmlns:a="http://schemas.openxmlformats.org/drawingml/2006/main">
            <a:off x="2143125" y="44958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Estimate evidence tokens</a:t>
            </a:r>
          </a:p>
        </p:txBody>
      </p:sp>
      <p:sp>
        <p:nvSpPr>
          <p:cNvPr id="13" name="">
            <a:extLst xmlns:a="http://schemas.openxmlformats.org/drawingml/2006/main">
              <a:ext uri="{FF2B5EF4-FFF2-40B4-BE49-F238E27FC236}">
                <a16:creationId xmlns:a16="http://schemas.microsoft.com/office/drawing/2014/main" id="{56B92F15-B968-44A2-AC9F-1F44F75B84FF}"/>
              </a:ext>
            </a:extLst>
          </p:cNvPr>
          <p:cNvSpPr>
            <a:spLocks xmlns:a="http://schemas.openxmlformats.org/drawingml/2006/main" noGrp="1"/>
          </p:cNvSpPr>
          <p:nvPr/>
        </p:nvSpPr>
        <p:spPr>
          <a:xfrm xmlns:a="http://schemas.openxmlformats.org/drawingml/2006/main">
            <a:off x="8572500" y="45339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MEASURE</a:t>
            </a:r>
          </a:p>
        </p:txBody>
      </p:sp>
      <p:sp>
        <p:nvSpPr>
          <p:cNvPr id="14" name="">
            <a:extLst xmlns:a="http://schemas.openxmlformats.org/drawingml/2006/main">
              <a:ext uri="{FF2B5EF4-FFF2-40B4-BE49-F238E27FC236}">
                <a16:creationId xmlns:a16="http://schemas.microsoft.com/office/drawing/2014/main" id="{AC9FCC08-CC44-427D-9C16-AD71F4A0FE15}"/>
              </a:ext>
            </a:extLst>
          </p:cNvPr>
          <p:cNvSpPr>
            <a:spLocks xmlns:a="http://schemas.openxmlformats.org/drawingml/2006/main" noGrp="1"/>
          </p:cNvSpPr>
          <p:nvPr/>
        </p:nvSpPr>
        <p:spPr>
          <a:xfrm xmlns:a="http://schemas.openxmlformats.org/drawingml/2006/main">
            <a:off x="2143125" y="50863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5" name="">
            <a:extLst xmlns:a="http://schemas.openxmlformats.org/drawingml/2006/main">
              <a:ext uri="{FF2B5EF4-FFF2-40B4-BE49-F238E27FC236}">
                <a16:creationId xmlns:a16="http://schemas.microsoft.com/office/drawing/2014/main" id="{46219D6C-4B5E-42DF-9DFC-40856CEAE76C}"/>
              </a:ext>
            </a:extLst>
          </p:cNvPr>
          <p:cNvSpPr>
            <a:spLocks xmlns:a="http://schemas.openxmlformats.org/drawingml/2006/main" noGrp="1"/>
          </p:cNvSpPr>
          <p:nvPr/>
        </p:nvSpPr>
        <p:spPr>
          <a:xfrm xmlns:a="http://schemas.openxmlformats.org/drawingml/2006/main">
            <a:off x="1162050" y="53721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04</a:t>
            </a:r>
          </a:p>
        </p:txBody>
      </p:sp>
      <p:sp>
        <p:nvSpPr>
          <p:cNvPr id="16" name="">
            <a:extLst xmlns:a="http://schemas.openxmlformats.org/drawingml/2006/main">
              <a:ext uri="{FF2B5EF4-FFF2-40B4-BE49-F238E27FC236}">
                <a16:creationId xmlns:a16="http://schemas.microsoft.com/office/drawing/2014/main" id="{E2CA7A6E-EE89-4E7C-A0E4-A0D3E684AC6C}"/>
              </a:ext>
            </a:extLst>
          </p:cNvPr>
          <p:cNvSpPr>
            <a:spLocks xmlns:a="http://schemas.openxmlformats.org/drawingml/2006/main" noGrp="1"/>
          </p:cNvSpPr>
          <p:nvPr/>
        </p:nvSpPr>
        <p:spPr>
          <a:xfrm xmlns:a="http://schemas.openxmlformats.org/drawingml/2006/main">
            <a:off x="2143125" y="53340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Choose route before generation</a:t>
            </a:r>
          </a:p>
        </p:txBody>
      </p:sp>
      <p:sp>
        <p:nvSpPr>
          <p:cNvPr id="17" name="">
            <a:extLst xmlns:a="http://schemas.openxmlformats.org/drawingml/2006/main">
              <a:ext uri="{FF2B5EF4-FFF2-40B4-BE49-F238E27FC236}">
                <a16:creationId xmlns:a16="http://schemas.microsoft.com/office/drawing/2014/main" id="{EF9232DB-9ADA-4EC0-9488-23F6FAAFFAB6}"/>
              </a:ext>
            </a:extLst>
          </p:cNvPr>
          <p:cNvSpPr>
            <a:spLocks xmlns:a="http://schemas.openxmlformats.org/drawingml/2006/main" noGrp="1"/>
          </p:cNvSpPr>
          <p:nvPr/>
        </p:nvSpPr>
        <p:spPr>
          <a:xfrm xmlns:a="http://schemas.openxmlformats.org/drawingml/2006/main">
            <a:off x="8572500" y="53721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ROUTE</a:t>
            </a:r>
          </a:p>
        </p:txBody>
      </p:sp>
      <p:sp>
        <p:nvSpPr>
          <p:cNvPr id="18" name="">
            <a:extLst xmlns:a="http://schemas.openxmlformats.org/drawingml/2006/main">
              <a:ext uri="{FF2B5EF4-FFF2-40B4-BE49-F238E27FC236}">
                <a16:creationId xmlns:a16="http://schemas.microsoft.com/office/drawing/2014/main" id="{48F021EC-EF4B-4696-AC90-EE4C0AB71651}"/>
              </a:ext>
            </a:extLst>
          </p:cNvPr>
          <p:cNvSpPr>
            <a:spLocks xmlns:a="http://schemas.openxmlformats.org/drawingml/2006/main" noGrp="1"/>
          </p:cNvSpPr>
          <p:nvPr/>
        </p:nvSpPr>
        <p:spPr>
          <a:xfrm xmlns:a="http://schemas.openxmlformats.org/drawingml/2006/main">
            <a:off x="2143125" y="59245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9" name="">
            <a:extLst xmlns:a="http://schemas.openxmlformats.org/drawingml/2006/main">
              <a:ext uri="{FF2B5EF4-FFF2-40B4-BE49-F238E27FC236}">
                <a16:creationId xmlns:a16="http://schemas.microsoft.com/office/drawing/2014/main" id="{2D510A64-1653-4D80-B5B0-A343D07C171B}"/>
              </a:ext>
            </a:extLst>
          </p:cNvPr>
          <p:cNvSpPr>
            <a:spLocks xmlns:a="http://schemas.openxmlformats.org/drawingml/2006/main" noGrp="1"/>
          </p:cNvSpPr>
          <p:nvPr/>
        </p:nvSpPr>
        <p:spPr>
          <a:xfrm xmlns:a="http://schemas.openxmlformats.org/drawingml/2006/main">
            <a:off x="10572750" y="2914650"/>
            <a:ext cx="3333750" cy="3238500"/>
          </a:xfrm>
          <a:prstGeom xmlns:a="http://schemas.openxmlformats.org/drawingml/2006/main" prst="roundRect">
            <a:avLst>
              <a:gd name="adj" fmla="val 2353"/>
            </a:avLst>
          </a:prstGeom>
          <a:solidFill xmlns:a="http://schemas.openxmlformats.org/drawingml/2006/main">
            <a:srgbClr val="051C2A"/>
          </a:solidFill>
          <a:ln xmlns:a="http://schemas.openxmlformats.org/drawingml/2006/main" w="9525">
            <a:solidFill>
              <a:srgbClr val="051C2A"/>
            </a:solidFill>
            <a:prstDash val="solid"/>
          </a:ln>
        </p:spPr>
      </p:sp>
      <p:sp>
        <p:nvSpPr>
          <p:cNvPr id="20" name="">
            <a:extLst xmlns:a="http://schemas.openxmlformats.org/drawingml/2006/main">
              <a:ext uri="{FF2B5EF4-FFF2-40B4-BE49-F238E27FC236}">
                <a16:creationId xmlns:a16="http://schemas.microsoft.com/office/drawing/2014/main" id="{34E24CC2-8886-4470-A433-8B2BDCC9A396}"/>
              </a:ext>
            </a:extLst>
          </p:cNvPr>
          <p:cNvSpPr>
            <a:spLocks xmlns:a="http://schemas.openxmlformats.org/drawingml/2006/main" noGrp="1"/>
          </p:cNvSpPr>
          <p:nvPr/>
        </p:nvSpPr>
        <p:spPr>
          <a:xfrm xmlns:a="http://schemas.openxmlformats.org/drawingml/2006/main">
            <a:off x="11049000" y="34290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425" b="1">
                <a:solidFill>
                  <a:srgbClr val="00A2EB"/>
                </a:solidFill>
                <a:latin typeface="Calibri"/>
                <a:ea typeface="Calibri"/>
                <a:cs typeface="Calibri"/>
              </a:defRPr>
            </a:pPr>
            <a:r>
              <a:rPr sz="1425" b="1">
                <a:solidFill>
                  <a:srgbClr val="00A2EB"/>
                </a:solidFill>
                <a:latin typeface="Calibri"/>
                <a:ea typeface="Calibri"/>
                <a:cs typeface="Calibri"/>
              </a:rPr>
              <a:t>TEACHING WINDOW</a:t>
            </a:r>
          </a:p>
        </p:txBody>
      </p:sp>
      <p:sp>
        <p:nvSpPr>
          <p:cNvPr id="21" name="">
            <a:extLst xmlns:a="http://schemas.openxmlformats.org/drawingml/2006/main">
              <a:ext uri="{FF2B5EF4-FFF2-40B4-BE49-F238E27FC236}">
                <a16:creationId xmlns:a16="http://schemas.microsoft.com/office/drawing/2014/main" id="{75710502-B50A-464D-8CBF-05C06A018465}"/>
              </a:ext>
            </a:extLst>
          </p:cNvPr>
          <p:cNvSpPr>
            <a:spLocks xmlns:a="http://schemas.openxmlformats.org/drawingml/2006/main" noGrp="1"/>
          </p:cNvSpPr>
          <p:nvPr/>
        </p:nvSpPr>
        <p:spPr>
          <a:xfrm xmlns:a="http://schemas.openxmlformats.org/drawingml/2006/main">
            <a:off x="11049000" y="40386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2550" b="1">
                <a:solidFill>
                  <a:srgbClr val="FFFFFF"/>
                </a:solidFill>
                <a:latin typeface="Calibri"/>
                <a:ea typeface="Calibri"/>
                <a:cs typeface="Calibri"/>
              </a:defRPr>
            </a:pPr>
            <a:r>
              <a:rPr sz="2550" b="1">
                <a:solidFill>
                  <a:srgbClr val="FFFFFF"/>
                </a:solidFill>
                <a:latin typeface="Calibri"/>
                <a:ea typeface="Calibri"/>
                <a:cs typeface="Calibri"/>
              </a:rPr>
              <a:t>8,192 tokens</a:t>
            </a:r>
          </a:p>
        </p:txBody>
      </p:sp>
      <p:sp>
        <p:nvSpPr>
          <p:cNvPr id="22" name="">
            <a:extLst xmlns:a="http://schemas.openxmlformats.org/drawingml/2006/main">
              <a:ext uri="{FF2B5EF4-FFF2-40B4-BE49-F238E27FC236}">
                <a16:creationId xmlns:a16="http://schemas.microsoft.com/office/drawing/2014/main" id="{98057516-ABAC-4FB1-A462-D76649ACD6A3}"/>
              </a:ext>
            </a:extLst>
          </p:cNvPr>
          <p:cNvSpPr>
            <a:spLocks xmlns:a="http://schemas.openxmlformats.org/drawingml/2006/main" noGrp="1"/>
          </p:cNvSpPr>
          <p:nvPr/>
        </p:nvSpPr>
        <p:spPr>
          <a:xfrm xmlns:a="http://schemas.openxmlformats.org/drawingml/2006/main">
            <a:off x="11049000" y="4953000"/>
            <a:ext cx="2381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650">
                <a:solidFill>
                  <a:srgbClr val="FFFFFF"/>
                </a:solidFill>
                <a:latin typeface="Calibri"/>
                <a:ea typeface="Calibri"/>
                <a:cs typeface="Calibri"/>
              </a:defRPr>
            </a:pPr>
            <a:r>
              <a:rPr sz="1650">
                <a:solidFill>
                  <a:srgbClr val="FFFFFF"/>
                </a:solidFill>
                <a:latin typeface="Calibri"/>
                <a:ea typeface="Calibri"/>
                <a:cs typeface="Calibri"/>
              </a:rPr>
              <a:t>pack fits
filing does not</a:t>
            </a:r>
          </a:p>
        </p:txBody>
      </p:sp>
      <p:sp>
        <p:nvSpPr>
          <p:cNvPr id="23" name="">
            <a:extLst xmlns:a="http://schemas.openxmlformats.org/drawingml/2006/main">
              <a:ext uri="{FF2B5EF4-FFF2-40B4-BE49-F238E27FC236}">
                <a16:creationId xmlns:a16="http://schemas.microsoft.com/office/drawing/2014/main" id="{8174979B-71B7-425A-85CB-FF6AD6AC593E}"/>
              </a:ext>
            </a:extLst>
          </p:cNvPr>
          <p:cNvSpPr>
            <a:spLocks xmlns:a="http://schemas.openxmlformats.org/drawingml/2006/main" noGrp="1"/>
          </p:cNvSpPr>
          <p:nvPr/>
        </p:nvSpPr>
        <p:spPr>
          <a:xfrm xmlns:a="http://schemas.openxmlformats.org/drawingml/2006/main">
            <a:off x="2143125" y="6667500"/>
            <a:ext cx="876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650">
                <a:solidFill>
                  <a:srgbClr val="373738"/>
                </a:solidFill>
                <a:latin typeface="Calibri"/>
                <a:ea typeface="Calibri"/>
                <a:cs typeface="Calibri"/>
              </a:defRPr>
            </a:pPr>
            <a:r>
              <a:rPr sz="1650">
                <a:solidFill>
                  <a:srgbClr val="373738"/>
                </a:solidFill>
                <a:latin typeface="Calibri"/>
                <a:ea typeface="Calibri"/>
                <a:cs typeface="Calibri"/>
              </a:rPr>
              <a:t>Four characters per token is a teaching estimate—not a provider tokenizer.</a:t>
            </a:r>
          </a:p>
        </p:txBody>
      </p:sp>
      <p:sp>
        <p:nvSpPr>
          <p:cNvPr id="24" name="">
            <a:extLst xmlns:a="http://schemas.openxmlformats.org/drawingml/2006/main">
              <a:ext uri="{FF2B5EF4-FFF2-40B4-BE49-F238E27FC236}">
                <a16:creationId xmlns:a16="http://schemas.microsoft.com/office/drawing/2014/main" id="{5B353963-99F6-474D-AE9E-6D102866C245}"/>
              </a:ext>
            </a:extLst>
          </p:cNvPr>
          <p:cNvSpPr>
            <a:spLocks xmlns:a="http://schemas.openxmlformats.org/drawingml/2006/main" noGrp="1"/>
          </p:cNvSpPr>
          <p:nvPr/>
        </p:nvSpPr>
        <p:spPr>
          <a:xfrm xmlns:a="http://schemas.openxmlformats.org/drawingml/2006/main">
            <a:off x="857250" y="7905750"/>
            <a:ext cx="1352550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25" name="">
            <a:extLst xmlns:a="http://schemas.openxmlformats.org/drawingml/2006/main">
              <a:ext uri="{FF2B5EF4-FFF2-40B4-BE49-F238E27FC236}">
                <a16:creationId xmlns:a16="http://schemas.microsoft.com/office/drawing/2014/main" id="{7A58137A-5475-4121-BA20-053FF731F89A}"/>
              </a:ext>
            </a:extLst>
          </p:cNvPr>
          <p:cNvSpPr>
            <a:spLocks xmlns:a="http://schemas.openxmlformats.org/drawingml/2006/main" noGrp="1"/>
          </p:cNvSpPr>
          <p:nvPr/>
        </p:nvSpPr>
        <p:spPr>
          <a:xfrm xmlns:a="http://schemas.openxmlformats.org/drawingml/2006/main">
            <a:off x="857250" y="7905750"/>
            <a:ext cx="8001000" cy="28575"/>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26" name="">
            <a:extLst xmlns:a="http://schemas.openxmlformats.org/drawingml/2006/main">
              <a:ext uri="{FF2B5EF4-FFF2-40B4-BE49-F238E27FC236}">
                <a16:creationId xmlns:a16="http://schemas.microsoft.com/office/drawing/2014/main" id="{7126838F-9E9E-49AC-8F5A-4888689CD6C3}"/>
              </a:ext>
            </a:extLst>
          </p:cNvPr>
          <p:cNvSpPr>
            <a:spLocks xmlns:a="http://schemas.openxmlformats.org/drawingml/2006/main" noGrp="1"/>
          </p:cNvSpPr>
          <p:nvPr/>
        </p:nvSpPr>
        <p:spPr>
          <a:xfrm xmlns:a="http://schemas.openxmlformats.org/drawingml/2006/main">
            <a:off x="971550" y="81534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275">
                <a:solidFill>
                  <a:srgbClr val="9E9FA2"/>
                </a:solidFill>
                <a:latin typeface="Calibri"/>
                <a:ea typeface="Calibri"/>
                <a:cs typeface="Calibri"/>
              </a:defRPr>
            </a:pPr>
            <a:r>
              <a:rPr sz="1275">
                <a:solidFill>
                  <a:srgbClr val="9E9FA2"/>
                </a:solidFill>
                <a:latin typeface="Calibri"/>
                <a:ea typeface="Calibri"/>
                <a:cs typeface="Calibri"/>
              </a:rPr>
              <a:t>First Finance - Arnaud Demes</a:t>
            </a:r>
          </a:p>
        </p:txBody>
      </p:sp>
      <p:sp>
        <p:nvSpPr>
          <p:cNvPr id="27" name="">
            <a:extLst xmlns:a="http://schemas.openxmlformats.org/drawingml/2006/main">
              <a:ext uri="{FF2B5EF4-FFF2-40B4-BE49-F238E27FC236}">
                <a16:creationId xmlns:a16="http://schemas.microsoft.com/office/drawing/2014/main" id="{3F2728AD-6B3E-41C8-9959-16F490654FF9}"/>
              </a:ext>
            </a:extLst>
          </p:cNvPr>
          <p:cNvSpPr>
            <a:spLocks xmlns:a="http://schemas.openxmlformats.org/drawingml/2006/main" noGrp="1"/>
          </p:cNvSpPr>
          <p:nvPr/>
        </p:nvSpPr>
        <p:spPr>
          <a:xfrm xmlns:a="http://schemas.openxmlformats.org/drawingml/2006/main">
            <a:off x="12477750" y="8153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BUDGET</a:t>
            </a:r>
          </a:p>
        </p:txBody>
      </p:sp>
      <p:sp>
        <p:nvSpPr>
          <p:cNvPr id="28" name="">
            <a:extLst xmlns:a="http://schemas.openxmlformats.org/drawingml/2006/main">
              <a:ext uri="{FF2B5EF4-FFF2-40B4-BE49-F238E27FC236}">
                <a16:creationId xmlns:a16="http://schemas.microsoft.com/office/drawing/2014/main" id="{2500A979-B0DA-491D-BECE-B4073BB3CB9A}"/>
              </a:ext>
            </a:extLst>
          </p:cNvPr>
          <p:cNvSpPr>
            <a:spLocks xmlns:a="http://schemas.openxmlformats.org/drawingml/2006/main" noGrp="1"/>
          </p:cNvSpPr>
          <p:nvPr/>
        </p:nvSpPr>
        <p:spPr>
          <a:xfrm xmlns:a="http://schemas.openxmlformats.org/drawingml/2006/main">
            <a:off x="14097000" y="8153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04</a:t>
            </a:r>
          </a:p>
        </p:txBody>
      </p:sp>
    </p:spTree>
    <p:extLst>
      <p:ext uri="{BB962C8B-B14F-4D97-AF65-F5344CB8AC3E}">
        <p14:creationId xmlns:p14="http://schemas.microsoft.com/office/powerpoint/2010/main" val="223453297"/>
      </p:ext>
    </p:extLst>
  </p:cSld>
</p:sld>
</file>

<file path=ppt/slides/slide5.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25AB1E4-42AC-4F38-9832-61AB9F79D31D}"/>
              </a:ext>
            </a:extLst>
          </p:cNvPr>
          <p:cNvSpPr>
            <a:spLocks xmlns:a="http://schemas.openxmlformats.org/drawingml/2006/main" noGrp="1"/>
          </p:cNvSpPr>
          <p:nvPr/>
        </p:nvSpPr>
        <p:spPr>
          <a:xfrm xmlns:a="http://schemas.openxmlformats.org/drawingml/2006/main">
            <a:off x="971550" y="7239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PROMPT CACHING</a:t>
            </a:r>
          </a:p>
        </p:txBody>
      </p:sp>
      <p:sp>
        <p:nvSpPr>
          <p:cNvPr id="2" name="">
            <a:extLst xmlns:a="http://schemas.openxmlformats.org/drawingml/2006/main">
              <a:ext uri="{FF2B5EF4-FFF2-40B4-BE49-F238E27FC236}">
                <a16:creationId xmlns:a16="http://schemas.microsoft.com/office/drawing/2014/main" id="{4FC87317-1AE5-4283-B66E-4DB26DCD07BA}"/>
              </a:ext>
            </a:extLst>
          </p:cNvPr>
          <p:cNvSpPr>
            <a:spLocks xmlns:a="http://schemas.openxmlformats.org/drawingml/2006/main" noGrp="1"/>
          </p:cNvSpPr>
          <p:nvPr/>
        </p:nvSpPr>
        <p:spPr>
          <a:xfrm xmlns:a="http://schemas.openxmlformats.org/drawingml/2006/main">
            <a:off x="971550" y="1181100"/>
            <a:ext cx="13239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3600" b="1">
                <a:solidFill>
                  <a:srgbClr val="051C2A"/>
                </a:solidFill>
                <a:latin typeface="Calibri"/>
                <a:ea typeface="Calibri"/>
                <a:cs typeface="Calibri"/>
              </a:defRPr>
            </a:pPr>
            <a:r>
              <a:rPr sz="3600" b="1">
                <a:solidFill>
                  <a:srgbClr val="051C2A"/>
                </a:solidFill>
                <a:latin typeface="Calibri"/>
                <a:ea typeface="Calibri"/>
                <a:cs typeface="Calibri"/>
              </a:rPr>
              <a:t>CAG reuses a stable prefix; it does not cache answers</a:t>
            </a:r>
          </a:p>
        </p:txBody>
      </p:sp>
      <p:sp>
        <p:nvSpPr>
          <p:cNvPr id="3" name="">
            <a:extLst xmlns:a="http://schemas.openxmlformats.org/drawingml/2006/main">
              <a:ext uri="{FF2B5EF4-FFF2-40B4-BE49-F238E27FC236}">
                <a16:creationId xmlns:a16="http://schemas.microsoft.com/office/drawing/2014/main" id="{2225C689-54CE-4FC2-A8FF-E88EDD6E73E1}"/>
              </a:ext>
            </a:extLst>
          </p:cNvPr>
          <p:cNvSpPr>
            <a:spLocks xmlns:a="http://schemas.openxmlformats.org/drawingml/2006/main" noGrp="1"/>
          </p:cNvSpPr>
          <p:nvPr/>
        </p:nvSpPr>
        <p:spPr>
          <a:xfrm xmlns:a="http://schemas.openxmlformats.org/drawingml/2006/main">
            <a:off x="1066800" y="28765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575" b="1">
                <a:solidFill>
                  <a:srgbClr val="1F40CB"/>
                </a:solidFill>
                <a:latin typeface="Calibri"/>
                <a:ea typeface="Calibri"/>
                <a:cs typeface="Calibri"/>
              </a:defRPr>
            </a:pPr>
            <a:r>
              <a:rPr sz="1575" b="1">
                <a:solidFill>
                  <a:srgbClr val="1F40CB"/>
                </a:solidFill>
                <a:latin typeface="Calibri"/>
                <a:ea typeface="Calibri"/>
                <a:cs typeface="Calibri"/>
              </a:rPr>
              <a:t>STABLE PREFIX</a:t>
            </a:r>
          </a:p>
        </p:txBody>
      </p:sp>
      <p:sp>
        <p:nvSpPr>
          <p:cNvPr id="4" name="">
            <a:extLst xmlns:a="http://schemas.openxmlformats.org/drawingml/2006/main">
              <a:ext uri="{FF2B5EF4-FFF2-40B4-BE49-F238E27FC236}">
                <a16:creationId xmlns:a16="http://schemas.microsoft.com/office/drawing/2014/main" id="{AB35474F-D624-489B-92E8-BD4182BDBA92}"/>
              </a:ext>
            </a:extLst>
          </p:cNvPr>
          <p:cNvSpPr>
            <a:spLocks xmlns:a="http://schemas.openxmlformats.org/drawingml/2006/main" noGrp="1"/>
          </p:cNvSpPr>
          <p:nvPr/>
        </p:nvSpPr>
        <p:spPr>
          <a:xfrm xmlns:a="http://schemas.openxmlformats.org/drawingml/2006/main">
            <a:off x="1066800" y="335280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025" b="1">
                <a:solidFill>
                  <a:srgbClr val="051C2A"/>
                </a:solidFill>
                <a:latin typeface="Calibri"/>
                <a:ea typeface="Calibri"/>
                <a:cs typeface="Calibri"/>
              </a:defRPr>
            </a:pPr>
            <a:r>
              <a:rPr sz="2025" b="1">
                <a:solidFill>
                  <a:srgbClr val="051C2A"/>
                </a:solidFill>
                <a:latin typeface="Calibri"/>
                <a:ea typeface="Calibri"/>
                <a:cs typeface="Calibri"/>
              </a:rPr>
              <a:t>Instructions + source remain exact</a:t>
            </a:r>
          </a:p>
        </p:txBody>
      </p:sp>
      <p:sp>
        <p:nvSpPr>
          <p:cNvPr id="5" name="">
            <a:extLst xmlns:a="http://schemas.openxmlformats.org/drawingml/2006/main">
              <a:ext uri="{FF2B5EF4-FFF2-40B4-BE49-F238E27FC236}">
                <a16:creationId xmlns:a16="http://schemas.microsoft.com/office/drawing/2014/main" id="{CB6A7CE9-8603-4733-86A0-820430368077}"/>
              </a:ext>
            </a:extLst>
          </p:cNvPr>
          <p:cNvSpPr>
            <a:spLocks xmlns:a="http://schemas.openxmlformats.org/drawingml/2006/main" noGrp="1"/>
          </p:cNvSpPr>
          <p:nvPr/>
        </p:nvSpPr>
        <p:spPr>
          <a:xfrm xmlns:a="http://schemas.openxmlformats.org/drawingml/2006/main">
            <a:off x="1066800" y="4324350"/>
            <a:ext cx="4095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6" name="">
            <a:extLst xmlns:a="http://schemas.openxmlformats.org/drawingml/2006/main">
              <a:ext uri="{FF2B5EF4-FFF2-40B4-BE49-F238E27FC236}">
                <a16:creationId xmlns:a16="http://schemas.microsoft.com/office/drawing/2014/main" id="{48208B5E-14CF-4E16-BADC-18EA4B95A2C8}"/>
              </a:ext>
            </a:extLst>
          </p:cNvPr>
          <p:cNvSpPr>
            <a:spLocks xmlns:a="http://schemas.openxmlformats.org/drawingml/2006/main" noGrp="1"/>
          </p:cNvSpPr>
          <p:nvPr/>
        </p:nvSpPr>
        <p:spPr>
          <a:xfrm xmlns:a="http://schemas.openxmlformats.org/drawingml/2006/main">
            <a:off x="1066800" y="468630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575" b="1">
                <a:solidFill>
                  <a:srgbClr val="00A2EB"/>
                </a:solidFill>
                <a:latin typeface="Calibri"/>
                <a:ea typeface="Calibri"/>
                <a:cs typeface="Calibri"/>
              </a:defRPr>
            </a:pPr>
            <a:r>
              <a:rPr sz="1575" b="1">
                <a:solidFill>
                  <a:srgbClr val="00A2EB"/>
                </a:solidFill>
                <a:latin typeface="Calibri"/>
                <a:ea typeface="Calibri"/>
                <a:cs typeface="Calibri"/>
              </a:rPr>
              <a:t>CHANGING SUFFIX</a:t>
            </a:r>
          </a:p>
        </p:txBody>
      </p:sp>
      <p:sp>
        <p:nvSpPr>
          <p:cNvPr id="7" name="">
            <a:extLst xmlns:a="http://schemas.openxmlformats.org/drawingml/2006/main">
              <a:ext uri="{FF2B5EF4-FFF2-40B4-BE49-F238E27FC236}">
                <a16:creationId xmlns:a16="http://schemas.microsoft.com/office/drawing/2014/main" id="{5324DF7E-874E-4566-BFD4-563B7D2DC563}"/>
              </a:ext>
            </a:extLst>
          </p:cNvPr>
          <p:cNvSpPr>
            <a:spLocks xmlns:a="http://schemas.openxmlformats.org/drawingml/2006/main" noGrp="1"/>
          </p:cNvSpPr>
          <p:nvPr/>
        </p:nvSpPr>
        <p:spPr>
          <a:xfrm xmlns:a="http://schemas.openxmlformats.org/drawingml/2006/main">
            <a:off x="1066800" y="51625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025" b="1">
                <a:solidFill>
                  <a:srgbClr val="051C2A"/>
                </a:solidFill>
                <a:latin typeface="Calibri"/>
                <a:ea typeface="Calibri"/>
                <a:cs typeface="Calibri"/>
              </a:defRPr>
            </a:pPr>
            <a:r>
              <a:rPr sz="2025" b="1">
                <a:solidFill>
                  <a:srgbClr val="051C2A"/>
                </a:solidFill>
                <a:latin typeface="Calibri"/>
                <a:ea typeface="Calibri"/>
                <a:cs typeface="Calibri"/>
              </a:rPr>
              <a:t>Append each new question last</a:t>
            </a:r>
          </a:p>
        </p:txBody>
      </p:sp>
      <p:sp>
        <p:nvSpPr>
          <p:cNvPr id="8" name="">
            <a:extLst xmlns:a="http://schemas.openxmlformats.org/drawingml/2006/main">
              <a:ext uri="{FF2B5EF4-FFF2-40B4-BE49-F238E27FC236}">
                <a16:creationId xmlns:a16="http://schemas.microsoft.com/office/drawing/2014/main" id="{C4B0359C-EF48-41D4-A6E9-00E41CF10F44}"/>
              </a:ext>
            </a:extLst>
          </p:cNvPr>
          <p:cNvSpPr>
            <a:spLocks xmlns:a="http://schemas.openxmlformats.org/drawingml/2006/main" noGrp="1"/>
          </p:cNvSpPr>
          <p:nvPr/>
        </p:nvSpPr>
        <p:spPr>
          <a:xfrm xmlns:a="http://schemas.openxmlformats.org/drawingml/2006/main">
            <a:off x="6191250" y="2667000"/>
            <a:ext cx="7810500" cy="3905250"/>
          </a:xfrm>
          <a:prstGeom xmlns:a="http://schemas.openxmlformats.org/drawingml/2006/main" prst="roundRect">
            <a:avLst>
              <a:gd name="adj" fmla="val 1951"/>
            </a:avLst>
          </a:prstGeom>
          <a:solidFill xmlns:a="http://schemas.openxmlformats.org/drawingml/2006/main">
            <a:srgbClr val="051C2A"/>
          </a:solidFill>
          <a:ln xmlns:a="http://schemas.openxmlformats.org/drawingml/2006/main" w="9525">
            <a:solidFill>
              <a:srgbClr val="051C2A"/>
            </a:solidFill>
            <a:prstDash val="solid"/>
          </a:ln>
        </p:spPr>
      </p:sp>
      <p:sp>
        <p:nvSpPr>
          <p:cNvPr id="9" name="">
            <a:extLst xmlns:a="http://schemas.openxmlformats.org/drawingml/2006/main">
              <a:ext uri="{FF2B5EF4-FFF2-40B4-BE49-F238E27FC236}">
                <a16:creationId xmlns:a16="http://schemas.microsoft.com/office/drawing/2014/main" id="{95A2E685-CEFF-4453-8C95-28578E2DE510}"/>
              </a:ext>
            </a:extLst>
          </p:cNvPr>
          <p:cNvSpPr>
            <a:spLocks xmlns:a="http://schemas.openxmlformats.org/drawingml/2006/main" noGrp="1"/>
          </p:cNvSpPr>
          <p:nvPr/>
        </p:nvSpPr>
        <p:spPr>
          <a:xfrm xmlns:a="http://schemas.openxmlformats.org/drawingml/2006/main">
            <a:off x="6781800" y="3105150"/>
            <a:ext cx="647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800">
                <a:solidFill>
                  <a:srgbClr val="FFFFFF"/>
                </a:solidFill>
                <a:latin typeface="Consolas"/>
                <a:ea typeface="Consolas"/>
                <a:cs typeface="Consolas"/>
              </a:defRPr>
            </a:pPr>
            <a:r>
              <a:rPr sz="1800">
                <a:solidFill>
                  <a:srgbClr val="FFFFFF"/>
                </a:solidFill>
                <a:latin typeface="Consolas"/>
                <a:ea typeface="Consolas"/>
                <a:cs typeface="Consolas"/>
              </a:rPr>
              <a:t>Request A:</a:t>
            </a:r>
          </a:p>
        </p:txBody>
      </p:sp>
      <p:sp>
        <p:nvSpPr>
          <p:cNvPr id="10" name="">
            <a:extLst xmlns:a="http://schemas.openxmlformats.org/drawingml/2006/main">
              <a:ext uri="{FF2B5EF4-FFF2-40B4-BE49-F238E27FC236}">
                <a16:creationId xmlns:a16="http://schemas.microsoft.com/office/drawing/2014/main" id="{FE1A30A9-E2C4-4827-8E19-657027C5A04F}"/>
              </a:ext>
            </a:extLst>
          </p:cNvPr>
          <p:cNvSpPr>
            <a:spLocks xmlns:a="http://schemas.openxmlformats.org/drawingml/2006/main" noGrp="1"/>
          </p:cNvSpPr>
          <p:nvPr/>
        </p:nvSpPr>
        <p:spPr>
          <a:xfrm xmlns:a="http://schemas.openxmlformats.org/drawingml/2006/main">
            <a:off x="6781800" y="3714750"/>
            <a:ext cx="647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800">
                <a:solidFill>
                  <a:srgbClr val="00A2EB"/>
                </a:solidFill>
                <a:latin typeface="Consolas"/>
                <a:ea typeface="Consolas"/>
                <a:cs typeface="Consolas"/>
              </a:defRPr>
            </a:pPr>
            <a:r>
              <a:rPr sz="1800">
                <a:solidFill>
                  <a:srgbClr val="00A2EB"/>
                </a:solidFill>
                <a:latin typeface="Consolas"/>
                <a:ea typeface="Consolas"/>
                <a:cs typeface="Consolas"/>
              </a:rPr>
              <a:t>policy → source → question A</a:t>
            </a:r>
          </a:p>
        </p:txBody>
      </p:sp>
      <p:sp>
        <p:nvSpPr>
          <p:cNvPr id="11" name="">
            <a:extLst xmlns:a="http://schemas.openxmlformats.org/drawingml/2006/main">
              <a:ext uri="{FF2B5EF4-FFF2-40B4-BE49-F238E27FC236}">
                <a16:creationId xmlns:a16="http://schemas.microsoft.com/office/drawing/2014/main" id="{3E231728-B735-42CB-93A0-1EC165D1BFBD}"/>
              </a:ext>
            </a:extLst>
          </p:cNvPr>
          <p:cNvSpPr>
            <a:spLocks xmlns:a="http://schemas.openxmlformats.org/drawingml/2006/main" noGrp="1"/>
          </p:cNvSpPr>
          <p:nvPr/>
        </p:nvSpPr>
        <p:spPr>
          <a:xfrm xmlns:a="http://schemas.openxmlformats.org/drawingml/2006/main">
            <a:off x="6781800" y="4324350"/>
            <a:ext cx="676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800">
                <a:solidFill>
                  <a:srgbClr val="FFFFFF"/>
                </a:solidFill>
                <a:latin typeface="Consolas"/>
                <a:ea typeface="Consolas"/>
                <a:cs typeface="Consolas"/>
              </a:defRPr>
            </a:pPr>
            <a:r>
              <a:rPr sz="1800">
                <a:solidFill>
                  <a:srgbClr val="FFFFFF"/>
                </a:solidFill>
                <a:latin typeface="Consolas"/>
                <a:ea typeface="Consolas"/>
                <a:cs typeface="Consolas"/>
              </a:rPr>
              <a:t>Request B:</a:t>
            </a:r>
          </a:p>
        </p:txBody>
      </p:sp>
      <p:sp>
        <p:nvSpPr>
          <p:cNvPr id="12" name="">
            <a:extLst xmlns:a="http://schemas.openxmlformats.org/drawingml/2006/main">
              <a:ext uri="{FF2B5EF4-FFF2-40B4-BE49-F238E27FC236}">
                <a16:creationId xmlns:a16="http://schemas.microsoft.com/office/drawing/2014/main" id="{9003C876-E68B-49CA-BC42-27F65639A2F4}"/>
              </a:ext>
            </a:extLst>
          </p:cNvPr>
          <p:cNvSpPr>
            <a:spLocks xmlns:a="http://schemas.openxmlformats.org/drawingml/2006/main" noGrp="1"/>
          </p:cNvSpPr>
          <p:nvPr/>
        </p:nvSpPr>
        <p:spPr>
          <a:xfrm xmlns:a="http://schemas.openxmlformats.org/drawingml/2006/main">
            <a:off x="6781800" y="4933950"/>
            <a:ext cx="647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800">
                <a:solidFill>
                  <a:srgbClr val="FFFFFF"/>
                </a:solidFill>
                <a:latin typeface="Consolas"/>
                <a:ea typeface="Consolas"/>
                <a:cs typeface="Consolas"/>
              </a:defRPr>
            </a:pPr>
            <a:r>
              <a:rPr sz="1800">
                <a:solidFill>
                  <a:srgbClr val="FFFFFF"/>
                </a:solidFill>
                <a:latin typeface="Consolas"/>
                <a:ea typeface="Consolas"/>
                <a:cs typeface="Consolas"/>
              </a:rPr>
              <a:t>policy → source → question B</a:t>
            </a:r>
          </a:p>
        </p:txBody>
      </p:sp>
      <p:sp>
        <p:nvSpPr>
          <p:cNvPr id="13" name="">
            <a:extLst xmlns:a="http://schemas.openxmlformats.org/drawingml/2006/main">
              <a:ext uri="{FF2B5EF4-FFF2-40B4-BE49-F238E27FC236}">
                <a16:creationId xmlns:a16="http://schemas.microsoft.com/office/drawing/2014/main" id="{73F656D8-F2F5-4064-95D9-4ECB8677B59C}"/>
              </a:ext>
            </a:extLst>
          </p:cNvPr>
          <p:cNvSpPr>
            <a:spLocks xmlns:a="http://schemas.openxmlformats.org/drawingml/2006/main" noGrp="1"/>
          </p:cNvSpPr>
          <p:nvPr/>
        </p:nvSpPr>
        <p:spPr>
          <a:xfrm xmlns:a="http://schemas.openxmlformats.org/drawingml/2006/main">
            <a:off x="6781800" y="5762625"/>
            <a:ext cx="628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575">
                <a:solidFill>
                  <a:srgbClr val="9E9FA2"/>
                </a:solidFill>
                <a:latin typeface="Calibri"/>
                <a:ea typeface="Calibri"/>
                <a:cs typeface="Calibri"/>
              </a:defRPr>
            </a:pPr>
            <a:r>
              <a:rPr sz="1575">
                <a:solidFill>
                  <a:srgbClr val="9E9FA2"/>
                </a:solidFill>
                <a:latin typeface="Calibri"/>
                <a:ea typeface="Calibri"/>
                <a:cs typeface="Calibri"/>
              </a:rPr>
              <a:t>Confirm reuse with cached-token telemetry; latency alone is not proof.</a:t>
            </a:r>
          </a:p>
        </p:txBody>
      </p:sp>
      <p:sp>
        <p:nvSpPr>
          <p:cNvPr id="14" name="">
            <a:extLst xmlns:a="http://schemas.openxmlformats.org/drawingml/2006/main">
              <a:ext uri="{FF2B5EF4-FFF2-40B4-BE49-F238E27FC236}">
                <a16:creationId xmlns:a16="http://schemas.microsoft.com/office/drawing/2014/main" id="{12ABA0A2-12FF-4F25-862C-AE57B2222EEA}"/>
              </a:ext>
            </a:extLst>
          </p:cNvPr>
          <p:cNvSpPr>
            <a:spLocks xmlns:a="http://schemas.openxmlformats.org/drawingml/2006/main" noGrp="1"/>
          </p:cNvSpPr>
          <p:nvPr/>
        </p:nvSpPr>
        <p:spPr>
          <a:xfrm xmlns:a="http://schemas.openxmlformats.org/drawingml/2006/main">
            <a:off x="857250" y="7905750"/>
            <a:ext cx="1352550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5" name="">
            <a:extLst xmlns:a="http://schemas.openxmlformats.org/drawingml/2006/main">
              <a:ext uri="{FF2B5EF4-FFF2-40B4-BE49-F238E27FC236}">
                <a16:creationId xmlns:a16="http://schemas.microsoft.com/office/drawing/2014/main" id="{DABD8D42-E860-4B95-87E4-3C7FF1FC93AE}"/>
              </a:ext>
            </a:extLst>
          </p:cNvPr>
          <p:cNvSpPr>
            <a:spLocks xmlns:a="http://schemas.openxmlformats.org/drawingml/2006/main" noGrp="1"/>
          </p:cNvSpPr>
          <p:nvPr/>
        </p:nvSpPr>
        <p:spPr>
          <a:xfrm xmlns:a="http://schemas.openxmlformats.org/drawingml/2006/main">
            <a:off x="857250" y="7905750"/>
            <a:ext cx="8001000" cy="28575"/>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16" name="">
            <a:extLst xmlns:a="http://schemas.openxmlformats.org/drawingml/2006/main">
              <a:ext uri="{FF2B5EF4-FFF2-40B4-BE49-F238E27FC236}">
                <a16:creationId xmlns:a16="http://schemas.microsoft.com/office/drawing/2014/main" id="{97D224F1-4BCA-4A2F-84C4-3FDCAE79E925}"/>
              </a:ext>
            </a:extLst>
          </p:cNvPr>
          <p:cNvSpPr>
            <a:spLocks xmlns:a="http://schemas.openxmlformats.org/drawingml/2006/main" noGrp="1"/>
          </p:cNvSpPr>
          <p:nvPr/>
        </p:nvSpPr>
        <p:spPr>
          <a:xfrm xmlns:a="http://schemas.openxmlformats.org/drawingml/2006/main">
            <a:off x="971550" y="81534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275">
                <a:solidFill>
                  <a:srgbClr val="9E9FA2"/>
                </a:solidFill>
                <a:latin typeface="Calibri"/>
                <a:ea typeface="Calibri"/>
                <a:cs typeface="Calibri"/>
              </a:defRPr>
            </a:pPr>
            <a:r>
              <a:rPr sz="1275">
                <a:solidFill>
                  <a:srgbClr val="9E9FA2"/>
                </a:solidFill>
                <a:latin typeface="Calibri"/>
                <a:ea typeface="Calibri"/>
                <a:cs typeface="Calibri"/>
              </a:rPr>
              <a:t>First Finance - Arnaud Demes</a:t>
            </a:r>
          </a:p>
        </p:txBody>
      </p:sp>
      <p:sp>
        <p:nvSpPr>
          <p:cNvPr id="17" name="">
            <a:extLst xmlns:a="http://schemas.openxmlformats.org/drawingml/2006/main">
              <a:ext uri="{FF2B5EF4-FFF2-40B4-BE49-F238E27FC236}">
                <a16:creationId xmlns:a16="http://schemas.microsoft.com/office/drawing/2014/main" id="{E854E057-3E14-470C-8862-AC0BFD9D53C6}"/>
              </a:ext>
            </a:extLst>
          </p:cNvPr>
          <p:cNvSpPr>
            <a:spLocks xmlns:a="http://schemas.openxmlformats.org/drawingml/2006/main" noGrp="1"/>
          </p:cNvSpPr>
          <p:nvPr/>
        </p:nvSpPr>
        <p:spPr>
          <a:xfrm xmlns:a="http://schemas.openxmlformats.org/drawingml/2006/main">
            <a:off x="12477750" y="8153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CACHE</a:t>
            </a:r>
          </a:p>
        </p:txBody>
      </p:sp>
      <p:sp>
        <p:nvSpPr>
          <p:cNvPr id="18" name="">
            <a:extLst xmlns:a="http://schemas.openxmlformats.org/drawingml/2006/main">
              <a:ext uri="{FF2B5EF4-FFF2-40B4-BE49-F238E27FC236}">
                <a16:creationId xmlns:a16="http://schemas.microsoft.com/office/drawing/2014/main" id="{7AADE638-85F0-4B8A-A0CD-DDDC9FD4291B}"/>
              </a:ext>
            </a:extLst>
          </p:cNvPr>
          <p:cNvSpPr>
            <a:spLocks xmlns:a="http://schemas.openxmlformats.org/drawingml/2006/main" noGrp="1"/>
          </p:cNvSpPr>
          <p:nvPr/>
        </p:nvSpPr>
        <p:spPr>
          <a:xfrm xmlns:a="http://schemas.openxmlformats.org/drawingml/2006/main">
            <a:off x="14097000" y="8153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05</a:t>
            </a:r>
          </a:p>
        </p:txBody>
      </p:sp>
    </p:spTree>
    <p:extLst>
      <p:ext uri="{BB962C8B-B14F-4D97-AF65-F5344CB8AC3E}">
        <p14:creationId xmlns:p14="http://schemas.microsoft.com/office/powerpoint/2010/main" val="772363078"/>
      </p:ext>
    </p:extLst>
  </p:cSld>
</p:sld>
</file>

<file path=ppt/slides/slide6.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25AB1E4-42AC-4F38-9832-61AB9F79D31D}"/>
              </a:ext>
            </a:extLst>
          </p:cNvPr>
          <p:cNvSpPr>
            <a:spLocks xmlns:a="http://schemas.openxmlformats.org/drawingml/2006/main" noGrp="1"/>
          </p:cNvSpPr>
          <p:nvPr/>
        </p:nvSpPr>
        <p:spPr>
          <a:xfrm xmlns:a="http://schemas.openxmlformats.org/drawingml/2006/main">
            <a:off x="971550" y="7239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LONG CONTEXT</a:t>
            </a:r>
          </a:p>
        </p:txBody>
      </p:sp>
      <p:sp>
        <p:nvSpPr>
          <p:cNvPr id="2" name="">
            <a:extLst xmlns:a="http://schemas.openxmlformats.org/drawingml/2006/main">
              <a:ext uri="{FF2B5EF4-FFF2-40B4-BE49-F238E27FC236}">
                <a16:creationId xmlns:a16="http://schemas.microsoft.com/office/drawing/2014/main" id="{4FC87317-1AE5-4283-B66E-4DB26DCD07BA}"/>
              </a:ext>
            </a:extLst>
          </p:cNvPr>
          <p:cNvSpPr>
            <a:spLocks xmlns:a="http://schemas.openxmlformats.org/drawingml/2006/main" noGrp="1"/>
          </p:cNvSpPr>
          <p:nvPr/>
        </p:nvSpPr>
        <p:spPr>
          <a:xfrm xmlns:a="http://schemas.openxmlformats.org/drawingml/2006/main">
            <a:off x="971550" y="1181100"/>
            <a:ext cx="13239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3600" b="1">
                <a:solidFill>
                  <a:srgbClr val="051C2A"/>
                </a:solidFill>
                <a:latin typeface="Calibri"/>
                <a:ea typeface="Calibri"/>
                <a:cs typeface="Calibri"/>
              </a:defRPr>
            </a:pPr>
            <a:r>
              <a:rPr sz="3600" b="1">
                <a:solidFill>
                  <a:srgbClr val="051C2A"/>
                </a:solidFill>
                <a:latin typeface="Calibri"/>
                <a:ea typeface="Calibri"/>
                <a:cs typeface="Calibri"/>
              </a:rPr>
              <a:t>Fits in the window does not mean every fact gets used</a:t>
            </a:r>
          </a:p>
        </p:txBody>
      </p:sp>
      <p:sp>
        <p:nvSpPr>
          <p:cNvPr id="3" name="">
            <a:extLst xmlns:a="http://schemas.openxmlformats.org/drawingml/2006/main">
              <a:ext uri="{FF2B5EF4-FFF2-40B4-BE49-F238E27FC236}">
                <a16:creationId xmlns:a16="http://schemas.microsoft.com/office/drawing/2014/main" id="{2225C689-54CE-4FC2-A8FF-E88EDD6E73E1}"/>
              </a:ext>
            </a:extLst>
          </p:cNvPr>
          <p:cNvSpPr>
            <a:spLocks xmlns:a="http://schemas.openxmlformats.org/drawingml/2006/main" noGrp="1"/>
          </p:cNvSpPr>
          <p:nvPr/>
        </p:nvSpPr>
        <p:spPr>
          <a:xfrm xmlns:a="http://schemas.openxmlformats.org/drawingml/2006/main">
            <a:off x="1066800" y="28765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575" b="1">
                <a:solidFill>
                  <a:srgbClr val="1F40CB"/>
                </a:solidFill>
                <a:latin typeface="Calibri"/>
                <a:ea typeface="Calibri"/>
                <a:cs typeface="Calibri"/>
              </a:defRPr>
            </a:pPr>
            <a:r>
              <a:rPr sz="1575" b="1">
                <a:solidFill>
                  <a:srgbClr val="1F40CB"/>
                </a:solidFill>
                <a:latin typeface="Calibri"/>
                <a:ea typeface="Calibri"/>
                <a:cs typeface="Calibri"/>
              </a:rPr>
              <a:t>PUBLISHED RESULT</a:t>
            </a:r>
          </a:p>
        </p:txBody>
      </p:sp>
      <p:sp>
        <p:nvSpPr>
          <p:cNvPr id="4" name="">
            <a:extLst xmlns:a="http://schemas.openxmlformats.org/drawingml/2006/main">
              <a:ext uri="{FF2B5EF4-FFF2-40B4-BE49-F238E27FC236}">
                <a16:creationId xmlns:a16="http://schemas.microsoft.com/office/drawing/2014/main" id="{AB35474F-D624-489B-92E8-BD4182BDBA92}"/>
              </a:ext>
            </a:extLst>
          </p:cNvPr>
          <p:cNvSpPr>
            <a:spLocks xmlns:a="http://schemas.openxmlformats.org/drawingml/2006/main" noGrp="1"/>
          </p:cNvSpPr>
          <p:nvPr/>
        </p:nvSpPr>
        <p:spPr>
          <a:xfrm xmlns:a="http://schemas.openxmlformats.org/drawingml/2006/main">
            <a:off x="1066800" y="335280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025" b="1">
                <a:solidFill>
                  <a:srgbClr val="051C2A"/>
                </a:solidFill>
                <a:latin typeface="Calibri"/>
                <a:ea typeface="Calibri"/>
                <a:cs typeface="Calibri"/>
              </a:defRPr>
            </a:pPr>
            <a:r>
              <a:rPr sz="2025" b="1">
                <a:solidFill>
                  <a:srgbClr val="051C2A"/>
                </a:solidFill>
                <a:latin typeface="Calibri"/>
                <a:ea typeface="Calibri"/>
                <a:cs typeface="Calibri"/>
              </a:rPr>
              <a:t>Accuracy changed with the position of the answer-bearing document.</a:t>
            </a:r>
          </a:p>
        </p:txBody>
      </p:sp>
      <p:sp>
        <p:nvSpPr>
          <p:cNvPr id="5" name="">
            <a:extLst xmlns:a="http://schemas.openxmlformats.org/drawingml/2006/main">
              <a:ext uri="{FF2B5EF4-FFF2-40B4-BE49-F238E27FC236}">
                <a16:creationId xmlns:a16="http://schemas.microsoft.com/office/drawing/2014/main" id="{CB6A7CE9-8603-4733-86A0-820430368077}"/>
              </a:ext>
            </a:extLst>
          </p:cNvPr>
          <p:cNvSpPr>
            <a:spLocks xmlns:a="http://schemas.openxmlformats.org/drawingml/2006/main" noGrp="1"/>
          </p:cNvSpPr>
          <p:nvPr/>
        </p:nvSpPr>
        <p:spPr>
          <a:xfrm xmlns:a="http://schemas.openxmlformats.org/drawingml/2006/main">
            <a:off x="1066800" y="4324350"/>
            <a:ext cx="4095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6" name="">
            <a:extLst xmlns:a="http://schemas.openxmlformats.org/drawingml/2006/main">
              <a:ext uri="{FF2B5EF4-FFF2-40B4-BE49-F238E27FC236}">
                <a16:creationId xmlns:a16="http://schemas.microsoft.com/office/drawing/2014/main" id="{48208B5E-14CF-4E16-BADC-18EA4B95A2C8}"/>
              </a:ext>
            </a:extLst>
          </p:cNvPr>
          <p:cNvSpPr>
            <a:spLocks xmlns:a="http://schemas.openxmlformats.org/drawingml/2006/main" noGrp="1"/>
          </p:cNvSpPr>
          <p:nvPr/>
        </p:nvSpPr>
        <p:spPr>
          <a:xfrm xmlns:a="http://schemas.openxmlformats.org/drawingml/2006/main">
            <a:off x="1066800" y="468630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575" b="1">
                <a:solidFill>
                  <a:srgbClr val="00A2EB"/>
                </a:solidFill>
                <a:latin typeface="Calibri"/>
                <a:ea typeface="Calibri"/>
                <a:cs typeface="Calibri"/>
              </a:defRPr>
            </a:pPr>
            <a:r>
              <a:rPr sz="1575" b="1">
                <a:solidFill>
                  <a:srgbClr val="00A2EB"/>
                </a:solidFill>
                <a:latin typeface="Calibri"/>
                <a:ea typeface="Calibri"/>
                <a:cs typeface="Calibri"/>
              </a:rPr>
              <a:t>DESIGN IMPLICATION</a:t>
            </a:r>
          </a:p>
        </p:txBody>
      </p:sp>
      <p:sp>
        <p:nvSpPr>
          <p:cNvPr id="7" name="">
            <a:extLst xmlns:a="http://schemas.openxmlformats.org/drawingml/2006/main">
              <a:ext uri="{FF2B5EF4-FFF2-40B4-BE49-F238E27FC236}">
                <a16:creationId xmlns:a16="http://schemas.microsoft.com/office/drawing/2014/main" id="{5324DF7E-874E-4566-BFD4-563B7D2DC563}"/>
              </a:ext>
            </a:extLst>
          </p:cNvPr>
          <p:cNvSpPr>
            <a:spLocks xmlns:a="http://schemas.openxmlformats.org/drawingml/2006/main" noGrp="1"/>
          </p:cNvSpPr>
          <p:nvPr/>
        </p:nvSpPr>
        <p:spPr>
          <a:xfrm xmlns:a="http://schemas.openxmlformats.org/drawingml/2006/main">
            <a:off x="1066800" y="51625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025" b="1">
                <a:solidFill>
                  <a:srgbClr val="051C2A"/>
                </a:solidFill>
                <a:latin typeface="Calibri"/>
                <a:ea typeface="Calibri"/>
                <a:cs typeface="Calibri"/>
              </a:defRPr>
            </a:pPr>
            <a:r>
              <a:rPr sz="2025" b="1">
                <a:solidFill>
                  <a:srgbClr val="051C2A"/>
                </a:solidFill>
                <a:latin typeface="Calibri"/>
                <a:ea typeface="Calibri"/>
                <a:cs typeface="Calibri"/>
              </a:rPr>
              <a:t>Evaluate representative questions—not only token fit.</a:t>
            </a:r>
          </a:p>
        </p:txBody>
      </p:sp>
      <p:sp>
        <p:nvSpPr>
          <p:cNvPr id="14" name="">
            <a:extLst xmlns:a="http://schemas.openxmlformats.org/drawingml/2006/main">
              <a:ext uri="{FF2B5EF4-FFF2-40B4-BE49-F238E27FC236}">
                <a16:creationId xmlns:a16="http://schemas.microsoft.com/office/drawing/2014/main" id="{12ABA0A2-12FF-4F25-862C-AE57B2222EEA}"/>
              </a:ext>
            </a:extLst>
          </p:cNvPr>
          <p:cNvSpPr>
            <a:spLocks xmlns:a="http://schemas.openxmlformats.org/drawingml/2006/main" noGrp="1"/>
          </p:cNvSpPr>
          <p:nvPr/>
        </p:nvSpPr>
        <p:spPr>
          <a:xfrm xmlns:a="http://schemas.openxmlformats.org/drawingml/2006/main">
            <a:off x="857250" y="7905750"/>
            <a:ext cx="1352550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5" name="">
            <a:extLst xmlns:a="http://schemas.openxmlformats.org/drawingml/2006/main">
              <a:ext uri="{FF2B5EF4-FFF2-40B4-BE49-F238E27FC236}">
                <a16:creationId xmlns:a16="http://schemas.microsoft.com/office/drawing/2014/main" id="{DABD8D42-E860-4B95-87E4-3C7FF1FC93AE}"/>
              </a:ext>
            </a:extLst>
          </p:cNvPr>
          <p:cNvSpPr>
            <a:spLocks xmlns:a="http://schemas.openxmlformats.org/drawingml/2006/main" noGrp="1"/>
          </p:cNvSpPr>
          <p:nvPr/>
        </p:nvSpPr>
        <p:spPr>
          <a:xfrm xmlns:a="http://schemas.openxmlformats.org/drawingml/2006/main">
            <a:off x="857250" y="7905750"/>
            <a:ext cx="8001000" cy="28575"/>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16" name="">
            <a:extLst xmlns:a="http://schemas.openxmlformats.org/drawingml/2006/main">
              <a:ext uri="{FF2B5EF4-FFF2-40B4-BE49-F238E27FC236}">
                <a16:creationId xmlns:a16="http://schemas.microsoft.com/office/drawing/2014/main" id="{97D224F1-4BCA-4A2F-84C4-3FDCAE79E925}"/>
              </a:ext>
            </a:extLst>
          </p:cNvPr>
          <p:cNvSpPr>
            <a:spLocks xmlns:a="http://schemas.openxmlformats.org/drawingml/2006/main" noGrp="1"/>
          </p:cNvSpPr>
          <p:nvPr/>
        </p:nvSpPr>
        <p:spPr>
          <a:xfrm xmlns:a="http://schemas.openxmlformats.org/drawingml/2006/main">
            <a:off x="971550" y="81534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275">
                <a:solidFill>
                  <a:srgbClr val="9E9FA2"/>
                </a:solidFill>
                <a:latin typeface="Calibri"/>
                <a:ea typeface="Calibri"/>
                <a:cs typeface="Calibri"/>
              </a:defRPr>
            </a:pPr>
            <a:r>
              <a:rPr sz="1275">
                <a:solidFill>
                  <a:srgbClr val="9E9FA2"/>
                </a:solidFill>
                <a:latin typeface="Calibri"/>
                <a:ea typeface="Calibri"/>
                <a:cs typeface="Calibri"/>
              </a:rPr>
              <a:t>First Finance - Arnaud Demes</a:t>
            </a:r>
          </a:p>
        </p:txBody>
      </p:sp>
      <p:sp>
        <p:nvSpPr>
          <p:cNvPr id="17" name="">
            <a:extLst xmlns:a="http://schemas.openxmlformats.org/drawingml/2006/main">
              <a:ext uri="{FF2B5EF4-FFF2-40B4-BE49-F238E27FC236}">
                <a16:creationId xmlns:a16="http://schemas.microsoft.com/office/drawing/2014/main" id="{E854E057-3E14-470C-8862-AC0BFD9D53C6}"/>
              </a:ext>
            </a:extLst>
          </p:cNvPr>
          <p:cNvSpPr>
            <a:spLocks xmlns:a="http://schemas.openxmlformats.org/drawingml/2006/main" noGrp="1"/>
          </p:cNvSpPr>
          <p:nvPr/>
        </p:nvSpPr>
        <p:spPr>
          <a:xfrm xmlns:a="http://schemas.openxmlformats.org/drawingml/2006/main">
            <a:off x="12477750" y="8153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ATTENTION</a:t>
            </a:r>
          </a:p>
        </p:txBody>
      </p:sp>
      <p:sp>
        <p:nvSpPr>
          <p:cNvPr id="18" name="">
            <a:extLst xmlns:a="http://schemas.openxmlformats.org/drawingml/2006/main">
              <a:ext uri="{FF2B5EF4-FFF2-40B4-BE49-F238E27FC236}">
                <a16:creationId xmlns:a16="http://schemas.microsoft.com/office/drawing/2014/main" id="{7AADE638-85F0-4B8A-A0CD-DDDC9FD4291B}"/>
              </a:ext>
            </a:extLst>
          </p:cNvPr>
          <p:cNvSpPr>
            <a:spLocks xmlns:a="http://schemas.openxmlformats.org/drawingml/2006/main" noGrp="1"/>
          </p:cNvSpPr>
          <p:nvPr/>
        </p:nvSpPr>
        <p:spPr>
          <a:xfrm xmlns:a="http://schemas.openxmlformats.org/drawingml/2006/main">
            <a:off x="14097000" y="8153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06</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7b55342db35d4e46"/>
          <a:stretch xmlns:a="http://schemas.openxmlformats.org/drawingml/2006/main"/>
        </p:blipFill>
        <p:spPr>
          <a:xfrm xmlns:a="http://schemas.openxmlformats.org/drawingml/2006/main">
            <a:off x="7902810" y="2667000"/>
            <a:ext cx="4387380" cy="3905250"/>
          </a:xfrm>
          <a:prstGeom xmlns:a="http://schemas.openxmlformats.org/drawingml/2006/main" prst="roundRect">
            <a:avLst>
              <a:gd name="adj" fmla="val 2927"/>
            </a:avLst>
          </a:prstGeom>
        </p:spPr>
      </p:pic>
    </p:spTree>
    <p:extLst>
      <p:ext uri="{BB962C8B-B14F-4D97-AF65-F5344CB8AC3E}">
        <p14:creationId xmlns:p14="http://schemas.microsoft.com/office/powerpoint/2010/main" val="772363078"/>
      </p:ext>
    </p:extLst>
  </p:cSld>
</p:sld>
</file>

<file path=ppt/slides/slide7.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FEB10B4-0FED-42C3-8AA0-5BAB4CEF90E7}"/>
              </a:ext>
            </a:extLst>
          </p:cNvPr>
          <p:cNvSpPr>
            <a:spLocks xmlns:a="http://schemas.openxmlformats.org/drawingml/2006/main" noGrp="1"/>
          </p:cNvSpPr>
          <p:nvPr/>
        </p:nvSpPr>
        <p:spPr>
          <a:xfrm xmlns:a="http://schemas.openxmlformats.org/drawingml/2006/main">
            <a:off x="971550" y="7239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ARCHITECTURE CHOICE</a:t>
            </a:r>
          </a:p>
        </p:txBody>
      </p:sp>
      <p:sp>
        <p:nvSpPr>
          <p:cNvPr id="2" name="">
            <a:extLst xmlns:a="http://schemas.openxmlformats.org/drawingml/2006/main">
              <a:ext uri="{FF2B5EF4-FFF2-40B4-BE49-F238E27FC236}">
                <a16:creationId xmlns:a16="http://schemas.microsoft.com/office/drawing/2014/main" id="{865BB064-4AE8-44EA-963D-8F76C6A28D53}"/>
              </a:ext>
            </a:extLst>
          </p:cNvPr>
          <p:cNvSpPr>
            <a:spLocks xmlns:a="http://schemas.openxmlformats.org/drawingml/2006/main" noGrp="1"/>
          </p:cNvSpPr>
          <p:nvPr/>
        </p:nvSpPr>
        <p:spPr>
          <a:xfrm xmlns:a="http://schemas.openxmlformats.org/drawingml/2006/main">
            <a:off x="971550" y="1181100"/>
            <a:ext cx="13239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3600" b="1">
                <a:solidFill>
                  <a:srgbClr val="051C2A"/>
                </a:solidFill>
                <a:latin typeface="Calibri"/>
                <a:ea typeface="Calibri"/>
                <a:cs typeface="Calibri"/>
              </a:defRPr>
            </a:pPr>
            <a:r>
              <a:rPr sz="3600" b="1">
                <a:solidFill>
                  <a:srgbClr val="051C2A"/>
                </a:solidFill>
                <a:latin typeface="Calibri"/>
                <a:ea typeface="Calibri"/>
                <a:cs typeface="Calibri"/>
              </a:rPr>
              <a:t>Use CAG for complete evidence; RAG for selected evidence</a:t>
            </a:r>
          </a:p>
        </p:txBody>
      </p:sp>
      <p:sp>
        <p:nvSpPr>
          <p:cNvPr id="3" name="">
            <a:extLst xmlns:a="http://schemas.openxmlformats.org/drawingml/2006/main">
              <a:ext uri="{FF2B5EF4-FFF2-40B4-BE49-F238E27FC236}">
                <a16:creationId xmlns:a16="http://schemas.microsoft.com/office/drawing/2014/main" id="{51CA505F-3B0C-49A0-98CF-6D6175D62EAB}"/>
              </a:ext>
            </a:extLst>
          </p:cNvPr>
          <p:cNvSpPr>
            <a:spLocks xmlns:a="http://schemas.openxmlformats.org/drawingml/2006/main" noGrp="1"/>
          </p:cNvSpPr>
          <p:nvPr/>
        </p:nvSpPr>
        <p:spPr>
          <a:xfrm xmlns:a="http://schemas.openxmlformats.org/drawingml/2006/main">
            <a:off x="1066800" y="2857500"/>
            <a:ext cx="4381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4350" b="1">
                <a:solidFill>
                  <a:srgbClr val="051C2A"/>
                </a:solidFill>
                <a:latin typeface="Calibri"/>
                <a:ea typeface="Calibri"/>
                <a:cs typeface="Calibri"/>
              </a:defRPr>
            </a:pPr>
            <a:r>
              <a:rPr sz="4350" b="1">
                <a:solidFill>
                  <a:srgbClr val="051C2A"/>
                </a:solidFill>
                <a:latin typeface="Calibri"/>
                <a:ea typeface="Calibri"/>
                <a:cs typeface="Calibri"/>
              </a:rPr>
              <a:t>Direct CAG</a:t>
            </a:r>
          </a:p>
        </p:txBody>
      </p:sp>
      <p:sp>
        <p:nvSpPr>
          <p:cNvPr id="4" name="">
            <a:extLst xmlns:a="http://schemas.openxmlformats.org/drawingml/2006/main">
              <a:ext uri="{FF2B5EF4-FFF2-40B4-BE49-F238E27FC236}">
                <a16:creationId xmlns:a16="http://schemas.microsoft.com/office/drawing/2014/main" id="{7AD41D26-D959-489A-A086-84E330386F5D}"/>
              </a:ext>
            </a:extLst>
          </p:cNvPr>
          <p:cNvSpPr>
            <a:spLocks xmlns:a="http://schemas.openxmlformats.org/drawingml/2006/main" noGrp="1"/>
          </p:cNvSpPr>
          <p:nvPr/>
        </p:nvSpPr>
        <p:spPr>
          <a:xfrm xmlns:a="http://schemas.openxmlformats.org/drawingml/2006/main">
            <a:off x="1066800" y="39052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650">
                <a:solidFill>
                  <a:srgbClr val="373738"/>
                </a:solidFill>
                <a:latin typeface="Calibri"/>
                <a:ea typeface="Calibri"/>
                <a:cs typeface="Calibri"/>
              </a:defRPr>
            </a:pPr>
            <a:r>
              <a:rPr sz="1650">
                <a:solidFill>
                  <a:srgbClr val="373738"/>
                </a:solidFill>
                <a:latin typeface="Calibri"/>
                <a:ea typeface="Calibri"/>
                <a:cs typeface="Calibri"/>
              </a:rPr>
              <a:t>Bounded · stable · useful as a whole</a:t>
            </a:r>
          </a:p>
        </p:txBody>
      </p:sp>
      <p:sp>
        <p:nvSpPr>
          <p:cNvPr id="5" name="">
            <a:extLst xmlns:a="http://schemas.openxmlformats.org/drawingml/2006/main">
              <a:ext uri="{FF2B5EF4-FFF2-40B4-BE49-F238E27FC236}">
                <a16:creationId xmlns:a16="http://schemas.microsoft.com/office/drawing/2014/main" id="{5B522A8F-16AD-44AB-BA1E-BB7C095B3A39}"/>
              </a:ext>
            </a:extLst>
          </p:cNvPr>
          <p:cNvSpPr>
            <a:spLocks xmlns:a="http://schemas.openxmlformats.org/drawingml/2006/main" noGrp="1"/>
          </p:cNvSpPr>
          <p:nvPr/>
        </p:nvSpPr>
        <p:spPr>
          <a:xfrm xmlns:a="http://schemas.openxmlformats.org/drawingml/2006/main">
            <a:off x="6477000" y="2724150"/>
            <a:ext cx="19050" cy="31432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6" name="">
            <a:extLst xmlns:a="http://schemas.openxmlformats.org/drawingml/2006/main">
              <a:ext uri="{FF2B5EF4-FFF2-40B4-BE49-F238E27FC236}">
                <a16:creationId xmlns:a16="http://schemas.microsoft.com/office/drawing/2014/main" id="{3E7C6626-7591-4116-BDA4-36A1BF728E57}"/>
              </a:ext>
            </a:extLst>
          </p:cNvPr>
          <p:cNvSpPr>
            <a:spLocks xmlns:a="http://schemas.openxmlformats.org/drawingml/2006/main" noGrp="1"/>
          </p:cNvSpPr>
          <p:nvPr/>
        </p:nvSpPr>
        <p:spPr>
          <a:xfrm xmlns:a="http://schemas.openxmlformats.org/drawingml/2006/main">
            <a:off x="7239000" y="2857500"/>
            <a:ext cx="4953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4350" b="1">
                <a:solidFill>
                  <a:srgbClr val="1F40CB"/>
                </a:solidFill>
                <a:latin typeface="Calibri"/>
                <a:ea typeface="Calibri"/>
                <a:cs typeface="Calibri"/>
              </a:defRPr>
            </a:pPr>
            <a:r>
              <a:rPr sz="4350" b="1">
                <a:solidFill>
                  <a:srgbClr val="1F40CB"/>
                </a:solidFill>
                <a:latin typeface="Calibri"/>
                <a:ea typeface="Calibri"/>
                <a:cs typeface="Calibri"/>
              </a:rPr>
              <a:t>Retrieval + RAG</a:t>
            </a:r>
          </a:p>
        </p:txBody>
      </p:sp>
      <p:sp>
        <p:nvSpPr>
          <p:cNvPr id="7" name="">
            <a:extLst xmlns:a="http://schemas.openxmlformats.org/drawingml/2006/main">
              <a:ext uri="{FF2B5EF4-FFF2-40B4-BE49-F238E27FC236}">
                <a16:creationId xmlns:a16="http://schemas.microsoft.com/office/drawing/2014/main" id="{913A65EC-CF94-4DE7-B420-D90CF126DC5B}"/>
              </a:ext>
            </a:extLst>
          </p:cNvPr>
          <p:cNvSpPr>
            <a:spLocks xmlns:a="http://schemas.openxmlformats.org/drawingml/2006/main" noGrp="1"/>
          </p:cNvSpPr>
          <p:nvPr/>
        </p:nvSpPr>
        <p:spPr>
          <a:xfrm xmlns:a="http://schemas.openxmlformats.org/drawingml/2006/main">
            <a:off x="7239000" y="3905250"/>
            <a:ext cx="552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650">
                <a:solidFill>
                  <a:srgbClr val="373738"/>
                </a:solidFill>
                <a:latin typeface="Calibri"/>
                <a:ea typeface="Calibri"/>
                <a:cs typeface="Calibri"/>
              </a:defRPr>
            </a:pPr>
            <a:r>
              <a:rPr sz="1650">
                <a:solidFill>
                  <a:srgbClr val="373738"/>
                </a:solidFill>
                <a:latin typeface="Calibri"/>
                <a:ea typeface="Calibri"/>
                <a:cs typeface="Calibri"/>
              </a:rPr>
              <a:t>Large · changing · selectively relevant</a:t>
            </a:r>
          </a:p>
        </p:txBody>
      </p:sp>
      <p:sp>
        <p:nvSpPr>
          <p:cNvPr id="8" name="">
            <a:extLst xmlns:a="http://schemas.openxmlformats.org/drawingml/2006/main">
              <a:ext uri="{FF2B5EF4-FFF2-40B4-BE49-F238E27FC236}">
                <a16:creationId xmlns:a16="http://schemas.microsoft.com/office/drawing/2014/main" id="{C08E439B-7E83-494E-A3B5-46C4B69928CF}"/>
              </a:ext>
            </a:extLst>
          </p:cNvPr>
          <p:cNvSpPr>
            <a:spLocks xmlns:a="http://schemas.openxmlformats.org/drawingml/2006/main" noGrp="1"/>
          </p:cNvSpPr>
          <p:nvPr/>
        </p:nvSpPr>
        <p:spPr>
          <a:xfrm xmlns:a="http://schemas.openxmlformats.org/drawingml/2006/main">
            <a:off x="1066800" y="4953000"/>
            <a:ext cx="571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725" b="1">
                <a:solidFill>
                  <a:srgbClr val="051C2A"/>
                </a:solidFill>
                <a:latin typeface="Calibri"/>
                <a:ea typeface="Calibri"/>
                <a:cs typeface="Calibri"/>
              </a:defRPr>
            </a:pPr>
            <a:r>
              <a:rPr sz="1725" b="1">
                <a:solidFill>
                  <a:srgbClr val="051C2A"/>
                </a:solidFill>
                <a:latin typeface="Calibri"/>
                <a:ea typeface="Calibri"/>
                <a:cs typeface="Calibri"/>
              </a:rPr>
              <a:t>[USE]  repeated questions over the same source</a:t>
            </a:r>
          </a:p>
        </p:txBody>
      </p:sp>
      <p:sp>
        <p:nvSpPr>
          <p:cNvPr id="9" name="">
            <a:extLst xmlns:a="http://schemas.openxmlformats.org/drawingml/2006/main">
              <a:ext uri="{FF2B5EF4-FFF2-40B4-BE49-F238E27FC236}">
                <a16:creationId xmlns:a16="http://schemas.microsoft.com/office/drawing/2014/main" id="{C6B113A5-935F-4D64-84B0-5B781937EF01}"/>
              </a:ext>
            </a:extLst>
          </p:cNvPr>
          <p:cNvSpPr>
            <a:spLocks xmlns:a="http://schemas.openxmlformats.org/drawingml/2006/main" noGrp="1"/>
          </p:cNvSpPr>
          <p:nvPr/>
        </p:nvSpPr>
        <p:spPr>
          <a:xfrm xmlns:a="http://schemas.openxmlformats.org/drawingml/2006/main">
            <a:off x="7239000" y="49530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725" b="1">
                <a:solidFill>
                  <a:srgbClr val="F07D00"/>
                </a:solidFill>
                <a:latin typeface="Calibri"/>
                <a:ea typeface="Calibri"/>
                <a:cs typeface="Calibri"/>
              </a:defRPr>
            </a:pPr>
            <a:r>
              <a:rPr sz="1725" b="1">
                <a:solidFill>
                  <a:srgbClr val="F07D00"/>
                </a:solidFill>
                <a:latin typeface="Calibri"/>
                <a:ea typeface="Calibri"/>
                <a:cs typeface="Calibri"/>
              </a:rPr>
              <a:t>[USE]  search first · preserve source identity</a:t>
            </a:r>
          </a:p>
        </p:txBody>
      </p:sp>
      <p:sp>
        <p:nvSpPr>
          <p:cNvPr id="10" name="">
            <a:extLst xmlns:a="http://schemas.openxmlformats.org/drawingml/2006/main">
              <a:ext uri="{FF2B5EF4-FFF2-40B4-BE49-F238E27FC236}">
                <a16:creationId xmlns:a16="http://schemas.microsoft.com/office/drawing/2014/main" id="{C0422730-1A2F-437A-8161-C3EA5A7E3843}"/>
              </a:ext>
            </a:extLst>
          </p:cNvPr>
          <p:cNvSpPr>
            <a:spLocks xmlns:a="http://schemas.openxmlformats.org/drawingml/2006/main" noGrp="1"/>
          </p:cNvSpPr>
          <p:nvPr/>
        </p:nvSpPr>
        <p:spPr>
          <a:xfrm xmlns:a="http://schemas.openxmlformats.org/drawingml/2006/main">
            <a:off x="1066800" y="6343650"/>
            <a:ext cx="1181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025" b="1">
                <a:solidFill>
                  <a:srgbClr val="051C2A"/>
                </a:solidFill>
                <a:latin typeface="Calibri"/>
                <a:ea typeface="Calibri"/>
                <a:cs typeface="Calibri"/>
              </a:defRPr>
            </a:pPr>
            <a:r>
              <a:rPr sz="2025" b="1">
                <a:solidFill>
                  <a:srgbClr val="051C2A"/>
                </a:solidFill>
                <a:latin typeface="Calibri"/>
                <a:ea typeface="Calibri"/>
                <a:cs typeface="Calibri"/>
              </a:rPr>
              <a:t>The route belongs to the application—not to the acronym.</a:t>
            </a:r>
          </a:p>
        </p:txBody>
      </p:sp>
      <p:sp>
        <p:nvSpPr>
          <p:cNvPr id="11" name="">
            <a:extLst xmlns:a="http://schemas.openxmlformats.org/drawingml/2006/main">
              <a:ext uri="{FF2B5EF4-FFF2-40B4-BE49-F238E27FC236}">
                <a16:creationId xmlns:a16="http://schemas.microsoft.com/office/drawing/2014/main" id="{1CA99A9B-F12A-48FE-953D-620804A38EED}"/>
              </a:ext>
            </a:extLst>
          </p:cNvPr>
          <p:cNvSpPr>
            <a:spLocks xmlns:a="http://schemas.openxmlformats.org/drawingml/2006/main" noGrp="1"/>
          </p:cNvSpPr>
          <p:nvPr/>
        </p:nvSpPr>
        <p:spPr>
          <a:xfrm xmlns:a="http://schemas.openxmlformats.org/drawingml/2006/main">
            <a:off x="857250" y="7905750"/>
            <a:ext cx="1352550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2" name="">
            <a:extLst xmlns:a="http://schemas.openxmlformats.org/drawingml/2006/main">
              <a:ext uri="{FF2B5EF4-FFF2-40B4-BE49-F238E27FC236}">
                <a16:creationId xmlns:a16="http://schemas.microsoft.com/office/drawing/2014/main" id="{3D4C9EE8-1362-49E4-BFD2-8CCFD9A293C5}"/>
              </a:ext>
            </a:extLst>
          </p:cNvPr>
          <p:cNvSpPr>
            <a:spLocks xmlns:a="http://schemas.openxmlformats.org/drawingml/2006/main" noGrp="1"/>
          </p:cNvSpPr>
          <p:nvPr/>
        </p:nvSpPr>
        <p:spPr>
          <a:xfrm xmlns:a="http://schemas.openxmlformats.org/drawingml/2006/main">
            <a:off x="857250" y="7905750"/>
            <a:ext cx="8001000" cy="28575"/>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13" name="">
            <a:extLst xmlns:a="http://schemas.openxmlformats.org/drawingml/2006/main">
              <a:ext uri="{FF2B5EF4-FFF2-40B4-BE49-F238E27FC236}">
                <a16:creationId xmlns:a16="http://schemas.microsoft.com/office/drawing/2014/main" id="{24206614-6877-4386-9D02-F474A613C115}"/>
              </a:ext>
            </a:extLst>
          </p:cNvPr>
          <p:cNvSpPr>
            <a:spLocks xmlns:a="http://schemas.openxmlformats.org/drawingml/2006/main" noGrp="1"/>
          </p:cNvSpPr>
          <p:nvPr/>
        </p:nvSpPr>
        <p:spPr>
          <a:xfrm xmlns:a="http://schemas.openxmlformats.org/drawingml/2006/main">
            <a:off x="971550" y="81534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275">
                <a:solidFill>
                  <a:srgbClr val="9E9FA2"/>
                </a:solidFill>
                <a:latin typeface="Calibri"/>
                <a:ea typeface="Calibri"/>
                <a:cs typeface="Calibri"/>
              </a:defRPr>
            </a:pPr>
            <a:r>
              <a:rPr sz="1275">
                <a:solidFill>
                  <a:srgbClr val="9E9FA2"/>
                </a:solidFill>
                <a:latin typeface="Calibri"/>
                <a:ea typeface="Calibri"/>
                <a:cs typeface="Calibri"/>
              </a:rPr>
              <a:t>First Finance - Arnaud Demes</a:t>
            </a:r>
          </a:p>
        </p:txBody>
      </p:sp>
      <p:sp>
        <p:nvSpPr>
          <p:cNvPr id="14" name="">
            <a:extLst xmlns:a="http://schemas.openxmlformats.org/drawingml/2006/main">
              <a:ext uri="{FF2B5EF4-FFF2-40B4-BE49-F238E27FC236}">
                <a16:creationId xmlns:a16="http://schemas.microsoft.com/office/drawing/2014/main" id="{7B1FCDDD-754E-4B46-A9F3-09ADE649CF72}"/>
              </a:ext>
            </a:extLst>
          </p:cNvPr>
          <p:cNvSpPr>
            <a:spLocks xmlns:a="http://schemas.openxmlformats.org/drawingml/2006/main" noGrp="1"/>
          </p:cNvSpPr>
          <p:nvPr/>
        </p:nvSpPr>
        <p:spPr>
          <a:xfrm xmlns:a="http://schemas.openxmlformats.org/drawingml/2006/main">
            <a:off x="12477750" y="8153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CHOICE</a:t>
            </a:r>
          </a:p>
        </p:txBody>
      </p:sp>
      <p:sp>
        <p:nvSpPr>
          <p:cNvPr id="15" name="">
            <a:extLst xmlns:a="http://schemas.openxmlformats.org/drawingml/2006/main">
              <a:ext uri="{FF2B5EF4-FFF2-40B4-BE49-F238E27FC236}">
                <a16:creationId xmlns:a16="http://schemas.microsoft.com/office/drawing/2014/main" id="{62F3E1F1-C1E6-4C5D-B5BB-8ED1767C9D2F}"/>
              </a:ext>
            </a:extLst>
          </p:cNvPr>
          <p:cNvSpPr>
            <a:spLocks xmlns:a="http://schemas.openxmlformats.org/drawingml/2006/main" noGrp="1"/>
          </p:cNvSpPr>
          <p:nvPr/>
        </p:nvSpPr>
        <p:spPr>
          <a:xfrm xmlns:a="http://schemas.openxmlformats.org/drawingml/2006/main">
            <a:off x="14097000" y="8153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07</a:t>
            </a:r>
          </a:p>
        </p:txBody>
      </p:sp>
    </p:spTree>
    <p:extLst>
      <p:ext uri="{BB962C8B-B14F-4D97-AF65-F5344CB8AC3E}">
        <p14:creationId xmlns:p14="http://schemas.microsoft.com/office/powerpoint/2010/main" val="1878034231"/>
      </p:ext>
    </p:extLst>
  </p:cSld>
</p:sld>
</file>

<file path=ppt/slides/slide8.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7C48A24-E18F-4399-84FF-49EC1D75EC4A}"/>
              </a:ext>
            </a:extLst>
          </p:cNvPr>
          <p:cNvSpPr>
            <a:spLocks xmlns:a="http://schemas.openxmlformats.org/drawingml/2006/main" noGrp="1"/>
          </p:cNvSpPr>
          <p:nvPr/>
        </p:nvSpPr>
        <p:spPr>
          <a:xfrm xmlns:a="http://schemas.openxmlformats.org/drawingml/2006/main">
            <a:off x="971550" y="7239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ROUTING CONTRACT</a:t>
            </a:r>
          </a:p>
        </p:txBody>
      </p:sp>
      <p:sp>
        <p:nvSpPr>
          <p:cNvPr id="2" name="">
            <a:extLst xmlns:a="http://schemas.openxmlformats.org/drawingml/2006/main">
              <a:ext uri="{FF2B5EF4-FFF2-40B4-BE49-F238E27FC236}">
                <a16:creationId xmlns:a16="http://schemas.microsoft.com/office/drawing/2014/main" id="{7574DED0-BD05-4639-BE3C-BD8A49B9E36F}"/>
              </a:ext>
            </a:extLst>
          </p:cNvPr>
          <p:cNvSpPr>
            <a:spLocks xmlns:a="http://schemas.openxmlformats.org/drawingml/2006/main" noGrp="1"/>
          </p:cNvSpPr>
          <p:nvPr/>
        </p:nvSpPr>
        <p:spPr>
          <a:xfrm xmlns:a="http://schemas.openxmlformats.org/drawingml/2006/main">
            <a:off x="971550" y="1181100"/>
            <a:ext cx="13239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3600" b="1">
                <a:solidFill>
                  <a:srgbClr val="051C2A"/>
                </a:solidFill>
                <a:latin typeface="Calibri"/>
                <a:ea typeface="Calibri"/>
                <a:cs typeface="Calibri"/>
              </a:defRPr>
            </a:pPr>
            <a:r>
              <a:rPr sz="3600" b="1">
                <a:solidFill>
                  <a:srgbClr val="051C2A"/>
                </a:solidFill>
                <a:latin typeface="Calibri"/>
                <a:ea typeface="Calibri"/>
                <a:cs typeface="Calibri"/>
              </a:rPr>
              <a:t>Make the route before generation</a:t>
            </a:r>
          </a:p>
        </p:txBody>
      </p:sp>
      <p:sp>
        <p:nvSpPr>
          <p:cNvPr id="3" name="">
            <a:extLst xmlns:a="http://schemas.openxmlformats.org/drawingml/2006/main">
              <a:ext uri="{FF2B5EF4-FFF2-40B4-BE49-F238E27FC236}">
                <a16:creationId xmlns:a16="http://schemas.microsoft.com/office/drawing/2014/main" id="{B710C483-A890-47EA-A072-5D9086A148F5}"/>
              </a:ext>
            </a:extLst>
          </p:cNvPr>
          <p:cNvSpPr>
            <a:spLocks xmlns:a="http://schemas.openxmlformats.org/drawingml/2006/main" noGrp="1"/>
          </p:cNvSpPr>
          <p:nvPr/>
        </p:nvSpPr>
        <p:spPr>
          <a:xfrm xmlns:a="http://schemas.openxmlformats.org/drawingml/2006/main">
            <a:off x="1162050" y="28575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01</a:t>
            </a:r>
          </a:p>
        </p:txBody>
      </p:sp>
      <p:sp>
        <p:nvSpPr>
          <p:cNvPr id="4" name="">
            <a:extLst xmlns:a="http://schemas.openxmlformats.org/drawingml/2006/main">
              <a:ext uri="{FF2B5EF4-FFF2-40B4-BE49-F238E27FC236}">
                <a16:creationId xmlns:a16="http://schemas.microsoft.com/office/drawing/2014/main" id="{8A4E515B-5F3B-40A3-8912-9F85F0FE7567}"/>
              </a:ext>
            </a:extLst>
          </p:cNvPr>
          <p:cNvSpPr>
            <a:spLocks xmlns:a="http://schemas.openxmlformats.org/drawingml/2006/main" noGrp="1"/>
          </p:cNvSpPr>
          <p:nvPr/>
        </p:nvSpPr>
        <p:spPr>
          <a:xfrm xmlns:a="http://schemas.openxmlformats.org/drawingml/2006/main">
            <a:off x="2143125" y="28194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Does the complete artifact fit safely?</a:t>
            </a:r>
          </a:p>
        </p:txBody>
      </p:sp>
      <p:sp>
        <p:nvSpPr>
          <p:cNvPr id="5" name="">
            <a:extLst xmlns:a="http://schemas.openxmlformats.org/drawingml/2006/main">
              <a:ext uri="{FF2B5EF4-FFF2-40B4-BE49-F238E27FC236}">
                <a16:creationId xmlns:a16="http://schemas.microsoft.com/office/drawing/2014/main" id="{A2CF432C-0929-4FB7-9EB4-33A2C51C41DC}"/>
              </a:ext>
            </a:extLst>
          </p:cNvPr>
          <p:cNvSpPr>
            <a:spLocks xmlns:a="http://schemas.openxmlformats.org/drawingml/2006/main" noGrp="1"/>
          </p:cNvSpPr>
          <p:nvPr/>
        </p:nvSpPr>
        <p:spPr>
          <a:xfrm xmlns:a="http://schemas.openxmlformats.org/drawingml/2006/main">
            <a:off x="8572500" y="28575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FIT</a:t>
            </a:r>
          </a:p>
        </p:txBody>
      </p:sp>
      <p:sp>
        <p:nvSpPr>
          <p:cNvPr id="6" name="">
            <a:extLst xmlns:a="http://schemas.openxmlformats.org/drawingml/2006/main">
              <a:ext uri="{FF2B5EF4-FFF2-40B4-BE49-F238E27FC236}">
                <a16:creationId xmlns:a16="http://schemas.microsoft.com/office/drawing/2014/main" id="{179A1F7B-8EE0-471C-AA17-75A56716B8A1}"/>
              </a:ext>
            </a:extLst>
          </p:cNvPr>
          <p:cNvSpPr>
            <a:spLocks xmlns:a="http://schemas.openxmlformats.org/drawingml/2006/main" noGrp="1"/>
          </p:cNvSpPr>
          <p:nvPr/>
        </p:nvSpPr>
        <p:spPr>
          <a:xfrm xmlns:a="http://schemas.openxmlformats.org/drawingml/2006/main">
            <a:off x="2143125" y="34099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7" name="">
            <a:extLst xmlns:a="http://schemas.openxmlformats.org/drawingml/2006/main">
              <a:ext uri="{FF2B5EF4-FFF2-40B4-BE49-F238E27FC236}">
                <a16:creationId xmlns:a16="http://schemas.microsoft.com/office/drawing/2014/main" id="{C5F63C6A-1C80-47E2-9174-F44504BE7A86}"/>
              </a:ext>
            </a:extLst>
          </p:cNvPr>
          <p:cNvSpPr>
            <a:spLocks xmlns:a="http://schemas.openxmlformats.org/drawingml/2006/main" noGrp="1"/>
          </p:cNvSpPr>
          <p:nvPr/>
        </p:nvSpPr>
        <p:spPr>
          <a:xfrm xmlns:a="http://schemas.openxmlformats.org/drawingml/2006/main">
            <a:off x="1162050" y="36957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02</a:t>
            </a:r>
          </a:p>
        </p:txBody>
      </p:sp>
      <p:sp>
        <p:nvSpPr>
          <p:cNvPr id="8" name="">
            <a:extLst xmlns:a="http://schemas.openxmlformats.org/drawingml/2006/main">
              <a:ext uri="{FF2B5EF4-FFF2-40B4-BE49-F238E27FC236}">
                <a16:creationId xmlns:a16="http://schemas.microsoft.com/office/drawing/2014/main" id="{9521B42D-9ED7-495A-B9A4-706CAD687326}"/>
              </a:ext>
            </a:extLst>
          </p:cNvPr>
          <p:cNvSpPr>
            <a:spLocks xmlns:a="http://schemas.openxmlformats.org/drawingml/2006/main" noGrp="1"/>
          </p:cNvSpPr>
          <p:nvPr/>
        </p:nvSpPr>
        <p:spPr>
          <a:xfrm xmlns:a="http://schemas.openxmlformats.org/drawingml/2006/main">
            <a:off x="2143125" y="36576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Is the whole artifact useful?</a:t>
            </a:r>
          </a:p>
        </p:txBody>
      </p:sp>
      <p:sp>
        <p:nvSpPr>
          <p:cNvPr id="9" name="">
            <a:extLst xmlns:a="http://schemas.openxmlformats.org/drawingml/2006/main">
              <a:ext uri="{FF2B5EF4-FFF2-40B4-BE49-F238E27FC236}">
                <a16:creationId xmlns:a16="http://schemas.microsoft.com/office/drawing/2014/main" id="{3879279A-F56C-43A4-BB61-5DBED2EC9897}"/>
              </a:ext>
            </a:extLst>
          </p:cNvPr>
          <p:cNvSpPr>
            <a:spLocks xmlns:a="http://schemas.openxmlformats.org/drawingml/2006/main" noGrp="1"/>
          </p:cNvSpPr>
          <p:nvPr/>
        </p:nvSpPr>
        <p:spPr>
          <a:xfrm xmlns:a="http://schemas.openxmlformats.org/drawingml/2006/main">
            <a:off x="8572500" y="36957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VALUE</a:t>
            </a:r>
          </a:p>
        </p:txBody>
      </p:sp>
      <p:sp>
        <p:nvSpPr>
          <p:cNvPr id="10" name="">
            <a:extLst xmlns:a="http://schemas.openxmlformats.org/drawingml/2006/main">
              <a:ext uri="{FF2B5EF4-FFF2-40B4-BE49-F238E27FC236}">
                <a16:creationId xmlns:a16="http://schemas.microsoft.com/office/drawing/2014/main" id="{17DD85C8-4C83-4C3E-8F6A-367A43180458}"/>
              </a:ext>
            </a:extLst>
          </p:cNvPr>
          <p:cNvSpPr>
            <a:spLocks xmlns:a="http://schemas.openxmlformats.org/drawingml/2006/main" noGrp="1"/>
          </p:cNvSpPr>
          <p:nvPr/>
        </p:nvSpPr>
        <p:spPr>
          <a:xfrm xmlns:a="http://schemas.openxmlformats.org/drawingml/2006/main">
            <a:off x="2143125" y="42481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1" name="">
            <a:extLst xmlns:a="http://schemas.openxmlformats.org/drawingml/2006/main">
              <a:ext uri="{FF2B5EF4-FFF2-40B4-BE49-F238E27FC236}">
                <a16:creationId xmlns:a16="http://schemas.microsoft.com/office/drawing/2014/main" id="{56A488D8-189E-4BB9-9C55-CA27344D4880}"/>
              </a:ext>
            </a:extLst>
          </p:cNvPr>
          <p:cNvSpPr>
            <a:spLocks xmlns:a="http://schemas.openxmlformats.org/drawingml/2006/main" noGrp="1"/>
          </p:cNvSpPr>
          <p:nvPr/>
        </p:nvSpPr>
        <p:spPr>
          <a:xfrm xmlns:a="http://schemas.openxmlformats.org/drawingml/2006/main">
            <a:off x="1162050" y="45339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03</a:t>
            </a:r>
          </a:p>
        </p:txBody>
      </p:sp>
      <p:sp>
        <p:nvSpPr>
          <p:cNvPr id="12" name="">
            <a:extLst xmlns:a="http://schemas.openxmlformats.org/drawingml/2006/main">
              <a:ext uri="{FF2B5EF4-FFF2-40B4-BE49-F238E27FC236}">
                <a16:creationId xmlns:a16="http://schemas.microsoft.com/office/drawing/2014/main" id="{2062B6DC-830C-4BC9-8851-A3888182AE1E}"/>
              </a:ext>
            </a:extLst>
          </p:cNvPr>
          <p:cNvSpPr>
            <a:spLocks xmlns:a="http://schemas.openxmlformats.org/drawingml/2006/main" noGrp="1"/>
          </p:cNvSpPr>
          <p:nvPr/>
        </p:nvSpPr>
        <p:spPr>
          <a:xfrm xmlns:a="http://schemas.openxmlformats.org/drawingml/2006/main">
            <a:off x="2143125" y="44958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Will it remain stable across questions?</a:t>
            </a:r>
          </a:p>
        </p:txBody>
      </p:sp>
      <p:sp>
        <p:nvSpPr>
          <p:cNvPr id="13" name="">
            <a:extLst xmlns:a="http://schemas.openxmlformats.org/drawingml/2006/main">
              <a:ext uri="{FF2B5EF4-FFF2-40B4-BE49-F238E27FC236}">
                <a16:creationId xmlns:a16="http://schemas.microsoft.com/office/drawing/2014/main" id="{56B92F15-B968-44A2-AC9F-1F44F75B84FF}"/>
              </a:ext>
            </a:extLst>
          </p:cNvPr>
          <p:cNvSpPr>
            <a:spLocks xmlns:a="http://schemas.openxmlformats.org/drawingml/2006/main" noGrp="1"/>
          </p:cNvSpPr>
          <p:nvPr/>
        </p:nvSpPr>
        <p:spPr>
          <a:xfrm xmlns:a="http://schemas.openxmlformats.org/drawingml/2006/main">
            <a:off x="8572500" y="45339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STABLE</a:t>
            </a:r>
          </a:p>
        </p:txBody>
      </p:sp>
      <p:sp>
        <p:nvSpPr>
          <p:cNvPr id="14" name="">
            <a:extLst xmlns:a="http://schemas.openxmlformats.org/drawingml/2006/main">
              <a:ext uri="{FF2B5EF4-FFF2-40B4-BE49-F238E27FC236}">
                <a16:creationId xmlns:a16="http://schemas.microsoft.com/office/drawing/2014/main" id="{AC9FCC08-CC44-427D-9C16-AD71F4A0FE15}"/>
              </a:ext>
            </a:extLst>
          </p:cNvPr>
          <p:cNvSpPr>
            <a:spLocks xmlns:a="http://schemas.openxmlformats.org/drawingml/2006/main" noGrp="1"/>
          </p:cNvSpPr>
          <p:nvPr/>
        </p:nvSpPr>
        <p:spPr>
          <a:xfrm xmlns:a="http://schemas.openxmlformats.org/drawingml/2006/main">
            <a:off x="2143125" y="50863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5" name="">
            <a:extLst xmlns:a="http://schemas.openxmlformats.org/drawingml/2006/main">
              <a:ext uri="{FF2B5EF4-FFF2-40B4-BE49-F238E27FC236}">
                <a16:creationId xmlns:a16="http://schemas.microsoft.com/office/drawing/2014/main" id="{46219D6C-4B5E-42DF-9DFC-40856CEAE76C}"/>
              </a:ext>
            </a:extLst>
          </p:cNvPr>
          <p:cNvSpPr>
            <a:spLocks xmlns:a="http://schemas.openxmlformats.org/drawingml/2006/main" noGrp="1"/>
          </p:cNvSpPr>
          <p:nvPr/>
        </p:nvSpPr>
        <p:spPr>
          <a:xfrm xmlns:a="http://schemas.openxmlformats.org/drawingml/2006/main">
            <a:off x="1162050" y="53721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04</a:t>
            </a:r>
          </a:p>
        </p:txBody>
      </p:sp>
      <p:sp>
        <p:nvSpPr>
          <p:cNvPr id="16" name="">
            <a:extLst xmlns:a="http://schemas.openxmlformats.org/drawingml/2006/main">
              <a:ext uri="{FF2B5EF4-FFF2-40B4-BE49-F238E27FC236}">
                <a16:creationId xmlns:a16="http://schemas.microsoft.com/office/drawing/2014/main" id="{E2CA7A6E-EE89-4E7C-A0E4-A0D3E684AC6C}"/>
              </a:ext>
            </a:extLst>
          </p:cNvPr>
          <p:cNvSpPr>
            <a:spLocks xmlns:a="http://schemas.openxmlformats.org/drawingml/2006/main" noGrp="1"/>
          </p:cNvSpPr>
          <p:nvPr/>
        </p:nvSpPr>
        <p:spPr>
          <a:xfrm xmlns:a="http://schemas.openxmlformats.org/drawingml/2006/main">
            <a:off x="2143125" y="53340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Return route + reason</a:t>
            </a:r>
          </a:p>
        </p:txBody>
      </p:sp>
      <p:sp>
        <p:nvSpPr>
          <p:cNvPr id="17" name="">
            <a:extLst xmlns:a="http://schemas.openxmlformats.org/drawingml/2006/main">
              <a:ext uri="{FF2B5EF4-FFF2-40B4-BE49-F238E27FC236}">
                <a16:creationId xmlns:a16="http://schemas.microsoft.com/office/drawing/2014/main" id="{EF9232DB-9ADA-4EC0-9488-23F6FAAFFAB6}"/>
              </a:ext>
            </a:extLst>
          </p:cNvPr>
          <p:cNvSpPr>
            <a:spLocks xmlns:a="http://schemas.openxmlformats.org/drawingml/2006/main" noGrp="1"/>
          </p:cNvSpPr>
          <p:nvPr/>
        </p:nvSpPr>
        <p:spPr>
          <a:xfrm xmlns:a="http://schemas.openxmlformats.org/drawingml/2006/main">
            <a:off x="8572500" y="53721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RECORD</a:t>
            </a:r>
          </a:p>
        </p:txBody>
      </p:sp>
      <p:sp>
        <p:nvSpPr>
          <p:cNvPr id="18" name="">
            <a:extLst xmlns:a="http://schemas.openxmlformats.org/drawingml/2006/main">
              <a:ext uri="{FF2B5EF4-FFF2-40B4-BE49-F238E27FC236}">
                <a16:creationId xmlns:a16="http://schemas.microsoft.com/office/drawing/2014/main" id="{48F021EC-EF4B-4696-AC90-EE4C0AB71651}"/>
              </a:ext>
            </a:extLst>
          </p:cNvPr>
          <p:cNvSpPr>
            <a:spLocks xmlns:a="http://schemas.openxmlformats.org/drawingml/2006/main" noGrp="1"/>
          </p:cNvSpPr>
          <p:nvPr/>
        </p:nvSpPr>
        <p:spPr>
          <a:xfrm xmlns:a="http://schemas.openxmlformats.org/drawingml/2006/main">
            <a:off x="2143125" y="59245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9" name="">
            <a:extLst xmlns:a="http://schemas.openxmlformats.org/drawingml/2006/main">
              <a:ext uri="{FF2B5EF4-FFF2-40B4-BE49-F238E27FC236}">
                <a16:creationId xmlns:a16="http://schemas.microsoft.com/office/drawing/2014/main" id="{2D510A64-1653-4D80-B5B0-A343D07C171B}"/>
              </a:ext>
            </a:extLst>
          </p:cNvPr>
          <p:cNvSpPr>
            <a:spLocks xmlns:a="http://schemas.openxmlformats.org/drawingml/2006/main" noGrp="1"/>
          </p:cNvSpPr>
          <p:nvPr/>
        </p:nvSpPr>
        <p:spPr>
          <a:xfrm xmlns:a="http://schemas.openxmlformats.org/drawingml/2006/main">
            <a:off x="10572750" y="2914650"/>
            <a:ext cx="3333750" cy="3238500"/>
          </a:xfrm>
          <a:prstGeom xmlns:a="http://schemas.openxmlformats.org/drawingml/2006/main" prst="roundRect">
            <a:avLst>
              <a:gd name="adj" fmla="val 2353"/>
            </a:avLst>
          </a:prstGeom>
          <a:solidFill xmlns:a="http://schemas.openxmlformats.org/drawingml/2006/main">
            <a:srgbClr val="051C2A"/>
          </a:solidFill>
          <a:ln xmlns:a="http://schemas.openxmlformats.org/drawingml/2006/main" w="9525">
            <a:solidFill>
              <a:srgbClr val="051C2A"/>
            </a:solidFill>
            <a:prstDash val="solid"/>
          </a:ln>
        </p:spPr>
      </p:sp>
      <p:sp>
        <p:nvSpPr>
          <p:cNvPr id="20" name="">
            <a:extLst xmlns:a="http://schemas.openxmlformats.org/drawingml/2006/main">
              <a:ext uri="{FF2B5EF4-FFF2-40B4-BE49-F238E27FC236}">
                <a16:creationId xmlns:a16="http://schemas.microsoft.com/office/drawing/2014/main" id="{34E24CC2-8886-4470-A433-8B2BDCC9A396}"/>
              </a:ext>
            </a:extLst>
          </p:cNvPr>
          <p:cNvSpPr>
            <a:spLocks xmlns:a="http://schemas.openxmlformats.org/drawingml/2006/main" noGrp="1"/>
          </p:cNvSpPr>
          <p:nvPr/>
        </p:nvSpPr>
        <p:spPr>
          <a:xfrm xmlns:a="http://schemas.openxmlformats.org/drawingml/2006/main">
            <a:off x="11049000" y="34290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425" b="1">
                <a:solidFill>
                  <a:srgbClr val="00A2EB"/>
                </a:solidFill>
                <a:latin typeface="Calibri"/>
                <a:ea typeface="Calibri"/>
                <a:cs typeface="Calibri"/>
              </a:defRPr>
            </a:pPr>
            <a:r>
              <a:rPr sz="1425" b="1">
                <a:solidFill>
                  <a:srgbClr val="00A2EB"/>
                </a:solidFill>
                <a:latin typeface="Calibri"/>
                <a:ea typeface="Calibri"/>
                <a:cs typeface="Calibri"/>
              </a:rPr>
              <a:t>TYPED STATE</a:t>
            </a:r>
          </a:p>
        </p:txBody>
      </p:sp>
      <p:sp>
        <p:nvSpPr>
          <p:cNvPr id="21" name="">
            <a:extLst xmlns:a="http://schemas.openxmlformats.org/drawingml/2006/main">
              <a:ext uri="{FF2B5EF4-FFF2-40B4-BE49-F238E27FC236}">
                <a16:creationId xmlns:a16="http://schemas.microsoft.com/office/drawing/2014/main" id="{75710502-B50A-464D-8CBF-05C06A018465}"/>
              </a:ext>
            </a:extLst>
          </p:cNvPr>
          <p:cNvSpPr>
            <a:spLocks xmlns:a="http://schemas.openxmlformats.org/drawingml/2006/main" noGrp="1"/>
          </p:cNvSpPr>
          <p:nvPr/>
        </p:nvSpPr>
        <p:spPr>
          <a:xfrm xmlns:a="http://schemas.openxmlformats.org/drawingml/2006/main">
            <a:off x="11049000" y="40386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2550" b="1">
                <a:solidFill>
                  <a:srgbClr val="FFFFFF"/>
                </a:solidFill>
                <a:latin typeface="Calibri"/>
                <a:ea typeface="Calibri"/>
                <a:cs typeface="Calibri"/>
              </a:defRPr>
            </a:pPr>
            <a:r>
              <a:rPr sz="2550" b="1">
                <a:solidFill>
                  <a:srgbClr val="FFFFFF"/>
                </a:solidFill>
                <a:latin typeface="Calibri"/>
                <a:ea typeface="Calibri"/>
                <a:cs typeface="Calibri"/>
              </a:rPr>
              <a:t>Context
Decision</a:t>
            </a:r>
          </a:p>
        </p:txBody>
      </p:sp>
      <p:sp>
        <p:nvSpPr>
          <p:cNvPr id="22" name="">
            <a:extLst xmlns:a="http://schemas.openxmlformats.org/drawingml/2006/main">
              <a:ext uri="{FF2B5EF4-FFF2-40B4-BE49-F238E27FC236}">
                <a16:creationId xmlns:a16="http://schemas.microsoft.com/office/drawing/2014/main" id="{98057516-ABAC-4FB1-A462-D76649ACD6A3}"/>
              </a:ext>
            </a:extLst>
          </p:cNvPr>
          <p:cNvSpPr>
            <a:spLocks xmlns:a="http://schemas.openxmlformats.org/drawingml/2006/main" noGrp="1"/>
          </p:cNvSpPr>
          <p:nvPr/>
        </p:nvSpPr>
        <p:spPr>
          <a:xfrm xmlns:a="http://schemas.openxmlformats.org/drawingml/2006/main">
            <a:off x="11049000" y="4953000"/>
            <a:ext cx="2381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650">
                <a:solidFill>
                  <a:srgbClr val="FFFFFF"/>
                </a:solidFill>
                <a:latin typeface="Calibri"/>
                <a:ea typeface="Calibri"/>
                <a:cs typeface="Calibri"/>
              </a:defRPr>
            </a:pPr>
            <a:r>
              <a:rPr sz="1650">
                <a:solidFill>
                  <a:srgbClr val="FFFFFF"/>
                </a:solidFill>
                <a:latin typeface="Calibri"/>
                <a:ea typeface="Calibri"/>
                <a:cs typeface="Calibri"/>
              </a:rPr>
              <a:t>route · tokens
reason</a:t>
            </a:r>
          </a:p>
        </p:txBody>
      </p:sp>
      <p:sp>
        <p:nvSpPr>
          <p:cNvPr id="23" name="">
            <a:extLst xmlns:a="http://schemas.openxmlformats.org/drawingml/2006/main">
              <a:ext uri="{FF2B5EF4-FFF2-40B4-BE49-F238E27FC236}">
                <a16:creationId xmlns:a16="http://schemas.microsoft.com/office/drawing/2014/main" id="{8174979B-71B7-425A-85CB-FF6AD6AC593E}"/>
              </a:ext>
            </a:extLst>
          </p:cNvPr>
          <p:cNvSpPr>
            <a:spLocks xmlns:a="http://schemas.openxmlformats.org/drawingml/2006/main" noGrp="1"/>
          </p:cNvSpPr>
          <p:nvPr/>
        </p:nvSpPr>
        <p:spPr>
          <a:xfrm xmlns:a="http://schemas.openxmlformats.org/drawingml/2006/main">
            <a:off x="2143125" y="6667500"/>
            <a:ext cx="876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650">
                <a:solidFill>
                  <a:srgbClr val="373738"/>
                </a:solidFill>
                <a:latin typeface="Calibri"/>
                <a:ea typeface="Calibri"/>
                <a:cs typeface="Calibri"/>
              </a:defRPr>
            </a:pPr>
            <a:r>
              <a:rPr sz="1650">
                <a:solidFill>
                  <a:srgbClr val="373738"/>
                </a:solidFill>
                <a:latin typeface="Calibri"/>
                <a:ea typeface="Calibri"/>
                <a:cs typeface="Calibri"/>
              </a:rPr>
              <a:t>Fit is necessary for CAG; usefulness and operations decide whether it is sufficient.</a:t>
            </a:r>
          </a:p>
        </p:txBody>
      </p:sp>
      <p:sp>
        <p:nvSpPr>
          <p:cNvPr id="24" name="">
            <a:extLst xmlns:a="http://schemas.openxmlformats.org/drawingml/2006/main">
              <a:ext uri="{FF2B5EF4-FFF2-40B4-BE49-F238E27FC236}">
                <a16:creationId xmlns:a16="http://schemas.microsoft.com/office/drawing/2014/main" id="{5B353963-99F6-474D-AE9E-6D102866C245}"/>
              </a:ext>
            </a:extLst>
          </p:cNvPr>
          <p:cNvSpPr>
            <a:spLocks xmlns:a="http://schemas.openxmlformats.org/drawingml/2006/main" noGrp="1"/>
          </p:cNvSpPr>
          <p:nvPr/>
        </p:nvSpPr>
        <p:spPr>
          <a:xfrm xmlns:a="http://schemas.openxmlformats.org/drawingml/2006/main">
            <a:off x="857250" y="7905750"/>
            <a:ext cx="1352550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25" name="">
            <a:extLst xmlns:a="http://schemas.openxmlformats.org/drawingml/2006/main">
              <a:ext uri="{FF2B5EF4-FFF2-40B4-BE49-F238E27FC236}">
                <a16:creationId xmlns:a16="http://schemas.microsoft.com/office/drawing/2014/main" id="{7A58137A-5475-4121-BA20-053FF731F89A}"/>
              </a:ext>
            </a:extLst>
          </p:cNvPr>
          <p:cNvSpPr>
            <a:spLocks xmlns:a="http://schemas.openxmlformats.org/drawingml/2006/main" noGrp="1"/>
          </p:cNvSpPr>
          <p:nvPr/>
        </p:nvSpPr>
        <p:spPr>
          <a:xfrm xmlns:a="http://schemas.openxmlformats.org/drawingml/2006/main">
            <a:off x="857250" y="7905750"/>
            <a:ext cx="8001000" cy="28575"/>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26" name="">
            <a:extLst xmlns:a="http://schemas.openxmlformats.org/drawingml/2006/main">
              <a:ext uri="{FF2B5EF4-FFF2-40B4-BE49-F238E27FC236}">
                <a16:creationId xmlns:a16="http://schemas.microsoft.com/office/drawing/2014/main" id="{7126838F-9E9E-49AC-8F5A-4888689CD6C3}"/>
              </a:ext>
            </a:extLst>
          </p:cNvPr>
          <p:cNvSpPr>
            <a:spLocks xmlns:a="http://schemas.openxmlformats.org/drawingml/2006/main" noGrp="1"/>
          </p:cNvSpPr>
          <p:nvPr/>
        </p:nvSpPr>
        <p:spPr>
          <a:xfrm xmlns:a="http://schemas.openxmlformats.org/drawingml/2006/main">
            <a:off x="971550" y="81534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275">
                <a:solidFill>
                  <a:srgbClr val="9E9FA2"/>
                </a:solidFill>
                <a:latin typeface="Calibri"/>
                <a:ea typeface="Calibri"/>
                <a:cs typeface="Calibri"/>
              </a:defRPr>
            </a:pPr>
            <a:r>
              <a:rPr sz="1275">
                <a:solidFill>
                  <a:srgbClr val="9E9FA2"/>
                </a:solidFill>
                <a:latin typeface="Calibri"/>
                <a:ea typeface="Calibri"/>
                <a:cs typeface="Calibri"/>
              </a:rPr>
              <a:t>First Finance - Arnaud Demes</a:t>
            </a:r>
          </a:p>
        </p:txBody>
      </p:sp>
      <p:sp>
        <p:nvSpPr>
          <p:cNvPr id="27" name="">
            <a:extLst xmlns:a="http://schemas.openxmlformats.org/drawingml/2006/main">
              <a:ext uri="{FF2B5EF4-FFF2-40B4-BE49-F238E27FC236}">
                <a16:creationId xmlns:a16="http://schemas.microsoft.com/office/drawing/2014/main" id="{3F2728AD-6B3E-41C8-9959-16F490654FF9}"/>
              </a:ext>
            </a:extLst>
          </p:cNvPr>
          <p:cNvSpPr>
            <a:spLocks xmlns:a="http://schemas.openxmlformats.org/drawingml/2006/main" noGrp="1"/>
          </p:cNvSpPr>
          <p:nvPr/>
        </p:nvSpPr>
        <p:spPr>
          <a:xfrm xmlns:a="http://schemas.openxmlformats.org/drawingml/2006/main">
            <a:off x="12477750" y="8153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DECIDE</a:t>
            </a:r>
          </a:p>
        </p:txBody>
      </p:sp>
      <p:sp>
        <p:nvSpPr>
          <p:cNvPr id="28" name="">
            <a:extLst xmlns:a="http://schemas.openxmlformats.org/drawingml/2006/main">
              <a:ext uri="{FF2B5EF4-FFF2-40B4-BE49-F238E27FC236}">
                <a16:creationId xmlns:a16="http://schemas.microsoft.com/office/drawing/2014/main" id="{2500A979-B0DA-491D-BECE-B4073BB3CB9A}"/>
              </a:ext>
            </a:extLst>
          </p:cNvPr>
          <p:cNvSpPr>
            <a:spLocks xmlns:a="http://schemas.openxmlformats.org/drawingml/2006/main" noGrp="1"/>
          </p:cNvSpPr>
          <p:nvPr/>
        </p:nvSpPr>
        <p:spPr>
          <a:xfrm xmlns:a="http://schemas.openxmlformats.org/drawingml/2006/main">
            <a:off x="14097000" y="8153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08</a:t>
            </a:r>
          </a:p>
        </p:txBody>
      </p:sp>
    </p:spTree>
    <p:extLst>
      <p:ext uri="{BB962C8B-B14F-4D97-AF65-F5344CB8AC3E}">
        <p14:creationId xmlns:p14="http://schemas.microsoft.com/office/powerpoint/2010/main" val="223453297"/>
      </p:ext>
    </p:extLst>
  </p:cSld>
</p:sld>
</file>

<file path=ppt/slides/slide9.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FEB10B4-0FED-42C3-8AA0-5BAB4CEF90E7}"/>
              </a:ext>
            </a:extLst>
          </p:cNvPr>
          <p:cNvSpPr>
            <a:spLocks xmlns:a="http://schemas.openxmlformats.org/drawingml/2006/main" noGrp="1"/>
          </p:cNvSpPr>
          <p:nvPr/>
        </p:nvSpPr>
        <p:spPr>
          <a:xfrm xmlns:a="http://schemas.openxmlformats.org/drawingml/2006/main">
            <a:off x="971550" y="7239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NVIDIA CASE</a:t>
            </a:r>
          </a:p>
        </p:txBody>
      </p:sp>
      <p:sp>
        <p:nvSpPr>
          <p:cNvPr id="2" name="">
            <a:extLst xmlns:a="http://schemas.openxmlformats.org/drawingml/2006/main">
              <a:ext uri="{FF2B5EF4-FFF2-40B4-BE49-F238E27FC236}">
                <a16:creationId xmlns:a16="http://schemas.microsoft.com/office/drawing/2014/main" id="{865BB064-4AE8-44EA-963D-8F76C6A28D53}"/>
              </a:ext>
            </a:extLst>
          </p:cNvPr>
          <p:cNvSpPr>
            <a:spLocks xmlns:a="http://schemas.openxmlformats.org/drawingml/2006/main" noGrp="1"/>
          </p:cNvSpPr>
          <p:nvPr/>
        </p:nvSpPr>
        <p:spPr>
          <a:xfrm xmlns:a="http://schemas.openxmlformats.org/drawingml/2006/main">
            <a:off x="971550" y="1181100"/>
            <a:ext cx="13239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3600" b="1">
                <a:solidFill>
                  <a:srgbClr val="051C2A"/>
                </a:solidFill>
                <a:latin typeface="Calibri"/>
                <a:ea typeface="Calibri"/>
                <a:cs typeface="Calibri"/>
              </a:defRPr>
            </a:pPr>
            <a:r>
              <a:rPr sz="3600" b="1">
                <a:solidFill>
                  <a:srgbClr val="051C2A"/>
                </a:solidFill>
                <a:latin typeface="Calibri"/>
                <a:ea typeface="Calibri"/>
                <a:cs typeface="Calibri"/>
              </a:rPr>
              <a:t>The same filing routes two ways</a:t>
            </a:r>
          </a:p>
        </p:txBody>
      </p:sp>
      <p:sp>
        <p:nvSpPr>
          <p:cNvPr id="3" name="">
            <a:extLst xmlns:a="http://schemas.openxmlformats.org/drawingml/2006/main">
              <a:ext uri="{FF2B5EF4-FFF2-40B4-BE49-F238E27FC236}">
                <a16:creationId xmlns:a16="http://schemas.microsoft.com/office/drawing/2014/main" id="{51CA505F-3B0C-49A0-98CF-6D6175D62EAB}"/>
              </a:ext>
            </a:extLst>
          </p:cNvPr>
          <p:cNvSpPr>
            <a:spLocks xmlns:a="http://schemas.openxmlformats.org/drawingml/2006/main" noGrp="1"/>
          </p:cNvSpPr>
          <p:nvPr/>
        </p:nvSpPr>
        <p:spPr>
          <a:xfrm xmlns:a="http://schemas.openxmlformats.org/drawingml/2006/main">
            <a:off x="1066800" y="2857500"/>
            <a:ext cx="4381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4350" b="1">
                <a:solidFill>
                  <a:srgbClr val="051C2A"/>
                </a:solidFill>
                <a:latin typeface="Calibri"/>
                <a:ea typeface="Calibri"/>
                <a:cs typeface="Calibri"/>
              </a:defRPr>
            </a:pPr>
            <a:r>
              <a:rPr sz="4350" b="1">
                <a:solidFill>
                  <a:srgbClr val="051C2A"/>
                </a:solidFill>
                <a:latin typeface="Calibri"/>
                <a:ea typeface="Calibri"/>
                <a:cs typeface="Calibri"/>
              </a:rPr>
              <a:t>Context pack</a:t>
            </a:r>
          </a:p>
        </p:txBody>
      </p:sp>
      <p:sp>
        <p:nvSpPr>
          <p:cNvPr id="4" name="">
            <a:extLst xmlns:a="http://schemas.openxmlformats.org/drawingml/2006/main">
              <a:ext uri="{FF2B5EF4-FFF2-40B4-BE49-F238E27FC236}">
                <a16:creationId xmlns:a16="http://schemas.microsoft.com/office/drawing/2014/main" id="{7AD41D26-D959-489A-A086-84E330386F5D}"/>
              </a:ext>
            </a:extLst>
          </p:cNvPr>
          <p:cNvSpPr>
            <a:spLocks xmlns:a="http://schemas.openxmlformats.org/drawingml/2006/main" noGrp="1"/>
          </p:cNvSpPr>
          <p:nvPr/>
        </p:nvSpPr>
        <p:spPr>
          <a:xfrm xmlns:a="http://schemas.openxmlformats.org/drawingml/2006/main">
            <a:off x="1066800" y="39052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650">
                <a:solidFill>
                  <a:srgbClr val="373738"/>
                </a:solidFill>
                <a:latin typeface="Calibri"/>
                <a:ea typeface="Calibri"/>
                <a:cs typeface="Calibri"/>
              </a:defRPr>
            </a:pPr>
            <a:r>
              <a:rPr sz="1650">
                <a:solidFill>
                  <a:srgbClr val="373738"/>
                </a:solidFill>
                <a:latin typeface="Calibri"/>
                <a:ea typeface="Calibri"/>
                <a:cs typeface="Calibri"/>
              </a:rPr>
              <a:t>~1,598 estimated tokens</a:t>
            </a:r>
          </a:p>
        </p:txBody>
      </p:sp>
      <p:sp>
        <p:nvSpPr>
          <p:cNvPr id="5" name="">
            <a:extLst xmlns:a="http://schemas.openxmlformats.org/drawingml/2006/main">
              <a:ext uri="{FF2B5EF4-FFF2-40B4-BE49-F238E27FC236}">
                <a16:creationId xmlns:a16="http://schemas.microsoft.com/office/drawing/2014/main" id="{5B522A8F-16AD-44AB-BA1E-BB7C095B3A39}"/>
              </a:ext>
            </a:extLst>
          </p:cNvPr>
          <p:cNvSpPr>
            <a:spLocks xmlns:a="http://schemas.openxmlformats.org/drawingml/2006/main" noGrp="1"/>
          </p:cNvSpPr>
          <p:nvPr/>
        </p:nvSpPr>
        <p:spPr>
          <a:xfrm xmlns:a="http://schemas.openxmlformats.org/drawingml/2006/main">
            <a:off x="6477000" y="2724150"/>
            <a:ext cx="19050" cy="31432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6" name="">
            <a:extLst xmlns:a="http://schemas.openxmlformats.org/drawingml/2006/main">
              <a:ext uri="{FF2B5EF4-FFF2-40B4-BE49-F238E27FC236}">
                <a16:creationId xmlns:a16="http://schemas.microsoft.com/office/drawing/2014/main" id="{3E7C6626-7591-4116-BDA4-36A1BF728E57}"/>
              </a:ext>
            </a:extLst>
          </p:cNvPr>
          <p:cNvSpPr>
            <a:spLocks xmlns:a="http://schemas.openxmlformats.org/drawingml/2006/main" noGrp="1"/>
          </p:cNvSpPr>
          <p:nvPr/>
        </p:nvSpPr>
        <p:spPr>
          <a:xfrm xmlns:a="http://schemas.openxmlformats.org/drawingml/2006/main">
            <a:off x="7239000" y="2857500"/>
            <a:ext cx="4953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4350" b="1">
                <a:solidFill>
                  <a:srgbClr val="1F40CB"/>
                </a:solidFill>
                <a:latin typeface="Calibri"/>
                <a:ea typeface="Calibri"/>
                <a:cs typeface="Calibri"/>
              </a:defRPr>
            </a:pPr>
            <a:r>
              <a:rPr sz="4350" b="1">
                <a:solidFill>
                  <a:srgbClr val="1F40CB"/>
                </a:solidFill>
                <a:latin typeface="Calibri"/>
                <a:ea typeface="Calibri"/>
                <a:cs typeface="Calibri"/>
              </a:rPr>
              <a:t>Full filing</a:t>
            </a:r>
          </a:p>
        </p:txBody>
      </p:sp>
      <p:sp>
        <p:nvSpPr>
          <p:cNvPr id="7" name="">
            <a:extLst xmlns:a="http://schemas.openxmlformats.org/drawingml/2006/main">
              <a:ext uri="{FF2B5EF4-FFF2-40B4-BE49-F238E27FC236}">
                <a16:creationId xmlns:a16="http://schemas.microsoft.com/office/drawing/2014/main" id="{913A65EC-CF94-4DE7-B420-D90CF126DC5B}"/>
              </a:ext>
            </a:extLst>
          </p:cNvPr>
          <p:cNvSpPr>
            <a:spLocks xmlns:a="http://schemas.openxmlformats.org/drawingml/2006/main" noGrp="1"/>
          </p:cNvSpPr>
          <p:nvPr/>
        </p:nvSpPr>
        <p:spPr>
          <a:xfrm xmlns:a="http://schemas.openxmlformats.org/drawingml/2006/main">
            <a:off x="7239000" y="3905250"/>
            <a:ext cx="552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650">
                <a:solidFill>
                  <a:srgbClr val="373738"/>
                </a:solidFill>
                <a:latin typeface="Calibri"/>
                <a:ea typeface="Calibri"/>
                <a:cs typeface="Calibri"/>
              </a:defRPr>
            </a:pPr>
            <a:r>
              <a:rPr sz="1650">
                <a:solidFill>
                  <a:srgbClr val="373738"/>
                </a:solidFill>
                <a:latin typeface="Calibri"/>
                <a:ea typeface="Calibri"/>
                <a:cs typeface="Calibri"/>
              </a:rPr>
              <a:t>~495,672 estimated tokens</a:t>
            </a:r>
          </a:p>
        </p:txBody>
      </p:sp>
      <p:sp>
        <p:nvSpPr>
          <p:cNvPr id="8" name="">
            <a:extLst xmlns:a="http://schemas.openxmlformats.org/drawingml/2006/main">
              <a:ext uri="{FF2B5EF4-FFF2-40B4-BE49-F238E27FC236}">
                <a16:creationId xmlns:a16="http://schemas.microsoft.com/office/drawing/2014/main" id="{C08E439B-7E83-494E-A3B5-46C4B69928CF}"/>
              </a:ext>
            </a:extLst>
          </p:cNvPr>
          <p:cNvSpPr>
            <a:spLocks xmlns:a="http://schemas.openxmlformats.org/drawingml/2006/main" noGrp="1"/>
          </p:cNvSpPr>
          <p:nvPr/>
        </p:nvSpPr>
        <p:spPr>
          <a:xfrm xmlns:a="http://schemas.openxmlformats.org/drawingml/2006/main">
            <a:off x="1066800" y="4953000"/>
            <a:ext cx="571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725" b="1">
                <a:solidFill>
                  <a:srgbClr val="051C2A"/>
                </a:solidFill>
                <a:latin typeface="Calibri"/>
                <a:ea typeface="Calibri"/>
                <a:cs typeface="Calibri"/>
              </a:defRPr>
            </a:pPr>
            <a:r>
              <a:rPr sz="1725" b="1">
                <a:solidFill>
                  <a:srgbClr val="051C2A"/>
                </a:solidFill>
                <a:latin typeface="Calibri"/>
                <a:ea typeface="Calibri"/>
                <a:cs typeface="Calibri"/>
              </a:rPr>
              <a:t>[CAG]  complete pack · repeated questions</a:t>
            </a:r>
          </a:p>
        </p:txBody>
      </p:sp>
      <p:sp>
        <p:nvSpPr>
          <p:cNvPr id="9" name="">
            <a:extLst xmlns:a="http://schemas.openxmlformats.org/drawingml/2006/main">
              <a:ext uri="{FF2B5EF4-FFF2-40B4-BE49-F238E27FC236}">
                <a16:creationId xmlns:a16="http://schemas.microsoft.com/office/drawing/2014/main" id="{C6B113A5-935F-4D64-84B0-5B781937EF01}"/>
              </a:ext>
            </a:extLst>
          </p:cNvPr>
          <p:cNvSpPr>
            <a:spLocks xmlns:a="http://schemas.openxmlformats.org/drawingml/2006/main" noGrp="1"/>
          </p:cNvSpPr>
          <p:nvPr/>
        </p:nvSpPr>
        <p:spPr>
          <a:xfrm xmlns:a="http://schemas.openxmlformats.org/drawingml/2006/main">
            <a:off x="7239000" y="49530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725" b="1">
                <a:solidFill>
                  <a:srgbClr val="F07D00"/>
                </a:solidFill>
                <a:latin typeface="Calibri"/>
                <a:ea typeface="Calibri"/>
                <a:cs typeface="Calibri"/>
              </a:defRPr>
            </a:pPr>
            <a:r>
              <a:rPr sz="1725" b="1">
                <a:solidFill>
                  <a:srgbClr val="F07D00"/>
                </a:solidFill>
                <a:latin typeface="Calibri"/>
                <a:ea typeface="Calibri"/>
                <a:cs typeface="Calibri"/>
              </a:rPr>
              <a:t>[RAG]  select evidence · keep provenance</a:t>
            </a:r>
          </a:p>
        </p:txBody>
      </p:sp>
      <p:sp>
        <p:nvSpPr>
          <p:cNvPr id="10" name="">
            <a:extLst xmlns:a="http://schemas.openxmlformats.org/drawingml/2006/main">
              <a:ext uri="{FF2B5EF4-FFF2-40B4-BE49-F238E27FC236}">
                <a16:creationId xmlns:a16="http://schemas.microsoft.com/office/drawing/2014/main" id="{C0422730-1A2F-437A-8161-C3EA5A7E3843}"/>
              </a:ext>
            </a:extLst>
          </p:cNvPr>
          <p:cNvSpPr>
            <a:spLocks xmlns:a="http://schemas.openxmlformats.org/drawingml/2006/main" noGrp="1"/>
          </p:cNvSpPr>
          <p:nvPr/>
        </p:nvSpPr>
        <p:spPr>
          <a:xfrm xmlns:a="http://schemas.openxmlformats.org/drawingml/2006/main">
            <a:off x="1066800" y="6343650"/>
            <a:ext cx="1181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025" b="1">
                <a:solidFill>
                  <a:srgbClr val="051C2A"/>
                </a:solidFill>
                <a:latin typeface="Calibri"/>
                <a:ea typeface="Calibri"/>
                <a:cs typeface="Calibri"/>
              </a:defRPr>
            </a:pPr>
            <a:r>
              <a:rPr sz="2025" b="1">
                <a:solidFill>
                  <a:srgbClr val="051C2A"/>
                </a:solidFill>
                <a:latin typeface="Calibri"/>
                <a:ea typeface="Calibri"/>
                <a:cs typeface="Calibri"/>
              </a:rPr>
              <a:t>Same issuer. Same filing. Different application artifact.</a:t>
            </a:r>
          </a:p>
        </p:txBody>
      </p:sp>
      <p:sp>
        <p:nvSpPr>
          <p:cNvPr id="11" name="">
            <a:extLst xmlns:a="http://schemas.openxmlformats.org/drawingml/2006/main">
              <a:ext uri="{FF2B5EF4-FFF2-40B4-BE49-F238E27FC236}">
                <a16:creationId xmlns:a16="http://schemas.microsoft.com/office/drawing/2014/main" id="{1CA99A9B-F12A-48FE-953D-620804A38EED}"/>
              </a:ext>
            </a:extLst>
          </p:cNvPr>
          <p:cNvSpPr>
            <a:spLocks xmlns:a="http://schemas.openxmlformats.org/drawingml/2006/main" noGrp="1"/>
          </p:cNvSpPr>
          <p:nvPr/>
        </p:nvSpPr>
        <p:spPr>
          <a:xfrm xmlns:a="http://schemas.openxmlformats.org/drawingml/2006/main">
            <a:off x="857250" y="7905750"/>
            <a:ext cx="1352550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2" name="">
            <a:extLst xmlns:a="http://schemas.openxmlformats.org/drawingml/2006/main">
              <a:ext uri="{FF2B5EF4-FFF2-40B4-BE49-F238E27FC236}">
                <a16:creationId xmlns:a16="http://schemas.microsoft.com/office/drawing/2014/main" id="{3D4C9EE8-1362-49E4-BFD2-8CCFD9A293C5}"/>
              </a:ext>
            </a:extLst>
          </p:cNvPr>
          <p:cNvSpPr>
            <a:spLocks xmlns:a="http://schemas.openxmlformats.org/drawingml/2006/main" noGrp="1"/>
          </p:cNvSpPr>
          <p:nvPr/>
        </p:nvSpPr>
        <p:spPr>
          <a:xfrm xmlns:a="http://schemas.openxmlformats.org/drawingml/2006/main">
            <a:off x="857250" y="7905750"/>
            <a:ext cx="8001000" cy="28575"/>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13" name="">
            <a:extLst xmlns:a="http://schemas.openxmlformats.org/drawingml/2006/main">
              <a:ext uri="{FF2B5EF4-FFF2-40B4-BE49-F238E27FC236}">
                <a16:creationId xmlns:a16="http://schemas.microsoft.com/office/drawing/2014/main" id="{24206614-6877-4386-9D02-F474A613C115}"/>
              </a:ext>
            </a:extLst>
          </p:cNvPr>
          <p:cNvSpPr>
            <a:spLocks xmlns:a="http://schemas.openxmlformats.org/drawingml/2006/main" noGrp="1"/>
          </p:cNvSpPr>
          <p:nvPr/>
        </p:nvSpPr>
        <p:spPr>
          <a:xfrm xmlns:a="http://schemas.openxmlformats.org/drawingml/2006/main">
            <a:off x="971550" y="81534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275">
                <a:solidFill>
                  <a:srgbClr val="9E9FA2"/>
                </a:solidFill>
                <a:latin typeface="Calibri"/>
                <a:ea typeface="Calibri"/>
                <a:cs typeface="Calibri"/>
              </a:defRPr>
            </a:pPr>
            <a:r>
              <a:rPr sz="1275">
                <a:solidFill>
                  <a:srgbClr val="9E9FA2"/>
                </a:solidFill>
                <a:latin typeface="Calibri"/>
                <a:ea typeface="Calibri"/>
                <a:cs typeface="Calibri"/>
              </a:rPr>
              <a:t>First Finance - Arnaud Demes</a:t>
            </a:r>
          </a:p>
        </p:txBody>
      </p:sp>
      <p:sp>
        <p:nvSpPr>
          <p:cNvPr id="14" name="">
            <a:extLst xmlns:a="http://schemas.openxmlformats.org/drawingml/2006/main">
              <a:ext uri="{FF2B5EF4-FFF2-40B4-BE49-F238E27FC236}">
                <a16:creationId xmlns:a16="http://schemas.microsoft.com/office/drawing/2014/main" id="{7B1FCDDD-754E-4B46-A9F3-09ADE649CF72}"/>
              </a:ext>
            </a:extLst>
          </p:cNvPr>
          <p:cNvSpPr>
            <a:spLocks xmlns:a="http://schemas.openxmlformats.org/drawingml/2006/main" noGrp="1"/>
          </p:cNvSpPr>
          <p:nvPr/>
        </p:nvSpPr>
        <p:spPr>
          <a:xfrm xmlns:a="http://schemas.openxmlformats.org/drawingml/2006/main">
            <a:off x="12477750" y="8153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CASE</a:t>
            </a:r>
          </a:p>
        </p:txBody>
      </p:sp>
      <p:sp>
        <p:nvSpPr>
          <p:cNvPr id="15" name="">
            <a:extLst xmlns:a="http://schemas.openxmlformats.org/drawingml/2006/main">
              <a:ext uri="{FF2B5EF4-FFF2-40B4-BE49-F238E27FC236}">
                <a16:creationId xmlns:a16="http://schemas.microsoft.com/office/drawing/2014/main" id="{62F3E1F1-C1E6-4C5D-B5BB-8ED1767C9D2F}"/>
              </a:ext>
            </a:extLst>
          </p:cNvPr>
          <p:cNvSpPr>
            <a:spLocks xmlns:a="http://schemas.openxmlformats.org/drawingml/2006/main" noGrp="1"/>
          </p:cNvSpPr>
          <p:nvPr/>
        </p:nvSpPr>
        <p:spPr>
          <a:xfrm xmlns:a="http://schemas.openxmlformats.org/drawingml/2006/main">
            <a:off x="14097000" y="8153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09</a:t>
            </a:r>
          </a:p>
        </p:txBody>
      </p:sp>
    </p:spTree>
    <p:extLst>
      <p:ext uri="{BB962C8B-B14F-4D97-AF65-F5344CB8AC3E}">
        <p14:creationId xmlns:p14="http://schemas.microsoft.com/office/powerpoint/2010/main" val="1878034231"/>
      </p:ext>
    </p:extLst>
  </p:cSld>
</p:sld>
</file>

<file path=ppt/slides/slide10.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7C48A24-E18F-4399-84FF-49EC1D75EC4A}"/>
              </a:ext>
            </a:extLst>
          </p:cNvPr>
          <p:cNvSpPr>
            <a:spLocks xmlns:a="http://schemas.openxmlformats.org/drawingml/2006/main" noGrp="1"/>
          </p:cNvSpPr>
          <p:nvPr/>
        </p:nvSpPr>
        <p:spPr>
          <a:xfrm xmlns:a="http://schemas.openxmlformats.org/drawingml/2006/main">
            <a:off x="971550" y="7239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PRACTICAL LAB</a:t>
            </a:r>
          </a:p>
        </p:txBody>
      </p:sp>
      <p:sp>
        <p:nvSpPr>
          <p:cNvPr id="2" name="">
            <a:extLst xmlns:a="http://schemas.openxmlformats.org/drawingml/2006/main">
              <a:ext uri="{FF2B5EF4-FFF2-40B4-BE49-F238E27FC236}">
                <a16:creationId xmlns:a16="http://schemas.microsoft.com/office/drawing/2014/main" id="{7574DED0-BD05-4639-BE3C-BD8A49B9E36F}"/>
              </a:ext>
            </a:extLst>
          </p:cNvPr>
          <p:cNvSpPr>
            <a:spLocks xmlns:a="http://schemas.openxmlformats.org/drawingml/2006/main" noGrp="1"/>
          </p:cNvSpPr>
          <p:nvPr/>
        </p:nvSpPr>
        <p:spPr>
          <a:xfrm xmlns:a="http://schemas.openxmlformats.org/drawingml/2006/main">
            <a:off x="971550" y="1181100"/>
            <a:ext cx="13239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3600" b="1">
                <a:solidFill>
                  <a:srgbClr val="051C2A"/>
                </a:solidFill>
                <a:latin typeface="Calibri"/>
                <a:ea typeface="Calibri"/>
                <a:cs typeface="Calibri"/>
              </a:defRPr>
            </a:pPr>
            <a:r>
              <a:rPr sz="3600" b="1">
                <a:solidFill>
                  <a:srgbClr val="051C2A"/>
                </a:solidFill>
                <a:latin typeface="Calibri"/>
                <a:ea typeface="Calibri"/>
                <a:cs typeface="Calibri"/>
              </a:rPr>
              <a:t>The notebook proves the boundary with the real filing</a:t>
            </a:r>
          </a:p>
        </p:txBody>
      </p:sp>
      <p:sp>
        <p:nvSpPr>
          <p:cNvPr id="3" name="">
            <a:extLst xmlns:a="http://schemas.openxmlformats.org/drawingml/2006/main">
              <a:ext uri="{FF2B5EF4-FFF2-40B4-BE49-F238E27FC236}">
                <a16:creationId xmlns:a16="http://schemas.microsoft.com/office/drawing/2014/main" id="{B710C483-A890-47EA-A072-5D9086A148F5}"/>
              </a:ext>
            </a:extLst>
          </p:cNvPr>
          <p:cNvSpPr>
            <a:spLocks xmlns:a="http://schemas.openxmlformats.org/drawingml/2006/main" noGrp="1"/>
          </p:cNvSpPr>
          <p:nvPr/>
        </p:nvSpPr>
        <p:spPr>
          <a:xfrm xmlns:a="http://schemas.openxmlformats.org/drawingml/2006/main">
            <a:off x="1162050" y="28575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01</a:t>
            </a:r>
          </a:p>
        </p:txBody>
      </p:sp>
      <p:sp>
        <p:nvSpPr>
          <p:cNvPr id="4" name="">
            <a:extLst xmlns:a="http://schemas.openxmlformats.org/drawingml/2006/main">
              <a:ext uri="{FF2B5EF4-FFF2-40B4-BE49-F238E27FC236}">
                <a16:creationId xmlns:a16="http://schemas.microsoft.com/office/drawing/2014/main" id="{8A4E515B-5F3B-40A3-8912-9F85F0FE7567}"/>
              </a:ext>
            </a:extLst>
          </p:cNvPr>
          <p:cNvSpPr>
            <a:spLocks xmlns:a="http://schemas.openxmlformats.org/drawingml/2006/main" noGrp="1"/>
          </p:cNvSpPr>
          <p:nvPr/>
        </p:nvSpPr>
        <p:spPr>
          <a:xfrm xmlns:a="http://schemas.openxmlformats.org/drawingml/2006/main">
            <a:off x="2143125" y="28194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Verify SEC file + manifest</a:t>
            </a:r>
          </a:p>
        </p:txBody>
      </p:sp>
      <p:sp>
        <p:nvSpPr>
          <p:cNvPr id="5" name="">
            <a:extLst xmlns:a="http://schemas.openxmlformats.org/drawingml/2006/main">
              <a:ext uri="{FF2B5EF4-FFF2-40B4-BE49-F238E27FC236}">
                <a16:creationId xmlns:a16="http://schemas.microsoft.com/office/drawing/2014/main" id="{A2CF432C-0929-4FB7-9EB4-33A2C51C41DC}"/>
              </a:ext>
            </a:extLst>
          </p:cNvPr>
          <p:cNvSpPr>
            <a:spLocks xmlns:a="http://schemas.openxmlformats.org/drawingml/2006/main" noGrp="1"/>
          </p:cNvSpPr>
          <p:nvPr/>
        </p:nvSpPr>
        <p:spPr>
          <a:xfrm xmlns:a="http://schemas.openxmlformats.org/drawingml/2006/main">
            <a:off x="8572500" y="28575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CHECK</a:t>
            </a:r>
          </a:p>
        </p:txBody>
      </p:sp>
      <p:sp>
        <p:nvSpPr>
          <p:cNvPr id="6" name="">
            <a:extLst xmlns:a="http://schemas.openxmlformats.org/drawingml/2006/main">
              <a:ext uri="{FF2B5EF4-FFF2-40B4-BE49-F238E27FC236}">
                <a16:creationId xmlns:a16="http://schemas.microsoft.com/office/drawing/2014/main" id="{179A1F7B-8EE0-471C-AA17-75A56716B8A1}"/>
              </a:ext>
            </a:extLst>
          </p:cNvPr>
          <p:cNvSpPr>
            <a:spLocks xmlns:a="http://schemas.openxmlformats.org/drawingml/2006/main" noGrp="1"/>
          </p:cNvSpPr>
          <p:nvPr/>
        </p:nvSpPr>
        <p:spPr>
          <a:xfrm xmlns:a="http://schemas.openxmlformats.org/drawingml/2006/main">
            <a:off x="2143125" y="34099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7" name="">
            <a:extLst xmlns:a="http://schemas.openxmlformats.org/drawingml/2006/main">
              <a:ext uri="{FF2B5EF4-FFF2-40B4-BE49-F238E27FC236}">
                <a16:creationId xmlns:a16="http://schemas.microsoft.com/office/drawing/2014/main" id="{C5F63C6A-1C80-47E2-9174-F44504BE7A86}"/>
              </a:ext>
            </a:extLst>
          </p:cNvPr>
          <p:cNvSpPr>
            <a:spLocks xmlns:a="http://schemas.openxmlformats.org/drawingml/2006/main" noGrp="1"/>
          </p:cNvSpPr>
          <p:nvPr/>
        </p:nvSpPr>
        <p:spPr>
          <a:xfrm xmlns:a="http://schemas.openxmlformats.org/drawingml/2006/main">
            <a:off x="1162050" y="36957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02</a:t>
            </a:r>
          </a:p>
        </p:txBody>
      </p:sp>
      <p:sp>
        <p:nvSpPr>
          <p:cNvPr id="8" name="">
            <a:extLst xmlns:a="http://schemas.openxmlformats.org/drawingml/2006/main">
              <a:ext uri="{FF2B5EF4-FFF2-40B4-BE49-F238E27FC236}">
                <a16:creationId xmlns:a16="http://schemas.microsoft.com/office/drawing/2014/main" id="{9521B42D-9ED7-495A-B9A4-706CAD687326}"/>
              </a:ext>
            </a:extLst>
          </p:cNvPr>
          <p:cNvSpPr>
            <a:spLocks xmlns:a="http://schemas.openxmlformats.org/drawingml/2006/main" noGrp="1"/>
          </p:cNvSpPr>
          <p:nvPr/>
        </p:nvSpPr>
        <p:spPr>
          <a:xfrm xmlns:a="http://schemas.openxmlformats.org/drawingml/2006/main">
            <a:off x="2143125" y="36576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Build bounded official pack</a:t>
            </a:r>
          </a:p>
        </p:txBody>
      </p:sp>
      <p:sp>
        <p:nvSpPr>
          <p:cNvPr id="9" name="">
            <a:extLst xmlns:a="http://schemas.openxmlformats.org/drawingml/2006/main">
              <a:ext uri="{FF2B5EF4-FFF2-40B4-BE49-F238E27FC236}">
                <a16:creationId xmlns:a16="http://schemas.microsoft.com/office/drawing/2014/main" id="{3879279A-F56C-43A4-BB61-5DBED2EC9897}"/>
              </a:ext>
            </a:extLst>
          </p:cNvPr>
          <p:cNvSpPr>
            <a:spLocks xmlns:a="http://schemas.openxmlformats.org/drawingml/2006/main" noGrp="1"/>
          </p:cNvSpPr>
          <p:nvPr/>
        </p:nvSpPr>
        <p:spPr>
          <a:xfrm xmlns:a="http://schemas.openxmlformats.org/drawingml/2006/main">
            <a:off x="8572500" y="36957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PACK</a:t>
            </a:r>
          </a:p>
        </p:txBody>
      </p:sp>
      <p:sp>
        <p:nvSpPr>
          <p:cNvPr id="10" name="">
            <a:extLst xmlns:a="http://schemas.openxmlformats.org/drawingml/2006/main">
              <a:ext uri="{FF2B5EF4-FFF2-40B4-BE49-F238E27FC236}">
                <a16:creationId xmlns:a16="http://schemas.microsoft.com/office/drawing/2014/main" id="{17DD85C8-4C83-4C3E-8F6A-367A43180458}"/>
              </a:ext>
            </a:extLst>
          </p:cNvPr>
          <p:cNvSpPr>
            <a:spLocks xmlns:a="http://schemas.openxmlformats.org/drawingml/2006/main" noGrp="1"/>
          </p:cNvSpPr>
          <p:nvPr/>
        </p:nvSpPr>
        <p:spPr>
          <a:xfrm xmlns:a="http://schemas.openxmlformats.org/drawingml/2006/main">
            <a:off x="2143125" y="42481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1" name="">
            <a:extLst xmlns:a="http://schemas.openxmlformats.org/drawingml/2006/main">
              <a:ext uri="{FF2B5EF4-FFF2-40B4-BE49-F238E27FC236}">
                <a16:creationId xmlns:a16="http://schemas.microsoft.com/office/drawing/2014/main" id="{56A488D8-189E-4BB9-9C55-CA27344D4880}"/>
              </a:ext>
            </a:extLst>
          </p:cNvPr>
          <p:cNvSpPr>
            <a:spLocks xmlns:a="http://schemas.openxmlformats.org/drawingml/2006/main" noGrp="1"/>
          </p:cNvSpPr>
          <p:nvPr/>
        </p:nvSpPr>
        <p:spPr>
          <a:xfrm xmlns:a="http://schemas.openxmlformats.org/drawingml/2006/main">
            <a:off x="1162050" y="45339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03</a:t>
            </a:r>
          </a:p>
        </p:txBody>
      </p:sp>
      <p:sp>
        <p:nvSpPr>
          <p:cNvPr id="12" name="">
            <a:extLst xmlns:a="http://schemas.openxmlformats.org/drawingml/2006/main">
              <a:ext uri="{FF2B5EF4-FFF2-40B4-BE49-F238E27FC236}">
                <a16:creationId xmlns:a16="http://schemas.microsoft.com/office/drawing/2014/main" id="{2062B6DC-830C-4BC9-8851-A3888182AE1E}"/>
              </a:ext>
            </a:extLst>
          </p:cNvPr>
          <p:cNvSpPr>
            <a:spLocks xmlns:a="http://schemas.openxmlformats.org/drawingml/2006/main" noGrp="1"/>
          </p:cNvSpPr>
          <p:nvPr/>
        </p:nvSpPr>
        <p:spPr>
          <a:xfrm xmlns:a="http://schemas.openxmlformats.org/drawingml/2006/main">
            <a:off x="2143125" y="44958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Ask two stable-prefix questions</a:t>
            </a:r>
          </a:p>
        </p:txBody>
      </p:sp>
      <p:sp>
        <p:nvSpPr>
          <p:cNvPr id="13" name="">
            <a:extLst xmlns:a="http://schemas.openxmlformats.org/drawingml/2006/main">
              <a:ext uri="{FF2B5EF4-FFF2-40B4-BE49-F238E27FC236}">
                <a16:creationId xmlns:a16="http://schemas.microsoft.com/office/drawing/2014/main" id="{56B92F15-B968-44A2-AC9F-1F44F75B84FF}"/>
              </a:ext>
            </a:extLst>
          </p:cNvPr>
          <p:cNvSpPr>
            <a:spLocks xmlns:a="http://schemas.openxmlformats.org/drawingml/2006/main" noGrp="1"/>
          </p:cNvSpPr>
          <p:nvPr/>
        </p:nvSpPr>
        <p:spPr>
          <a:xfrm xmlns:a="http://schemas.openxmlformats.org/drawingml/2006/main">
            <a:off x="8572500" y="45339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CALL</a:t>
            </a:r>
          </a:p>
        </p:txBody>
      </p:sp>
      <p:sp>
        <p:nvSpPr>
          <p:cNvPr id="14" name="">
            <a:extLst xmlns:a="http://schemas.openxmlformats.org/drawingml/2006/main">
              <a:ext uri="{FF2B5EF4-FFF2-40B4-BE49-F238E27FC236}">
                <a16:creationId xmlns:a16="http://schemas.microsoft.com/office/drawing/2014/main" id="{AC9FCC08-CC44-427D-9C16-AD71F4A0FE15}"/>
              </a:ext>
            </a:extLst>
          </p:cNvPr>
          <p:cNvSpPr>
            <a:spLocks xmlns:a="http://schemas.openxmlformats.org/drawingml/2006/main" noGrp="1"/>
          </p:cNvSpPr>
          <p:nvPr/>
        </p:nvSpPr>
        <p:spPr>
          <a:xfrm xmlns:a="http://schemas.openxmlformats.org/drawingml/2006/main">
            <a:off x="2143125" y="50863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5" name="">
            <a:extLst xmlns:a="http://schemas.openxmlformats.org/drawingml/2006/main">
              <a:ext uri="{FF2B5EF4-FFF2-40B4-BE49-F238E27FC236}">
                <a16:creationId xmlns:a16="http://schemas.microsoft.com/office/drawing/2014/main" id="{46219D6C-4B5E-42DF-9DFC-40856CEAE76C}"/>
              </a:ext>
            </a:extLst>
          </p:cNvPr>
          <p:cNvSpPr>
            <a:spLocks xmlns:a="http://schemas.openxmlformats.org/drawingml/2006/main" noGrp="1"/>
          </p:cNvSpPr>
          <p:nvPr/>
        </p:nvSpPr>
        <p:spPr>
          <a:xfrm xmlns:a="http://schemas.openxmlformats.org/drawingml/2006/main">
            <a:off x="1162050" y="5372100"/>
            <a:ext cx="57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00A2EB"/>
                </a:solidFill>
                <a:latin typeface="Calibri"/>
                <a:ea typeface="Calibri"/>
                <a:cs typeface="Calibri"/>
              </a:defRPr>
            </a:pPr>
            <a:r>
              <a:rPr sz="1425" b="1">
                <a:solidFill>
                  <a:srgbClr val="00A2EB"/>
                </a:solidFill>
                <a:latin typeface="Calibri"/>
                <a:ea typeface="Calibri"/>
                <a:cs typeface="Calibri"/>
              </a:rPr>
              <a:t>04</a:t>
            </a:r>
          </a:p>
        </p:txBody>
      </p:sp>
      <p:sp>
        <p:nvSpPr>
          <p:cNvPr id="16" name="">
            <a:extLst xmlns:a="http://schemas.openxmlformats.org/drawingml/2006/main">
              <a:ext uri="{FF2B5EF4-FFF2-40B4-BE49-F238E27FC236}">
                <a16:creationId xmlns:a16="http://schemas.microsoft.com/office/drawing/2014/main" id="{E2CA7A6E-EE89-4E7C-A0E4-A0D3E684AC6C}"/>
              </a:ext>
            </a:extLst>
          </p:cNvPr>
          <p:cNvSpPr>
            <a:spLocks xmlns:a="http://schemas.openxmlformats.org/drawingml/2006/main" noGrp="1"/>
          </p:cNvSpPr>
          <p:nvPr/>
        </p:nvSpPr>
        <p:spPr>
          <a:xfrm xmlns:a="http://schemas.openxmlformats.org/drawingml/2006/main">
            <a:off x="2143125" y="533400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100" b="1">
                <a:solidFill>
                  <a:srgbClr val="051C2A"/>
                </a:solidFill>
                <a:latin typeface="Calibri"/>
                <a:ea typeface="Calibri"/>
                <a:cs typeface="Calibri"/>
              </a:defRPr>
            </a:pPr>
            <a:r>
              <a:rPr sz="2100" b="1">
                <a:solidFill>
                  <a:srgbClr val="051C2A"/>
                </a:solidFill>
                <a:latin typeface="Calibri"/>
                <a:ea typeface="Calibri"/>
                <a:cs typeface="Calibri"/>
              </a:rPr>
              <a:t>Route the complete filing to RAG</a:t>
            </a:r>
          </a:p>
        </p:txBody>
      </p:sp>
      <p:sp>
        <p:nvSpPr>
          <p:cNvPr id="17" name="">
            <a:extLst xmlns:a="http://schemas.openxmlformats.org/drawingml/2006/main">
              <a:ext uri="{FF2B5EF4-FFF2-40B4-BE49-F238E27FC236}">
                <a16:creationId xmlns:a16="http://schemas.microsoft.com/office/drawing/2014/main" id="{EF9232DB-9ADA-4EC0-9488-23F6FAAFFAB6}"/>
              </a:ext>
            </a:extLst>
          </p:cNvPr>
          <p:cNvSpPr>
            <a:spLocks xmlns:a="http://schemas.openxmlformats.org/drawingml/2006/main" noGrp="1"/>
          </p:cNvSpPr>
          <p:nvPr/>
        </p:nvSpPr>
        <p:spPr>
          <a:xfrm xmlns:a="http://schemas.openxmlformats.org/drawingml/2006/main">
            <a:off x="8572500" y="537210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350" b="1">
                <a:solidFill>
                  <a:srgbClr val="1F40CB"/>
                </a:solidFill>
                <a:latin typeface="Calibri"/>
                <a:ea typeface="Calibri"/>
                <a:cs typeface="Calibri"/>
              </a:defRPr>
            </a:pPr>
            <a:r>
              <a:rPr sz="1350" b="1">
                <a:solidFill>
                  <a:srgbClr val="1F40CB"/>
                </a:solidFill>
                <a:latin typeface="Calibri"/>
                <a:ea typeface="Calibri"/>
                <a:cs typeface="Calibri"/>
              </a:rPr>
              <a:t>DECIDE</a:t>
            </a:r>
          </a:p>
        </p:txBody>
      </p:sp>
      <p:sp>
        <p:nvSpPr>
          <p:cNvPr id="18" name="">
            <a:extLst xmlns:a="http://schemas.openxmlformats.org/drawingml/2006/main">
              <a:ext uri="{FF2B5EF4-FFF2-40B4-BE49-F238E27FC236}">
                <a16:creationId xmlns:a16="http://schemas.microsoft.com/office/drawing/2014/main" id="{48F021EC-EF4B-4696-AC90-EE4C0AB71651}"/>
              </a:ext>
            </a:extLst>
          </p:cNvPr>
          <p:cNvSpPr>
            <a:spLocks xmlns:a="http://schemas.openxmlformats.org/drawingml/2006/main" noGrp="1"/>
          </p:cNvSpPr>
          <p:nvPr/>
        </p:nvSpPr>
        <p:spPr>
          <a:xfrm xmlns:a="http://schemas.openxmlformats.org/drawingml/2006/main">
            <a:off x="2143125" y="5924550"/>
            <a:ext cx="752475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19" name="">
            <a:extLst xmlns:a="http://schemas.openxmlformats.org/drawingml/2006/main">
              <a:ext uri="{FF2B5EF4-FFF2-40B4-BE49-F238E27FC236}">
                <a16:creationId xmlns:a16="http://schemas.microsoft.com/office/drawing/2014/main" id="{2D510A64-1653-4D80-B5B0-A343D07C171B}"/>
              </a:ext>
            </a:extLst>
          </p:cNvPr>
          <p:cNvSpPr>
            <a:spLocks xmlns:a="http://schemas.openxmlformats.org/drawingml/2006/main" noGrp="1"/>
          </p:cNvSpPr>
          <p:nvPr/>
        </p:nvSpPr>
        <p:spPr>
          <a:xfrm xmlns:a="http://schemas.openxmlformats.org/drawingml/2006/main">
            <a:off x="10572750" y="2914650"/>
            <a:ext cx="3333750" cy="3238500"/>
          </a:xfrm>
          <a:prstGeom xmlns:a="http://schemas.openxmlformats.org/drawingml/2006/main" prst="roundRect">
            <a:avLst>
              <a:gd name="adj" fmla="val 2353"/>
            </a:avLst>
          </a:prstGeom>
          <a:solidFill xmlns:a="http://schemas.openxmlformats.org/drawingml/2006/main">
            <a:srgbClr val="051C2A"/>
          </a:solidFill>
          <a:ln xmlns:a="http://schemas.openxmlformats.org/drawingml/2006/main" w="9525">
            <a:solidFill>
              <a:srgbClr val="051C2A"/>
            </a:solidFill>
            <a:prstDash val="solid"/>
          </a:ln>
        </p:spPr>
      </p:sp>
      <p:sp>
        <p:nvSpPr>
          <p:cNvPr id="20" name="">
            <a:extLst xmlns:a="http://schemas.openxmlformats.org/drawingml/2006/main">
              <a:ext uri="{FF2B5EF4-FFF2-40B4-BE49-F238E27FC236}">
                <a16:creationId xmlns:a16="http://schemas.microsoft.com/office/drawing/2014/main" id="{34E24CC2-8886-4470-A433-8B2BDCC9A396}"/>
              </a:ext>
            </a:extLst>
          </p:cNvPr>
          <p:cNvSpPr>
            <a:spLocks xmlns:a="http://schemas.openxmlformats.org/drawingml/2006/main" noGrp="1"/>
          </p:cNvSpPr>
          <p:nvPr/>
        </p:nvSpPr>
        <p:spPr>
          <a:xfrm xmlns:a="http://schemas.openxmlformats.org/drawingml/2006/main">
            <a:off x="11049000" y="34290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425" b="1">
                <a:solidFill>
                  <a:srgbClr val="00A2EB"/>
                </a:solidFill>
                <a:latin typeface="Calibri"/>
                <a:ea typeface="Calibri"/>
                <a:cs typeface="Calibri"/>
              </a:defRPr>
            </a:pPr>
            <a:r>
              <a:rPr sz="1425" b="1">
                <a:solidFill>
                  <a:srgbClr val="00A2EB"/>
                </a:solidFill>
                <a:latin typeface="Calibri"/>
                <a:ea typeface="Calibri"/>
                <a:cs typeface="Calibri"/>
              </a:rPr>
              <a:t>NOW RUN</a:t>
            </a:r>
          </a:p>
        </p:txBody>
      </p:sp>
      <p:sp>
        <p:nvSpPr>
          <p:cNvPr id="21" name="">
            <a:extLst xmlns:a="http://schemas.openxmlformats.org/drawingml/2006/main">
              <a:ext uri="{FF2B5EF4-FFF2-40B4-BE49-F238E27FC236}">
                <a16:creationId xmlns:a16="http://schemas.microsoft.com/office/drawing/2014/main" id="{75710502-B50A-464D-8CBF-05C06A018465}"/>
              </a:ext>
            </a:extLst>
          </p:cNvPr>
          <p:cNvSpPr>
            <a:spLocks xmlns:a="http://schemas.openxmlformats.org/drawingml/2006/main" noGrp="1"/>
          </p:cNvSpPr>
          <p:nvPr/>
        </p:nvSpPr>
        <p:spPr>
          <a:xfrm xmlns:a="http://schemas.openxmlformats.org/drawingml/2006/main">
            <a:off x="11049000" y="40386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2550" b="1">
                <a:solidFill>
                  <a:srgbClr val="FFFFFF"/>
                </a:solidFill>
                <a:latin typeface="Calibri"/>
                <a:ea typeface="Calibri"/>
                <a:cs typeface="Calibri"/>
              </a:defRPr>
            </a:pPr>
            <a:r>
              <a:rPr sz="2550" b="1">
                <a:solidFill>
                  <a:srgbClr val="FFFFFF"/>
                </a:solidFill>
                <a:latin typeface="Calibri"/>
                <a:ea typeface="Calibri"/>
                <a:cs typeface="Calibri"/>
              </a:rPr>
              <a:t>Notebook 03</a:t>
            </a:r>
          </a:p>
        </p:txBody>
      </p:sp>
      <p:sp>
        <p:nvSpPr>
          <p:cNvPr id="22" name="">
            <a:extLst xmlns:a="http://schemas.openxmlformats.org/drawingml/2006/main">
              <a:ext uri="{FF2B5EF4-FFF2-40B4-BE49-F238E27FC236}">
                <a16:creationId xmlns:a16="http://schemas.microsoft.com/office/drawing/2014/main" id="{98057516-ABAC-4FB1-A462-D76649ACD6A3}"/>
              </a:ext>
            </a:extLst>
          </p:cNvPr>
          <p:cNvSpPr>
            <a:spLocks xmlns:a="http://schemas.openxmlformats.org/drawingml/2006/main" noGrp="1"/>
          </p:cNvSpPr>
          <p:nvPr/>
        </p:nvSpPr>
        <p:spPr>
          <a:xfrm xmlns:a="http://schemas.openxmlformats.org/drawingml/2006/main">
            <a:off x="11049000" y="4953000"/>
            <a:ext cx="2381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buNone/>
              <a:defRPr sz="1650">
                <a:solidFill>
                  <a:srgbClr val="FFFFFF"/>
                </a:solidFill>
                <a:latin typeface="Calibri"/>
                <a:ea typeface="Calibri"/>
                <a:cs typeface="Calibri"/>
              </a:defRPr>
            </a:pPr>
            <a:r>
              <a:rPr sz="1650">
                <a:solidFill>
                  <a:srgbClr val="FFFFFF"/>
                </a:solidFill>
                <a:latin typeface="Calibri"/>
                <a:ea typeface="Calibri"/>
                <a:cs typeface="Calibri"/>
              </a:rPr>
              <a:t>15 cells
25 minutes</a:t>
            </a:r>
          </a:p>
        </p:txBody>
      </p:sp>
      <p:sp>
        <p:nvSpPr>
          <p:cNvPr id="23" name="">
            <a:extLst xmlns:a="http://schemas.openxmlformats.org/drawingml/2006/main">
              <a:ext uri="{FF2B5EF4-FFF2-40B4-BE49-F238E27FC236}">
                <a16:creationId xmlns:a16="http://schemas.microsoft.com/office/drawing/2014/main" id="{8174979B-71B7-425A-85CB-FF6AD6AC593E}"/>
              </a:ext>
            </a:extLst>
          </p:cNvPr>
          <p:cNvSpPr>
            <a:spLocks xmlns:a="http://schemas.openxmlformats.org/drawingml/2006/main" noGrp="1"/>
          </p:cNvSpPr>
          <p:nvPr/>
        </p:nvSpPr>
        <p:spPr>
          <a:xfrm xmlns:a="http://schemas.openxmlformats.org/drawingml/2006/main">
            <a:off x="2143125" y="6667500"/>
            <a:ext cx="876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650">
                <a:solidFill>
                  <a:srgbClr val="373738"/>
                </a:solidFill>
                <a:latin typeface="Calibri"/>
                <a:ea typeface="Calibri"/>
                <a:cs typeface="Calibri"/>
              </a:defRPr>
            </a:pPr>
            <a:r>
              <a:rPr sz="1650">
                <a:solidFill>
                  <a:srgbClr val="373738"/>
                </a:solidFill>
                <a:latin typeface="Calibri"/>
                <a:ea typeface="Calibri"/>
                <a:cs typeface="Calibri"/>
              </a:rPr>
              <a:t>Four executable figures; same notebook code with Ollama or OpenAI.</a:t>
            </a:r>
          </a:p>
        </p:txBody>
      </p:sp>
      <p:sp>
        <p:nvSpPr>
          <p:cNvPr id="24" name="">
            <a:extLst xmlns:a="http://schemas.openxmlformats.org/drawingml/2006/main">
              <a:ext uri="{FF2B5EF4-FFF2-40B4-BE49-F238E27FC236}">
                <a16:creationId xmlns:a16="http://schemas.microsoft.com/office/drawing/2014/main" id="{5B353963-99F6-474D-AE9E-6D102866C245}"/>
              </a:ext>
            </a:extLst>
          </p:cNvPr>
          <p:cNvSpPr>
            <a:spLocks xmlns:a="http://schemas.openxmlformats.org/drawingml/2006/main" noGrp="1"/>
          </p:cNvSpPr>
          <p:nvPr/>
        </p:nvSpPr>
        <p:spPr>
          <a:xfrm xmlns:a="http://schemas.openxmlformats.org/drawingml/2006/main">
            <a:off x="857250" y="7905750"/>
            <a:ext cx="13525500" cy="19050"/>
          </a:xfrm>
          <a:prstGeom xmlns:a="http://schemas.openxmlformats.org/drawingml/2006/main" prst="rect">
            <a:avLst/>
          </a:prstGeom>
          <a:solidFill xmlns:a="http://schemas.openxmlformats.org/drawingml/2006/main">
            <a:srgbClr val="E4E6E8"/>
          </a:solidFill>
          <a:ln xmlns:a="http://schemas.openxmlformats.org/drawingml/2006/main" w="9525">
            <a:solidFill>
              <a:srgbClr val="E4E6E8"/>
            </a:solidFill>
            <a:prstDash val="solid"/>
          </a:ln>
        </p:spPr>
      </p:sp>
      <p:sp>
        <p:nvSpPr>
          <p:cNvPr id="25" name="">
            <a:extLst xmlns:a="http://schemas.openxmlformats.org/drawingml/2006/main">
              <a:ext uri="{FF2B5EF4-FFF2-40B4-BE49-F238E27FC236}">
                <a16:creationId xmlns:a16="http://schemas.microsoft.com/office/drawing/2014/main" id="{7A58137A-5475-4121-BA20-053FF731F89A}"/>
              </a:ext>
            </a:extLst>
          </p:cNvPr>
          <p:cNvSpPr>
            <a:spLocks xmlns:a="http://schemas.openxmlformats.org/drawingml/2006/main" noGrp="1"/>
          </p:cNvSpPr>
          <p:nvPr/>
        </p:nvSpPr>
        <p:spPr>
          <a:xfrm xmlns:a="http://schemas.openxmlformats.org/drawingml/2006/main">
            <a:off x="857250" y="7905750"/>
            <a:ext cx="8001000" cy="28575"/>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26" name="">
            <a:extLst xmlns:a="http://schemas.openxmlformats.org/drawingml/2006/main">
              <a:ext uri="{FF2B5EF4-FFF2-40B4-BE49-F238E27FC236}">
                <a16:creationId xmlns:a16="http://schemas.microsoft.com/office/drawing/2014/main" id="{7126838F-9E9E-49AC-8F5A-4888689CD6C3}"/>
              </a:ext>
            </a:extLst>
          </p:cNvPr>
          <p:cNvSpPr>
            <a:spLocks xmlns:a="http://schemas.openxmlformats.org/drawingml/2006/main" noGrp="1"/>
          </p:cNvSpPr>
          <p:nvPr/>
        </p:nvSpPr>
        <p:spPr>
          <a:xfrm xmlns:a="http://schemas.openxmlformats.org/drawingml/2006/main">
            <a:off x="971550" y="81534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275">
                <a:solidFill>
                  <a:srgbClr val="9E9FA2"/>
                </a:solidFill>
                <a:latin typeface="Calibri"/>
                <a:ea typeface="Calibri"/>
                <a:cs typeface="Calibri"/>
              </a:defRPr>
            </a:pPr>
            <a:r>
              <a:rPr sz="1275">
                <a:solidFill>
                  <a:srgbClr val="9E9FA2"/>
                </a:solidFill>
                <a:latin typeface="Calibri"/>
                <a:ea typeface="Calibri"/>
                <a:cs typeface="Calibri"/>
              </a:rPr>
              <a:t>First Finance - Arnaud Demes</a:t>
            </a:r>
          </a:p>
        </p:txBody>
      </p:sp>
      <p:sp>
        <p:nvSpPr>
          <p:cNvPr id="27" name="">
            <a:extLst xmlns:a="http://schemas.openxmlformats.org/drawingml/2006/main">
              <a:ext uri="{FF2B5EF4-FFF2-40B4-BE49-F238E27FC236}">
                <a16:creationId xmlns:a16="http://schemas.microsoft.com/office/drawing/2014/main" id="{3F2728AD-6B3E-41C8-9959-16F490654FF9}"/>
              </a:ext>
            </a:extLst>
          </p:cNvPr>
          <p:cNvSpPr>
            <a:spLocks xmlns:a="http://schemas.openxmlformats.org/drawingml/2006/main" noGrp="1"/>
          </p:cNvSpPr>
          <p:nvPr/>
        </p:nvSpPr>
        <p:spPr>
          <a:xfrm xmlns:a="http://schemas.openxmlformats.org/drawingml/2006/main">
            <a:off x="12477750" y="81534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NOTEBOOK</a:t>
            </a:r>
          </a:p>
        </p:txBody>
      </p:sp>
      <p:sp>
        <p:nvSpPr>
          <p:cNvPr id="28" name="">
            <a:extLst xmlns:a="http://schemas.openxmlformats.org/drawingml/2006/main">
              <a:ext uri="{FF2B5EF4-FFF2-40B4-BE49-F238E27FC236}">
                <a16:creationId xmlns:a16="http://schemas.microsoft.com/office/drawing/2014/main" id="{2500A979-B0DA-491D-BECE-B4073BB3CB9A}"/>
              </a:ext>
            </a:extLst>
          </p:cNvPr>
          <p:cNvSpPr>
            <a:spLocks xmlns:a="http://schemas.openxmlformats.org/drawingml/2006/main" noGrp="1"/>
          </p:cNvSpPr>
          <p:nvPr/>
        </p:nvSpPr>
        <p:spPr>
          <a:xfrm xmlns:a="http://schemas.openxmlformats.org/drawingml/2006/main">
            <a:off x="14097000" y="8153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1200" b="1">
                <a:solidFill>
                  <a:srgbClr val="9E9FA2"/>
                </a:solidFill>
                <a:latin typeface="Calibri"/>
                <a:ea typeface="Calibri"/>
                <a:cs typeface="Calibri"/>
              </a:defRPr>
            </a:pPr>
            <a:r>
              <a:rPr sz="1200" b="1">
                <a:solidFill>
                  <a:srgbClr val="9E9FA2"/>
                </a:solidFill>
                <a:latin typeface="Calibri"/>
                <a:ea typeface="Calibri"/>
                <a:cs typeface="Calibri"/>
              </a:rPr>
              <a:t>10</a:t>
            </a:r>
          </a:p>
        </p:txBody>
      </p:sp>
    </p:spTree>
    <p:extLst>
      <p:ext uri="{BB962C8B-B14F-4D97-AF65-F5344CB8AC3E}">
        <p14:creationId xmlns:p14="http://schemas.microsoft.com/office/powerpoint/2010/main" val="223453297"/>
      </p:ext>
    </p:extLst>
  </p:cSld>
</p:sld>
</file>

<file path=ppt/slides/slide11.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91AC7A-C390-4918-960F-B031B7C93A63}"/>
              </a:ext>
            </a:extLst>
          </p:cNvPr>
          <p:cNvSpPr>
            <a:spLocks xmlns:a="http://schemas.openxmlformats.org/drawingml/2006/main" noGrp="1"/>
          </p:cNvSpPr>
          <p:nvPr/>
        </p:nvSpPr>
        <p:spPr>
          <a:xfrm xmlns:a="http://schemas.openxmlformats.org/drawingml/2006/main">
            <a:off x="971550" y="781050"/>
            <a:ext cx="1257300" cy="76200"/>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2" name="">
            <a:extLst xmlns:a="http://schemas.openxmlformats.org/drawingml/2006/main">
              <a:ext uri="{FF2B5EF4-FFF2-40B4-BE49-F238E27FC236}">
                <a16:creationId xmlns:a16="http://schemas.microsoft.com/office/drawing/2014/main" id="{64682EC5-19B2-4E56-87B3-7ADF11BC6291}"/>
              </a:ext>
            </a:extLst>
          </p:cNvPr>
          <p:cNvSpPr>
            <a:spLocks xmlns:a="http://schemas.openxmlformats.org/drawingml/2006/main" noGrp="1"/>
          </p:cNvSpPr>
          <p:nvPr/>
        </p:nvSpPr>
        <p:spPr>
          <a:xfrm xmlns:a="http://schemas.openxmlformats.org/drawingml/2006/main">
            <a:off x="971550" y="11049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500" b="1">
                <a:solidFill>
                  <a:srgbClr val="1F40CB"/>
                </a:solidFill>
                <a:latin typeface="Calibri"/>
                <a:ea typeface="Calibri"/>
                <a:cs typeface="Calibri"/>
              </a:defRPr>
            </a:pPr>
            <a:r>
              <a:rPr sz="1500" b="1">
                <a:solidFill>
                  <a:srgbClr val="1F40CB"/>
                </a:solidFill>
                <a:latin typeface="Calibri"/>
                <a:ea typeface="Calibri"/>
                <a:cs typeface="Calibri"/>
              </a:rPr>
              <a:t>FIRST FINANCE</a:t>
            </a:r>
          </a:p>
        </p:txBody>
      </p:sp>
      <p:sp>
        <p:nvSpPr>
          <p:cNvPr id="3" name="">
            <a:extLst xmlns:a="http://schemas.openxmlformats.org/drawingml/2006/main">
              <a:ext uri="{FF2B5EF4-FFF2-40B4-BE49-F238E27FC236}">
                <a16:creationId xmlns:a16="http://schemas.microsoft.com/office/drawing/2014/main" id="{728B1E4B-A80D-4DD8-B9C5-6F19ACF9BC87}"/>
              </a:ext>
            </a:extLst>
          </p:cNvPr>
          <p:cNvSpPr>
            <a:spLocks xmlns:a="http://schemas.openxmlformats.org/drawingml/2006/main" noGrp="1"/>
          </p:cNvSpPr>
          <p:nvPr/>
        </p:nvSpPr>
        <p:spPr>
          <a:xfrm xmlns:a="http://schemas.openxmlformats.org/drawingml/2006/main">
            <a:off x="971550" y="2400300"/>
            <a:ext cx="9334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4950" b="1">
                <a:solidFill>
                  <a:srgbClr val="051C2A"/>
                </a:solidFill>
                <a:latin typeface="Calibri"/>
                <a:ea typeface="Calibri"/>
                <a:cs typeface="Calibri"/>
              </a:defRPr>
            </a:pPr>
            <a:r>
              <a:rPr sz="4950" b="1">
                <a:solidFill>
                  <a:srgbClr val="051C2A"/>
                </a:solidFill>
                <a:latin typeface="Calibri"/>
                <a:ea typeface="Calibri"/>
                <a:cs typeface="Calibri"/>
              </a:rPr>
              <a:t>Quick quiz</a:t>
            </a:r>
          </a:p>
        </p:txBody>
      </p:sp>
      <p:sp>
        <p:nvSpPr>
          <p:cNvPr id="4" name="">
            <a:extLst xmlns:a="http://schemas.openxmlformats.org/drawingml/2006/main">
              <a:ext uri="{FF2B5EF4-FFF2-40B4-BE49-F238E27FC236}">
                <a16:creationId xmlns:a16="http://schemas.microsoft.com/office/drawing/2014/main" id="{EE83E63A-968D-469D-97F9-C2D3B82A7E4D}"/>
              </a:ext>
            </a:extLst>
          </p:cNvPr>
          <p:cNvSpPr>
            <a:spLocks xmlns:a="http://schemas.openxmlformats.org/drawingml/2006/main" noGrp="1"/>
          </p:cNvSpPr>
          <p:nvPr/>
        </p:nvSpPr>
        <p:spPr>
          <a:xfrm xmlns:a="http://schemas.openxmlformats.org/drawingml/2006/main">
            <a:off x="971550" y="36385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400">
                <a:solidFill>
                  <a:srgbClr val="373738"/>
                </a:solidFill>
                <a:latin typeface="Calibri"/>
                <a:ea typeface="Calibri"/>
                <a:cs typeface="Calibri"/>
              </a:defRPr>
            </a:pPr>
            <a:r>
              <a:rPr sz="2400">
                <a:solidFill>
                  <a:srgbClr val="373738"/>
                </a:solidFill>
                <a:latin typeface="Calibri"/>
                <a:ea typeface="Calibri"/>
                <a:cs typeface="Calibri"/>
              </a:rPr>
              <a:t>Choose one answer for each question.</a:t>
            </a:r>
          </a:p>
        </p:txBody>
      </p:sp>
      <p:sp>
        <p:nvSpPr>
          <p:cNvPr id="5" name="">
            <a:extLst xmlns:a="http://schemas.openxmlformats.org/drawingml/2006/main">
              <a:ext uri="{FF2B5EF4-FFF2-40B4-BE49-F238E27FC236}">
                <a16:creationId xmlns:a16="http://schemas.microsoft.com/office/drawing/2014/main" id="{001333EC-2C9C-4877-BD13-41F8B87FC676}"/>
              </a:ext>
            </a:extLst>
          </p:cNvPr>
          <p:cNvSpPr>
            <a:spLocks xmlns:a="http://schemas.openxmlformats.org/drawingml/2006/main" noGrp="1"/>
          </p:cNvSpPr>
          <p:nvPr/>
        </p:nvSpPr>
        <p:spPr>
          <a:xfrm xmlns:a="http://schemas.openxmlformats.org/drawingml/2006/main">
            <a:off x="971550" y="6610350"/>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1F40CB"/>
                </a:solidFill>
                <a:latin typeface="Calibri"/>
                <a:ea typeface="Calibri"/>
                <a:cs typeface="Calibri"/>
              </a:defRPr>
            </a:pPr>
            <a:r>
              <a:rPr sz="1425" b="1">
                <a:solidFill>
                  <a:srgbClr val="1F40CB"/>
                </a:solidFill>
                <a:latin typeface="Calibri"/>
                <a:ea typeface="Calibri"/>
                <a:cs typeface="Calibri"/>
              </a:rPr>
              <a:t>LESSON 03  ·  3 QUESTIONS  ·  3 MINUTES</a:t>
            </a:r>
          </a:p>
        </p:txBody>
      </p:sp>
      <p:sp>
        <p:nvSpPr>
          <p:cNvPr id="6" name="">
            <a:extLst xmlns:a="http://schemas.openxmlformats.org/drawingml/2006/main">
              <a:ext uri="{FF2B5EF4-FFF2-40B4-BE49-F238E27FC236}">
                <a16:creationId xmlns:a16="http://schemas.microsoft.com/office/drawing/2014/main" id="{C1C3877F-F854-40AF-9C55-8A4B72F80AEA}"/>
              </a:ext>
            </a:extLst>
          </p:cNvPr>
          <p:cNvSpPr>
            <a:spLocks xmlns:a="http://schemas.openxmlformats.org/drawingml/2006/main" noGrp="1"/>
          </p:cNvSpPr>
          <p:nvPr/>
        </p:nvSpPr>
        <p:spPr>
          <a:xfrm xmlns:a="http://schemas.openxmlformats.org/drawingml/2006/main">
            <a:off x="971550" y="7162800"/>
            <a:ext cx="514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800">
                <a:solidFill>
                  <a:srgbClr val="051C2A"/>
                </a:solidFill>
                <a:latin typeface="Calibri"/>
                <a:ea typeface="Calibri"/>
                <a:cs typeface="Calibri"/>
              </a:defRPr>
            </a:pPr>
            <a:r>
              <a:rPr sz="1800">
                <a:solidFill>
                  <a:srgbClr val="051C2A"/>
                </a:solidFill>
                <a:latin typeface="Calibri"/>
                <a:ea typeface="Calibri"/>
                <a:cs typeface="Calibri"/>
              </a:rPr>
              <a:t>First Finance - Arnaud Demes</a:t>
            </a:r>
          </a:p>
        </p:txBody>
      </p:sp>
      <p:sp>
        <p:nvSpPr>
          <p:cNvPr id="8" name="quiz-question-1">
            <a:extLst xmlns:a="http://schemas.openxmlformats.org/drawingml/2006/main">
              <a:ext uri="{FF2B5EF4-FFF2-40B4-BE49-F238E27FC236}">
                <a16:creationId xmlns:a16="http://schemas.microsoft.com/office/drawing/2014/main" id="{701EDEF2-0EDE-4EBA-8C08-BDFB693E378A}"/>
              </a:ext>
            </a:extLst>
          </p:cNvPr>
          <p:cNvSpPr>
            <a:spLocks xmlns:a="http://schemas.openxmlformats.org/drawingml/2006/main" noGrp="1"/>
          </p:cNvSpPr>
          <p:nvPr/>
        </p:nvSpPr>
        <p:spPr>
          <a:xfrm xmlns:a="http://schemas.openxmlformats.org/drawingml/2006/main">
            <a:off x="971550" y="44005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001B2E"/>
                </a:solidFill>
              </a:defRPr>
            </a:pPr>
            <a:r>
              <a:rPr sz="1500" b="1">
                <a:solidFill>
                  <a:srgbClr val="001B2E"/>
                </a:solidFill>
              </a:rPr>
              <a:t>1. Which artifact routes to CAG in this lab?</a:t>
            </a:r>
          </a:p>
        </p:txBody>
      </p:sp>
      <p:sp>
        <p:nvSpPr>
          <p:cNvPr id="9" name="quiz-options-1">
            <a:extLst xmlns:a="http://schemas.openxmlformats.org/drawingml/2006/main">
              <a:ext uri="{FF2B5EF4-FFF2-40B4-BE49-F238E27FC236}">
                <a16:creationId xmlns:a16="http://schemas.microsoft.com/office/drawing/2014/main" id="{25DC8C3A-7428-4CD7-88ED-402F254679FC}"/>
              </a:ext>
            </a:extLst>
          </p:cNvPr>
          <p:cNvSpPr>
            <a:spLocks xmlns:a="http://schemas.openxmlformats.org/drawingml/2006/main" noGrp="1"/>
          </p:cNvSpPr>
          <p:nvPr/>
        </p:nvSpPr>
        <p:spPr>
          <a:xfrm xmlns:a="http://schemas.openxmlformats.org/drawingml/2006/main">
            <a:off x="1257300" y="47053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A  Bounded official pack     |     B  Complete filing     |     C  Neither</a:t>
            </a:r>
          </a:p>
        </p:txBody>
      </p:sp>
      <p:sp>
        <p:nvSpPr>
          <p:cNvPr id="10" name="quiz-question-2">
            <a:extLst xmlns:a="http://schemas.openxmlformats.org/drawingml/2006/main">
              <a:ext uri="{FF2B5EF4-FFF2-40B4-BE49-F238E27FC236}">
                <a16:creationId xmlns:a16="http://schemas.microsoft.com/office/drawing/2014/main" id="{345F5A28-D23A-47D4-9557-51B2B0412DA9}"/>
              </a:ext>
            </a:extLst>
          </p:cNvPr>
          <p:cNvSpPr>
            <a:spLocks xmlns:a="http://schemas.openxmlformats.org/drawingml/2006/main" noGrp="1"/>
          </p:cNvSpPr>
          <p:nvPr/>
        </p:nvSpPr>
        <p:spPr>
          <a:xfrm xmlns:a="http://schemas.openxmlformats.org/drawingml/2006/main">
            <a:off x="971550" y="50863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001B2E"/>
                </a:solidFill>
              </a:defRPr>
            </a:pPr>
            <a:r>
              <a:rPr sz="1500" b="1">
                <a:solidFill>
                  <a:srgbClr val="001B2E"/>
                </a:solidFill>
              </a:rPr>
              <a:t>2. What proves prompt-cache reuse?</a:t>
            </a:r>
          </a:p>
        </p:txBody>
      </p:sp>
      <p:sp>
        <p:nvSpPr>
          <p:cNvPr id="11" name="quiz-options-2">
            <a:extLst xmlns:a="http://schemas.openxmlformats.org/drawingml/2006/main">
              <a:ext uri="{FF2B5EF4-FFF2-40B4-BE49-F238E27FC236}">
                <a16:creationId xmlns:a16="http://schemas.microsoft.com/office/drawing/2014/main" id="{4126F217-F7ED-4ACE-8941-8EA25E978355}"/>
              </a:ext>
            </a:extLst>
          </p:cNvPr>
          <p:cNvSpPr>
            <a:spLocks xmlns:a="http://schemas.openxmlformats.org/drawingml/2006/main" noGrp="1"/>
          </p:cNvSpPr>
          <p:nvPr/>
        </p:nvSpPr>
        <p:spPr>
          <a:xfrm xmlns:a="http://schemas.openxmlformats.org/drawingml/2006/main">
            <a:off x="1257300" y="53911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A  Lower latency     |     B  Cached-token telemetry     |     C  A fluent answer</a:t>
            </a:r>
          </a:p>
        </p:txBody>
      </p:sp>
      <p:sp>
        <p:nvSpPr>
          <p:cNvPr id="12" name="quiz-question-3">
            <a:extLst xmlns:a="http://schemas.openxmlformats.org/drawingml/2006/main">
              <a:ext uri="{FF2B5EF4-FFF2-40B4-BE49-F238E27FC236}">
                <a16:creationId xmlns:a16="http://schemas.microsoft.com/office/drawing/2014/main" id="{53D2F7D8-0E44-44F4-98D9-EB519BF076CF}"/>
              </a:ext>
            </a:extLst>
          </p:cNvPr>
          <p:cNvSpPr>
            <a:spLocks xmlns:a="http://schemas.openxmlformats.org/drawingml/2006/main" noGrp="1"/>
          </p:cNvSpPr>
          <p:nvPr/>
        </p:nvSpPr>
        <p:spPr>
          <a:xfrm xmlns:a="http://schemas.openxmlformats.org/drawingml/2006/main">
            <a:off x="971550" y="57721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001B2E"/>
                </a:solidFill>
              </a:defRPr>
            </a:pPr>
            <a:r>
              <a:rPr sz="1500" b="1">
                <a:solidFill>
                  <a:srgbClr val="001B2E"/>
                </a:solidFill>
              </a:rPr>
              <a:t>3. When does RAG earn its complexity?</a:t>
            </a:r>
          </a:p>
        </p:txBody>
      </p:sp>
      <p:sp>
        <p:nvSpPr>
          <p:cNvPr id="13" name="quiz-options-3">
            <a:extLst xmlns:a="http://schemas.openxmlformats.org/drawingml/2006/main">
              <a:ext uri="{FF2B5EF4-FFF2-40B4-BE49-F238E27FC236}">
                <a16:creationId xmlns:a16="http://schemas.microsoft.com/office/drawing/2014/main" id="{2E522A68-7CDD-4D76-A2AA-BA692179E867}"/>
              </a:ext>
            </a:extLst>
          </p:cNvPr>
          <p:cNvSpPr>
            <a:spLocks xmlns:a="http://schemas.openxmlformats.org/drawingml/2006/main" noGrp="1"/>
          </p:cNvSpPr>
          <p:nvPr/>
        </p:nvSpPr>
        <p:spPr>
          <a:xfrm xmlns:a="http://schemas.openxmlformats.org/drawingml/2006/main">
            <a:off x="1257300" y="60769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A  Always     |     B  When evidence must be selected     |     C  When answers are short</a:t>
            </a:r>
          </a:p>
        </p:txBody>
      </p:sp>
    </p:spTree>
    <p:extLst>
      <p:ext uri="{BB962C8B-B14F-4D97-AF65-F5344CB8AC3E}">
        <p14:creationId xmlns:p14="http://schemas.microsoft.com/office/powerpoint/2010/main" val="767502565"/>
      </p:ext>
    </p:extLst>
  </p:cSld>
</p:sld>
</file>

<file path=ppt/slides/slide12.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91AC7A-C390-4918-960F-B031B7C93A63}"/>
              </a:ext>
            </a:extLst>
          </p:cNvPr>
          <p:cNvSpPr>
            <a:spLocks xmlns:a="http://schemas.openxmlformats.org/drawingml/2006/main" noGrp="1"/>
          </p:cNvSpPr>
          <p:nvPr/>
        </p:nvSpPr>
        <p:spPr>
          <a:xfrm xmlns:a="http://schemas.openxmlformats.org/drawingml/2006/main">
            <a:off x="971550" y="781050"/>
            <a:ext cx="1257300" cy="76200"/>
          </a:xfrm>
          <a:prstGeom xmlns:a="http://schemas.openxmlformats.org/drawingml/2006/main" prst="rect">
            <a:avLst/>
          </a:prstGeom>
          <a:solidFill xmlns:a="http://schemas.openxmlformats.org/drawingml/2006/main">
            <a:srgbClr val="00A2EB"/>
          </a:solidFill>
          <a:ln xmlns:a="http://schemas.openxmlformats.org/drawingml/2006/main" w="9525">
            <a:solidFill>
              <a:srgbClr val="00A2EB"/>
            </a:solidFill>
            <a:prstDash val="solid"/>
          </a:ln>
        </p:spPr>
      </p:sp>
      <p:sp>
        <p:nvSpPr>
          <p:cNvPr id="2" name="">
            <a:extLst xmlns:a="http://schemas.openxmlformats.org/drawingml/2006/main">
              <a:ext uri="{FF2B5EF4-FFF2-40B4-BE49-F238E27FC236}">
                <a16:creationId xmlns:a16="http://schemas.microsoft.com/office/drawing/2014/main" id="{64682EC5-19B2-4E56-87B3-7ADF11BC6291}"/>
              </a:ext>
            </a:extLst>
          </p:cNvPr>
          <p:cNvSpPr>
            <a:spLocks xmlns:a="http://schemas.openxmlformats.org/drawingml/2006/main" noGrp="1"/>
          </p:cNvSpPr>
          <p:nvPr/>
        </p:nvSpPr>
        <p:spPr>
          <a:xfrm xmlns:a="http://schemas.openxmlformats.org/drawingml/2006/main">
            <a:off x="971550" y="11049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500" b="1">
                <a:solidFill>
                  <a:srgbClr val="1F40CB"/>
                </a:solidFill>
                <a:latin typeface="Calibri"/>
                <a:ea typeface="Calibri"/>
                <a:cs typeface="Calibri"/>
              </a:defRPr>
            </a:pPr>
            <a:r>
              <a:rPr sz="1500" b="1">
                <a:solidFill>
                  <a:srgbClr val="1F40CB"/>
                </a:solidFill>
                <a:latin typeface="Calibri"/>
                <a:ea typeface="Calibri"/>
                <a:cs typeface="Calibri"/>
              </a:rPr>
              <a:t>FIRST FINANCE</a:t>
            </a:r>
          </a:p>
        </p:txBody>
      </p:sp>
      <p:sp>
        <p:nvSpPr>
          <p:cNvPr id="3" name="">
            <a:extLst xmlns:a="http://schemas.openxmlformats.org/drawingml/2006/main">
              <a:ext uri="{FF2B5EF4-FFF2-40B4-BE49-F238E27FC236}">
                <a16:creationId xmlns:a16="http://schemas.microsoft.com/office/drawing/2014/main" id="{728B1E4B-A80D-4DD8-B9C5-6F19ACF9BC87}"/>
              </a:ext>
            </a:extLst>
          </p:cNvPr>
          <p:cNvSpPr>
            <a:spLocks xmlns:a="http://schemas.openxmlformats.org/drawingml/2006/main" noGrp="1"/>
          </p:cNvSpPr>
          <p:nvPr/>
        </p:nvSpPr>
        <p:spPr>
          <a:xfrm xmlns:a="http://schemas.openxmlformats.org/drawingml/2006/main">
            <a:off x="971550" y="2400300"/>
            <a:ext cx="9334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4950" b="1">
                <a:solidFill>
                  <a:srgbClr val="051C2A"/>
                </a:solidFill>
                <a:latin typeface="Calibri"/>
                <a:ea typeface="Calibri"/>
                <a:cs typeface="Calibri"/>
              </a:defRPr>
            </a:pPr>
            <a:r>
              <a:rPr sz="4950" b="1">
                <a:solidFill>
                  <a:srgbClr val="051C2A"/>
                </a:solidFill>
                <a:latin typeface="Calibri"/>
                <a:ea typeface="Calibri"/>
                <a:cs typeface="Calibri"/>
              </a:rPr>
              <a:t>Answers</a:t>
            </a:r>
          </a:p>
        </p:txBody>
      </p:sp>
      <p:sp>
        <p:nvSpPr>
          <p:cNvPr id="4" name="">
            <a:extLst xmlns:a="http://schemas.openxmlformats.org/drawingml/2006/main">
              <a:ext uri="{FF2B5EF4-FFF2-40B4-BE49-F238E27FC236}">
                <a16:creationId xmlns:a16="http://schemas.microsoft.com/office/drawing/2014/main" id="{EE83E63A-968D-469D-97F9-C2D3B82A7E4D}"/>
              </a:ext>
            </a:extLst>
          </p:cNvPr>
          <p:cNvSpPr>
            <a:spLocks xmlns:a="http://schemas.openxmlformats.org/drawingml/2006/main" noGrp="1"/>
          </p:cNvSpPr>
          <p:nvPr/>
        </p:nvSpPr>
        <p:spPr>
          <a:xfrm xmlns:a="http://schemas.openxmlformats.org/drawingml/2006/main">
            <a:off x="971550" y="36385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2400">
                <a:solidFill>
                  <a:srgbClr val="373738"/>
                </a:solidFill>
                <a:latin typeface="Calibri"/>
                <a:ea typeface="Calibri"/>
                <a:cs typeface="Calibri"/>
              </a:defRPr>
            </a:pPr>
            <a:r>
              <a:rPr sz="2400">
                <a:solidFill>
                  <a:srgbClr val="373738"/>
                </a:solidFill>
                <a:latin typeface="Calibri"/>
                <a:ea typeface="Calibri"/>
                <a:cs typeface="Calibri"/>
              </a:rPr>
              <a:t>Check the idea, not only the letter.</a:t>
            </a:r>
          </a:p>
        </p:txBody>
      </p:sp>
      <p:sp>
        <p:nvSpPr>
          <p:cNvPr id="5" name="">
            <a:extLst xmlns:a="http://schemas.openxmlformats.org/drawingml/2006/main">
              <a:ext uri="{FF2B5EF4-FFF2-40B4-BE49-F238E27FC236}">
                <a16:creationId xmlns:a16="http://schemas.microsoft.com/office/drawing/2014/main" id="{001333EC-2C9C-4877-BD13-41F8B87FC676}"/>
              </a:ext>
            </a:extLst>
          </p:cNvPr>
          <p:cNvSpPr>
            <a:spLocks xmlns:a="http://schemas.openxmlformats.org/drawingml/2006/main" noGrp="1"/>
          </p:cNvSpPr>
          <p:nvPr/>
        </p:nvSpPr>
        <p:spPr>
          <a:xfrm xmlns:a="http://schemas.openxmlformats.org/drawingml/2006/main">
            <a:off x="971550" y="6610350"/>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425" b="1">
                <a:solidFill>
                  <a:srgbClr val="1F40CB"/>
                </a:solidFill>
                <a:latin typeface="Calibri"/>
                <a:ea typeface="Calibri"/>
                <a:cs typeface="Calibri"/>
              </a:defRPr>
            </a:pPr>
            <a:r>
              <a:rPr sz="1425" b="1">
                <a:solidFill>
                  <a:srgbClr val="1F40CB"/>
                </a:solidFill>
                <a:latin typeface="Calibri"/>
                <a:ea typeface="Calibri"/>
                <a:cs typeface="Calibri"/>
              </a:rPr>
              <a:t>LESSON 03  ·  CORRECTION</a:t>
            </a:r>
          </a:p>
        </p:txBody>
      </p:sp>
      <p:sp>
        <p:nvSpPr>
          <p:cNvPr id="6" name="">
            <a:extLst xmlns:a="http://schemas.openxmlformats.org/drawingml/2006/main">
              <a:ext uri="{FF2B5EF4-FFF2-40B4-BE49-F238E27FC236}">
                <a16:creationId xmlns:a16="http://schemas.microsoft.com/office/drawing/2014/main" id="{C1C3877F-F854-40AF-9C55-8A4B72F80AEA}"/>
              </a:ext>
            </a:extLst>
          </p:cNvPr>
          <p:cNvSpPr>
            <a:spLocks xmlns:a="http://schemas.openxmlformats.org/drawingml/2006/main" noGrp="1"/>
          </p:cNvSpPr>
          <p:nvPr/>
        </p:nvSpPr>
        <p:spPr>
          <a:xfrm xmlns:a="http://schemas.openxmlformats.org/drawingml/2006/main">
            <a:off x="971550" y="7162800"/>
            <a:ext cx="514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buNone/>
              <a:defRPr sz="1800">
                <a:solidFill>
                  <a:srgbClr val="051C2A"/>
                </a:solidFill>
                <a:latin typeface="Calibri"/>
                <a:ea typeface="Calibri"/>
                <a:cs typeface="Calibri"/>
              </a:defRPr>
            </a:pPr>
            <a:r>
              <a:rPr sz="1800">
                <a:solidFill>
                  <a:srgbClr val="051C2A"/>
                </a:solidFill>
                <a:latin typeface="Calibri"/>
                <a:ea typeface="Calibri"/>
                <a:cs typeface="Calibri"/>
              </a:rPr>
              <a:t>First Finance - Arnaud Demes</a:t>
            </a:r>
          </a:p>
        </p:txBody>
      </p:sp>
      <p:sp>
        <p:nvSpPr>
          <p:cNvPr id="8" name="quiz-answer-1">
            <a:extLst xmlns:a="http://schemas.openxmlformats.org/drawingml/2006/main">
              <a:ext uri="{FF2B5EF4-FFF2-40B4-BE49-F238E27FC236}">
                <a16:creationId xmlns:a16="http://schemas.microsoft.com/office/drawing/2014/main" id="{1A74C5CB-75F9-48AD-822A-69D990D69B97}"/>
              </a:ext>
            </a:extLst>
          </p:cNvPr>
          <p:cNvSpPr>
            <a:spLocks xmlns:a="http://schemas.openxmlformats.org/drawingml/2006/main" noGrp="1"/>
          </p:cNvSpPr>
          <p:nvPr/>
        </p:nvSpPr>
        <p:spPr>
          <a:xfrm xmlns:a="http://schemas.openxmlformats.org/drawingml/2006/main">
            <a:off x="971550" y="44005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F40CB"/>
                </a:solidFill>
              </a:defRPr>
            </a:pPr>
            <a:r>
              <a:rPr sz="1500" b="1">
                <a:solidFill>
                  <a:srgbClr val="1F40CB"/>
                </a:solidFill>
              </a:rPr>
              <a:t>1. A. Bounded official pack</a:t>
            </a:r>
          </a:p>
        </p:txBody>
      </p:sp>
      <p:sp>
        <p:nvSpPr>
          <p:cNvPr id="9" name="quiz-explanation-1">
            <a:extLst xmlns:a="http://schemas.openxmlformats.org/drawingml/2006/main">
              <a:ext uri="{FF2B5EF4-FFF2-40B4-BE49-F238E27FC236}">
                <a16:creationId xmlns:a16="http://schemas.microsoft.com/office/drawing/2014/main" id="{207853E3-FB20-44D4-A6D1-BA0D3DB7B8E5}"/>
              </a:ext>
            </a:extLst>
          </p:cNvPr>
          <p:cNvSpPr>
            <a:spLocks xmlns:a="http://schemas.openxmlformats.org/drawingml/2006/main" noGrp="1"/>
          </p:cNvSpPr>
          <p:nvPr/>
        </p:nvSpPr>
        <p:spPr>
          <a:xfrm xmlns:a="http://schemas.openxmlformats.org/drawingml/2006/main">
            <a:off x="1257300" y="47053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Its complete evidence is useful and fits the teaching budget.</a:t>
            </a:r>
          </a:p>
        </p:txBody>
      </p:sp>
      <p:sp>
        <p:nvSpPr>
          <p:cNvPr id="10" name="quiz-answer-2">
            <a:extLst xmlns:a="http://schemas.openxmlformats.org/drawingml/2006/main">
              <a:ext uri="{FF2B5EF4-FFF2-40B4-BE49-F238E27FC236}">
                <a16:creationId xmlns:a16="http://schemas.microsoft.com/office/drawing/2014/main" id="{78500EFD-B26A-4DAE-9A45-8482BEE63B0B}"/>
              </a:ext>
            </a:extLst>
          </p:cNvPr>
          <p:cNvSpPr>
            <a:spLocks xmlns:a="http://schemas.openxmlformats.org/drawingml/2006/main" noGrp="1"/>
          </p:cNvSpPr>
          <p:nvPr/>
        </p:nvSpPr>
        <p:spPr>
          <a:xfrm xmlns:a="http://schemas.openxmlformats.org/drawingml/2006/main">
            <a:off x="971550" y="50863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F40CB"/>
                </a:solidFill>
              </a:defRPr>
            </a:pPr>
            <a:r>
              <a:rPr sz="1500" b="1">
                <a:solidFill>
                  <a:srgbClr val="1F40CB"/>
                </a:solidFill>
              </a:rPr>
              <a:t>2. B. Cached-token telemetry</a:t>
            </a:r>
          </a:p>
        </p:txBody>
      </p:sp>
      <p:sp>
        <p:nvSpPr>
          <p:cNvPr id="11" name="quiz-explanation-2">
            <a:extLst xmlns:a="http://schemas.openxmlformats.org/drawingml/2006/main">
              <a:ext uri="{FF2B5EF4-FFF2-40B4-BE49-F238E27FC236}">
                <a16:creationId xmlns:a16="http://schemas.microsoft.com/office/drawing/2014/main" id="{991B9827-4B74-443A-A5A9-265E5013FBDA}"/>
              </a:ext>
            </a:extLst>
          </p:cNvPr>
          <p:cNvSpPr>
            <a:spLocks xmlns:a="http://schemas.openxmlformats.org/drawingml/2006/main" noGrp="1"/>
          </p:cNvSpPr>
          <p:nvPr/>
        </p:nvSpPr>
        <p:spPr>
          <a:xfrm xmlns:a="http://schemas.openxmlformats.org/drawingml/2006/main">
            <a:off x="1257300" y="53911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Latency varies; the provider's cached-token field records reuse.</a:t>
            </a:r>
          </a:p>
        </p:txBody>
      </p:sp>
      <p:sp>
        <p:nvSpPr>
          <p:cNvPr id="12" name="quiz-answer-3">
            <a:extLst xmlns:a="http://schemas.openxmlformats.org/drawingml/2006/main">
              <a:ext uri="{FF2B5EF4-FFF2-40B4-BE49-F238E27FC236}">
                <a16:creationId xmlns:a16="http://schemas.microsoft.com/office/drawing/2014/main" id="{6DDBC1B7-1AF6-4212-AA76-7629EF169598}"/>
              </a:ext>
            </a:extLst>
          </p:cNvPr>
          <p:cNvSpPr>
            <a:spLocks xmlns:a="http://schemas.openxmlformats.org/drawingml/2006/main" noGrp="1"/>
          </p:cNvSpPr>
          <p:nvPr/>
        </p:nvSpPr>
        <p:spPr>
          <a:xfrm xmlns:a="http://schemas.openxmlformats.org/drawingml/2006/main">
            <a:off x="971550" y="57721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F40CB"/>
                </a:solidFill>
              </a:defRPr>
            </a:pPr>
            <a:r>
              <a:rPr sz="1500" b="1">
                <a:solidFill>
                  <a:srgbClr val="1F40CB"/>
                </a:solidFill>
              </a:rPr>
              <a:t>3. B. When evidence must be selected</a:t>
            </a:r>
          </a:p>
        </p:txBody>
      </p:sp>
      <p:sp>
        <p:nvSpPr>
          <p:cNvPr id="13" name="quiz-explanation-3">
            <a:extLst xmlns:a="http://schemas.openxmlformats.org/drawingml/2006/main">
              <a:ext uri="{FF2B5EF4-FFF2-40B4-BE49-F238E27FC236}">
                <a16:creationId xmlns:a16="http://schemas.microsoft.com/office/drawing/2014/main" id="{F75A1060-5E96-4C82-9CAB-17B756A91C66}"/>
              </a:ext>
            </a:extLst>
          </p:cNvPr>
          <p:cNvSpPr>
            <a:spLocks xmlns:a="http://schemas.openxmlformats.org/drawingml/2006/main" noGrp="1"/>
          </p:cNvSpPr>
          <p:nvPr/>
        </p:nvSpPr>
        <p:spPr>
          <a:xfrm xmlns:a="http://schemas.openxmlformats.org/drawingml/2006/main">
            <a:off x="1257300" y="60769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Retrieval earns its complexity when full context is too large or selectively useful.</a:t>
            </a:r>
          </a:p>
        </p:txBody>
      </p:sp>
    </p:spTree>
    <p:extLst>
      <p:ext uri="{BB962C8B-B14F-4D97-AF65-F5344CB8AC3E}">
        <p14:creationId xmlns:p14="http://schemas.microsoft.com/office/powerpoint/2010/main" val="7675025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2026-08-25T19:59:42.5580000Z</dcterms:created>
  <dcterms:modified xsi:type="dcterms:W3CDTF">2026-08-25T19:59:42.5580000Z</dcterms:modified>
</coreProperties>
</file>