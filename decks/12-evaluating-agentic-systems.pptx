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d295d4abf4775" /><Relationship Type="http://schemas.openxmlformats.org/officeDocument/2006/relationships/extended-properties" Target="/docProps/app.xml" Id="R722a4dd69227442c" /><Relationship Type="http://schemas.openxmlformats.org/officeDocument/2006/relationships/officeDocument" Target="/ppt/presentation.xml" Id="Rf29800a029a943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b68e2787f44e75"/>
  </p:sldMasterIdLst>
  <p:notesMasterIdLst>
    <p:notesMasterId xmlns:r="http://schemas.openxmlformats.org/officeDocument/2006/relationships" r:id="R3c0ef103c639447d"/>
  </p:notesMasterIdLst>
  <p:sldIdLst>
    <p:sldId xmlns:r="http://schemas.openxmlformats.org/officeDocument/2006/relationships" id="256" r:id="R4939f749eb6b4b99"/>
    <p:sldId xmlns:r="http://schemas.openxmlformats.org/officeDocument/2006/relationships" id="257" r:id="R8a9ce4ffef1b495b"/>
    <p:sldId xmlns:r="http://schemas.openxmlformats.org/officeDocument/2006/relationships" id="258" r:id="R147bb70bcf3344d9"/>
    <p:sldId xmlns:r="http://schemas.openxmlformats.org/officeDocument/2006/relationships" id="259" r:id="R7d39e81fc12f4ca6"/>
    <p:sldId xmlns:r="http://schemas.openxmlformats.org/officeDocument/2006/relationships" id="260" r:id="R183a3ab8e74a403c"/>
    <p:sldId xmlns:r="http://schemas.openxmlformats.org/officeDocument/2006/relationships" id="261" r:id="Rbc2d1fc2d2574139"/>
    <p:sldId xmlns:r="http://schemas.openxmlformats.org/officeDocument/2006/relationships" id="262" r:id="R64fd8d371b1342e3"/>
    <p:sldId xmlns:r="http://schemas.openxmlformats.org/officeDocument/2006/relationships" id="263" r:id="R4925c574e1034bff"/>
    <p:sldId xmlns:r="http://schemas.openxmlformats.org/officeDocument/2006/relationships" id="264" r:id="Rc36cb4c9b64e4b49"/>
    <p:sldId xmlns:r="http://schemas.openxmlformats.org/officeDocument/2006/relationships" id="265" r:id="Rd69b6b2356674aa3"/>
    <p:sldId xmlns:r="http://schemas.openxmlformats.org/officeDocument/2006/relationships" id="266" r:id="R78f8eddd4b8a48b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0f07439c56413e" /><Relationship Type="http://schemas.openxmlformats.org/officeDocument/2006/relationships/slideMaster" Target="/ppt/slideMasters/slideMaster1.xml" Id="R8fb68e2787f44e75" /><Relationship Type="http://schemas.openxmlformats.org/officeDocument/2006/relationships/notesMaster" Target="/ppt/notesMasters/notesMaster1.xml" Id="R3c0ef103c639447d" /><Relationship Type="http://schemas.openxmlformats.org/officeDocument/2006/relationships/presProps" Target="/ppt/presProps.xml" Id="Rf01ebe6e93184924" /><Relationship Type="http://schemas.openxmlformats.org/officeDocument/2006/relationships/tableStyles" Target="/ppt/tableStyles.xml" Id="Re9d6e006e2c2485d" /><Relationship Type="http://schemas.openxmlformats.org/officeDocument/2006/relationships/slide" Target="/ppt/slides/slide1.xml" Id="R4939f749eb6b4b99" /><Relationship Type="http://schemas.openxmlformats.org/officeDocument/2006/relationships/slide" Target="/ppt/slides/slide2.xml" Id="R8a9ce4ffef1b495b" /><Relationship Type="http://schemas.openxmlformats.org/officeDocument/2006/relationships/slide" Target="/ppt/slides/slide3.xml" Id="R147bb70bcf3344d9" /><Relationship Type="http://schemas.openxmlformats.org/officeDocument/2006/relationships/slide" Target="/ppt/slides/slide4.xml" Id="R7d39e81fc12f4ca6" /><Relationship Type="http://schemas.openxmlformats.org/officeDocument/2006/relationships/slide" Target="/ppt/slides/slide5.xml" Id="R183a3ab8e74a403c" /><Relationship Type="http://schemas.openxmlformats.org/officeDocument/2006/relationships/slide" Target="/ppt/slides/slide6.xml" Id="Rbc2d1fc2d2574139" /><Relationship Type="http://schemas.openxmlformats.org/officeDocument/2006/relationships/slide" Target="/ppt/slides/slide7.xml" Id="R64fd8d371b1342e3" /><Relationship Type="http://schemas.openxmlformats.org/officeDocument/2006/relationships/slide" Target="/ppt/slides/slide8.xml" Id="R4925c574e1034bff" /><Relationship Type="http://schemas.openxmlformats.org/officeDocument/2006/relationships/slide" Target="/ppt/slides/slide9.xml" Id="Rc36cb4c9b64e4b49" /><Relationship Type="http://schemas.openxmlformats.org/officeDocument/2006/relationships/slide" Target="/ppt/slides/slide10.xml" Id="Rd69b6b2356674aa3" /><Relationship Type="http://schemas.openxmlformats.org/officeDocument/2006/relationships/slide" Target="/ppt/slides/slide11.xml" Id="R78f8eddd4b8a48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373039d6744f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b6607c12a482d" /><Relationship Type="http://schemas.openxmlformats.org/officeDocument/2006/relationships/notesMaster" Target="/ppt/notesMasters/notesMaster1.xml" Id="R7f3feb528a3c4d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dea57183614606" /><Relationship Type="http://schemas.openxmlformats.org/officeDocument/2006/relationships/notesMaster" Target="/ppt/notesMasters/notesMaster1.xml" Id="R71c9759ef25d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fe9c7a82a4486" /><Relationship Type="http://schemas.openxmlformats.org/officeDocument/2006/relationships/notesMaster" Target="/ppt/notesMasters/notesMaster1.xml" Id="Rf53beebdbe234d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e8808635c54507" /><Relationship Type="http://schemas.openxmlformats.org/officeDocument/2006/relationships/notesMaster" Target="/ppt/notesMasters/notesMaster1.xml" Id="R2dd858379e454a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efc3beb79541be" /><Relationship Type="http://schemas.openxmlformats.org/officeDocument/2006/relationships/notesMaster" Target="/ppt/notesMasters/notesMaster1.xml" Id="R5c48f66752ca4f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3f9996c49a4c27" /><Relationship Type="http://schemas.openxmlformats.org/officeDocument/2006/relationships/notesMaster" Target="/ppt/notesMasters/notesMaster1.xml" Id="R9cf8ad820d66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183c1e8a6a4974" /><Relationship Type="http://schemas.openxmlformats.org/officeDocument/2006/relationships/notesMaster" Target="/ppt/notesMasters/notesMaster1.xml" Id="R2a19f317f5054d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7e2861d7f84945" /><Relationship Type="http://schemas.openxmlformats.org/officeDocument/2006/relationships/notesMaster" Target="/ppt/notesMasters/notesMaster1.xml" Id="Rd9d2670b013048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45ad371eff4da4" /><Relationship Type="http://schemas.openxmlformats.org/officeDocument/2006/relationships/notesMaster" Target="/ppt/notesMasters/notesMaster1.xml" Id="Rcc3f305fa51042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411b3877f04dd8" /><Relationship Type="http://schemas.openxmlformats.org/officeDocument/2006/relationships/notesMaster" Target="/ppt/notesMasters/notesMaster1.xml" Id="Rd345ad02d17644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2d375146954c20" /><Relationship Type="http://schemas.openxmlformats.org/officeDocument/2006/relationships/notesMaster" Target="/ppt/notesMasters/notesMaster1.xml" Id="R82dffd287357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State the outcome and pacing: evaluate both the public path and the cited answer.</a:t>
            </a:r>
          </a:p>
          <a:p xmlns:a="http://schemas.openxmlformats.org/drawingml/2006/main">
            <a:r>
              <a:t>Planned timing: 0:00-1:00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https://mlflow.org/docs/latest/genai/eval-monitor/quickstart/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Contrast a bounded path with a redundant path that reaches equally plausible copy.</a:t>
            </a:r>
          </a:p>
          <a:p xmlns:a="http://schemas.openxmlformats.org/drawingml/2006/main">
            <a:r>
              <a:t>Planned timing: 1:00-2:15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https://mlflow.org/docs/latest/genai/tracing/</a:t>
            </a:r>
          </a:p>
          <a:p xmlns:a="http://schemas.openxmlformats.org/drawingml/2006/main">
            <a:r>
              <a:t>https://mlflow.org/docs/latest/genai/concepts/scorers/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Separate trajectory correctness and efficiency from answer relevance, completeness, and citation integrity.</a:t>
            </a:r>
          </a:p>
          <a:p xmlns:a="http://schemas.openxmlformats.org/drawingml/2006/main">
            <a:r>
              <a:t>Planned timing: 2:15-3:45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https://mlflow.org/docs/latest/genai/concepts/scorers/</a:t>
            </a:r>
          </a:p>
          <a:p xmlns:a="http://schemas.openxmlformats.org/drawingml/2006/main">
            <a:r>
              <a:t>https://mlflow.org/docs/latest/genai/eval-monitor/scorers/custom/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Explain how one versioned case fixes expectations, dependencies, evidence, status, and budget.</a:t>
            </a:r>
          </a:p>
          <a:p xmlns:a="http://schemas.openxmlformats.org/drawingml/2006/main">
            <a:r>
              <a:t>Planned timing: 3:45-5:00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https://mlflow.org/docs/latest/genai/eval-monitor/quickstart/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Map one dataset to pure scorers, one MLflow run per configuration, and one root trace per case.</a:t>
            </a:r>
          </a:p>
          <a:p xmlns:a="http://schemas.openxmlformats.org/drawingml/2006/main">
            <a:r>
              <a:t>Planned timing: 5:00-6:30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https://mlflow.org/docs/latest/genai/eval-monitor/quickstart/</a:t>
            </a:r>
          </a:p>
          <a:p xmlns:a="http://schemas.openxmlformats.org/drawingml/2006/main">
            <a:r>
              <a:t>https://mlflow.org/docs/latest/genai/tracing/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Read the public trace from planning through one typed TOOL error, replanning, the evidence gate, and report.</a:t>
            </a:r>
          </a:p>
          <a:p xmlns:a="http://schemas.openxmlformats.org/drawingml/2006/main">
            <a:r>
              <a:t>Planned timing: 6:30-8:00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https://mlflow.org/docs/latest/genai/tracing/</a:t>
            </a:r>
          </a:p>
          <a:p xmlns:a="http://schemas.openxmlformats.org/drawingml/2006/main">
            <a:r>
              <a:t>https://mlflow.org/docs/latest/genai/tracing/observe-with-traces/ui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Keep deterministic finance rules as the release gate and optional semantic judges as explicit context only.</a:t>
            </a:r>
          </a:p>
          <a:p xmlns:a="http://schemas.openxmlformats.org/drawingml/2006/main">
            <a:r>
              <a:t>Planned timing: 8:00-9:30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https://mlflow.org/docs/latest/genai/eval-monitor/scorers/index.html</a:t>
            </a:r>
          </a:p>
          <a:p xmlns:a="http://schemas.openxmlformats.org/drawingml/2006/main">
            <a:r>
              <a:t>https://mlflow.org/docs/latest/genai/eval-monitor/scorers/custom/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Assign each score pattern to the earliest public component that can fix it.</a:t>
            </a:r>
          </a:p>
          <a:p xmlns:a="http://schemas.openxmlformats.org/drawingml/2006/main">
            <a:r>
              <a:t>Planned timing: 9:30-11:00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https://mlflow.org/docs/latest/genai/tracing/</a:t>
            </a:r>
          </a:p>
          <a:p xmlns:a="http://schemas.openxmlformats.org/drawingml/2006/main">
            <a:r>
              <a:t>https://mlflow.org/docs/latest/genai/eval-monitor/scorers/index.html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Close on citation release, six aligned cases, no forbidden briefing after a stop, and the capstone handoff.</a:t>
            </a:r>
          </a:p>
          <a:p xmlns:a="http://schemas.openxmlformats.org/drawingml/2006/main">
            <a:r>
              <a:t>Planned timing: 11:00-12:00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chapters/12-evaluating-agentic-systems.md</a:t>
            </a:r>
          </a:p>
          <a:p xmlns:a="http://schemas.openxmlformats.org/drawingml/2006/main">
            <a:r>
              <a:t>https://mlflow.org/docs/latest/genai/eval-monitor/quickstart/</a:t>
            </a:r>
          </a:p>
          <a:p xmlns:a="http://schemas.openxmlformats.org/drawingml/2006/main">
            <a:r>
              <a:t>https://mlflow.org/docs/latest/genai/eval-monitor/scorers/index.html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Check the three core decisions before the lesson closes.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for one letter per question.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chapters/12-evaluating-agentic-systems.md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Correct the quiz and restate the practical rule behind each answer.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learners to explain each rule in their own words.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chapters/12-evaluating-agentic-systems.md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d27a3c9ba41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44fa8576c64dac" /><Relationship Type="http://schemas.openxmlformats.org/officeDocument/2006/relationships/slideLayout" Target="/ppt/slideLayouts/slideLayout1.xml" Id="Rc3b9a5f5a275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b9a5f5a275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c4089fb8842e8" /><Relationship Type="http://schemas.openxmlformats.org/officeDocument/2006/relationships/notesSlide" Target="/ppt/notesSlides/notesSlide1.xml" Id="R068f4bb71d994a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a71bfc1d84919" /><Relationship Type="http://schemas.openxmlformats.org/officeDocument/2006/relationships/notesSlide" Target="/ppt/notesSlides/notesSlide2.xml" Id="R9e1ea6b8b869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722a703534996" /><Relationship Type="http://schemas.openxmlformats.org/officeDocument/2006/relationships/notesSlide" Target="/ppt/notesSlides/notesSlide3.xml" Id="R36c8034f917745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2f667eb224840" /><Relationship Type="http://schemas.openxmlformats.org/officeDocument/2006/relationships/notesSlide" Target="/ppt/notesSlides/notesSlide4.xml" Id="Rbb0b7224f5344e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c1544a92462b" /><Relationship Type="http://schemas.openxmlformats.org/officeDocument/2006/relationships/notesSlide" Target="/ppt/notesSlides/notesSlide5.xml" Id="R1e6e7c6f37d1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de5f64e26470f" /><Relationship Type="http://schemas.openxmlformats.org/officeDocument/2006/relationships/notesSlide" Target="/ppt/notesSlides/notesSlide6.xml" Id="R7ce22873785040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456234c0e4e5f" /><Relationship Type="http://schemas.openxmlformats.org/officeDocument/2006/relationships/notesSlide" Target="/ppt/notesSlides/notesSlide7.xml" Id="R3b6e824c406c49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001f0c6894121" /><Relationship Type="http://schemas.openxmlformats.org/officeDocument/2006/relationships/notesSlide" Target="/ppt/notesSlides/notesSlide8.xml" Id="Rd0b7cf58599145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cab96a4a74be2" /><Relationship Type="http://schemas.openxmlformats.org/officeDocument/2006/relationships/notesSlide" Target="/ppt/notesSlides/notesSlide9.xml" Id="Rb89ad88fadab44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013a443b7463b" /><Relationship Type="http://schemas.openxmlformats.org/officeDocument/2006/relationships/notesSlide" Target="/ppt/notesSlides/notesSlide10.xml" Id="R1ab17ad2efb94b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9cea3b3d34978" /><Relationship Type="http://schemas.openxmlformats.org/officeDocument/2006/relationships/notesSlide" Target="/ppt/notesSlides/notesSlide11.xml" Id="Rf9677a672eff40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Evaluate the path and the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Evaluating Agentic Systems with MLflow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14:30-15:30  ·  12 + 40 + 8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PATH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Same answer, different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BOUNDED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SAME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REDUNDANT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+ TOOL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 AGAIN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DIFFERENT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correct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 call after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FAIL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plausible answer does not certify the path.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TWO SCORECARDS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Trajectory quality and answer quality are separate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Score the public path and the cited answer separately.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SCORECARD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1028700" y="2571750"/>
          <a:ext xmlns:a="http://schemas.openxmlformats.org/drawingml/2006/main" cx="1316355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6950"/>
                <a:gridCol w="4762500"/>
                <a:gridCol w="6134100"/>
              </a:tblGrid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LAYER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VISIBLE METRICS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FINANCE QUESTION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TRAJECTORY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tool_call_correctness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tool_call_efficiency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Right capabilities, order, and call budget?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ANSWER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answer_relevance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answer_completeness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Required companies, facts, comparison, and limits?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citation_integrity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Does every source and evidence ID pair match an observation?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VERSIONED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versioned case defines the exam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VERSION KEYS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agent-cases-v1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VERSIONED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EXAM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mission +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calls + dependencies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EXPLICIT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BUDGET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max_tool_calls: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expected replan: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BOUNDED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dataset_version: agent-cases-v1  |  case_id: reference_completed  |  max_tool_calls: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MLFLOW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configuration is one MLflow run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agent-cases-v1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six aligned cases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same dataset hash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MLFLOW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configuration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pure scorers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score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ROOT TRACE per case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ROOT TRACES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3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steps + TOOL calls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scores + diagnosis</a:t>
            </a:r>
          </a:p>
        </p:txBody>
      </p:sp>
      <p:cxnSp>
        <p:nvCxnSpPr>
          <p:cNvPr id="404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40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run per configuration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same cases and five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MLFLOW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Cases flow through pure scorers; MLflow records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ROOT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Read one trace from plan to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Post-error success must clear the evidence gate before report.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typed error retained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bounded recovery succeeds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6" name="trace-stage-1">
            <a:extLst xmlns:a="http://schemas.openxmlformats.org/drawingml/2006/main">
              <a:ext uri="{FF2B5EF4-FFF2-40B4-BE49-F238E27FC236}">
                <a16:creationId xmlns:a16="http://schemas.microsoft.com/office/drawing/2014/main" id="{EA7513CE-170F-4519-B383-AF1A0926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771650" cy="22860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7" name="trace-stage-1-step">
            <a:extLst xmlns:a="http://schemas.openxmlformats.org/drawingml/2006/main">
              <a:ext uri="{FF2B5EF4-FFF2-40B4-BE49-F238E27FC236}">
                <a16:creationId xmlns:a16="http://schemas.microsoft.com/office/drawing/2014/main" id="{67D7FEA0-BD75-4BAE-803A-210231C3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A2EB"/>
                </a:solidFill>
              </a:defRPr>
            </a:pPr>
            <a:r>
              <a:rPr sz="1500" b="1">
                <a:solidFill>
                  <a:srgbClr val="00A2EB"/>
                </a:solidFill>
              </a:rPr>
              <a:t>01</a:t>
            </a:r>
          </a:p>
        </p:txBody>
      </p:sp>
      <p:sp>
        <p:nvSpPr>
          <p:cNvPr id="38" name="trace-stage-1-title">
            <a:extLst xmlns:a="http://schemas.openxmlformats.org/drawingml/2006/main">
              <a:ext uri="{FF2B5EF4-FFF2-40B4-BE49-F238E27FC236}">
                <a16:creationId xmlns:a16="http://schemas.microsoft.com/office/drawing/2014/main" id="{F46221E3-E20E-4ED8-B523-2716C9B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A2030"/>
                </a:solidFill>
              </a:defRPr>
            </a:pPr>
            <a:r>
              <a:rPr sz="1575" b="1">
                <a:solidFill>
                  <a:srgbClr val="0A2030"/>
                </a:solidFill>
              </a:rPr>
              <a:t>PLAN</a:t>
            </a:r>
          </a:p>
        </p:txBody>
      </p:sp>
      <p:sp>
        <p:nvSpPr>
          <p:cNvPr id="39" name="trace-stage-1-body">
            <a:extLst xmlns:a="http://schemas.openxmlformats.org/drawingml/2006/main">
              <a:ext uri="{FF2B5EF4-FFF2-40B4-BE49-F238E27FC236}">
                <a16:creationId xmlns:a16="http://schemas.microsoft.com/office/drawing/2014/main" id="{D1B29EEE-C8B0-4827-BFFE-35C898FB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mission +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typed steps</a:t>
            </a:r>
          </a:p>
        </p:txBody>
      </p:sp>
      <p:sp>
        <p:nvSpPr>
          <p:cNvPr id="40" name="trace-stage-2">
            <a:extLst xmlns:a="http://schemas.openxmlformats.org/drawingml/2006/main">
              <a:ext uri="{FF2B5EF4-FFF2-40B4-BE49-F238E27FC236}">
                <a16:creationId xmlns:a16="http://schemas.microsoft.com/office/drawing/2014/main" id="{65B12F75-F768-4BE1-9084-C180190E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48000"/>
            <a:ext cx="1771650" cy="22860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1" name="trace-stage-2-step">
            <a:extLst xmlns:a="http://schemas.openxmlformats.org/drawingml/2006/main">
              <a:ext uri="{FF2B5EF4-FFF2-40B4-BE49-F238E27FC236}">
                <a16:creationId xmlns:a16="http://schemas.microsoft.com/office/drawing/2014/main" id="{63D6C81A-FC0E-4E18-B82B-7DC9F9B4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A2EB"/>
                </a:solidFill>
              </a:defRPr>
            </a:pPr>
            <a:r>
              <a:rPr sz="1500" b="1">
                <a:solidFill>
                  <a:srgbClr val="00A2EB"/>
                </a:solidFill>
              </a:rPr>
              <a:t>02</a:t>
            </a:r>
          </a:p>
        </p:txBody>
      </p:sp>
      <p:sp>
        <p:nvSpPr>
          <p:cNvPr id="42" name="trace-stage-2-title">
            <a:extLst xmlns:a="http://schemas.openxmlformats.org/drawingml/2006/main">
              <a:ext uri="{FF2B5EF4-FFF2-40B4-BE49-F238E27FC236}">
                <a16:creationId xmlns:a16="http://schemas.microsoft.com/office/drawing/2014/main" id="{07FF58E4-B114-4034-B0EF-B2F909B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338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A2030"/>
                </a:solidFill>
              </a:defRPr>
            </a:pPr>
            <a:r>
              <a:rPr sz="1575" b="1">
                <a:solidFill>
                  <a:srgbClr val="0A2030"/>
                </a:solidFill>
              </a:rPr>
              <a:t>PLAN GATE</a:t>
            </a:r>
          </a:p>
        </p:txBody>
      </p:sp>
      <p:sp>
        <p:nvSpPr>
          <p:cNvPr id="43" name="trace-stage-2-body">
            <a:extLst xmlns:a="http://schemas.openxmlformats.org/drawingml/2006/main">
              <a:ext uri="{FF2B5EF4-FFF2-40B4-BE49-F238E27FC236}">
                <a16:creationId xmlns:a16="http://schemas.microsoft.com/office/drawing/2014/main" id="{F8D56BB3-49F3-4446-BF77-B669E57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5339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schema +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budget</a:t>
            </a:r>
          </a:p>
        </p:txBody>
      </p:sp>
      <p:sp>
        <p:nvSpPr>
          <p:cNvPr id="44" name="trace-stage-3">
            <a:extLst xmlns:a="http://schemas.openxmlformats.org/drawingml/2006/main">
              <a:ext uri="{FF2B5EF4-FFF2-40B4-BE49-F238E27FC236}">
                <a16:creationId xmlns:a16="http://schemas.microsoft.com/office/drawing/2014/main" id="{338B1008-D419-4DB3-9570-40EC9F70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1771650" cy="22860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51C2A"/>
            </a:solidFill>
            <a:prstDash val="solid"/>
          </a:ln>
        </p:spPr>
      </p:sp>
      <p:sp>
        <p:nvSpPr>
          <p:cNvPr id="45" name="trace-stage-3-step">
            <a:extLst xmlns:a="http://schemas.openxmlformats.org/drawingml/2006/main">
              <a:ext uri="{FF2B5EF4-FFF2-40B4-BE49-F238E27FC236}">
                <a16:creationId xmlns:a16="http://schemas.microsoft.com/office/drawing/2014/main" id="{900A3379-3E75-4D8E-A6DE-9540E736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A2EB"/>
                </a:solidFill>
              </a:defRPr>
            </a:pPr>
            <a:r>
              <a:rPr sz="1500" b="1">
                <a:solidFill>
                  <a:srgbClr val="00A2EB"/>
                </a:solidFill>
              </a:rPr>
              <a:t>03</a:t>
            </a:r>
          </a:p>
        </p:txBody>
      </p:sp>
      <p:sp>
        <p:nvSpPr>
          <p:cNvPr id="46" name="trace-stage-3-title">
            <a:extLst xmlns:a="http://schemas.openxmlformats.org/drawingml/2006/main">
              <a:ext uri="{FF2B5EF4-FFF2-40B4-BE49-F238E27FC236}">
                <a16:creationId xmlns:a16="http://schemas.microsoft.com/office/drawing/2014/main" id="{E9F01598-46EE-4682-BBA2-23565037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338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A2030"/>
                </a:solidFill>
              </a:defRPr>
            </a:pPr>
            <a:r>
              <a:rPr sz="1575" b="1">
                <a:solidFill>
                  <a:srgbClr val="0A2030"/>
                </a:solidFill>
              </a:rPr>
              <a:t>TOOL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A2030"/>
                </a:solidFill>
              </a:defRPr>
            </a:pPr>
            <a:r>
              <a:rPr sz="1575" b="1">
                <a:solidFill>
                  <a:srgbClr val="0A2030"/>
                </a:solidFill>
              </a:rPr>
              <a:t>ATTEMPTS</a:t>
            </a:r>
          </a:p>
        </p:txBody>
      </p:sp>
      <p:sp>
        <p:nvSpPr>
          <p:cNvPr id="47" name="trace-stage-3-body">
            <a:extLst xmlns:a="http://schemas.openxmlformats.org/drawingml/2006/main">
              <a:ext uri="{FF2B5EF4-FFF2-40B4-BE49-F238E27FC236}">
                <a16:creationId xmlns:a16="http://schemas.microsoft.com/office/drawing/2014/main" id="{0563448A-43C5-4965-BC67-DFCE3D58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339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07D00"/>
                </a:solidFill>
              </a:defRPr>
            </a:pPr>
            <a:r>
              <a:rPr sz="1200" b="0">
                <a:solidFill>
                  <a:srgbClr val="F07D00"/>
                </a:solidFill>
              </a:rPr>
              <a:t>attempts 1-3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07D00"/>
                </a:solidFill>
              </a:defRPr>
            </a:pPr>
            <a:r>
              <a:rPr sz="1200" b="0">
                <a:solidFill>
                  <a:srgbClr val="F07D00"/>
                </a:solidFill>
              </a:rPr>
              <a:t>unsupported_metric</a:t>
            </a:r>
          </a:p>
        </p:txBody>
      </p:sp>
      <p:sp>
        <p:nvSpPr>
          <p:cNvPr id="48" name="trace-stage-4">
            <a:extLst xmlns:a="http://schemas.openxmlformats.org/drawingml/2006/main">
              <a:ext uri="{FF2B5EF4-FFF2-40B4-BE49-F238E27FC236}">
                <a16:creationId xmlns:a16="http://schemas.microsoft.com/office/drawing/2014/main" id="{C3B10C6A-E59F-4187-A6D6-6A05FE85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48000"/>
            <a:ext cx="1771650" cy="22860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49" name="trace-stage-4-step">
            <a:extLst xmlns:a="http://schemas.openxmlformats.org/drawingml/2006/main">
              <a:ext uri="{FF2B5EF4-FFF2-40B4-BE49-F238E27FC236}">
                <a16:creationId xmlns:a16="http://schemas.microsoft.com/office/drawing/2014/main" id="{8BF90EA8-2443-4E4C-B53A-B022E69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A2EB"/>
                </a:solidFill>
              </a:defRPr>
            </a:pPr>
            <a:r>
              <a:rPr sz="1500" b="1">
                <a:solidFill>
                  <a:srgbClr val="00A2EB"/>
                </a:solidFill>
              </a:rPr>
              <a:t>04</a:t>
            </a:r>
          </a:p>
        </p:txBody>
      </p:sp>
      <p:sp>
        <p:nvSpPr>
          <p:cNvPr id="50" name="trace-stage-4-title">
            <a:extLst xmlns:a="http://schemas.openxmlformats.org/drawingml/2006/main">
              <a:ext uri="{FF2B5EF4-FFF2-40B4-BE49-F238E27FC236}">
                <a16:creationId xmlns:a16="http://schemas.microsoft.com/office/drawing/2014/main" id="{20E81F41-414E-46F1-9017-282A4CDF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338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07D00"/>
                </a:solidFill>
              </a:defRPr>
            </a:pPr>
            <a:r>
              <a:rPr sz="1575" b="1">
                <a:solidFill>
                  <a:srgbClr val="F07D00"/>
                </a:solidFill>
              </a:rPr>
              <a:t>REPLAN</a:t>
            </a:r>
          </a:p>
        </p:txBody>
      </p:sp>
      <p:sp>
        <p:nvSpPr>
          <p:cNvPr id="51" name="trace-stage-4-body">
            <a:extLst xmlns:a="http://schemas.openxmlformats.org/drawingml/2006/main">
              <a:ext uri="{FF2B5EF4-FFF2-40B4-BE49-F238E27FC236}">
                <a16:creationId xmlns:a16="http://schemas.microsoft.com/office/drawing/2014/main" id="{531F0166-3794-4A33-BF4C-0500EE6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339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07D00"/>
                </a:solidFill>
              </a:defRPr>
            </a:pPr>
            <a:r>
              <a:rPr sz="1200" b="0">
                <a:solidFill>
                  <a:srgbClr val="F07D00"/>
                </a:solidFill>
              </a:rPr>
              <a:t>revision 1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F07D00"/>
                </a:solidFill>
              </a:defRPr>
            </a:pPr>
            <a:r>
              <a:rPr sz="1200" b="0">
                <a:solidFill>
                  <a:srgbClr val="F07D00"/>
                </a:solidFill>
              </a:rPr>
              <a:t>bounded recovery</a:t>
            </a:r>
          </a:p>
        </p:txBody>
      </p:sp>
      <p:sp>
        <p:nvSpPr>
          <p:cNvPr id="52" name="trace-stage-5">
            <a:extLst xmlns:a="http://schemas.openxmlformats.org/drawingml/2006/main">
              <a:ext uri="{FF2B5EF4-FFF2-40B4-BE49-F238E27FC236}">
                <a16:creationId xmlns:a16="http://schemas.microsoft.com/office/drawing/2014/main" id="{A66F224A-79FC-4433-8EE4-B0B6F505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1771650" cy="22860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8B57"/>
            </a:solidFill>
            <a:prstDash val="solid"/>
          </a:ln>
        </p:spPr>
      </p:sp>
      <p:sp>
        <p:nvSpPr>
          <p:cNvPr id="53" name="trace-stage-5-step">
            <a:extLst xmlns:a="http://schemas.openxmlformats.org/drawingml/2006/main">
              <a:ext uri="{FF2B5EF4-FFF2-40B4-BE49-F238E27FC236}">
                <a16:creationId xmlns:a16="http://schemas.microsoft.com/office/drawing/2014/main" id="{4DA94BE3-B8A6-4A10-A2F0-A3EBFAD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A2EB"/>
                </a:solidFill>
              </a:defRPr>
            </a:pPr>
            <a:r>
              <a:rPr sz="1500" b="1">
                <a:solidFill>
                  <a:srgbClr val="00A2EB"/>
                </a:solidFill>
              </a:rPr>
              <a:t>05</a:t>
            </a:r>
          </a:p>
        </p:txBody>
      </p:sp>
      <p:sp>
        <p:nvSpPr>
          <p:cNvPr id="54" name="trace-stage-5-title">
            <a:extLst xmlns:a="http://schemas.openxmlformats.org/drawingml/2006/main">
              <a:ext uri="{FF2B5EF4-FFF2-40B4-BE49-F238E27FC236}">
                <a16:creationId xmlns:a16="http://schemas.microsoft.com/office/drawing/2014/main" id="{3EAA3FDE-42E0-4587-80FC-4DC6EE8A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E8B57"/>
                </a:solidFill>
              </a:defRPr>
            </a:pPr>
            <a:r>
              <a:rPr sz="1575" b="1">
                <a:solidFill>
                  <a:srgbClr val="2E8B57"/>
                </a:solidFill>
              </a:rPr>
              <a:t>TOOL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2E8B57"/>
                </a:solidFill>
              </a:defRPr>
            </a:pPr>
            <a:r>
              <a:rPr sz="1575" b="1">
                <a:solidFill>
                  <a:srgbClr val="2E8B57"/>
                </a:solidFill>
              </a:rPr>
              <a:t>ATTEMPTS</a:t>
            </a:r>
          </a:p>
        </p:txBody>
      </p:sp>
      <p:sp>
        <p:nvSpPr>
          <p:cNvPr id="55" name="trace-stage-5-body">
            <a:extLst xmlns:a="http://schemas.openxmlformats.org/drawingml/2006/main">
              <a:ext uri="{FF2B5EF4-FFF2-40B4-BE49-F238E27FC236}">
                <a16:creationId xmlns:a16="http://schemas.microsoft.com/office/drawing/2014/main" id="{39A5C400-4A30-4B6E-AF84-568ECB11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339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E8B57"/>
                </a:solidFill>
              </a:defRPr>
            </a:pPr>
            <a:r>
              <a:rPr sz="1200" b="0">
                <a:solidFill>
                  <a:srgbClr val="2E8B57"/>
                </a:solidFill>
              </a:rPr>
              <a:t>attempts 4-5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E8B57"/>
                </a:solidFill>
              </a:defRPr>
            </a:pPr>
            <a:r>
              <a:rPr sz="1200" b="0">
                <a:solidFill>
                  <a:srgbClr val="2E8B57"/>
                </a:solidFill>
              </a:rPr>
              <a:t>post-error success</a:t>
            </a:r>
          </a:p>
        </p:txBody>
      </p:sp>
      <p:sp>
        <p:nvSpPr>
          <p:cNvPr id="56" name="trace-stage-6">
            <a:extLst xmlns:a="http://schemas.openxmlformats.org/drawingml/2006/main">
              <a:ext uri="{FF2B5EF4-FFF2-40B4-BE49-F238E27FC236}">
                <a16:creationId xmlns:a16="http://schemas.microsoft.com/office/drawing/2014/main" id="{B297F765-A263-4428-8584-AF2E5E9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048000"/>
            <a:ext cx="1771650" cy="22860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57" name="trace-stage-6-step">
            <a:extLst xmlns:a="http://schemas.openxmlformats.org/drawingml/2006/main">
              <a:ext uri="{FF2B5EF4-FFF2-40B4-BE49-F238E27FC236}">
                <a16:creationId xmlns:a16="http://schemas.microsoft.com/office/drawing/2014/main" id="{65F3307D-E778-4B53-B738-B05D393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A2EB"/>
                </a:solidFill>
              </a:defRPr>
            </a:pPr>
            <a:r>
              <a:rPr sz="1500" b="1">
                <a:solidFill>
                  <a:srgbClr val="00A2EB"/>
                </a:solidFill>
              </a:rPr>
              <a:t>06</a:t>
            </a:r>
          </a:p>
        </p:txBody>
      </p:sp>
      <p:sp>
        <p:nvSpPr>
          <p:cNvPr id="58" name="trace-stage-6-title">
            <a:extLst xmlns:a="http://schemas.openxmlformats.org/drawingml/2006/main">
              <a:ext uri="{FF2B5EF4-FFF2-40B4-BE49-F238E27FC236}">
                <a16:creationId xmlns:a16="http://schemas.microsoft.com/office/drawing/2014/main" id="{3BF74CAD-5A15-45AB-841B-C803365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7338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A2030"/>
                </a:solidFill>
              </a:defRPr>
            </a:pPr>
            <a:r>
              <a:rPr sz="1575" b="1">
                <a:solidFill>
                  <a:srgbClr val="0A2030"/>
                </a:solidFill>
              </a:rPr>
              <a:t>EVIDENCE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A2030"/>
                </a:solidFill>
              </a:defRPr>
            </a:pPr>
            <a:r>
              <a:rPr sz="1575" b="1">
                <a:solidFill>
                  <a:srgbClr val="0A2030"/>
                </a:solidFill>
              </a:rPr>
              <a:t>GATE</a:t>
            </a:r>
          </a:p>
        </p:txBody>
      </p:sp>
      <p:sp>
        <p:nvSpPr>
          <p:cNvPr id="59" name="trace-stage-6-body">
            <a:extLst xmlns:a="http://schemas.openxmlformats.org/drawingml/2006/main">
              <a:ext uri="{FF2B5EF4-FFF2-40B4-BE49-F238E27FC236}">
                <a16:creationId xmlns:a16="http://schemas.microsoft.com/office/drawing/2014/main" id="{412B9B49-9498-4CE7-8DBE-3D133DD2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5339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source +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evidence pairs</a:t>
            </a:r>
          </a:p>
        </p:txBody>
      </p:sp>
      <p:sp>
        <p:nvSpPr>
          <p:cNvPr id="60" name="trace-stage-7">
            <a:extLst xmlns:a="http://schemas.openxmlformats.org/drawingml/2006/main">
              <a:ext uri="{FF2B5EF4-FFF2-40B4-BE49-F238E27FC236}">
                <a16:creationId xmlns:a16="http://schemas.microsoft.com/office/drawing/2014/main" id="{487E1049-C402-43E7-8FAA-D5C8D86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048000"/>
            <a:ext cx="1771650" cy="22860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61" name="trace-stage-7-step">
            <a:extLst xmlns:a="http://schemas.openxmlformats.org/drawingml/2006/main">
              <a:ext uri="{FF2B5EF4-FFF2-40B4-BE49-F238E27FC236}">
                <a16:creationId xmlns:a16="http://schemas.microsoft.com/office/drawing/2014/main" id="{D99BA43C-AC15-45F4-B8C4-2287BBF4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238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A2EB"/>
                </a:solidFill>
              </a:defRPr>
            </a:pPr>
            <a:r>
              <a:rPr sz="1500" b="1">
                <a:solidFill>
                  <a:srgbClr val="00A2EB"/>
                </a:solidFill>
              </a:rPr>
              <a:t>07</a:t>
            </a:r>
          </a:p>
        </p:txBody>
      </p:sp>
      <p:sp>
        <p:nvSpPr>
          <p:cNvPr id="62" name="trace-stage-7-title">
            <a:extLst xmlns:a="http://schemas.openxmlformats.org/drawingml/2006/main">
              <a:ext uri="{FF2B5EF4-FFF2-40B4-BE49-F238E27FC236}">
                <a16:creationId xmlns:a16="http://schemas.microsoft.com/office/drawing/2014/main" id="{8BC7260B-022A-40C5-8C21-61EB65C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7338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A2030"/>
                </a:solidFill>
              </a:defRPr>
            </a:pPr>
            <a:r>
              <a:rPr sz="1575" b="1">
                <a:solidFill>
                  <a:srgbClr val="0A2030"/>
                </a:solidFill>
              </a:rPr>
              <a:t>REPORT</a:t>
            </a:r>
          </a:p>
        </p:txBody>
      </p:sp>
      <p:sp>
        <p:nvSpPr>
          <p:cNvPr id="63" name="trace-stage-7-body">
            <a:extLst xmlns:a="http://schemas.openxmlformats.org/drawingml/2006/main">
              <a:ext uri="{FF2B5EF4-FFF2-40B4-BE49-F238E27FC236}">
                <a16:creationId xmlns:a16="http://schemas.microsoft.com/office/drawing/2014/main" id="{68E3277F-1E35-4D00-AB85-4AC545C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5339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briefing +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40CB"/>
                </a:solidFill>
              </a:defRPr>
            </a:pPr>
            <a:r>
              <a:rPr sz="1200" b="0">
                <a:solidFill>
                  <a:srgbClr val="1F40CB"/>
                </a:solidFill>
              </a:rPr>
              <a:t>citations</a:t>
            </a:r>
          </a:p>
        </p:txBody>
      </p:sp>
      <p:cxnSp>
        <p:nvCxnSpPr>
          <p:cNvPr id="196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2762250" y="4191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197" name=""/>
          <p:cNvCxnSpPr>
            <a:stCxn xmlns:a="http://schemas.openxmlformats.org/drawingml/2006/main" id="4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4714875" y="4191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198" name=""/>
          <p:cNvCxnSpPr>
            <a:stCxn xmlns:a="http://schemas.openxmlformats.org/drawingml/2006/main" id="44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6667500" y="4191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199" name=""/>
          <p:cNvCxnSpPr>
            <a:stCxn xmlns:a="http://schemas.openxmlformats.org/drawingml/2006/main" id="4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8620125" y="4191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200" name=""/>
          <p:cNvCxnSpPr>
            <a:stCxn xmlns:a="http://schemas.openxmlformats.org/drawingml/2006/main" id="52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10572750" y="4191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201" name=""/>
          <p:cNvCxnSpPr>
            <a:stCxn xmlns:a="http://schemas.openxmlformats.org/drawingml/2006/main" id="56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2525375" y="41910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RELEASE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Deterministic rules decide release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Code decides finance release. A judge adds context only when run.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1028700" y="2457450"/>
          <a:ext xmlns:a="http://schemas.openxmlformats.org/drawingml/2006/main" cx="13163550" cy="4114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19350"/>
                <a:gridCol w="5429250"/>
                <a:gridCol w="5314950"/>
              </a:tblGrid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 LAYER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DETERMINISTIC RELEASE GATE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OPTIONAL LLM JUDGE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Public fields and exact evidence pairs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Trace and answer text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STRENGTH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Reproducible, offline finance rules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Semantic nuance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FAILURE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Blocks release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NOT RUN or review signal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Required for every case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Never overrides the gate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FAILURE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Score patterns assign failure ownership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Diagnose the earliest public stage, then fix that boundary.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DIAGNOSE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1028700" y="2457450"/>
          <a:ext xmlns:a="http://schemas.openxmlformats.org/drawingml/2006/main" cx="13163550" cy="4114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581650"/>
                <a:gridCol w="4781550"/>
                <a:gridCol w="2800350"/>
              </a:tblGrid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SCORE PATTERN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EARLIEST PUBLIC OWNER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RELEASE</a:t>
                      </a:r>
                    </a:p>
                  </a:txBody>
                  <a:tcPr marL="152400" marR="152400" marT="95250" marB="95250">
                    <a:solidFill>
                      <a:srgbClr val="2546D5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Answer good, path bad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Planner or replanner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E87800"/>
                          </a:solidFill>
                          <a:latin typeface="Calibri"/>
                          <a:ea typeface="Calibri"/>
                          <a:cs typeface="Calibri"/>
                        </a:rPr>
                        <a:t>BLOCK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Path good, answer incomplete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Evidence gate or report writer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E87800"/>
                          </a:solidFill>
                          <a:latin typeface="Calibri"/>
                          <a:ea typeface="Calibri"/>
                          <a:cs typeface="Calibri"/>
                        </a:rPr>
                        <a:t>BLOCK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CITATION INTEGRITY = 0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Report writer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E87800"/>
                          </a:solidFill>
                          <a:latin typeface="Calibri"/>
                          <a:ea typeface="Calibri"/>
                          <a:cs typeface="Calibri"/>
                        </a:rPr>
                        <a:t>BLOCK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546D5"/>
                          </a:solidFill>
                          <a:latin typeface="Calibri"/>
                          <a:ea typeface="Calibri"/>
                          <a:cs typeface="Calibri"/>
                        </a:rPr>
                        <a:t>Correct typed stop, no briefing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0A2030"/>
                          </a:solidFill>
                          <a:latin typeface="Calibri"/>
                          <a:ea typeface="Calibri"/>
                          <a:cs typeface="Calibri"/>
                        </a:rPr>
                        <a:t>Evidence gate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F8F5B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152400" marR="152400" marT="95250" marB="9525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RELEASE +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Release the evidence, then design the capstone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CITATION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8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exact source + evidence pair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all cases pass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RELEASE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six aligned cases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 forbidden briefing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same dataset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DETERMINISTIC RELEASE GATE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CAPSTONE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choose mission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controls + evidence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release rubric</a:t>
            </a:r>
          </a:p>
        </p:txBody>
      </p:sp>
      <p:cxnSp>
        <p:nvCxnSpPr>
          <p:cNvPr id="404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40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KEEP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traces · score rows · source 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HANDOFF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capstone architecture remains a design choice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CAPSTONE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Release the evidence. Use failures to design the capstone.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Quick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Choose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12  ·  3 QUESTIONS  ·  3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question-1">
            <a:extLst xmlns:a="http://schemas.openxmlformats.org/drawingml/2006/main">
              <a:ext uri="{FF2B5EF4-FFF2-40B4-BE49-F238E27FC236}">
                <a16:creationId xmlns:a16="http://schemas.microsoft.com/office/drawing/2014/main" id="{B8C12B95-0AEF-4DAC-ACED-9105A111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1. Should path quality and answer quality be scored separately?</a:t>
            </a:r>
          </a:p>
        </p:txBody>
      </p:sp>
      <p:sp>
        <p:nvSpPr>
          <p:cNvPr id="9" name="quiz-options-1">
            <a:extLst xmlns:a="http://schemas.openxmlformats.org/drawingml/2006/main">
              <a:ext uri="{FF2B5EF4-FFF2-40B4-BE49-F238E27FC236}">
                <a16:creationId xmlns:a16="http://schemas.microsoft.com/office/drawing/2014/main" id="{1B915C0D-67DA-42DC-8D1E-5A38B61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Yes     |     B  No     |     C  Only with OpenAI</a:t>
            </a:r>
          </a:p>
        </p:txBody>
      </p:sp>
      <p:sp>
        <p:nvSpPr>
          <p:cNvPr id="10" name="quiz-question-2">
            <a:extLst xmlns:a="http://schemas.openxmlformats.org/drawingml/2006/main">
              <a:ext uri="{FF2B5EF4-FFF2-40B4-BE49-F238E27FC236}">
                <a16:creationId xmlns:a16="http://schemas.microsoft.com/office/drawing/2014/main" id="{3B700542-40A3-4259-B07F-956D5C9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2. Which gate must run for every release case?</a:t>
            </a:r>
          </a:p>
        </p:txBody>
      </p:sp>
      <p:sp>
        <p:nvSpPr>
          <p:cNvPr id="11" name="quiz-options-2">
            <a:extLst xmlns:a="http://schemas.openxmlformats.org/drawingml/2006/main">
              <a:ext uri="{FF2B5EF4-FFF2-40B4-BE49-F238E27FC236}">
                <a16:creationId xmlns:a16="http://schemas.microsoft.com/office/drawing/2014/main" id="{14C4B184-C4E9-4FD8-B0B1-975A979E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Deterministic gate     |     B  Optional LLM judge     |     C  Manual demo</a:t>
            </a:r>
          </a:p>
        </p:txBody>
      </p:sp>
      <p:sp>
        <p:nvSpPr>
          <p:cNvPr id="12" name="quiz-question-3">
            <a:extLst xmlns:a="http://schemas.openxmlformats.org/drawingml/2006/main">
              <a:ext uri="{FF2B5EF4-FFF2-40B4-BE49-F238E27FC236}">
                <a16:creationId xmlns:a16="http://schemas.microsoft.com/office/drawing/2014/main" id="{27EAEA27-5D19-47C2-976D-ECEE08DD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3. How should an unavailable optional judge be recorded?</a:t>
            </a:r>
          </a:p>
        </p:txBody>
      </p:sp>
      <p:sp>
        <p:nvSpPr>
          <p:cNvPr id="13" name="quiz-options-3">
            <a:extLst xmlns:a="http://schemas.openxmlformats.org/drawingml/2006/main">
              <a:ext uri="{FF2B5EF4-FFF2-40B4-BE49-F238E27FC236}">
                <a16:creationId xmlns:a16="http://schemas.microsoft.com/office/drawing/2014/main" id="{8757DE33-3F4E-4485-8596-1A39EDB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NOT RUN     |     B  PASS     |     C  Zero cost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Check the idea, not only the letter.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12  · 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answer-1">
            <a:extLst xmlns:a="http://schemas.openxmlformats.org/drawingml/2006/main">
              <a:ext uri="{FF2B5EF4-FFF2-40B4-BE49-F238E27FC236}">
                <a16:creationId xmlns:a16="http://schemas.microsoft.com/office/drawing/2014/main" id="{E601880F-E87A-40E7-881C-A4E36B3A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1. A. Yes</a:t>
            </a:r>
          </a:p>
        </p:txBody>
      </p:sp>
      <p:sp>
        <p:nvSpPr>
          <p:cNvPr id="9" name="quiz-explanation-1">
            <a:extLst xmlns:a="http://schemas.openxmlformats.org/drawingml/2006/main">
              <a:ext uri="{FF2B5EF4-FFF2-40B4-BE49-F238E27FC236}">
                <a16:creationId xmlns:a16="http://schemas.microsoft.com/office/drawing/2014/main" id="{2BF96AB7-A48E-42F5-A5B5-22775849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plausible answer can still come from an inefficient or unsafe path.</a:t>
            </a:r>
          </a:p>
        </p:txBody>
      </p:sp>
      <p:sp>
        <p:nvSpPr>
          <p:cNvPr id="10" name="quiz-answer-2">
            <a:extLst xmlns:a="http://schemas.openxmlformats.org/drawingml/2006/main">
              <a:ext uri="{FF2B5EF4-FFF2-40B4-BE49-F238E27FC236}">
                <a16:creationId xmlns:a16="http://schemas.microsoft.com/office/drawing/2014/main" id="{73C926EC-584A-497B-9A16-63C8B67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2. A. Deterministic gate</a:t>
            </a:r>
          </a:p>
        </p:txBody>
      </p:sp>
      <p:sp>
        <p:nvSpPr>
          <p:cNvPr id="11" name="quiz-explanation-2">
            <a:extLst xmlns:a="http://schemas.openxmlformats.org/drawingml/2006/main">
              <a:ext uri="{FF2B5EF4-FFF2-40B4-BE49-F238E27FC236}">
                <a16:creationId xmlns:a16="http://schemas.microsoft.com/office/drawing/2014/main" id="{B8BE2CD4-56B0-437D-B244-96AB7053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Stable rules make release decisions reproducible and inspectable.</a:t>
            </a:r>
          </a:p>
        </p:txBody>
      </p:sp>
      <p:sp>
        <p:nvSpPr>
          <p:cNvPr id="12" name="quiz-answer-3">
            <a:extLst xmlns:a="http://schemas.openxmlformats.org/drawingml/2006/main">
              <a:ext uri="{FF2B5EF4-FFF2-40B4-BE49-F238E27FC236}">
                <a16:creationId xmlns:a16="http://schemas.microsoft.com/office/drawing/2014/main" id="{95355199-8447-44A5-95AA-958508F9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3. A. NOT RUN</a:t>
            </a:r>
          </a:p>
        </p:txBody>
      </p:sp>
      <p:sp>
        <p:nvSpPr>
          <p:cNvPr id="13" name="quiz-explanation-3">
            <a:extLst xmlns:a="http://schemas.openxmlformats.org/drawingml/2006/main">
              <a:ext uri="{FF2B5EF4-FFF2-40B4-BE49-F238E27FC236}">
                <a16:creationId xmlns:a16="http://schemas.microsoft.com/office/drawing/2014/main" id="{99CA71E6-E40C-4FB9-AABE-00279279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An optional judge must never be silently replaced or reported as executed.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2026-08-24T19:24:35.3800000Z</dcterms:created>
  <dcterms:modified xsi:type="dcterms:W3CDTF">2026-08-24T19:24:35.3800000Z</dcterms:modified>
</coreProperties>
</file>