
<file path=[Content_Types].xml><?xml version="1.0" encoding="utf-8"?>
<Types xmlns="http://schemas.openxmlformats.org/package/2006/content-types">
  <Default Extension="xml" ContentType="application/vnd.openxmlformats-package.core-properties+xml"/>
  <Default Extension="rels" ContentType="application/vnd.openxmlformats-package.relationships+xml"/>
  <Override PartName="/docProps/app.xml" ContentType="application/vnd.openxmlformats-officedocument.extended-properties+xml"/>
  <Override PartName="/ppt/presentation.xml" ContentType="application/vnd.openxmlformats-officedocument.presentationml.presentation.main+xml"/>
  <Override PartName="/ppt/theme/theme1.xml" ContentType="application/vnd.openxmlformats-officedocument.theme+xml"/>
  <Override PartName="/ppt/slideMasters/slideMaster1.xml" ContentType="application/vnd.openxmlformats-officedocument.presentationml.slideMaster+xml"/>
  <Override PartName="/ppt/slideMasters/theme/theme2.xml" ContentType="application/vnd.openxmlformats-officedocument.theme+xml"/>
  <Override PartName="/ppt/slideLayouts/slideLayout1.xml" ContentType="application/vnd.openxmlformats-officedocument.presentationml.slideLayout+xml"/>
  <Override PartName="/ppt/notesMasters/notesMaster1.xml" ContentType="application/vnd.openxmlformats-officedocument.presentationml.notesMaster+xml"/>
  <Override PartName="/ppt/notesMasters/theme/theme3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ppt/slides/slide1.xml" ContentType="application/vnd.openxmlformats-officedocument.presentationml.slide+xml"/>
  <Override PartName="/ppt/notesSlides/notesSlide1.xml" ContentType="application/vnd.openxmlformats-officedocument.presentationml.notesSlide+xml"/>
  <Override PartName="/ppt/slides/slide2.xml" ContentType="application/vnd.openxmlformats-officedocument.presentationml.slide+xml"/>
  <Override PartName="/ppt/notesSlides/notesSlide2.xml" ContentType="application/vnd.openxmlformats-officedocument.presentationml.notesSlide+xml"/>
  <Override PartName="/ppt/slides/slide3.xml" ContentType="application/vnd.openxmlformats-officedocument.presentationml.slide+xml"/>
  <Override PartName="/ppt/notesSlides/notesSlide3.xml" ContentType="application/vnd.openxmlformats-officedocument.presentationml.notesSlide+xml"/>
  <Override PartName="/ppt/slides/slide4.xml" ContentType="application/vnd.openxmlformats-officedocument.presentationml.slide+xml"/>
  <Override PartName="/ppt/notesSlides/notesSlide4.xml" ContentType="application/vnd.openxmlformats-officedocument.presentationml.notesSlide+xml"/>
  <Override PartName="/ppt/slides/slide5.xml" ContentType="application/vnd.openxmlformats-officedocument.presentationml.slide+xml"/>
  <Override PartName="/ppt/notesSlides/notesSlide5.xml" ContentType="application/vnd.openxmlformats-officedocument.presentationml.notesSlide+xml"/>
  <Override PartName="/ppt/slides/slide6.xml" ContentType="application/vnd.openxmlformats-officedocument.presentationml.slide+xml"/>
  <Override PartName="/ppt/notesSlides/notesSlide6.xml" ContentType="application/vnd.openxmlformats-officedocument.presentationml.notesSlide+xml"/>
  <Override PartName="/ppt/slides/slide7.xml" ContentType="application/vnd.openxmlformats-officedocument.presentationml.slide+xml"/>
  <Override PartName="/ppt/notesSlides/notesSlide7.xml" ContentType="application/vnd.openxmlformats-officedocument.presentationml.notesSlide+xml"/>
  <Override PartName="/ppt/slides/slide8.xml" ContentType="application/vnd.openxmlformats-officedocument.presentationml.slide+xml"/>
  <Override PartName="/ppt/notesSlides/notesSlide8.xml" ContentType="application/vnd.openxmlformats-officedocument.presentationml.notesSlide+xml"/>
  <Override PartName="/ppt/slides/slide9.xml" ContentType="application/vnd.openxmlformats-officedocument.presentationml.slide+xml"/>
  <Override PartName="/ppt/notesSlides/notesSlide9.xml" ContentType="application/vnd.openxmlformats-officedocument.presentationml.notesSlide+xml"/>
</Types>
</file>

<file path=_rels/.rels>&#65279;<?xml version="1.0" encoding="utf-8"?><Relationships xmlns="http://schemas.openxmlformats.org/package/2006/relationships"><Relationship Type="http://schemas.openxmlformats.org/package/2006/relationships/metadata/core-properties" Target="/docProps/core.xml" Id="Rda729f3854e24c15" /><Relationship Type="http://schemas.openxmlformats.org/officeDocument/2006/relationships/extended-properties" Target="/docProps/app.xml" Id="Rd7b7f19895944795" /><Relationship Type="http://schemas.openxmlformats.org/officeDocument/2006/relationships/officeDocument" Target="/ppt/presentation.xml" Id="Rf39f8ff45c7b4e0c" /></Relationships>
</file>

<file path=ppt/presentation.xml><?xml version="1.0" encoding="utf-8"?>
<p:presentation xmlns:p="http://schemas.openxmlformats.org/presentationml/2006/main">
  <p:sldMasterIdLst>
    <p:sldMasterId xmlns:r="http://schemas.openxmlformats.org/officeDocument/2006/relationships" id="2147483648" r:id="R59a76237e79d4563"/>
  </p:sldMasterIdLst>
  <p:notesMasterIdLst>
    <p:notesMasterId xmlns:r="http://schemas.openxmlformats.org/officeDocument/2006/relationships" r:id="Rdc09e47772704cd8"/>
  </p:notesMasterIdLst>
  <p:sldIdLst>
    <p:sldId xmlns:r="http://schemas.openxmlformats.org/officeDocument/2006/relationships" id="256" r:id="Re22afbb562d74bf4"/>
    <p:sldId xmlns:r="http://schemas.openxmlformats.org/officeDocument/2006/relationships" id="257" r:id="Rb10cc6cd271f4c40"/>
    <p:sldId xmlns:r="http://schemas.openxmlformats.org/officeDocument/2006/relationships" id="258" r:id="R0cfbf952c62f40d3"/>
    <p:sldId xmlns:r="http://schemas.openxmlformats.org/officeDocument/2006/relationships" id="259" r:id="R81cfa46cac804568"/>
    <p:sldId xmlns:r="http://schemas.openxmlformats.org/officeDocument/2006/relationships" id="260" r:id="R99edcc5828a341c4"/>
    <p:sldId xmlns:r="http://schemas.openxmlformats.org/officeDocument/2006/relationships" id="261" r:id="Re3c7d6a4ef7847c1"/>
    <p:sldId xmlns:r="http://schemas.openxmlformats.org/officeDocument/2006/relationships" id="262" r:id="R7ab354306ae54043"/>
    <p:sldId xmlns:r="http://schemas.openxmlformats.org/officeDocument/2006/relationships" id="263" r:id="R8af884050dba4547"/>
    <p:sldId xmlns:r="http://schemas.openxmlformats.org/officeDocument/2006/relationships" id="264" r:id="Rdfbbda0e45414224"/>
  </p:sldIdLst>
  <p:sldSz cx="15240000" cy="8572500"/>
  <p:notesSz cx="6858000" cy="9144000"/>
</p:presentation>
</file>

<file path=ppt/presProps.xml><?xml version="1.0" encoding="utf-8"?>
<p:presentationPr xmlns:p="http://schemas.openxmlformats.org/presentationml/2006/main">
  <p:extLst>
    <p:ext xmlns:p14="http://schemas.microsoft.com/office/powerpoint/2010/main" uri="{E76CE94A-603C-4142-B9EB-6D1370010A27}">
      <p14:discardImageEditData val="0"/>
    </p:ext>
    <p:ext xmlns:p14="http://schemas.microsoft.com/office/powerpoint/2010/main" uri="{D31A062A-798A-4329-ABDD-BBA856620510}">
      <p14:defaultImageDpi val="32767"/>
    </p:ext>
    <p:ext xmlns:p15="http://schemas.microsoft.com/office/powerpoint/2012/main" uri="{FD5EFAAD-0ECE-453E-9831-46B23BE46B34}">
      <p15:chartTrackingRefBased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_rels/presentation.xml.rels>&#65279;<?xml version="1.0" encoding="utf-8"?><Relationships xmlns="http://schemas.openxmlformats.org/package/2006/relationships"><Relationship Type="http://schemas.openxmlformats.org/officeDocument/2006/relationships/theme" Target="/ppt/theme/theme1.xml" Id="R579a53ed5d5f4a44" /><Relationship Type="http://schemas.openxmlformats.org/officeDocument/2006/relationships/slideMaster" Target="/ppt/slideMasters/slideMaster1.xml" Id="R59a76237e79d4563" /><Relationship Type="http://schemas.openxmlformats.org/officeDocument/2006/relationships/notesMaster" Target="/ppt/notesMasters/notesMaster1.xml" Id="Rdc09e47772704cd8" /><Relationship Type="http://schemas.openxmlformats.org/officeDocument/2006/relationships/presProps" Target="/ppt/presProps.xml" Id="R071a48bd1b074256" /><Relationship Type="http://schemas.openxmlformats.org/officeDocument/2006/relationships/tableStyles" Target="/ppt/tableStyles.xml" Id="Reb70a3e065604e2d" /><Relationship Type="http://schemas.openxmlformats.org/officeDocument/2006/relationships/slide" Target="/ppt/slides/slide1.xml" Id="Re22afbb562d74bf4" /><Relationship Type="http://schemas.openxmlformats.org/officeDocument/2006/relationships/slide" Target="/ppt/slides/slide2.xml" Id="Rb10cc6cd271f4c40" /><Relationship Type="http://schemas.openxmlformats.org/officeDocument/2006/relationships/slide" Target="/ppt/slides/slide3.xml" Id="R0cfbf952c62f40d3" /><Relationship Type="http://schemas.openxmlformats.org/officeDocument/2006/relationships/slide" Target="/ppt/slides/slide4.xml" Id="R81cfa46cac804568" /><Relationship Type="http://schemas.openxmlformats.org/officeDocument/2006/relationships/slide" Target="/ppt/slides/slide5.xml" Id="R99edcc5828a341c4" /><Relationship Type="http://schemas.openxmlformats.org/officeDocument/2006/relationships/slide" Target="/ppt/slides/slide6.xml" Id="Re3c7d6a4ef7847c1" /><Relationship Type="http://schemas.openxmlformats.org/officeDocument/2006/relationships/slide" Target="/ppt/slides/slide7.xml" Id="R7ab354306ae54043" /><Relationship Type="http://schemas.openxmlformats.org/officeDocument/2006/relationships/slide" Target="/ppt/slides/slide8.xml" Id="R8af884050dba4547" /><Relationship Type="http://schemas.openxmlformats.org/officeDocument/2006/relationships/slide" Target="/ppt/slides/slide9.xml" Id="Rdfbbda0e45414224" /></Relationships>
</file>

<file path=ppt/notesMasters/_rels/notesMaster1.xml.rels>&#65279;<?xml version="1.0" encoding="utf-8"?><Relationships xmlns="http://schemas.openxmlformats.org/package/2006/relationships"><Relationship Type="http://schemas.openxmlformats.org/officeDocument/2006/relationships/theme" Target="/ppt/notesMasters/theme/theme3.xml" Id="R7b3a848c15f3471c" /></Relationships>
</file>

<file path=ppt/notesMasters/notesMaster1.xml><?xml version="1.0" encoding="utf-8"?>
<p:notesMaster xmlns:p="http://schemas.openxmlformats.org/presentationml/2006/main">
  <p:cSld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Header Placeholder"/>
          <p:cNvSpPr/>
          <p:nvPr>
            <p:ph type="hdr" sz="quarter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" name="Date Placeholder"/>
          <p:cNvSpPr/>
          <p:nvPr>
            <p:ph type="dt" sz="quarter" idx="1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Image Placeholder"/>
          <p:cNvSpPr/>
          <p:nvPr>
            <p:ph type="sldImg" idx="2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5" name="Notes Placeholder"/>
          <p:cNvSpPr/>
          <p:nvPr>
            <p:ph type="body" sz="quarter" idx="3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6" name="Footer Placeholder"/>
          <p:cNvSpPr/>
          <p:nvPr>
            <p:ph type="ftr" sz="quarter" idx="4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7" name="Slide Number Placeholder"/>
          <p:cNvSpPr/>
          <p:nvPr>
            <p:ph type="sldNum" sz="quarter" idx="5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xmlns:a="http://schemas.openxmlformats.org/drawingml/2006/main" marL="0" algn="l" defTabSz="914400" rtl="0" eaLnBrk="1" latinLnBrk="0" hangingPunct="1">
      <a:defRPr sz="1200" kern="1200"/>
    </a:lvl1pPr>
  </p:notesStyle>
</p:notesMaster>
</file>

<file path=ppt/notesMasters/theme/theme3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notesSlides/_rels/notesSlide1.xml.rels>&#65279;<?xml version="1.0" encoding="utf-8"?><Relationships xmlns="http://schemas.openxmlformats.org/package/2006/relationships"><Relationship Type="http://schemas.openxmlformats.org/officeDocument/2006/relationships/slide" Target="/ppt/slides/slide1.xml" Id="Rc1ee69becf4641fe" /><Relationship Type="http://schemas.openxmlformats.org/officeDocument/2006/relationships/notesMaster" Target="/ppt/notesMasters/notesMaster1.xml" Id="Rdce28685a1354362" /></Relationships>
</file>

<file path=ppt/notesSlides/_rels/notesSlide2.xml.rels>&#65279;<?xml version="1.0" encoding="utf-8"?><Relationships xmlns="http://schemas.openxmlformats.org/package/2006/relationships"><Relationship Type="http://schemas.openxmlformats.org/officeDocument/2006/relationships/slide" Target="/ppt/slides/slide2.xml" Id="R7eedda30bdd445dd" /><Relationship Type="http://schemas.openxmlformats.org/officeDocument/2006/relationships/notesMaster" Target="/ppt/notesMasters/notesMaster1.xml" Id="R3b3503da91724538" /></Relationships>
</file>

<file path=ppt/notesSlides/_rels/notesSlide3.xml.rels>&#65279;<?xml version="1.0" encoding="utf-8"?><Relationships xmlns="http://schemas.openxmlformats.org/package/2006/relationships"><Relationship Type="http://schemas.openxmlformats.org/officeDocument/2006/relationships/slide" Target="/ppt/slides/slide3.xml" Id="R02fc30bb994e4191" /><Relationship Type="http://schemas.openxmlformats.org/officeDocument/2006/relationships/notesMaster" Target="/ppt/notesMasters/notesMaster1.xml" Id="Rba652e50c05a4cfe" /></Relationships>
</file>

<file path=ppt/notesSlides/_rels/notesSlide4.xml.rels>&#65279;<?xml version="1.0" encoding="utf-8"?><Relationships xmlns="http://schemas.openxmlformats.org/package/2006/relationships"><Relationship Type="http://schemas.openxmlformats.org/officeDocument/2006/relationships/slide" Target="/ppt/slides/slide4.xml" Id="R14c862723be5498f" /><Relationship Type="http://schemas.openxmlformats.org/officeDocument/2006/relationships/notesMaster" Target="/ppt/notesMasters/notesMaster1.xml" Id="R39060bbfc2e041fd" /></Relationships>
</file>

<file path=ppt/notesSlides/_rels/notesSlide5.xml.rels>&#65279;<?xml version="1.0" encoding="utf-8"?><Relationships xmlns="http://schemas.openxmlformats.org/package/2006/relationships"><Relationship Type="http://schemas.openxmlformats.org/officeDocument/2006/relationships/slide" Target="/ppt/slides/slide5.xml" Id="Ra80bf463d7054f4d" /><Relationship Type="http://schemas.openxmlformats.org/officeDocument/2006/relationships/notesMaster" Target="/ppt/notesMasters/notesMaster1.xml" Id="Rf9045512063a4382" /></Relationships>
</file>

<file path=ppt/notesSlides/_rels/notesSlide6.xml.rels>&#65279;<?xml version="1.0" encoding="utf-8"?><Relationships xmlns="http://schemas.openxmlformats.org/package/2006/relationships"><Relationship Type="http://schemas.openxmlformats.org/officeDocument/2006/relationships/slide" Target="/ppt/slides/slide6.xml" Id="Ra3596d19ab2d4cd7" /><Relationship Type="http://schemas.openxmlformats.org/officeDocument/2006/relationships/notesMaster" Target="/ppt/notesMasters/notesMaster1.xml" Id="Rac5e0adcc803423a" /></Relationships>
</file>

<file path=ppt/notesSlides/_rels/notesSlide7.xml.rels>&#65279;<?xml version="1.0" encoding="utf-8"?><Relationships xmlns="http://schemas.openxmlformats.org/package/2006/relationships"><Relationship Type="http://schemas.openxmlformats.org/officeDocument/2006/relationships/slide" Target="/ppt/slides/slide7.xml" Id="R7f13aa2f43f043c3" /><Relationship Type="http://schemas.openxmlformats.org/officeDocument/2006/relationships/notesMaster" Target="/ppt/notesMasters/notesMaster1.xml" Id="R04145dee686a4c82" /></Relationships>
</file>

<file path=ppt/notesSlides/_rels/notesSlide8.xml.rels>&#65279;<?xml version="1.0" encoding="utf-8"?><Relationships xmlns="http://schemas.openxmlformats.org/package/2006/relationships"><Relationship Type="http://schemas.openxmlformats.org/officeDocument/2006/relationships/slide" Target="/ppt/slides/slide8.xml" Id="R452d8c408e8b42d2" /><Relationship Type="http://schemas.openxmlformats.org/officeDocument/2006/relationships/notesMaster" Target="/ppt/notesMasters/notesMaster1.xml" Id="R2cbe54153dea4615" /></Relationships>
</file>

<file path=ppt/notesSlides/_rels/notesSlide9.xml.rels>&#65279;<?xml version="1.0" encoding="utf-8"?><Relationships xmlns="http://schemas.openxmlformats.org/package/2006/relationships"><Relationship Type="http://schemas.openxmlformats.org/officeDocument/2006/relationships/slide" Target="/ppt/slides/slide9.xml" Id="R3c0430dae4864ba7" /><Relationship Type="http://schemas.openxmlformats.org/officeDocument/2006/relationships/notesMaster" Target="/ppt/notesMasters/notesMaster1.xml" Id="R765479d2a8f7420b" /></Relationships>
</file>

<file path=ppt/notesSlides/notesSlide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Instructor purpose: State the outcome and pacing: evaluate both the public path and the cited answer.</a:t>
            </a:r>
          </a:p>
          <a:p xmlns:a="http://schemas.openxmlformats.org/drawingml/2006/main">
            <a:r>
              <a:t>Planned timing: 0:00-1:00</a:t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chapters/12-evaluating-agentic-systems.md</a:t>
            </a:r>
          </a:p>
          <a:p xmlns:a="http://schemas.openxmlformats.org/drawingml/2006/main">
            <a:r>
              <a:t>https://mlflow.org/docs/latest/genai/eval-monitor/quickstart/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Instructor purpose: Contrast a bounded path with a redundant path that reaches equally plausible copy.</a:t>
            </a:r>
          </a:p>
          <a:p xmlns:a="http://schemas.openxmlformats.org/drawingml/2006/main">
            <a:r>
              <a:t>Planned timing: 1:00-2:15</a:t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chapters/12-evaluating-agentic-systems.md</a:t>
            </a:r>
          </a:p>
          <a:p xmlns:a="http://schemas.openxmlformats.org/drawingml/2006/main">
            <a:r>
              <a:t>https://mlflow.org/docs/latest/genai/tracing/</a:t>
            </a:r>
          </a:p>
          <a:p xmlns:a="http://schemas.openxmlformats.org/drawingml/2006/main">
            <a:r>
              <a:t>https://mlflow.org/docs/latest/genai/concepts/scorers/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Instructor purpose: Separate trajectory correctness and efficiency from answer relevance, completeness, and citation integrity.</a:t>
            </a:r>
          </a:p>
          <a:p xmlns:a="http://schemas.openxmlformats.org/drawingml/2006/main">
            <a:r>
              <a:t>Planned timing: 2:15-3:45</a:t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chapters/12-evaluating-agentic-systems.md</a:t>
            </a:r>
          </a:p>
          <a:p xmlns:a="http://schemas.openxmlformats.org/drawingml/2006/main">
            <a:r>
              <a:t>https://mlflow.org/docs/latest/genai/concepts/scorers/</a:t>
            </a:r>
          </a:p>
          <a:p xmlns:a="http://schemas.openxmlformats.org/drawingml/2006/main">
            <a:r>
              <a:t>https://mlflow.org/docs/latest/genai/eval-monitor/scorers/custom/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Instructor purpose: Explain how one versioned case fixes expectations, dependencies, evidence, status, and budget.</a:t>
            </a:r>
          </a:p>
          <a:p xmlns:a="http://schemas.openxmlformats.org/drawingml/2006/main">
            <a:r>
              <a:t>Planned timing: 3:45-5:00</a:t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chapters/12-evaluating-agentic-systems.md</a:t>
            </a:r>
          </a:p>
          <a:p xmlns:a="http://schemas.openxmlformats.org/drawingml/2006/main">
            <a:r>
              <a:t>https://mlflow.org/docs/latest/genai/eval-monitor/quickstart/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Instructor purpose: Map one dataset to pure scorers, one MLflow run per configuration, and one root trace per case.</a:t>
            </a:r>
          </a:p>
          <a:p xmlns:a="http://schemas.openxmlformats.org/drawingml/2006/main">
            <a:r>
              <a:t>Planned timing: 5:00-6:30</a:t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chapters/12-evaluating-agentic-systems.md</a:t>
            </a:r>
          </a:p>
          <a:p xmlns:a="http://schemas.openxmlformats.org/drawingml/2006/main">
            <a:r>
              <a:t>https://mlflow.org/docs/latest/genai/eval-monitor/quickstart/</a:t>
            </a:r>
          </a:p>
          <a:p xmlns:a="http://schemas.openxmlformats.org/drawingml/2006/main">
            <a:r>
              <a:t>https://mlflow.org/docs/latest/genai/tracing/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6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Instructor purpose: Read the public trace from planning through one typed TOOL error, replanning, the evidence gate, and report.</a:t>
            </a:r>
          </a:p>
          <a:p xmlns:a="http://schemas.openxmlformats.org/drawingml/2006/main">
            <a:r>
              <a:t>Planned timing: 6:30-8:00</a:t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chapters/12-evaluating-agentic-systems.md</a:t>
            </a:r>
          </a:p>
          <a:p xmlns:a="http://schemas.openxmlformats.org/drawingml/2006/main">
            <a:r>
              <a:t>https://mlflow.org/docs/latest/genai/tracing/</a:t>
            </a:r>
          </a:p>
          <a:p xmlns:a="http://schemas.openxmlformats.org/drawingml/2006/main">
            <a:r>
              <a:t>https://mlflow.org/docs/latest/genai/tracing/observe-with-traces/ui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7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Instructor purpose: Keep deterministic finance rules as the release gate and optional semantic judges as explicit context only.</a:t>
            </a:r>
          </a:p>
          <a:p xmlns:a="http://schemas.openxmlformats.org/drawingml/2006/main">
            <a:r>
              <a:t>Planned timing: 8:00-9:30</a:t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chapters/12-evaluating-agentic-systems.md</a:t>
            </a:r>
          </a:p>
          <a:p xmlns:a="http://schemas.openxmlformats.org/drawingml/2006/main">
            <a:r>
              <a:t>https://mlflow.org/docs/latest/genai/eval-monitor/scorers/index.html</a:t>
            </a:r>
          </a:p>
          <a:p xmlns:a="http://schemas.openxmlformats.org/drawingml/2006/main">
            <a:r>
              <a:t>https://mlflow.org/docs/latest/genai/eval-monitor/scorers/custom/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8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Instructor purpose: Assign each score pattern to the earliest public component that can fix it.</a:t>
            </a:r>
          </a:p>
          <a:p xmlns:a="http://schemas.openxmlformats.org/drawingml/2006/main">
            <a:r>
              <a:t>Planned timing: 9:30-11:00</a:t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chapters/12-evaluating-agentic-systems.md</a:t>
            </a:r>
          </a:p>
          <a:p xmlns:a="http://schemas.openxmlformats.org/drawingml/2006/main">
            <a:r>
              <a:t>https://mlflow.org/docs/latest/genai/tracing/</a:t>
            </a:r>
          </a:p>
          <a:p xmlns:a="http://schemas.openxmlformats.org/drawingml/2006/main">
            <a:r>
              <a:t>https://mlflow.org/docs/latest/genai/eval-monitor/scorers/index.html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9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Instructor purpose: Close on citation release, six aligned cases, no forbidden briefing after a stop, and the capstone handoff.</a:t>
            </a:r>
          </a:p>
          <a:p xmlns:a="http://schemas.openxmlformats.org/drawingml/2006/main">
            <a:r>
              <a:t>Planned timing: 11:00-12:00</a:t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chapters/12-evaluating-agentic-systems.md</a:t>
            </a:r>
          </a:p>
          <a:p xmlns:a="http://schemas.openxmlformats.org/drawingml/2006/main">
            <a:r>
              <a:t>https://mlflow.org/docs/latest/genai/eval-monitor/quickstart/</a:t>
            </a:r>
          </a:p>
          <a:p xmlns:a="http://schemas.openxmlformats.org/drawingml/2006/main">
            <a:r>
              <a:t>https://mlflow.org/docs/latest/genai/eval-monitor/scorers/index.html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slideLayouts/_rels/slideLayout1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1a5e1e20386849d5" /></Relationships>
</file>

<file path=ppt/slideLayouts/slideLayout1.xml><?xml version="1.0" encoding="utf-8"?>
<p:sldLayout xmlns:p="http://schemas.openxmlformats.org/presentationml/2006/main" type="title">
  <p:cSld name="Title Slide"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</p:sldLayout>
</file>

<file path=ppt/slideMasters/_rels/slideMaster1.xml.rels>&#65279;<?xml version="1.0" encoding="utf-8"?><Relationships xmlns="http://schemas.openxmlformats.org/package/2006/relationships"><Relationship Type="http://schemas.openxmlformats.org/officeDocument/2006/relationships/theme" Target="/ppt/slideMasters/theme/theme2.xml" Id="Rc12ca6336e9d42e5" /><Relationship Type="http://schemas.openxmlformats.org/officeDocument/2006/relationships/slideLayout" Target="/ppt/slideLayouts/slideLayout1.xml" Id="Ree5c2b79982f4a36" /></Relationships>
</file>

<file path=ppt/slideMasters/slideMaster1.xml><?xml version="1.0" encoding="utf-8"?>
<p:sldMaster xmlns:p="http://schemas.openxmlformats.org/presentationml/2006/main">
  <p:cSld name="Master"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xmlns:r="http://schemas.openxmlformats.org/officeDocument/2006/relationships" id="2147483649" r:id="Ree5c2b79982f4a36"/>
  </p:sldLayoutIdLst>
  <p:txStyles>
    <p:titleStyle>
      <a:lvl1pPr xmlns:a="http://schemas.openxmlformats.org/drawingml/2006/main" algn="l">
        <a:lnSpc>
          <a:spcPct val="90000"/>
        </a:lnSpc>
        <a:spcBef>
          <a:spcPts val="0"/>
        </a:spcBef>
        <a:buNone/>
        <a:defRPr sz="4400">
          <a:solidFill>
            <a:schemeClr val="tx1"/>
          </a:solidFill>
          <a:latin typeface="+mj-lt"/>
          <a:ea typeface="+mj-lt"/>
          <a:cs typeface="+mj-lt"/>
        </a:defRPr>
      </a:lvl1pPr>
    </p:titleStyle>
    <p:bodyStyle>
      <a:lvl1pPr xmlns:a="http://schemas.openxmlformats.org/drawingml/2006/main" marL="228600" indent="-228600" algn="l">
        <a:lnSpc>
          <a:spcPct val="90000"/>
        </a:lnSpc>
        <a:spcBef>
          <a:spcPts val="1000"/>
        </a:spcBef>
        <a:buChar char="•"/>
        <a:defRPr sz="2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685800" indent="-228600" algn="l">
        <a:lnSpc>
          <a:spcPct val="90000"/>
        </a:lnSpc>
        <a:spcBef>
          <a:spcPts val="500"/>
        </a:spcBef>
        <a:buChar char="•"/>
        <a:defRPr sz="24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1143000" indent="-228600" algn="l">
        <a:lnSpc>
          <a:spcPct val="90000"/>
        </a:lnSpc>
        <a:spcBef>
          <a:spcPts val="500"/>
        </a:spcBef>
        <a:buChar char="•"/>
        <a:defRPr sz="20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600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20574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5146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9718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4290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886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9pPr>
    </p:bodyStyle>
    <p:otherStyle>
      <a:lvl1pPr xmlns:a="http://schemas.openxmlformats.org/drawingml/2006/main" marL="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457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914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371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18288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2860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743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200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657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9pPr>
    </p:otherStyle>
  </p:txStyles>
</p:sldMaster>
</file>

<file path=ppt/slideMasters/theme/theme2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slides/_rels/slide1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bdb271a0f9f0461f" /><Relationship Type="http://schemas.openxmlformats.org/officeDocument/2006/relationships/notesSlide" Target="/ppt/notesSlides/notesSlide1.xml" Id="Rdb1632419dc04733" /></Relationships>
</file>

<file path=ppt/slides/_rels/slide2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7b8613e74e53499b" /><Relationship Type="http://schemas.openxmlformats.org/officeDocument/2006/relationships/notesSlide" Target="/ppt/notesSlides/notesSlide2.xml" Id="R0a507e7bee4d4888" /></Relationships>
</file>

<file path=ppt/slides/_rels/slide3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fe312ead658e497a" /><Relationship Type="http://schemas.openxmlformats.org/officeDocument/2006/relationships/notesSlide" Target="/ppt/notesSlides/notesSlide3.xml" Id="R7ff77d8cb8cb4bc6" /></Relationships>
</file>

<file path=ppt/slides/_rels/slide4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faf90e7c548d4485" /><Relationship Type="http://schemas.openxmlformats.org/officeDocument/2006/relationships/notesSlide" Target="/ppt/notesSlides/notesSlide4.xml" Id="R5f69b2f6a8bf4e08" /></Relationships>
</file>

<file path=ppt/slides/_rels/slide5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4d72194f4024416b" /><Relationship Type="http://schemas.openxmlformats.org/officeDocument/2006/relationships/notesSlide" Target="/ppt/notesSlides/notesSlide5.xml" Id="R05736195d539452a" /></Relationships>
</file>

<file path=ppt/slides/_rels/slide6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5dd50700323d455b" /><Relationship Type="http://schemas.openxmlformats.org/officeDocument/2006/relationships/notesSlide" Target="/ppt/notesSlides/notesSlide6.xml" Id="R5394d45064e4449b" /></Relationships>
</file>

<file path=ppt/slides/_rels/slide7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de9f32fbdf3348d3" /><Relationship Type="http://schemas.openxmlformats.org/officeDocument/2006/relationships/notesSlide" Target="/ppt/notesSlides/notesSlide7.xml" Id="R945a78f7247744ef" /></Relationships>
</file>

<file path=ppt/slides/_rels/slide8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58d7830be6374a0b" /><Relationship Type="http://schemas.openxmlformats.org/officeDocument/2006/relationships/notesSlide" Target="/ppt/notesSlides/notesSlide8.xml" Id="Rfc02e027bcc8407c" /></Relationships>
</file>

<file path=ppt/slides/_rels/slide9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bcf0693e6bcd4ea9" /><Relationship Type="http://schemas.openxmlformats.org/officeDocument/2006/relationships/notesSlide" Target="/ppt/notesSlides/notesSlide9.xml" Id="R01ff5c3ed23f45df" /></Relationships>
</file>

<file path=ppt/slides/slide1.xml><?xml version="1.0" encoding="utf-8"?>
<p:sld xmlns:p="http://schemas.openxmlformats.org/presentationml/2006/main">
  <p:cSld>
    <p:bg>
      <p:bgPr>
        <a:solidFill xmlns:a="http://schemas.openxmlformats.org/drawingml/2006/main">
          <a:srgbClr val="F5F5F5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2E1E88F9-4976-411E-8732-D45BE311BBD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781050"/>
            <a:ext cx="1257300" cy="76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A2EB"/>
          </a:solidFill>
          <a:ln xmlns:a="http://schemas.openxmlformats.org/drawingml/2006/main" w="0">
            <a:solidFill>
              <a:srgbClr val="00A2EB"/>
            </a:solidFill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35C43047-00B1-4B7A-BB36-D272D2C9B6C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1066800"/>
            <a:ext cx="285750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575" b="1">
                <a:solidFill>
                  <a:srgbClr val="1F40CB"/>
                </a:solidFill>
                <a:latin typeface="Calibri"/>
                <a:ea typeface="Calibri"/>
                <a:cs typeface="Calibri"/>
              </a:defRPr>
            </a:pPr>
            <a:r>
              <a:rPr sz="1575" b="1">
                <a:solidFill>
                  <a:srgbClr val="1F40CB"/>
                </a:solidFill>
                <a:latin typeface="Calibri"/>
                <a:ea typeface="Calibri"/>
                <a:cs typeface="Calibri"/>
              </a:rPr>
              <a:t>FIRST FINANCE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2EBB9B00-5773-4D90-9774-8BB7FE35221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2362200"/>
            <a:ext cx="13296900" cy="895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4800" b="1">
                <a:solidFill>
                  <a:srgbClr val="051C2A"/>
                </a:solidFill>
                <a:latin typeface="Calibri"/>
                <a:ea typeface="Calibri"/>
                <a:cs typeface="Calibri"/>
              </a:defRPr>
            </a:pPr>
            <a:r>
              <a:rPr sz="4800" b="1">
                <a:solidFill>
                  <a:srgbClr val="051C2A"/>
                </a:solidFill>
                <a:latin typeface="Calibri"/>
                <a:ea typeface="Calibri"/>
                <a:cs typeface="Calibri"/>
              </a:rPr>
              <a:t>Evaluate the path and the answer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601F96F8-8EA3-4B69-A3AF-EBD5CBCD09C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3562350"/>
            <a:ext cx="1123950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2400" b="0">
                <a:solidFill>
                  <a:srgbClr val="3F3F42"/>
                </a:solidFill>
                <a:latin typeface="Calibri"/>
                <a:ea typeface="Calibri"/>
                <a:cs typeface="Calibri"/>
              </a:defRPr>
            </a:pPr>
            <a:r>
              <a:rPr sz="2400" b="0">
                <a:solidFill>
                  <a:srgbClr val="3F3F42"/>
                </a:solidFill>
                <a:latin typeface="Calibri"/>
                <a:ea typeface="Calibri"/>
                <a:cs typeface="Calibri"/>
              </a:rPr>
              <a:t>Evaluating Agentic Systems with MLflow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D4A6E89B-2708-4600-B820-727EF660DE6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6477000"/>
            <a:ext cx="95250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350" b="1">
                <a:solidFill>
                  <a:srgbClr val="1F40CB"/>
                </a:solidFill>
                <a:latin typeface="Calibri"/>
                <a:ea typeface="Calibri"/>
                <a:cs typeface="Calibri"/>
              </a:defRPr>
            </a:pPr>
            <a:r>
              <a:rPr sz="1350" b="1">
                <a:solidFill>
                  <a:srgbClr val="1F40CB"/>
                </a:solidFill>
                <a:latin typeface="Calibri"/>
                <a:ea typeface="Calibri"/>
                <a:cs typeface="Calibri"/>
              </a:rPr>
              <a:t>14:30-15:30  ·  12 + 40 + 8 MINUTES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053831D6-7D46-4F1A-929F-D2CAD97F162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7067550"/>
            <a:ext cx="476250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725" b="0">
                <a:solidFill>
                  <a:srgbClr val="051C2A"/>
                </a:solidFill>
                <a:latin typeface="Calibri"/>
                <a:ea typeface="Calibri"/>
                <a:cs typeface="Calibri"/>
              </a:defRPr>
            </a:pPr>
            <a:r>
              <a:rPr sz="1725" b="0">
                <a:solidFill>
                  <a:srgbClr val="051C2A"/>
                </a:solidFill>
                <a:latin typeface="Calibri"/>
                <a:ea typeface="Calibri"/>
                <a:cs typeface="Calibri"/>
              </a:rPr>
              <a:t>First Finance - Arnaud Demes</a:t>
            </a:r>
          </a:p>
        </p:txBody>
      </p:sp>
    </p:spTree>
    <p:extLst>
      <p:ext uri="{BB962C8B-B14F-4D97-AF65-F5344CB8AC3E}">
        <p14:creationId xmlns:p14="http://schemas.microsoft.com/office/powerpoint/2010/main" val="1316229138"/>
      </p:ext>
    </p:extLst>
  </p:cSld>
</p:sld>
</file>

<file path=ppt/slides/slide2.xml><?xml version="1.0" encoding="utf-8"?>
<p:sld xmlns:p="http://schemas.openxmlformats.org/presentationml/2006/main">
  <p:cSld>
    <p:bg>
      <p:bgPr>
        <a:solidFill xmlns:a="http://schemas.openxmlformats.org/drawingml/2006/main">
          <a:srgbClr val="F5F5F5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5" name="">
            <a:extLst xmlns:a="http://schemas.openxmlformats.org/drawingml/2006/main">
              <a:ext uri="{FF2B5EF4-FFF2-40B4-BE49-F238E27FC236}">
                <a16:creationId xmlns:a16="http://schemas.microsoft.com/office/drawing/2014/main" id="{ABF4BAA6-B729-496F-9507-674DB3429F9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666750"/>
            <a:ext cx="476250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425" b="1">
                <a:solidFill>
                  <a:srgbClr val="1F40CB"/>
                </a:solidFill>
                <a:latin typeface="Calibri"/>
                <a:ea typeface="Calibri"/>
                <a:cs typeface="Calibri"/>
              </a:defRPr>
            </a:pPr>
            <a:r>
              <a:rPr sz="1800" b="1">
                <a:solidFill>
                  <a:srgbClr val="1F40CB"/>
                </a:solidFill>
                <a:latin typeface="Calibri"/>
                <a:ea typeface="Calibri"/>
                <a:cs typeface="Calibri"/>
              </a:rPr>
              <a:t>PATH QUALITY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EB6C2DCA-6A55-434D-995F-2D0AB2788AE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1181100"/>
            <a:ext cx="13296900" cy="781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3600" b="1">
                <a:solidFill>
                  <a:srgbClr val="051C2A"/>
                </a:solidFill>
                <a:latin typeface="Calibri"/>
                <a:ea typeface="Calibri"/>
                <a:cs typeface="Calibri"/>
              </a:defRPr>
            </a:pPr>
            <a:r>
              <a:rPr sz="3600" b="1">
                <a:solidFill>
                  <a:srgbClr val="051C2A"/>
                </a:solidFill>
                <a:latin typeface="Calibri"/>
                <a:ea typeface="Calibri"/>
                <a:cs typeface="Calibri"/>
              </a:rPr>
              <a:t>Same answer, different path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D7E8B752-5838-4084-A09E-2C38B9D5B30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8700" y="2800350"/>
            <a:ext cx="24765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350" b="1">
                <a:solidFill>
                  <a:srgbClr val="F07D00"/>
                </a:solidFill>
                <a:latin typeface="Calibri"/>
                <a:ea typeface="Calibri"/>
                <a:cs typeface="Calibri"/>
              </a:defRPr>
            </a:pPr>
            <a:r>
              <a:rPr sz="1800" b="1">
                <a:solidFill>
                  <a:srgbClr val="F07D00"/>
                </a:solidFill>
                <a:latin typeface="Calibri"/>
                <a:ea typeface="Calibri"/>
                <a:cs typeface="Calibri"/>
              </a:rPr>
              <a:t>BOUNDED PATH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6CA53B89-6D78-4803-9B7F-A0162294F36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714750" y="2743200"/>
            <a:ext cx="2381250" cy="647700"/>
          </a:xfrm>
          <a:prstGeom xmlns:a="http://schemas.openxmlformats.org/drawingml/2006/main" prst="roundRect">
            <a:avLst>
              <a:gd name="adj" fmla="val 5882"/>
            </a:avLst>
          </a:prstGeom>
          <a:solidFill xmlns:a="http://schemas.openxmlformats.org/drawingml/2006/main">
            <a:srgbClr val="1F40CB"/>
          </a:solidFill>
          <a:ln xmlns:a="http://schemas.openxmlformats.org/drawingml/2006/main" w="9525">
            <a:solidFill>
              <a:srgbClr val="FFFFFF"/>
            </a:solidFill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132FC0D2-12CA-4723-B1F4-C8F21C5F174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10000" y="2838450"/>
            <a:ext cx="219075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1275" b="1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800" b="1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PLAN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3E9AAB83-2BB1-4A7A-84F9-1F2BE14A6F8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53150" y="2743200"/>
            <a:ext cx="2000250" cy="647700"/>
          </a:xfrm>
          <a:prstGeom xmlns:a="http://schemas.openxmlformats.org/drawingml/2006/main" prst="roundRect">
            <a:avLst>
              <a:gd name="adj" fmla="val 5882"/>
            </a:avLst>
          </a:prstGeom>
          <a:solidFill xmlns:a="http://schemas.openxmlformats.org/drawingml/2006/main">
            <a:srgbClr val="F07D00"/>
          </a:solidFill>
          <a:ln xmlns:a="http://schemas.openxmlformats.org/drawingml/2006/main" w="9525">
            <a:solidFill>
              <a:srgbClr val="FFFFFF"/>
            </a:solidFill>
            <a:prstDash val="solid"/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6740ED07-2E49-4E7A-9CBF-23CD3B8CFFB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48400" y="2838450"/>
            <a:ext cx="180975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1275" b="1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800" b="1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TOOL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E5A5E176-BCBA-4C49-9196-B98EF7C59C6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10550" y="2743200"/>
            <a:ext cx="1676400" cy="647700"/>
          </a:xfrm>
          <a:prstGeom xmlns:a="http://schemas.openxmlformats.org/drawingml/2006/main" prst="roundRect">
            <a:avLst>
              <a:gd name="adj" fmla="val 5882"/>
            </a:avLst>
          </a:prstGeom>
          <a:solidFill xmlns:a="http://schemas.openxmlformats.org/drawingml/2006/main">
            <a:srgbClr val="1F40CB"/>
          </a:solidFill>
          <a:ln xmlns:a="http://schemas.openxmlformats.org/drawingml/2006/main" w="9525">
            <a:solidFill>
              <a:srgbClr val="FFFFFF"/>
            </a:solidFill>
            <a:prstDash val="solid"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2D62C752-A7F9-4B50-9D20-A71CEAD8FAB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05800" y="2838450"/>
            <a:ext cx="14859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1275" b="1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800" b="1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EVIDENCE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F9A9A56C-9DB1-49FF-8E87-2C6B8DB8CE9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44100" y="2743200"/>
            <a:ext cx="1066800" cy="647700"/>
          </a:xfrm>
          <a:prstGeom xmlns:a="http://schemas.openxmlformats.org/drawingml/2006/main" prst="roundRect">
            <a:avLst>
              <a:gd name="adj" fmla="val 5882"/>
            </a:avLst>
          </a:prstGeom>
          <a:solidFill xmlns:a="http://schemas.openxmlformats.org/drawingml/2006/main">
            <a:srgbClr val="F07D00"/>
          </a:solidFill>
          <a:ln xmlns:a="http://schemas.openxmlformats.org/drawingml/2006/main" w="9525">
            <a:solidFill>
              <a:srgbClr val="FFFFFF"/>
            </a:solidFill>
            <a:prstDash val="solid"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D9D4F50D-12C3-4331-801A-91C1EC1A4D3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39350" y="2838450"/>
            <a:ext cx="8763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1275" b="1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800" b="1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COPY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194D2954-A4C1-482E-AAB1-42DAC0BB195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001500" y="2800350"/>
            <a:ext cx="219075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00000"/>
              </a:lnSpc>
              <a:buNone/>
              <a:defRPr sz="1350" b="1">
                <a:solidFill>
                  <a:srgbClr val="F07D00"/>
                </a:solidFill>
                <a:latin typeface="Calibri"/>
                <a:ea typeface="Calibri"/>
                <a:cs typeface="Calibri"/>
              </a:defRPr>
            </a:pPr>
            <a:r>
              <a:rPr sz="1800" b="1">
                <a:solidFill>
                  <a:srgbClr val="F07D00"/>
                </a:solidFill>
                <a:latin typeface="Calibri"/>
                <a:ea typeface="Calibri"/>
                <a:cs typeface="Calibri"/>
              </a:rPr>
              <a:t>SAME ANSWER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B3122776-3C69-478E-8B1D-4E859ACC860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8700" y="4267200"/>
            <a:ext cx="24765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350" b="1">
                <a:solidFill>
                  <a:srgbClr val="00A2EB"/>
                </a:solidFill>
                <a:latin typeface="Calibri"/>
                <a:ea typeface="Calibri"/>
                <a:cs typeface="Calibri"/>
              </a:defRPr>
            </a:pPr>
            <a:r>
              <a:rPr sz="1800" b="1">
                <a:solidFill>
                  <a:srgbClr val="00A2EB"/>
                </a:solidFill>
                <a:latin typeface="Calibri"/>
                <a:ea typeface="Calibri"/>
                <a:cs typeface="Calibri"/>
              </a:rPr>
              <a:t>REDUNDANT PATH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0020E4D2-1B72-432A-AD48-61D3EF9BCCA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714750" y="4210050"/>
            <a:ext cx="3143250" cy="647700"/>
          </a:xfrm>
          <a:prstGeom xmlns:a="http://schemas.openxmlformats.org/drawingml/2006/main" prst="roundRect">
            <a:avLst>
              <a:gd name="adj" fmla="val 5882"/>
            </a:avLst>
          </a:prstGeom>
          <a:solidFill xmlns:a="http://schemas.openxmlformats.org/drawingml/2006/main">
            <a:srgbClr val="1F40CB"/>
          </a:solidFill>
          <a:ln xmlns:a="http://schemas.openxmlformats.org/drawingml/2006/main" w="9525">
            <a:solidFill>
              <a:srgbClr val="FFFFFF"/>
            </a:solidFill>
            <a:prstDash val="solid"/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499905A1-C4D3-46AB-A516-DCFB88A0373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10000" y="4305300"/>
            <a:ext cx="295275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1275" b="1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800" b="1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PLAN + TOOL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7C2240E6-0102-4064-B038-AB12EDED68B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15150" y="4210050"/>
            <a:ext cx="2952750" cy="647700"/>
          </a:xfrm>
          <a:prstGeom xmlns:a="http://schemas.openxmlformats.org/drawingml/2006/main" prst="roundRect">
            <a:avLst>
              <a:gd name="adj" fmla="val 5882"/>
            </a:avLst>
          </a:prstGeom>
          <a:solidFill xmlns:a="http://schemas.openxmlformats.org/drawingml/2006/main">
            <a:srgbClr val="00A2EB"/>
          </a:solidFill>
          <a:ln xmlns:a="http://schemas.openxmlformats.org/drawingml/2006/main" w="9525">
            <a:solidFill>
              <a:srgbClr val="FFFFFF"/>
            </a:solidFill>
            <a:prstDash val="solid"/>
          </a:ln>
        </p:spPr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7ECBA82F-0F85-40C1-9BE1-6E7847AE3FF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10400" y="4305300"/>
            <a:ext cx="276225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1275" b="1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800" b="1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TOOL AGAIN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6BD7C7D4-5A09-43DC-B381-56DF305B422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25050" y="4210050"/>
            <a:ext cx="2000250" cy="647700"/>
          </a:xfrm>
          <a:prstGeom xmlns:a="http://schemas.openxmlformats.org/drawingml/2006/main" prst="roundRect">
            <a:avLst>
              <a:gd name="adj" fmla="val 5882"/>
            </a:avLst>
          </a:prstGeom>
          <a:solidFill xmlns:a="http://schemas.openxmlformats.org/drawingml/2006/main">
            <a:srgbClr val="1F40CB"/>
          </a:solidFill>
          <a:ln xmlns:a="http://schemas.openxmlformats.org/drawingml/2006/main" w="9525">
            <a:solidFill>
              <a:srgbClr val="FFFFFF"/>
            </a:solidFill>
            <a:prstDash val="solid"/>
          </a:ln>
        </p:spPr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9A2F20F1-CF35-4789-AC4A-62229AB1DDA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20300" y="4305300"/>
            <a:ext cx="180975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1275" b="1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800" b="1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REPORT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E58CD3E4-48E0-4421-8A8E-9A03948E106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001500" y="4267200"/>
            <a:ext cx="219075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00000"/>
              </a:lnSpc>
              <a:buNone/>
              <a:defRPr sz="1350" b="1">
                <a:solidFill>
                  <a:srgbClr val="00A2EB"/>
                </a:solidFill>
                <a:latin typeface="Calibri"/>
                <a:ea typeface="Calibri"/>
                <a:cs typeface="Calibri"/>
              </a:defRPr>
            </a:pPr>
            <a:r>
              <a:rPr sz="1800" b="1">
                <a:solidFill>
                  <a:srgbClr val="00A2EB"/>
                </a:solidFill>
                <a:latin typeface="Calibri"/>
                <a:ea typeface="Calibri"/>
                <a:cs typeface="Calibri"/>
              </a:rPr>
              <a:t>DIFFERENT PATH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DA8DF2BD-542C-4821-AB60-F914C2D7D54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8700" y="5734050"/>
            <a:ext cx="24765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350" b="1">
                <a:solidFill>
                  <a:srgbClr val="2E8B57"/>
                </a:solidFill>
                <a:latin typeface="Calibri"/>
                <a:ea typeface="Calibri"/>
                <a:cs typeface="Calibri"/>
              </a:defRPr>
            </a:pPr>
            <a:r>
              <a:rPr sz="1800" b="1">
                <a:solidFill>
                  <a:srgbClr val="2E8B57"/>
                </a:solidFill>
                <a:latin typeface="Calibri"/>
                <a:ea typeface="Calibri"/>
                <a:cs typeface="Calibri"/>
              </a:rPr>
              <a:t>RISK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80D1C47B-0B67-4AFB-8BDC-2F9D29D0018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714750" y="5676900"/>
            <a:ext cx="3314700" cy="647700"/>
          </a:xfrm>
          <a:prstGeom xmlns:a="http://schemas.openxmlformats.org/drawingml/2006/main" prst="roundRect">
            <a:avLst>
              <a:gd name="adj" fmla="val 5882"/>
            </a:avLst>
          </a:prstGeom>
          <a:solidFill xmlns:a="http://schemas.openxmlformats.org/drawingml/2006/main">
            <a:srgbClr val="1F40CB"/>
          </a:solidFill>
          <a:ln xmlns:a="http://schemas.openxmlformats.org/drawingml/2006/main" w="9525">
            <a:solidFill>
              <a:srgbClr val="FFFFFF"/>
            </a:solidFill>
            <a:prstDash val="solid"/>
          </a:ln>
        </p:spPr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0E2F7603-BBFF-4854-9F2D-F8FF1E3B19D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10000" y="5772150"/>
            <a:ext cx="31242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1275" b="1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800" b="1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correct evidence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518F6C86-F0E1-4812-B3DD-797EA0ED5A4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86600" y="5676900"/>
            <a:ext cx="4781550" cy="647700"/>
          </a:xfrm>
          <a:prstGeom xmlns:a="http://schemas.openxmlformats.org/drawingml/2006/main" prst="roundRect">
            <a:avLst>
              <a:gd name="adj" fmla="val 5882"/>
            </a:avLst>
          </a:prstGeom>
          <a:solidFill xmlns:a="http://schemas.openxmlformats.org/drawingml/2006/main">
            <a:srgbClr val="F07D00"/>
          </a:solidFill>
          <a:ln xmlns:a="http://schemas.openxmlformats.org/drawingml/2006/main" w="9525">
            <a:solidFill>
              <a:srgbClr val="FFFFFF"/>
            </a:solidFill>
            <a:prstDash val="solid"/>
          </a:ln>
        </p:spPr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B9A6A990-C3AB-4ED0-A029-B6138AA5424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81850" y="5772150"/>
            <a:ext cx="459105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1275" b="1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800" b="1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extra call after gate</a:t>
            </a:r>
          </a:p>
        </p:txBody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24845B58-81DD-48AA-9B5B-C9CA27F8A4A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001500" y="5734050"/>
            <a:ext cx="219075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1350" b="1">
                <a:solidFill>
                  <a:srgbClr val="F07D00"/>
                </a:solidFill>
                <a:latin typeface="Calibri"/>
                <a:ea typeface="Calibri"/>
                <a:cs typeface="Calibri"/>
              </a:defRPr>
            </a:pPr>
            <a:r>
              <a:rPr sz="1350" b="1">
                <a:solidFill>
                  <a:srgbClr val="F07D00"/>
                </a:solidFill>
                <a:latin typeface="Calibri"/>
                <a:ea typeface="Calibri"/>
                <a:cs typeface="Calibri"/>
              </a:rPr>
              <a:t>FAIL</a:t>
            </a:r>
          </a:p>
        </p:txBody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1F021015-2BDE-427C-B7E6-89D40DC755A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714750" y="2819400"/>
            <a:ext cx="28575" cy="3486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4E7E9"/>
          </a:solidFill>
          <a:ln xmlns:a="http://schemas.openxmlformats.org/drawingml/2006/main" w="0">
            <a:solidFill>
              <a:srgbClr val="E4E7E9"/>
            </a:solidFill>
            <a:prstDash val="solid"/>
          </a:ln>
        </p:spPr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B71760BB-B653-4A2F-A39B-D370FC39BF0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8700" y="6838950"/>
            <a:ext cx="13163550" cy="609600"/>
          </a:xfrm>
          <a:prstGeom xmlns:a="http://schemas.openxmlformats.org/drawingml/2006/main" prst="roundRect">
            <a:avLst>
              <a:gd name="adj" fmla="val 12500"/>
            </a:avLst>
          </a:prstGeom>
          <a:solidFill xmlns:a="http://schemas.openxmlformats.org/drawingml/2006/main">
            <a:srgbClr val="FFF1E5"/>
          </a:solidFill>
          <a:ln xmlns:a="http://schemas.openxmlformats.org/drawingml/2006/main" w="9525">
            <a:solidFill>
              <a:srgbClr val="F07D00"/>
            </a:solidFill>
            <a:prstDash val="solid"/>
          </a:ln>
        </p:spPr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0FA73608-CD25-41CB-8836-D0C27AC581F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71600" y="6934200"/>
            <a:ext cx="1247775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1950" b="1">
                <a:solidFill>
                  <a:srgbClr val="051C2A"/>
                </a:solidFill>
                <a:latin typeface="Calibri"/>
                <a:ea typeface="Calibri"/>
                <a:cs typeface="Calibri"/>
              </a:defRPr>
            </a:pPr>
            <a:r>
              <a:rPr sz="1950" b="1">
                <a:solidFill>
                  <a:srgbClr val="051C2A"/>
                </a:solidFill>
                <a:latin typeface="Calibri"/>
                <a:ea typeface="Calibri"/>
                <a:cs typeface="Calibri"/>
              </a:rPr>
              <a:t>A plausible answer does not certify the path.</a:t>
            </a:r>
          </a:p>
        </p:txBody>
      </p:sp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63E0B34D-9DCB-48D8-8070-C30B3364EBB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" y="7896225"/>
            <a:ext cx="13525500" cy="285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4E7E9"/>
          </a:solidFill>
          <a:ln xmlns:a="http://schemas.openxmlformats.org/drawingml/2006/main" w="0">
            <a:solidFill>
              <a:srgbClr val="E4E7E9"/>
            </a:solidFill>
            <a:prstDash val="solid"/>
          </a:ln>
        </p:spPr>
      </p:sp>
      <p:sp>
        <p:nvSpPr>
          <p:cNvPr id="31" name="">
            <a:extLst xmlns:a="http://schemas.openxmlformats.org/drawingml/2006/main">
              <a:ext uri="{FF2B5EF4-FFF2-40B4-BE49-F238E27FC236}">
                <a16:creationId xmlns:a16="http://schemas.microsoft.com/office/drawing/2014/main" id="{3EFB9970-6C67-40D6-AFF0-F0FE598EF90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" y="7896225"/>
            <a:ext cx="8001000" cy="38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A2EB"/>
          </a:solidFill>
          <a:ln xmlns:a="http://schemas.openxmlformats.org/drawingml/2006/main" w="0">
            <a:solidFill>
              <a:srgbClr val="00A2EB"/>
            </a:solidFill>
            <a:prstDash val="solid"/>
          </a:ln>
        </p:spPr>
      </p:sp>
      <p:sp>
        <p:nvSpPr>
          <p:cNvPr id="32" name="">
            <a:extLst xmlns:a="http://schemas.openxmlformats.org/drawingml/2006/main">
              <a:ext uri="{FF2B5EF4-FFF2-40B4-BE49-F238E27FC236}">
                <a16:creationId xmlns:a16="http://schemas.microsoft.com/office/drawing/2014/main" id="{3503E1FB-8ACB-4423-AB2C-92A3E103D53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8058150"/>
            <a:ext cx="37147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200" b="0">
                <a:solidFill>
                  <a:srgbClr val="9A9A9F"/>
                </a:solidFill>
                <a:latin typeface="Calibri"/>
                <a:ea typeface="Calibri"/>
                <a:cs typeface="Calibri"/>
              </a:defRPr>
            </a:pPr>
            <a:r>
              <a:rPr sz="1200" b="0">
                <a:solidFill>
                  <a:srgbClr val="9A9A9F"/>
                </a:solidFill>
                <a:latin typeface="Calibri"/>
                <a:ea typeface="Calibri"/>
                <a:cs typeface="Calibri"/>
              </a:rPr>
              <a:t>First Finance - Arnaud Demes</a:t>
            </a:r>
          </a:p>
        </p:txBody>
      </p:sp>
      <p:sp>
        <p:nvSpPr>
          <p:cNvPr id="33" name="">
            <a:extLst xmlns:a="http://schemas.openxmlformats.org/drawingml/2006/main">
              <a:ext uri="{FF2B5EF4-FFF2-40B4-BE49-F238E27FC236}">
                <a16:creationId xmlns:a16="http://schemas.microsoft.com/office/drawing/2014/main" id="{C07028D7-2EEC-4312-806B-59F42D9F1CA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192000" y="8058150"/>
            <a:ext cx="18097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0000"/>
              </a:lnSpc>
              <a:buNone/>
              <a:defRPr sz="1200" b="1">
                <a:solidFill>
                  <a:srgbClr val="9A9A9F"/>
                </a:solidFill>
                <a:latin typeface="Calibri"/>
                <a:ea typeface="Calibri"/>
                <a:cs typeface="Calibri"/>
              </a:defRPr>
            </a:pPr>
            <a:r>
              <a:rPr sz="1200" b="1">
                <a:solidFill>
                  <a:srgbClr val="9A9A9F"/>
                </a:solidFill>
                <a:latin typeface="Calibri"/>
                <a:ea typeface="Calibri"/>
                <a:cs typeface="Calibri"/>
              </a:rPr>
              <a:t>PATH</a:t>
            </a:r>
          </a:p>
        </p:txBody>
      </p:sp>
      <p:sp>
        <p:nvSpPr>
          <p:cNvPr id="34" name="">
            <a:extLst xmlns:a="http://schemas.openxmlformats.org/drawingml/2006/main">
              <a:ext uri="{FF2B5EF4-FFF2-40B4-BE49-F238E27FC236}">
                <a16:creationId xmlns:a16="http://schemas.microsoft.com/office/drawing/2014/main" id="{5334563E-9E00-41F4-886E-137032B6DD0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135100" y="8058150"/>
            <a:ext cx="2667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0000"/>
              </a:lnSpc>
              <a:buNone/>
              <a:defRPr sz="1200" b="1">
                <a:solidFill>
                  <a:srgbClr val="9A9A9F"/>
                </a:solidFill>
                <a:latin typeface="Calibri"/>
                <a:ea typeface="Calibri"/>
                <a:cs typeface="Calibri"/>
              </a:defRPr>
            </a:pPr>
            <a:r>
              <a:rPr sz="1200" b="1">
                <a:solidFill>
                  <a:srgbClr val="9A9A9F"/>
                </a:solidFill>
                <a:latin typeface="Calibri"/>
                <a:ea typeface="Calibri"/>
                <a:cs typeface="Calibri"/>
              </a:rPr>
              <a:t>02</a:t>
            </a:r>
          </a:p>
        </p:txBody>
      </p:sp>
    </p:spTree>
    <p:extLst>
      <p:ext uri="{BB962C8B-B14F-4D97-AF65-F5344CB8AC3E}">
        <p14:creationId xmlns:p14="http://schemas.microsoft.com/office/powerpoint/2010/main" val="926141459"/>
      </p:ext>
    </p:extLst>
  </p:cSld>
</p:sld>
</file>

<file path=ppt/slides/slide3.xml><?xml version="1.0" encoding="utf-8"?>
<p:sld xmlns:p="http://schemas.openxmlformats.org/presentationml/2006/main">
  <p:cSld>
    <p:bg>
      <p:bgPr>
        <a:solidFill xmlns:a="http://schemas.openxmlformats.org/drawingml/2006/main">
          <a:srgbClr val="F5F5F5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5" name="">
            <a:extLst xmlns:a="http://schemas.openxmlformats.org/drawingml/2006/main">
              <a:ext uri="{FF2B5EF4-FFF2-40B4-BE49-F238E27FC236}">
                <a16:creationId xmlns:a16="http://schemas.microsoft.com/office/drawing/2014/main" id="{ABF4BAA6-B729-496F-9507-674DB3429F9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666750"/>
            <a:ext cx="476250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425" b="1">
                <a:solidFill>
                  <a:srgbClr val="1F40CB"/>
                </a:solidFill>
                <a:latin typeface="Calibri"/>
                <a:ea typeface="Calibri"/>
                <a:cs typeface="Calibri"/>
              </a:defRPr>
            </a:pPr>
            <a:r>
              <a:rPr sz="1800" b="1">
                <a:solidFill>
                  <a:srgbClr val="1F40CB"/>
                </a:solidFill>
                <a:latin typeface="Calibri"/>
                <a:ea typeface="Calibri"/>
                <a:cs typeface="Calibri"/>
              </a:rPr>
              <a:t>TWO SCORECARDS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EB6C2DCA-6A55-434D-995F-2D0AB2788AE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1181100"/>
            <a:ext cx="13296900" cy="781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3600" b="1">
                <a:solidFill>
                  <a:srgbClr val="051C2A"/>
                </a:solidFill>
                <a:latin typeface="Calibri"/>
                <a:ea typeface="Calibri"/>
                <a:cs typeface="Calibri"/>
              </a:defRPr>
            </a:pPr>
            <a:r>
              <a:rPr sz="3600" b="1">
                <a:solidFill>
                  <a:srgbClr val="051C2A"/>
                </a:solidFill>
                <a:latin typeface="Calibri"/>
                <a:ea typeface="Calibri"/>
                <a:cs typeface="Calibri"/>
              </a:rPr>
              <a:t>Trajectory quality and answer quality are separate</a:t>
            </a:r>
          </a:p>
        </p:txBody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B71760BB-B653-4A2F-A39B-D370FC39BF0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8700" y="6838950"/>
            <a:ext cx="13163550" cy="609600"/>
          </a:xfrm>
          <a:prstGeom xmlns:a="http://schemas.openxmlformats.org/drawingml/2006/main" prst="roundRect">
            <a:avLst>
              <a:gd name="adj" fmla="val 12500"/>
            </a:avLst>
          </a:prstGeom>
          <a:solidFill xmlns:a="http://schemas.openxmlformats.org/drawingml/2006/main">
            <a:srgbClr val="FFF1E5"/>
          </a:solidFill>
          <a:ln xmlns:a="http://schemas.openxmlformats.org/drawingml/2006/main" w="9525">
            <a:solidFill>
              <a:srgbClr val="F07D00"/>
            </a:solidFill>
            <a:prstDash val="solid"/>
          </a:ln>
        </p:spPr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0FA73608-CD25-41CB-8836-D0C27AC581F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71600" y="6934200"/>
            <a:ext cx="1247775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1950" b="1">
                <a:solidFill>
                  <a:srgbClr val="051C2A"/>
                </a:solidFill>
                <a:latin typeface="Calibri"/>
                <a:ea typeface="Calibri"/>
                <a:cs typeface="Calibri"/>
              </a:defRPr>
            </a:pPr>
            <a:r>
              <a:rPr sz="1950" b="1">
                <a:solidFill>
                  <a:srgbClr val="051C2A"/>
                </a:solidFill>
                <a:latin typeface="Calibri"/>
                <a:ea typeface="Calibri"/>
                <a:cs typeface="Calibri"/>
              </a:rPr>
              <a:t>Score the public path and the cited answer separately.</a:t>
            </a:r>
          </a:p>
        </p:txBody>
      </p:sp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63E0B34D-9DCB-48D8-8070-C30B3364EBB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" y="7896225"/>
            <a:ext cx="13525500" cy="285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4E7E9"/>
          </a:solidFill>
          <a:ln xmlns:a="http://schemas.openxmlformats.org/drawingml/2006/main" w="0">
            <a:solidFill>
              <a:srgbClr val="E4E7E9"/>
            </a:solidFill>
            <a:prstDash val="solid"/>
          </a:ln>
        </p:spPr>
      </p:sp>
      <p:sp>
        <p:nvSpPr>
          <p:cNvPr id="31" name="">
            <a:extLst xmlns:a="http://schemas.openxmlformats.org/drawingml/2006/main">
              <a:ext uri="{FF2B5EF4-FFF2-40B4-BE49-F238E27FC236}">
                <a16:creationId xmlns:a16="http://schemas.microsoft.com/office/drawing/2014/main" id="{3EFB9970-6C67-40D6-AFF0-F0FE598EF90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" y="7896225"/>
            <a:ext cx="8001000" cy="38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A2EB"/>
          </a:solidFill>
          <a:ln xmlns:a="http://schemas.openxmlformats.org/drawingml/2006/main" w="0">
            <a:solidFill>
              <a:srgbClr val="00A2EB"/>
            </a:solidFill>
            <a:prstDash val="solid"/>
          </a:ln>
        </p:spPr>
      </p:sp>
      <p:sp>
        <p:nvSpPr>
          <p:cNvPr id="32" name="">
            <a:extLst xmlns:a="http://schemas.openxmlformats.org/drawingml/2006/main">
              <a:ext uri="{FF2B5EF4-FFF2-40B4-BE49-F238E27FC236}">
                <a16:creationId xmlns:a16="http://schemas.microsoft.com/office/drawing/2014/main" id="{3503E1FB-8ACB-4423-AB2C-92A3E103D53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8058150"/>
            <a:ext cx="37147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200" b="0">
                <a:solidFill>
                  <a:srgbClr val="9A9A9F"/>
                </a:solidFill>
                <a:latin typeface="Calibri"/>
                <a:ea typeface="Calibri"/>
                <a:cs typeface="Calibri"/>
              </a:defRPr>
            </a:pPr>
            <a:r>
              <a:rPr sz="1200" b="0">
                <a:solidFill>
                  <a:srgbClr val="9A9A9F"/>
                </a:solidFill>
                <a:latin typeface="Calibri"/>
                <a:ea typeface="Calibri"/>
                <a:cs typeface="Calibri"/>
              </a:rPr>
              <a:t>First Finance - Arnaud Demes</a:t>
            </a:r>
          </a:p>
        </p:txBody>
      </p:sp>
      <p:sp>
        <p:nvSpPr>
          <p:cNvPr id="33" name="">
            <a:extLst xmlns:a="http://schemas.openxmlformats.org/drawingml/2006/main">
              <a:ext uri="{FF2B5EF4-FFF2-40B4-BE49-F238E27FC236}">
                <a16:creationId xmlns:a16="http://schemas.microsoft.com/office/drawing/2014/main" id="{C07028D7-2EEC-4312-806B-59F42D9F1CA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192000" y="8058150"/>
            <a:ext cx="18097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0000"/>
              </a:lnSpc>
              <a:buNone/>
              <a:defRPr sz="1200" b="1">
                <a:solidFill>
                  <a:srgbClr val="9A9A9F"/>
                </a:solidFill>
                <a:latin typeface="Calibri"/>
                <a:ea typeface="Calibri"/>
                <a:cs typeface="Calibri"/>
              </a:defRPr>
            </a:pPr>
            <a:r>
              <a:rPr sz="1200" b="1">
                <a:solidFill>
                  <a:srgbClr val="9A9A9F"/>
                </a:solidFill>
                <a:latin typeface="Calibri"/>
                <a:ea typeface="Calibri"/>
                <a:cs typeface="Calibri"/>
              </a:rPr>
              <a:t>SCORECARD</a:t>
            </a:r>
          </a:p>
        </p:txBody>
      </p:sp>
      <p:sp>
        <p:nvSpPr>
          <p:cNvPr id="34" name="">
            <a:extLst xmlns:a="http://schemas.openxmlformats.org/drawingml/2006/main">
              <a:ext uri="{FF2B5EF4-FFF2-40B4-BE49-F238E27FC236}">
                <a16:creationId xmlns:a16="http://schemas.microsoft.com/office/drawing/2014/main" id="{5334563E-9E00-41F4-886E-137032B6DD0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135100" y="8058150"/>
            <a:ext cx="2667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0000"/>
              </a:lnSpc>
              <a:buNone/>
              <a:defRPr sz="1200" b="1">
                <a:solidFill>
                  <a:srgbClr val="9A9A9F"/>
                </a:solidFill>
                <a:latin typeface="Calibri"/>
                <a:ea typeface="Calibri"/>
                <a:cs typeface="Calibri"/>
              </a:defRPr>
            </a:pPr>
            <a:r>
              <a:rPr sz="1200" b="1">
                <a:solidFill>
                  <a:srgbClr val="9A9A9F"/>
                </a:solidFill>
                <a:latin typeface="Calibri"/>
                <a:ea typeface="Calibri"/>
                <a:cs typeface="Calibri"/>
              </a:rPr>
              <a:t>03</a:t>
            </a:r>
          </a:p>
        </p:txBody>
      </p:sp>
      <p:graphicFrame>
        <p:nvGraphicFramePr>
          <p:cNvPr id="46" name=""/>
          <p:cNvGraphicFramePr/>
          <p:nvPr/>
        </p:nvGraphicFramePr>
        <p:xfrm>
          <a:off xmlns:a="http://schemas.openxmlformats.org/drawingml/2006/main" x="1028700" y="2571750"/>
          <a:ext xmlns:a="http://schemas.openxmlformats.org/drawingml/2006/main" cx="13163550" cy="4000500"/>
        </p:xfrm>
        <a:graphic xmlns:a="http://schemas.openxmlformats.org/drawingml/2006/main">
          <a:graphicData uri="http://schemas.openxmlformats.org/drawingml/2006/table">
            <a:tbl>
              <a:tblPr firstRow="1" bandRow="0"/>
              <a:tblGrid>
                <a:gridCol w="2266950"/>
                <a:gridCol w="4762500"/>
                <a:gridCol w="6134100"/>
              </a:tblGrid>
              <a:tr h="609600">
                <a:tc>
                  <a:txBody>
                    <a:bodyPr/>
                    <a:lstStyle/>
                    <a:p>
                      <a:pPr algn="l"/>
                      <a:r>
                        <a:rPr sz="1425" b="1">
                          <a:solidFill>
                            <a:srgbClr val="FFFFFF"/>
                          </a:solidFill>
                          <a:latin typeface="Calibri"/>
                          <a:ea typeface="Calibri"/>
                          <a:cs typeface="Calibri"/>
                        </a:rPr>
                        <a:t>LAYER</a:t>
                      </a:r>
                    </a:p>
                  </a:txBody>
                  <a:tcPr marL="152400" marR="152400" marT="95250" marB="95250">
                    <a:solidFill>
                      <a:srgbClr val="2546D5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425" b="1">
                          <a:solidFill>
                            <a:srgbClr val="FFFFFF"/>
                          </a:solidFill>
                          <a:latin typeface="Calibri"/>
                          <a:ea typeface="Calibri"/>
                          <a:cs typeface="Calibri"/>
                        </a:rPr>
                        <a:t>VISIBLE METRICS</a:t>
                      </a:r>
                    </a:p>
                  </a:txBody>
                  <a:tcPr marL="152400" marR="152400" marT="95250" marB="95250">
                    <a:solidFill>
                      <a:srgbClr val="2546D5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425" b="1">
                          <a:solidFill>
                            <a:srgbClr val="FFFFFF"/>
                          </a:solidFill>
                          <a:latin typeface="Calibri"/>
                          <a:ea typeface="Calibri"/>
                          <a:cs typeface="Calibri"/>
                        </a:rPr>
                        <a:t>FINANCE QUESTION</a:t>
                      </a:r>
                    </a:p>
                  </a:txBody>
                  <a:tcPr marL="152400" marR="152400" marT="95250" marB="95250">
                    <a:solidFill>
                      <a:srgbClr val="2546D5"/>
                    </a:solidFill>
                  </a:tcPr>
                </a:tc>
              </a:tr>
              <a:tr h="1123950">
                <a:tc>
                  <a:txBody>
                    <a:bodyPr/>
                    <a:lstStyle/>
                    <a:p>
                      <a:pPr algn="l"/>
                      <a:r>
                        <a:rPr sz="1500" b="1">
                          <a:solidFill>
                            <a:srgbClr val="2546D5"/>
                          </a:solidFill>
                          <a:latin typeface="Calibri"/>
                          <a:ea typeface="Calibri"/>
                          <a:cs typeface="Calibri"/>
                        </a:rPr>
                        <a:t>TRAJECTORY</a:t>
                      </a:r>
                    </a:p>
                  </a:txBody>
                  <a:tcPr marL="152400" marR="152400" marT="95250" marB="9525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500" b="0">
                          <a:solidFill>
                            <a:srgbClr val="0A2030"/>
                          </a:solidFill>
                          <a:latin typeface="Calibri"/>
                          <a:ea typeface="Calibri"/>
                          <a:cs typeface="Calibri"/>
                        </a:rPr>
                        <a:t>tool_call_correctness</a:t>
                      </a:r>
                    </a:p>
                    <a:p>
                      <a:pPr algn="l"/>
                      <a:r>
                        <a:rPr sz="1500" b="0">
                          <a:solidFill>
                            <a:srgbClr val="0A2030"/>
                          </a:solidFill>
                          <a:latin typeface="Calibri"/>
                          <a:ea typeface="Calibri"/>
                          <a:cs typeface="Calibri"/>
                        </a:rPr>
                        <a:t>tool_call_efficiency</a:t>
                      </a:r>
                    </a:p>
                  </a:txBody>
                  <a:tcPr marL="152400" marR="152400" marT="95250" marB="9525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500" b="0">
                          <a:solidFill>
                            <a:srgbClr val="0A2030"/>
                          </a:solidFill>
                          <a:latin typeface="Calibri"/>
                          <a:ea typeface="Calibri"/>
                          <a:cs typeface="Calibri"/>
                        </a:rPr>
                        <a:t>Right capabilities, order, and call budget?</a:t>
                      </a:r>
                    </a:p>
                  </a:txBody>
                  <a:tcPr marL="152400" marR="152400" marT="95250" marB="95250">
                    <a:solidFill>
                      <a:srgbClr val="FFFFFF"/>
                    </a:solidFill>
                  </a:tcPr>
                </a:tc>
              </a:tr>
              <a:tr h="1123950">
                <a:tc>
                  <a:txBody>
                    <a:bodyPr/>
                    <a:lstStyle/>
                    <a:p>
                      <a:pPr algn="l"/>
                      <a:r>
                        <a:rPr sz="1500" b="1">
                          <a:solidFill>
                            <a:srgbClr val="2546D5"/>
                          </a:solidFill>
                          <a:latin typeface="Calibri"/>
                          <a:ea typeface="Calibri"/>
                          <a:cs typeface="Calibri"/>
                        </a:rPr>
                        <a:t>ANSWER</a:t>
                      </a:r>
                    </a:p>
                  </a:txBody>
                  <a:tcPr marL="152400" marR="152400" marT="95250" marB="95250"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500" b="0">
                          <a:solidFill>
                            <a:srgbClr val="0A2030"/>
                          </a:solidFill>
                          <a:latin typeface="Calibri"/>
                          <a:ea typeface="Calibri"/>
                          <a:cs typeface="Calibri"/>
                        </a:rPr>
                        <a:t>answer_relevance</a:t>
                      </a:r>
                    </a:p>
                    <a:p>
                      <a:pPr algn="l"/>
                      <a:r>
                        <a:rPr sz="1500" b="0">
                          <a:solidFill>
                            <a:srgbClr val="0A2030"/>
                          </a:solidFill>
                          <a:latin typeface="Calibri"/>
                          <a:ea typeface="Calibri"/>
                          <a:cs typeface="Calibri"/>
                        </a:rPr>
                        <a:t>answer_completeness</a:t>
                      </a:r>
                    </a:p>
                  </a:txBody>
                  <a:tcPr marL="152400" marR="152400" marT="95250" marB="95250"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500" b="0">
                          <a:solidFill>
                            <a:srgbClr val="0A2030"/>
                          </a:solidFill>
                          <a:latin typeface="Calibri"/>
                          <a:ea typeface="Calibri"/>
                          <a:cs typeface="Calibri"/>
                        </a:rPr>
                        <a:t>Required companies, facts, comparison, and limits?</a:t>
                      </a:r>
                    </a:p>
                  </a:txBody>
                  <a:tcPr marL="152400" marR="152400" marT="95250" marB="95250">
                    <a:solidFill>
                      <a:srgbClr val="F5F7FA"/>
                    </a:solidFill>
                  </a:tcPr>
                </a:tc>
              </a:tr>
              <a:tr h="1123950">
                <a:tc>
                  <a:txBody>
                    <a:bodyPr/>
                    <a:lstStyle/>
                    <a:p>
                      <a:pPr algn="l"/>
                      <a:r>
                        <a:rPr sz="1500" b="1">
                          <a:solidFill>
                            <a:srgbClr val="2546D5"/>
                          </a:solidFill>
                          <a:latin typeface="Calibri"/>
                          <a:ea typeface="Calibri"/>
                          <a:cs typeface="Calibri"/>
                        </a:rPr>
                        <a:t>EVIDENCE</a:t>
                      </a:r>
                    </a:p>
                  </a:txBody>
                  <a:tcPr marL="152400" marR="152400" marT="95250" marB="9525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500" b="0">
                          <a:solidFill>
                            <a:srgbClr val="0A2030"/>
                          </a:solidFill>
                          <a:latin typeface="Calibri"/>
                          <a:ea typeface="Calibri"/>
                          <a:cs typeface="Calibri"/>
                        </a:rPr>
                        <a:t>citation_integrity</a:t>
                      </a:r>
                    </a:p>
                  </a:txBody>
                  <a:tcPr marL="152400" marR="152400" marT="95250" marB="9525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500" b="0">
                          <a:solidFill>
                            <a:srgbClr val="0A2030"/>
                          </a:solidFill>
                          <a:latin typeface="Calibri"/>
                          <a:ea typeface="Calibri"/>
                          <a:cs typeface="Calibri"/>
                        </a:rPr>
                        <a:t>Does every source and evidence ID pair match an observation?</a:t>
                      </a:r>
                    </a:p>
                  </a:txBody>
                  <a:tcPr marL="152400" marR="152400" marT="95250" marB="95250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926141459"/>
      </p:ext>
    </p:extLst>
  </p:cSld>
</p:sld>
</file>

<file path=ppt/slides/slide4.xml><?xml version="1.0" encoding="utf-8"?>
<p:sld xmlns:p="http://schemas.openxmlformats.org/presentationml/2006/main">
  <p:cSld>
    <p:bg>
      <p:bgPr>
        <a:solidFill xmlns:a="http://schemas.openxmlformats.org/drawingml/2006/main">
          <a:srgbClr val="F5F5F5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5" name="">
            <a:extLst xmlns:a="http://schemas.openxmlformats.org/drawingml/2006/main">
              <a:ext uri="{FF2B5EF4-FFF2-40B4-BE49-F238E27FC236}">
                <a16:creationId xmlns:a16="http://schemas.microsoft.com/office/drawing/2014/main" id="{ABF4BAA6-B729-496F-9507-674DB3429F9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666750"/>
            <a:ext cx="476250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425" b="1">
                <a:solidFill>
                  <a:srgbClr val="1F40CB"/>
                </a:solidFill>
                <a:latin typeface="Calibri"/>
                <a:ea typeface="Calibri"/>
                <a:cs typeface="Calibri"/>
              </a:defRPr>
            </a:pPr>
            <a:r>
              <a:rPr sz="1800" b="1">
                <a:solidFill>
                  <a:srgbClr val="1F40CB"/>
                </a:solidFill>
                <a:latin typeface="Calibri"/>
                <a:ea typeface="Calibri"/>
                <a:cs typeface="Calibri"/>
              </a:rPr>
              <a:t>VERSIONED CASE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EB6C2DCA-6A55-434D-995F-2D0AB2788AE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1181100"/>
            <a:ext cx="13296900" cy="781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3600" b="1">
                <a:solidFill>
                  <a:srgbClr val="051C2A"/>
                </a:solidFill>
                <a:latin typeface="Calibri"/>
                <a:ea typeface="Calibri"/>
                <a:cs typeface="Calibri"/>
              </a:defRPr>
            </a:pPr>
            <a:r>
              <a:rPr sz="3600" b="1">
                <a:solidFill>
                  <a:srgbClr val="051C2A"/>
                </a:solidFill>
                <a:latin typeface="Calibri"/>
                <a:ea typeface="Calibri"/>
                <a:cs typeface="Calibri"/>
              </a:rPr>
              <a:t>A versioned case defines the exam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D7E8B752-5838-4084-A09E-2C38B9D5B30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8700" y="2800350"/>
            <a:ext cx="24765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350" b="1">
                <a:solidFill>
                  <a:srgbClr val="F07D00"/>
                </a:solidFill>
                <a:latin typeface="Calibri"/>
                <a:ea typeface="Calibri"/>
                <a:cs typeface="Calibri"/>
              </a:defRPr>
            </a:pPr>
            <a:r>
              <a:rPr sz="1800" b="1">
                <a:solidFill>
                  <a:srgbClr val="F07D00"/>
                </a:solidFill>
                <a:latin typeface="Calibri"/>
                <a:ea typeface="Calibri"/>
                <a:cs typeface="Calibri"/>
              </a:rPr>
              <a:t>VERSION KEYS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6CA53B89-6D78-4803-9B7F-A0162294F36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714750" y="2743200"/>
            <a:ext cx="2381250" cy="647700"/>
          </a:xfrm>
          <a:prstGeom xmlns:a="http://schemas.openxmlformats.org/drawingml/2006/main" prst="roundRect">
            <a:avLst>
              <a:gd name="adj" fmla="val 5882"/>
            </a:avLst>
          </a:prstGeom>
          <a:solidFill xmlns:a="http://schemas.openxmlformats.org/drawingml/2006/main">
            <a:srgbClr val="1F40CB"/>
          </a:solidFill>
          <a:ln xmlns:a="http://schemas.openxmlformats.org/drawingml/2006/main" w="9525">
            <a:solidFill>
              <a:srgbClr val="FFFFFF"/>
            </a:solidFill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132FC0D2-12CA-4723-B1F4-C8F21C5F174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10000" y="2838450"/>
            <a:ext cx="219075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1275" b="1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800" b="1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agent-cases-v1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3E9AAB83-2BB1-4A7A-84F9-1F2BE14A6F8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53150" y="2743200"/>
            <a:ext cx="2000250" cy="647700"/>
          </a:xfrm>
          <a:prstGeom xmlns:a="http://schemas.openxmlformats.org/drawingml/2006/main" prst="roundRect">
            <a:avLst>
              <a:gd name="adj" fmla="val 5882"/>
            </a:avLst>
          </a:prstGeom>
          <a:solidFill xmlns:a="http://schemas.openxmlformats.org/drawingml/2006/main">
            <a:srgbClr val="F07D00"/>
          </a:solidFill>
          <a:ln xmlns:a="http://schemas.openxmlformats.org/drawingml/2006/main" w="9525">
            <a:solidFill>
              <a:srgbClr val="FFFFFF"/>
            </a:solidFill>
            <a:prstDash val="solid"/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6740ED07-2E49-4E7A-9CBF-23CD3B8CFFB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48400" y="2838450"/>
            <a:ext cx="180975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1275" b="1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800" b="1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reference case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E5A5E176-BCBA-4C49-9196-B98EF7C59C6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10550" y="2743200"/>
            <a:ext cx="1676400" cy="647700"/>
          </a:xfrm>
          <a:prstGeom xmlns:a="http://schemas.openxmlformats.org/drawingml/2006/main" prst="roundRect">
            <a:avLst>
              <a:gd name="adj" fmla="val 5882"/>
            </a:avLst>
          </a:prstGeom>
          <a:solidFill xmlns:a="http://schemas.openxmlformats.org/drawingml/2006/main">
            <a:srgbClr val="1F40CB"/>
          </a:solidFill>
          <a:ln xmlns:a="http://schemas.openxmlformats.org/drawingml/2006/main" w="9525">
            <a:solidFill>
              <a:srgbClr val="FFFFFF"/>
            </a:solidFill>
            <a:prstDash val="solid"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2D62C752-A7F9-4B50-9D20-A71CEAD8FAB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05800" y="2838450"/>
            <a:ext cx="14859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1275" b="1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800" b="1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status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F9A9A56C-9DB1-49FF-8E87-2C6B8DB8CE9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44100" y="2743200"/>
            <a:ext cx="1066800" cy="647700"/>
          </a:xfrm>
          <a:prstGeom xmlns:a="http://schemas.openxmlformats.org/drawingml/2006/main" prst="roundRect">
            <a:avLst>
              <a:gd name="adj" fmla="val 5882"/>
            </a:avLst>
          </a:prstGeom>
          <a:solidFill xmlns:a="http://schemas.openxmlformats.org/drawingml/2006/main">
            <a:srgbClr val="F07D00"/>
          </a:solidFill>
          <a:ln xmlns:a="http://schemas.openxmlformats.org/drawingml/2006/main" w="9525">
            <a:solidFill>
              <a:srgbClr val="FFFFFF"/>
            </a:solidFill>
            <a:prstDash val="solid"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D9D4F50D-12C3-4331-801A-91C1EC1A4D3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39350" y="2838450"/>
            <a:ext cx="8763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1275" b="1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800" b="1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hash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194D2954-A4C1-482E-AAB1-42DAC0BB195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001500" y="2800350"/>
            <a:ext cx="219075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00000"/>
              </a:lnSpc>
              <a:buNone/>
              <a:defRPr sz="1350" b="1">
                <a:solidFill>
                  <a:srgbClr val="F07D00"/>
                </a:solidFill>
                <a:latin typeface="Calibri"/>
                <a:ea typeface="Calibri"/>
                <a:cs typeface="Calibri"/>
              </a:defRPr>
            </a:pPr>
            <a:r>
              <a:rPr sz="1800" b="1">
                <a:solidFill>
                  <a:srgbClr val="F07D00"/>
                </a:solidFill>
                <a:latin typeface="Calibri"/>
                <a:ea typeface="Calibri"/>
                <a:cs typeface="Calibri"/>
              </a:rPr>
              <a:t>VERSIONED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B3122776-3C69-478E-8B1D-4E859ACC860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8700" y="4267200"/>
            <a:ext cx="24765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350" b="1">
                <a:solidFill>
                  <a:srgbClr val="00A2EB"/>
                </a:solidFill>
                <a:latin typeface="Calibri"/>
                <a:ea typeface="Calibri"/>
                <a:cs typeface="Calibri"/>
              </a:defRPr>
            </a:pPr>
            <a:r>
              <a:rPr sz="1800" b="1">
                <a:solidFill>
                  <a:srgbClr val="00A2EB"/>
                </a:solidFill>
                <a:latin typeface="Calibri"/>
                <a:ea typeface="Calibri"/>
                <a:cs typeface="Calibri"/>
              </a:rPr>
              <a:t>EXAM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0020E4D2-1B72-432A-AD48-61D3EF9BCCA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714750" y="4210050"/>
            <a:ext cx="3143250" cy="647700"/>
          </a:xfrm>
          <a:prstGeom xmlns:a="http://schemas.openxmlformats.org/drawingml/2006/main" prst="roundRect">
            <a:avLst>
              <a:gd name="adj" fmla="val 5882"/>
            </a:avLst>
          </a:prstGeom>
          <a:solidFill xmlns:a="http://schemas.openxmlformats.org/drawingml/2006/main">
            <a:srgbClr val="1F40CB"/>
          </a:solidFill>
          <a:ln xmlns:a="http://schemas.openxmlformats.org/drawingml/2006/main" w="9525">
            <a:solidFill>
              <a:srgbClr val="FFFFFF"/>
            </a:solidFill>
            <a:prstDash val="solid"/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499905A1-C4D3-46AB-A516-DCFB88A0373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10000" y="4305300"/>
            <a:ext cx="295275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1275" b="1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800" b="1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mission + status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7C2240E6-0102-4064-B038-AB12EDED68B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15150" y="4210050"/>
            <a:ext cx="2952750" cy="647700"/>
          </a:xfrm>
          <a:prstGeom xmlns:a="http://schemas.openxmlformats.org/drawingml/2006/main" prst="roundRect">
            <a:avLst>
              <a:gd name="adj" fmla="val 5882"/>
            </a:avLst>
          </a:prstGeom>
          <a:solidFill xmlns:a="http://schemas.openxmlformats.org/drawingml/2006/main">
            <a:srgbClr val="00A2EB"/>
          </a:solidFill>
          <a:ln xmlns:a="http://schemas.openxmlformats.org/drawingml/2006/main" w="9525">
            <a:solidFill>
              <a:srgbClr val="FFFFFF"/>
            </a:solidFill>
            <a:prstDash val="solid"/>
          </a:ln>
        </p:spPr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7ECBA82F-0F85-40C1-9BE1-6E7847AE3FF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10400" y="4305300"/>
            <a:ext cx="276225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1275" b="1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800" b="1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calls + dependencies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6BD7C7D4-5A09-43DC-B381-56DF305B422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25050" y="4210050"/>
            <a:ext cx="2000250" cy="647700"/>
          </a:xfrm>
          <a:prstGeom xmlns:a="http://schemas.openxmlformats.org/drawingml/2006/main" prst="roundRect">
            <a:avLst>
              <a:gd name="adj" fmla="val 5882"/>
            </a:avLst>
          </a:prstGeom>
          <a:solidFill xmlns:a="http://schemas.openxmlformats.org/drawingml/2006/main">
            <a:srgbClr val="1F40CB"/>
          </a:solidFill>
          <a:ln xmlns:a="http://schemas.openxmlformats.org/drawingml/2006/main" w="9525">
            <a:solidFill>
              <a:srgbClr val="FFFFFF"/>
            </a:solidFill>
            <a:prstDash val="solid"/>
          </a:ln>
        </p:spPr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9A2F20F1-CF35-4789-AC4A-62229AB1DDA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20300" y="4305300"/>
            <a:ext cx="180975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1275" b="1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800" b="1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evidence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E58CD3E4-48E0-4421-8A8E-9A03948E106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001500" y="4267200"/>
            <a:ext cx="219075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00000"/>
              </a:lnSpc>
              <a:buNone/>
              <a:defRPr sz="1350" b="1">
                <a:solidFill>
                  <a:srgbClr val="00A2EB"/>
                </a:solidFill>
                <a:latin typeface="Calibri"/>
                <a:ea typeface="Calibri"/>
                <a:cs typeface="Calibri"/>
              </a:defRPr>
            </a:pPr>
            <a:r>
              <a:rPr sz="1800" b="1">
                <a:solidFill>
                  <a:srgbClr val="00A2EB"/>
                </a:solidFill>
                <a:latin typeface="Calibri"/>
                <a:ea typeface="Calibri"/>
                <a:cs typeface="Calibri"/>
              </a:rPr>
              <a:t>EXPLICIT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DA8DF2BD-542C-4821-AB60-F914C2D7D54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8700" y="5734050"/>
            <a:ext cx="24765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350" b="1">
                <a:solidFill>
                  <a:srgbClr val="2E8B57"/>
                </a:solidFill>
                <a:latin typeface="Calibri"/>
                <a:ea typeface="Calibri"/>
                <a:cs typeface="Calibri"/>
              </a:defRPr>
            </a:pPr>
            <a:r>
              <a:rPr sz="1800" b="1">
                <a:solidFill>
                  <a:srgbClr val="2E8B57"/>
                </a:solidFill>
                <a:latin typeface="Calibri"/>
                <a:ea typeface="Calibri"/>
                <a:cs typeface="Calibri"/>
              </a:rPr>
              <a:t>BUDGET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80D1C47B-0B67-4AFB-8BDC-2F9D29D0018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714750" y="5676900"/>
            <a:ext cx="3314700" cy="647700"/>
          </a:xfrm>
          <a:prstGeom xmlns:a="http://schemas.openxmlformats.org/drawingml/2006/main" prst="roundRect">
            <a:avLst>
              <a:gd name="adj" fmla="val 5882"/>
            </a:avLst>
          </a:prstGeom>
          <a:solidFill xmlns:a="http://schemas.openxmlformats.org/drawingml/2006/main">
            <a:srgbClr val="1F40CB"/>
          </a:solidFill>
          <a:ln xmlns:a="http://schemas.openxmlformats.org/drawingml/2006/main" w="9525">
            <a:solidFill>
              <a:srgbClr val="FFFFFF"/>
            </a:solidFill>
            <a:prstDash val="solid"/>
          </a:ln>
        </p:spPr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0E2F7603-BBFF-4854-9F2D-F8FF1E3B19D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10000" y="5772150"/>
            <a:ext cx="31242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1275" b="1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800" b="1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max_tool_calls: 5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518F6C86-F0E1-4812-B3DD-797EA0ED5A4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86600" y="5676900"/>
            <a:ext cx="4781550" cy="647700"/>
          </a:xfrm>
          <a:prstGeom xmlns:a="http://schemas.openxmlformats.org/drawingml/2006/main" prst="roundRect">
            <a:avLst>
              <a:gd name="adj" fmla="val 5882"/>
            </a:avLst>
          </a:prstGeom>
          <a:solidFill xmlns:a="http://schemas.openxmlformats.org/drawingml/2006/main">
            <a:srgbClr val="2E8B57"/>
          </a:solidFill>
          <a:ln xmlns:a="http://schemas.openxmlformats.org/drawingml/2006/main" w="9525">
            <a:solidFill>
              <a:srgbClr val="FFFFFF"/>
            </a:solidFill>
            <a:prstDash val="solid"/>
          </a:ln>
        </p:spPr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B9A6A990-C3AB-4ED0-A029-B6138AA5424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81850" y="5772150"/>
            <a:ext cx="459105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1275" b="1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800" b="1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expected replan: 1</a:t>
            </a:r>
          </a:p>
        </p:txBody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24845B58-81DD-48AA-9B5B-C9CA27F8A4A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001500" y="5734050"/>
            <a:ext cx="219075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00000"/>
              </a:lnSpc>
              <a:buNone/>
              <a:defRPr sz="1350" b="1">
                <a:solidFill>
                  <a:srgbClr val="2E8B57"/>
                </a:solidFill>
                <a:latin typeface="Calibri"/>
                <a:ea typeface="Calibri"/>
                <a:cs typeface="Calibri"/>
              </a:defRPr>
            </a:pPr>
            <a:r>
              <a:rPr sz="1800" b="1">
                <a:solidFill>
                  <a:srgbClr val="2E8B57"/>
                </a:solidFill>
                <a:latin typeface="Calibri"/>
                <a:ea typeface="Calibri"/>
                <a:cs typeface="Calibri"/>
              </a:rPr>
              <a:t>BOUNDED</a:t>
            </a:r>
          </a:p>
        </p:txBody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1F021015-2BDE-427C-B7E6-89D40DC755A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714750" y="2819400"/>
            <a:ext cx="28575" cy="3486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4E7E9"/>
          </a:solidFill>
          <a:ln xmlns:a="http://schemas.openxmlformats.org/drawingml/2006/main" w="0">
            <a:solidFill>
              <a:srgbClr val="E4E7E9"/>
            </a:solidFill>
            <a:prstDash val="solid"/>
          </a:ln>
        </p:spPr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B71760BB-B653-4A2F-A39B-D370FC39BF0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8700" y="6838950"/>
            <a:ext cx="13163550" cy="609600"/>
          </a:xfrm>
          <a:prstGeom xmlns:a="http://schemas.openxmlformats.org/drawingml/2006/main" prst="roundRect">
            <a:avLst>
              <a:gd name="adj" fmla="val 12500"/>
            </a:avLst>
          </a:prstGeom>
          <a:solidFill xmlns:a="http://schemas.openxmlformats.org/drawingml/2006/main">
            <a:srgbClr val="FFF1E5"/>
          </a:solidFill>
          <a:ln xmlns:a="http://schemas.openxmlformats.org/drawingml/2006/main" w="9525">
            <a:solidFill>
              <a:srgbClr val="F07D00"/>
            </a:solidFill>
            <a:prstDash val="solid"/>
          </a:ln>
        </p:spPr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0FA73608-CD25-41CB-8836-D0C27AC581F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71600" y="6934200"/>
            <a:ext cx="1247775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1950" b="1">
                <a:solidFill>
                  <a:srgbClr val="051C2A"/>
                </a:solidFill>
                <a:latin typeface="Calibri"/>
                <a:ea typeface="Calibri"/>
                <a:cs typeface="Calibri"/>
              </a:defRPr>
            </a:pPr>
            <a:r>
              <a:rPr sz="1950" b="1">
                <a:solidFill>
                  <a:srgbClr val="051C2A"/>
                </a:solidFill>
                <a:latin typeface="Calibri"/>
                <a:ea typeface="Calibri"/>
                <a:cs typeface="Calibri"/>
              </a:rPr>
              <a:t>dataset_version: agent-cases-v1  |  case_id: reference_completed  |  max_tool_calls: 5</a:t>
            </a:r>
          </a:p>
        </p:txBody>
      </p:sp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63E0B34D-9DCB-48D8-8070-C30B3364EBB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" y="7896225"/>
            <a:ext cx="13525500" cy="285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4E7E9"/>
          </a:solidFill>
          <a:ln xmlns:a="http://schemas.openxmlformats.org/drawingml/2006/main" w="0">
            <a:solidFill>
              <a:srgbClr val="E4E7E9"/>
            </a:solidFill>
            <a:prstDash val="solid"/>
          </a:ln>
        </p:spPr>
      </p:sp>
      <p:sp>
        <p:nvSpPr>
          <p:cNvPr id="31" name="">
            <a:extLst xmlns:a="http://schemas.openxmlformats.org/drawingml/2006/main">
              <a:ext uri="{FF2B5EF4-FFF2-40B4-BE49-F238E27FC236}">
                <a16:creationId xmlns:a16="http://schemas.microsoft.com/office/drawing/2014/main" id="{3EFB9970-6C67-40D6-AFF0-F0FE598EF90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" y="7896225"/>
            <a:ext cx="8001000" cy="38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A2EB"/>
          </a:solidFill>
          <a:ln xmlns:a="http://schemas.openxmlformats.org/drawingml/2006/main" w="0">
            <a:solidFill>
              <a:srgbClr val="00A2EB"/>
            </a:solidFill>
            <a:prstDash val="solid"/>
          </a:ln>
        </p:spPr>
      </p:sp>
      <p:sp>
        <p:nvSpPr>
          <p:cNvPr id="32" name="">
            <a:extLst xmlns:a="http://schemas.openxmlformats.org/drawingml/2006/main">
              <a:ext uri="{FF2B5EF4-FFF2-40B4-BE49-F238E27FC236}">
                <a16:creationId xmlns:a16="http://schemas.microsoft.com/office/drawing/2014/main" id="{3503E1FB-8ACB-4423-AB2C-92A3E103D53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8058150"/>
            <a:ext cx="37147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200" b="0">
                <a:solidFill>
                  <a:srgbClr val="9A9A9F"/>
                </a:solidFill>
                <a:latin typeface="Calibri"/>
                <a:ea typeface="Calibri"/>
                <a:cs typeface="Calibri"/>
              </a:defRPr>
            </a:pPr>
            <a:r>
              <a:rPr sz="1200" b="0">
                <a:solidFill>
                  <a:srgbClr val="9A9A9F"/>
                </a:solidFill>
                <a:latin typeface="Calibri"/>
                <a:ea typeface="Calibri"/>
                <a:cs typeface="Calibri"/>
              </a:rPr>
              <a:t>First Finance - Arnaud Demes</a:t>
            </a:r>
          </a:p>
        </p:txBody>
      </p:sp>
      <p:sp>
        <p:nvSpPr>
          <p:cNvPr id="33" name="">
            <a:extLst xmlns:a="http://schemas.openxmlformats.org/drawingml/2006/main">
              <a:ext uri="{FF2B5EF4-FFF2-40B4-BE49-F238E27FC236}">
                <a16:creationId xmlns:a16="http://schemas.microsoft.com/office/drawing/2014/main" id="{C07028D7-2EEC-4312-806B-59F42D9F1CA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192000" y="8058150"/>
            <a:ext cx="18097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0000"/>
              </a:lnSpc>
              <a:buNone/>
              <a:defRPr sz="1200" b="1">
                <a:solidFill>
                  <a:srgbClr val="9A9A9F"/>
                </a:solidFill>
                <a:latin typeface="Calibri"/>
                <a:ea typeface="Calibri"/>
                <a:cs typeface="Calibri"/>
              </a:defRPr>
            </a:pPr>
            <a:r>
              <a:rPr sz="1200" b="1">
                <a:solidFill>
                  <a:srgbClr val="9A9A9F"/>
                </a:solidFill>
                <a:latin typeface="Calibri"/>
                <a:ea typeface="Calibri"/>
                <a:cs typeface="Calibri"/>
              </a:rPr>
              <a:t>CASE</a:t>
            </a:r>
          </a:p>
        </p:txBody>
      </p:sp>
      <p:sp>
        <p:nvSpPr>
          <p:cNvPr id="34" name="">
            <a:extLst xmlns:a="http://schemas.openxmlformats.org/drawingml/2006/main">
              <a:ext uri="{FF2B5EF4-FFF2-40B4-BE49-F238E27FC236}">
                <a16:creationId xmlns:a16="http://schemas.microsoft.com/office/drawing/2014/main" id="{5334563E-9E00-41F4-886E-137032B6DD0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135100" y="8058150"/>
            <a:ext cx="2667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0000"/>
              </a:lnSpc>
              <a:buNone/>
              <a:defRPr sz="1200" b="1">
                <a:solidFill>
                  <a:srgbClr val="9A9A9F"/>
                </a:solidFill>
                <a:latin typeface="Calibri"/>
                <a:ea typeface="Calibri"/>
                <a:cs typeface="Calibri"/>
              </a:defRPr>
            </a:pPr>
            <a:r>
              <a:rPr sz="1200" b="1">
                <a:solidFill>
                  <a:srgbClr val="9A9A9F"/>
                </a:solidFill>
                <a:latin typeface="Calibri"/>
                <a:ea typeface="Calibri"/>
                <a:cs typeface="Calibri"/>
              </a:rPr>
              <a:t>04</a:t>
            </a:r>
          </a:p>
        </p:txBody>
      </p:sp>
    </p:spTree>
    <p:extLst>
      <p:ext uri="{BB962C8B-B14F-4D97-AF65-F5344CB8AC3E}">
        <p14:creationId xmlns:p14="http://schemas.microsoft.com/office/powerpoint/2010/main" val="926141459"/>
      </p:ext>
    </p:extLst>
  </p:cSld>
</p:sld>
</file>

<file path=ppt/slides/slide5.xml><?xml version="1.0" encoding="utf-8"?>
<p:sld xmlns:p="http://schemas.openxmlformats.org/presentationml/2006/main">
  <p:cSld>
    <p:bg>
      <p:bgPr>
        <a:solidFill xmlns:a="http://schemas.openxmlformats.org/drawingml/2006/main">
          <a:srgbClr val="F5F5F5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5D84E1CF-DA64-4EFC-8528-B207517D3EC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666750"/>
            <a:ext cx="476250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425" b="1">
                <a:solidFill>
                  <a:srgbClr val="1F40CB"/>
                </a:solidFill>
                <a:latin typeface="Calibri"/>
                <a:ea typeface="Calibri"/>
                <a:cs typeface="Calibri"/>
              </a:defRPr>
            </a:pPr>
            <a:r>
              <a:rPr sz="1800" b="1">
                <a:solidFill>
                  <a:srgbClr val="1F40CB"/>
                </a:solidFill>
                <a:latin typeface="Calibri"/>
                <a:ea typeface="Calibri"/>
                <a:cs typeface="Calibri"/>
              </a:rPr>
              <a:t>MLFLOW EVALUATION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0AEDDB7F-E2AD-4762-B051-D3A0AC293CC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1181100"/>
            <a:ext cx="13296900" cy="781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3600" b="1">
                <a:solidFill>
                  <a:srgbClr val="051C2A"/>
                </a:solidFill>
                <a:latin typeface="Calibri"/>
                <a:ea typeface="Calibri"/>
                <a:cs typeface="Calibri"/>
              </a:defRPr>
            </a:pPr>
            <a:r>
              <a:rPr sz="3600" b="1">
                <a:solidFill>
                  <a:srgbClr val="051C2A"/>
                </a:solidFill>
                <a:latin typeface="Calibri"/>
                <a:ea typeface="Calibri"/>
                <a:cs typeface="Calibri"/>
              </a:rPr>
              <a:t>One configuration is one MLflow run</a:t>
            </a:r>
          </a:p>
        </p:txBody>
      </p:sp>
      <p:sp>
        <p:nvSpPr>
          <p:cNvPr id="3" name="decision-source">
            <a:extLst xmlns:a="http://schemas.openxmlformats.org/drawingml/2006/main">
              <a:ext uri="{FF2B5EF4-FFF2-40B4-BE49-F238E27FC236}">
                <a16:creationId xmlns:a16="http://schemas.microsoft.com/office/drawing/2014/main" id="{F0F1628B-25FC-4A7D-9ACB-11ED41518DD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8700" y="2990850"/>
            <a:ext cx="2724150" cy="1562100"/>
          </a:xfrm>
          <a:prstGeom xmlns:a="http://schemas.openxmlformats.org/drawingml/2006/main" prst="roundRect">
            <a:avLst>
              <a:gd name="adj" fmla="val 7317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E4E7E9"/>
            </a:solidFill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62CDE4FD-810A-4BB6-A9E2-9D453E2B432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95400" y="3181350"/>
            <a:ext cx="21907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1350" b="1">
                <a:solidFill>
                  <a:srgbClr val="1F40CB"/>
                </a:solidFill>
                <a:latin typeface="Calibri"/>
                <a:ea typeface="Calibri"/>
                <a:cs typeface="Calibri"/>
              </a:defRPr>
            </a:pPr>
            <a:r>
              <a:rPr sz="1800" b="1">
                <a:solidFill>
                  <a:srgbClr val="1F40CB"/>
                </a:solidFill>
                <a:latin typeface="Calibri"/>
                <a:ea typeface="Calibri"/>
                <a:cs typeface="Calibri"/>
              </a:rPr>
              <a:t>agent-cases-v1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25AA52CC-262C-4723-8C2E-E43262748B6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95400" y="3657600"/>
            <a:ext cx="2190750" cy="647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1650" b="1">
                <a:solidFill>
                  <a:srgbClr val="051C2A"/>
                </a:solidFill>
                <a:latin typeface="Calibri"/>
                <a:ea typeface="Calibri"/>
                <a:cs typeface="Calibri"/>
              </a:defRPr>
            </a:pPr>
            <a:r>
              <a:rPr sz="1650" b="1">
                <a:solidFill>
                  <a:srgbClr val="051C2A"/>
                </a:solidFill>
                <a:latin typeface="Calibri"/>
                <a:ea typeface="Calibri"/>
                <a:cs typeface="Calibri"/>
              </a:rPr>
              <a:t>six aligned cases</a:t>
            </a:r>
          </a:p>
          <a:p xmlns:a="http://schemas.openxmlformats.org/drawingml/2006/main">
            <a:pPr algn="ctr">
              <a:lnSpc>
                <a:spcPct val="100000"/>
              </a:lnSpc>
              <a:buNone/>
              <a:defRPr sz="1650" b="1">
                <a:solidFill>
                  <a:srgbClr val="051C2A"/>
                </a:solidFill>
                <a:latin typeface="Calibri"/>
                <a:ea typeface="Calibri"/>
                <a:cs typeface="Calibri"/>
              </a:defRPr>
            </a:pPr>
            <a:r>
              <a:rPr sz="1650" b="1">
                <a:solidFill>
                  <a:srgbClr val="051C2A"/>
                </a:solidFill>
                <a:latin typeface="Calibri"/>
                <a:ea typeface="Calibri"/>
                <a:cs typeface="Calibri"/>
              </a:rPr>
              <a:t>same dataset hash</a:t>
            </a:r>
          </a:p>
        </p:txBody>
      </p:sp>
      <p:sp>
        <p:nvSpPr>
          <p:cNvPr id="6" name="decision-child">
            <a:extLst xmlns:a="http://schemas.openxmlformats.org/drawingml/2006/main">
              <a:ext uri="{FF2B5EF4-FFF2-40B4-BE49-F238E27FC236}">
                <a16:creationId xmlns:a16="http://schemas.microsoft.com/office/drawing/2014/main" id="{E359D7F5-9555-4867-8587-2F8EC5254E0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62550" y="2857500"/>
            <a:ext cx="3257550" cy="1828800"/>
          </a:xfrm>
          <a:prstGeom xmlns:a="http://schemas.openxmlformats.org/drawingml/2006/main" prst="roundRect">
            <a:avLst>
              <a:gd name="adj" fmla="val 6250"/>
            </a:avLst>
          </a:prstGeom>
          <a:solidFill xmlns:a="http://schemas.openxmlformats.org/drawingml/2006/main">
            <a:srgbClr val="E8F6FB"/>
          </a:solidFill>
          <a:ln xmlns:a="http://schemas.openxmlformats.org/drawingml/2006/main" w="19050">
            <a:solidFill>
              <a:srgbClr val="00A2EB"/>
            </a:solidFill>
            <a:prstDash val="solid"/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14C45E62-2BDC-4F11-8E8E-92ACD6B6E61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67350" y="2914650"/>
            <a:ext cx="264795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1275" b="1">
                <a:solidFill>
                  <a:srgbClr val="00A2EB"/>
                </a:solidFill>
                <a:latin typeface="Calibri"/>
                <a:ea typeface="Calibri"/>
                <a:cs typeface="Calibri"/>
              </a:defRPr>
            </a:pPr>
            <a:r>
              <a:rPr sz="1800" b="1">
                <a:solidFill>
                  <a:srgbClr val="00A2EB"/>
                </a:solidFill>
                <a:latin typeface="Calibri"/>
                <a:ea typeface="Calibri"/>
                <a:cs typeface="Calibri"/>
              </a:rPr>
              <a:t>MLFLOW</a:t>
            </a:r>
          </a:p>
          <a:p xmlns:a="http://schemas.openxmlformats.org/drawingml/2006/main">
            <a:pPr algn="ctr">
              <a:lnSpc>
                <a:spcPct val="100000"/>
              </a:lnSpc>
              <a:buNone/>
              <a:defRPr sz="1275" b="1">
                <a:solidFill>
                  <a:srgbClr val="00A2EB"/>
                </a:solidFill>
                <a:latin typeface="Calibri"/>
                <a:ea typeface="Calibri"/>
                <a:cs typeface="Calibri"/>
              </a:defRPr>
            </a:pPr>
            <a:r>
              <a:rPr sz="1800" b="1">
                <a:solidFill>
                  <a:srgbClr val="00A2EB"/>
                </a:solidFill>
                <a:latin typeface="Calibri"/>
                <a:ea typeface="Calibri"/>
                <a:cs typeface="Calibri"/>
              </a:rPr>
              <a:t>RUN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9FF2A998-C21C-458F-BEED-486513923D8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67350" y="3390900"/>
            <a:ext cx="2647950" cy="800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80000"/>
              </a:lnSpc>
              <a:buNone/>
              <a:defRPr sz="2175" b="1">
                <a:solidFill>
                  <a:srgbClr val="051C2A"/>
                </a:solidFill>
                <a:latin typeface="Calibri"/>
                <a:ea typeface="Calibri"/>
                <a:cs typeface="Calibri"/>
              </a:defRPr>
            </a:pPr>
            <a:r>
              <a:rPr sz="1800" b="1">
                <a:solidFill>
                  <a:srgbClr val="051C2A"/>
                </a:solidFill>
                <a:latin typeface="Calibri"/>
                <a:ea typeface="Calibri"/>
                <a:cs typeface="Calibri"/>
              </a:rPr>
              <a:t>one configuration</a:t>
            </a:r>
          </a:p>
          <a:p xmlns:a="http://schemas.openxmlformats.org/drawingml/2006/main">
            <a:pPr algn="ctr">
              <a:lnSpc>
                <a:spcPct val="80000"/>
              </a:lnSpc>
              <a:buNone/>
              <a:defRPr sz="2175" b="1">
                <a:solidFill>
                  <a:srgbClr val="051C2A"/>
                </a:solidFill>
                <a:latin typeface="Calibri"/>
                <a:ea typeface="Calibri"/>
                <a:cs typeface="Calibri"/>
              </a:defRPr>
            </a:pPr>
            <a:r>
              <a:rPr sz="1800" b="1">
                <a:solidFill>
                  <a:srgbClr val="051C2A"/>
                </a:solidFill>
                <a:latin typeface="Calibri"/>
                <a:ea typeface="Calibri"/>
                <a:cs typeface="Calibri"/>
              </a:rPr>
              <a:t>pure scorers</a:t>
            </a:r>
          </a:p>
          <a:p xmlns:a="http://schemas.openxmlformats.org/drawingml/2006/main">
            <a:pPr algn="ctr">
              <a:lnSpc>
                <a:spcPct val="80000"/>
              </a:lnSpc>
              <a:buNone/>
              <a:defRPr sz="2175" b="1">
                <a:solidFill>
                  <a:srgbClr val="051C2A"/>
                </a:solidFill>
                <a:latin typeface="Calibri"/>
                <a:ea typeface="Calibri"/>
                <a:cs typeface="Calibri"/>
              </a:defRPr>
            </a:pPr>
            <a:r>
              <a:rPr sz="1800" b="1">
                <a:solidFill>
                  <a:srgbClr val="051C2A"/>
                </a:solidFill>
                <a:latin typeface="Calibri"/>
                <a:ea typeface="Calibri"/>
                <a:cs typeface="Calibri"/>
              </a:rPr>
              <a:t>score artifacts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EE8A313B-A32E-4318-B50D-32C786561C8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67350" y="4191000"/>
            <a:ext cx="264795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70000"/>
              </a:lnSpc>
              <a:buNone/>
              <a:defRPr sz="1275" b="0">
                <a:solidFill>
                  <a:srgbClr val="1F40CB"/>
                </a:solidFill>
                <a:latin typeface="Calibri"/>
                <a:ea typeface="Calibri"/>
                <a:cs typeface="Calibri"/>
              </a:defRPr>
            </a:pPr>
            <a:r>
              <a:rPr sz="1800" b="0">
                <a:solidFill>
                  <a:srgbClr val="1F40CB"/>
                </a:solidFill>
                <a:latin typeface="Calibri"/>
                <a:ea typeface="Calibri"/>
                <a:cs typeface="Calibri"/>
              </a:rPr>
              <a:t>ROOT TRACE per case</a:t>
            </a:r>
          </a:p>
        </p:txBody>
      </p:sp>
      <p:sp>
        <p:nvSpPr>
          <p:cNvPr id="10" name="decision-parent">
            <a:extLst xmlns:a="http://schemas.openxmlformats.org/drawingml/2006/main">
              <a:ext uri="{FF2B5EF4-FFF2-40B4-BE49-F238E27FC236}">
                <a16:creationId xmlns:a16="http://schemas.microsoft.com/office/drawing/2014/main" id="{7E8CC043-3F7C-4B5E-B01A-E942C33D874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829800" y="2990850"/>
            <a:ext cx="3543300" cy="1562100"/>
          </a:xfrm>
          <a:prstGeom xmlns:a="http://schemas.openxmlformats.org/drawingml/2006/main" prst="roundRect">
            <a:avLst>
              <a:gd name="adj" fmla="val 7317"/>
            </a:avLst>
          </a:prstGeom>
          <a:solidFill xmlns:a="http://schemas.openxmlformats.org/drawingml/2006/main">
            <a:srgbClr val="062433"/>
          </a:solidFill>
          <a:ln xmlns:a="http://schemas.openxmlformats.org/drawingml/2006/main" w="9525">
            <a:solidFill>
              <a:srgbClr val="062433"/>
            </a:solidFill>
            <a:prstDash val="solid"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0595FD15-7156-4E52-87B2-404D626063B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134600" y="3181350"/>
            <a:ext cx="29337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1350" b="1">
                <a:solidFill>
                  <a:srgbClr val="00A2EB"/>
                </a:solidFill>
                <a:latin typeface="Calibri"/>
                <a:ea typeface="Calibri"/>
                <a:cs typeface="Calibri"/>
              </a:defRPr>
            </a:pPr>
            <a:r>
              <a:rPr sz="1800" b="1">
                <a:solidFill>
                  <a:srgbClr val="00A2EB"/>
                </a:solidFill>
                <a:latin typeface="Calibri"/>
                <a:ea typeface="Calibri"/>
                <a:cs typeface="Calibri"/>
              </a:rPr>
              <a:t>ROOT TRACES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39CEFAC4-B99C-4E5B-B744-4D0EEDB15B0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134600" y="3638550"/>
            <a:ext cx="293370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9033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2100" b="1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2100" b="1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public steps + TOOL calls</a:t>
            </a:r>
          </a:p>
          <a:p xmlns:a="http://schemas.openxmlformats.org/drawingml/2006/main">
            <a:pPr algn="ctr">
              <a:lnSpc>
                <a:spcPct val="100000"/>
              </a:lnSpc>
              <a:buNone/>
              <a:defRPr sz="2100" b="1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2100" b="1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scores + diagnosis</a:t>
            </a:r>
          </a:p>
        </p:txBody>
      </p:sp>
      <p:cxnSp>
        <p:nvCxnSpPr>
          <p:cNvPr id="376" name=""/>
          <p:cNvCxnSpPr>
            <a:stCxn xmlns:a="http://schemas.openxmlformats.org/drawingml/2006/main" id="3" idx="3"/>
            <a:endCxn xmlns:a="http://schemas.openxmlformats.org/drawingml/2006/main" id="6" idx="1"/>
          </p:cNvCxnSpPr>
          <p:nvPr/>
        </p:nvCxnSpPr>
        <p:spPr>
          <a:xfrm xmlns:a="http://schemas.openxmlformats.org/drawingml/2006/main">
            <a:off x="3752850" y="3771900"/>
            <a:ext cx="1409700" cy="0"/>
          </a:xfrm>
          <a:prstGeom xmlns:a="http://schemas.openxmlformats.org/drawingml/2006/main" prst="straightConnector1">
            <a:avLst/>
          </a:prstGeom>
          <a:ln xmlns:a="http://schemas.openxmlformats.org/drawingml/2006/main" w="28575">
            <a:solidFill>
              <a:srgbClr val="F07D00"/>
            </a:solidFill>
            <a:prstDash val="solid"/>
            <a:tailEnd type="triangle" w="med" len="med"/>
          </a:ln>
        </p:spPr>
      </p:cxnSp>
      <p:cxnSp>
        <p:nvCxnSpPr>
          <p:cNvPr id="377" name=""/>
          <p:cNvCxnSpPr>
            <a:stCxn xmlns:a="http://schemas.openxmlformats.org/drawingml/2006/main" id="6" idx="3"/>
            <a:endCxn xmlns:a="http://schemas.openxmlformats.org/drawingml/2006/main" id="10" idx="1"/>
          </p:cNvCxnSpPr>
          <p:nvPr/>
        </p:nvCxnSpPr>
        <p:spPr>
          <a:xfrm xmlns:a="http://schemas.openxmlformats.org/drawingml/2006/main" flipV="0">
            <a:off x="8420100" y="3771900"/>
            <a:ext cx="1409700" cy="0"/>
          </a:xfrm>
          <a:prstGeom xmlns:a="http://schemas.openxmlformats.org/drawingml/2006/main" prst="straightConnector1">
            <a:avLst/>
          </a:prstGeom>
          <a:ln xmlns:a="http://schemas.openxmlformats.org/drawingml/2006/main" w="28575">
            <a:solidFill>
              <a:srgbClr val="F07D00"/>
            </a:solidFill>
            <a:prstDash val="solid"/>
            <a:tailEnd type="triangle" w="med" len="med"/>
          </a:ln>
        </p:spPr>
      </p:cxn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FE1BEF3A-6A25-4B3F-8E60-6108148E558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00200" y="5467350"/>
            <a:ext cx="12039600" cy="1123950"/>
          </a:xfrm>
          <a:prstGeom xmlns:a="http://schemas.openxmlformats.org/drawingml/2006/main" prst="roundRect">
            <a:avLst>
              <a:gd name="adj" fmla="val 8475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E4E7E9"/>
            </a:solidFill>
            <a:prstDash val="solid"/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DFE4947E-2E2C-4D5A-B088-DFED206E71B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943100" y="5638800"/>
            <a:ext cx="24765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275" b="1">
                <a:solidFill>
                  <a:srgbClr val="F07D00"/>
                </a:solidFill>
                <a:latin typeface="Calibri"/>
                <a:ea typeface="Calibri"/>
                <a:cs typeface="Calibri"/>
              </a:defRPr>
            </a:pPr>
            <a:r>
              <a:rPr sz="1800" b="1">
                <a:solidFill>
                  <a:srgbClr val="F07D00"/>
                </a:solidFill>
                <a:latin typeface="Calibri"/>
                <a:ea typeface="Calibri"/>
                <a:cs typeface="Calibri"/>
              </a:rPr>
              <a:t>STORE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DC1A217F-7E45-4462-994A-E1A7947A47F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943100" y="5962650"/>
            <a:ext cx="49530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650" b="1">
                <a:solidFill>
                  <a:srgbClr val="051C2A"/>
                </a:solidFill>
                <a:latin typeface="Calibri"/>
                <a:ea typeface="Calibri"/>
                <a:cs typeface="Calibri"/>
              </a:defRPr>
            </a:pPr>
            <a:r>
              <a:rPr sz="1650" b="1">
                <a:solidFill>
                  <a:srgbClr val="051C2A"/>
                </a:solidFill>
                <a:latin typeface="Calibri"/>
                <a:ea typeface="Calibri"/>
                <a:cs typeface="Calibri"/>
              </a:rPr>
              <a:t>one run per configuration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4B74CAF0-D3F9-408B-B959-2864FA7108B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86650" y="5638800"/>
            <a:ext cx="28575" cy="7429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4E7E9"/>
          </a:solidFill>
          <a:ln xmlns:a="http://schemas.openxmlformats.org/drawingml/2006/main" w="0">
            <a:solidFill>
              <a:srgbClr val="E4E7E9"/>
            </a:solidFill>
            <a:prstDash val="solid"/>
          </a:ln>
        </p:spPr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F6C058E3-0326-4715-852F-1F8B32F61FB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67650" y="5638800"/>
            <a:ext cx="31432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275" b="1">
                <a:solidFill>
                  <a:srgbClr val="00A2EB"/>
                </a:solidFill>
                <a:latin typeface="Calibri"/>
                <a:ea typeface="Calibri"/>
                <a:cs typeface="Calibri"/>
              </a:defRPr>
            </a:pPr>
            <a:r>
              <a:rPr sz="1800" b="1">
                <a:solidFill>
                  <a:srgbClr val="00A2EB"/>
                </a:solidFill>
                <a:latin typeface="Calibri"/>
                <a:ea typeface="Calibri"/>
                <a:cs typeface="Calibri"/>
              </a:rPr>
              <a:t>COMPARE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0AA9B25E-ADFB-4067-BF4C-46A5AE9FE83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67650" y="5962650"/>
            <a:ext cx="51435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650" b="1">
                <a:solidFill>
                  <a:srgbClr val="051C2A"/>
                </a:solidFill>
                <a:latin typeface="Calibri"/>
                <a:ea typeface="Calibri"/>
                <a:cs typeface="Calibri"/>
              </a:defRPr>
            </a:pPr>
            <a:r>
              <a:rPr sz="1650" b="1">
                <a:solidFill>
                  <a:srgbClr val="051C2A"/>
                </a:solidFill>
                <a:latin typeface="Calibri"/>
                <a:ea typeface="Calibri"/>
                <a:cs typeface="Calibri"/>
              </a:rPr>
              <a:t>same cases and five metrics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BCAA4B4E-BD27-48A6-A4E1-ACF33C620C4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8700" y="7086600"/>
            <a:ext cx="15240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350" b="1">
                <a:solidFill>
                  <a:srgbClr val="F07D00"/>
                </a:solidFill>
                <a:latin typeface="Calibri"/>
                <a:ea typeface="Calibri"/>
                <a:cs typeface="Calibri"/>
              </a:defRPr>
            </a:pPr>
            <a:r>
              <a:rPr sz="1800" b="1">
                <a:solidFill>
                  <a:srgbClr val="F07D00"/>
                </a:solidFill>
                <a:latin typeface="Calibri"/>
                <a:ea typeface="Calibri"/>
                <a:cs typeface="Calibri"/>
              </a:rPr>
              <a:t>MLFLOW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539B97AA-C4C9-4A8D-997E-C7AD0F311AD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705100" y="6991350"/>
            <a:ext cx="1141095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875" b="1">
                <a:solidFill>
                  <a:srgbClr val="1F40CB"/>
                </a:solidFill>
                <a:latin typeface="Calibri"/>
                <a:ea typeface="Calibri"/>
                <a:cs typeface="Calibri"/>
              </a:defRPr>
            </a:pPr>
            <a:r>
              <a:rPr sz="1875" b="1">
                <a:solidFill>
                  <a:srgbClr val="1F40CB"/>
                </a:solidFill>
                <a:latin typeface="Calibri"/>
                <a:ea typeface="Calibri"/>
                <a:cs typeface="Calibri"/>
              </a:rPr>
              <a:t>Cases flow through pure scorers; MLflow records evidence.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3CA8D079-E333-430B-9198-F3840FF4222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" y="7896225"/>
            <a:ext cx="13525500" cy="285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4E7E9"/>
          </a:solidFill>
          <a:ln xmlns:a="http://schemas.openxmlformats.org/drawingml/2006/main" w="0">
            <a:solidFill>
              <a:srgbClr val="E4E7E9"/>
            </a:solidFill>
            <a:prstDash val="solid"/>
          </a:ln>
        </p:spPr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56B1FA6E-7D19-4BD4-95AB-A7A96F2D9D4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" y="7896225"/>
            <a:ext cx="8001000" cy="38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A2EB"/>
          </a:solidFill>
          <a:ln xmlns:a="http://schemas.openxmlformats.org/drawingml/2006/main" w="0">
            <a:solidFill>
              <a:srgbClr val="00A2EB"/>
            </a:solidFill>
            <a:prstDash val="solid"/>
          </a:ln>
        </p:spPr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C621D69C-B05C-4F0B-A6BD-0B4E43C7FA7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8058150"/>
            <a:ext cx="37147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200" b="0">
                <a:solidFill>
                  <a:srgbClr val="9A9A9F"/>
                </a:solidFill>
                <a:latin typeface="Calibri"/>
                <a:ea typeface="Calibri"/>
                <a:cs typeface="Calibri"/>
              </a:defRPr>
            </a:pPr>
            <a:r>
              <a:rPr sz="1200" b="0">
                <a:solidFill>
                  <a:srgbClr val="9A9A9F"/>
                </a:solidFill>
                <a:latin typeface="Calibri"/>
                <a:ea typeface="Calibri"/>
                <a:cs typeface="Calibri"/>
              </a:rPr>
              <a:t>First Finance - Arnaud Demes</a:t>
            </a:r>
          </a:p>
        </p:txBody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84A9C6EC-5AC1-4AD4-9D79-D0462CD0122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192000" y="8058150"/>
            <a:ext cx="18097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0000"/>
              </a:lnSpc>
              <a:buNone/>
              <a:defRPr sz="1200" b="1">
                <a:solidFill>
                  <a:srgbClr val="9A9A9F"/>
                </a:solidFill>
                <a:latin typeface="Calibri"/>
                <a:ea typeface="Calibri"/>
                <a:cs typeface="Calibri"/>
              </a:defRPr>
            </a:pPr>
            <a:r>
              <a:rPr sz="1200" b="1">
                <a:solidFill>
                  <a:srgbClr val="9A9A9F"/>
                </a:solidFill>
                <a:latin typeface="Calibri"/>
                <a:ea typeface="Calibri"/>
                <a:cs typeface="Calibri"/>
              </a:rPr>
              <a:t>RUN</a:t>
            </a:r>
          </a:p>
        </p:txBody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E30F561A-2997-41E1-8361-56739584F87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135100" y="8058150"/>
            <a:ext cx="2667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0000"/>
              </a:lnSpc>
              <a:buNone/>
              <a:defRPr sz="1200" b="1">
                <a:solidFill>
                  <a:srgbClr val="9A9A9F"/>
                </a:solidFill>
                <a:latin typeface="Calibri"/>
                <a:ea typeface="Calibri"/>
                <a:cs typeface="Calibri"/>
              </a:defRPr>
            </a:pPr>
            <a:r>
              <a:rPr sz="1200" b="1">
                <a:solidFill>
                  <a:srgbClr val="9A9A9F"/>
                </a:solidFill>
                <a:latin typeface="Calibri"/>
                <a:ea typeface="Calibri"/>
                <a:cs typeface="Calibri"/>
              </a:rPr>
              <a:t>05</a:t>
            </a:r>
          </a:p>
        </p:txBody>
      </p:sp>
    </p:spTree>
    <p:extLst>
      <p:ext uri="{BB962C8B-B14F-4D97-AF65-F5344CB8AC3E}">
        <p14:creationId xmlns:p14="http://schemas.microsoft.com/office/powerpoint/2010/main" val="1663571577"/>
      </p:ext>
    </p:extLst>
  </p:cSld>
</p:sld>
</file>

<file path=ppt/slides/slide6.xml><?xml version="1.0" encoding="utf-8"?>
<p:sld xmlns:p="http://schemas.openxmlformats.org/presentationml/2006/main">
  <p:cSld>
    <p:bg>
      <p:bgPr>
        <a:solidFill xmlns:a="http://schemas.openxmlformats.org/drawingml/2006/main">
          <a:srgbClr val="F5F5F5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5" name="">
            <a:extLst xmlns:a="http://schemas.openxmlformats.org/drawingml/2006/main">
              <a:ext uri="{FF2B5EF4-FFF2-40B4-BE49-F238E27FC236}">
                <a16:creationId xmlns:a16="http://schemas.microsoft.com/office/drawing/2014/main" id="{45EAFBC5-0120-406B-9113-A189734D7D2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666750"/>
            <a:ext cx="476250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425" b="1">
                <a:solidFill>
                  <a:srgbClr val="1F40CB"/>
                </a:solidFill>
                <a:latin typeface="Calibri"/>
                <a:ea typeface="Calibri"/>
                <a:cs typeface="Calibri"/>
              </a:defRPr>
            </a:pPr>
            <a:r>
              <a:rPr sz="1800" b="1">
                <a:solidFill>
                  <a:srgbClr val="1F40CB"/>
                </a:solidFill>
                <a:latin typeface="Calibri"/>
                <a:ea typeface="Calibri"/>
                <a:cs typeface="Calibri"/>
              </a:rPr>
              <a:t>ROOT TRACE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E788E1BA-062C-4D13-89C4-9762E55DD5F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1181100"/>
            <a:ext cx="13296900" cy="781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3600" b="1">
                <a:solidFill>
                  <a:srgbClr val="051C2A"/>
                </a:solidFill>
                <a:latin typeface="Calibri"/>
                <a:ea typeface="Calibri"/>
                <a:cs typeface="Calibri"/>
              </a:defRPr>
            </a:pPr>
            <a:r>
              <a:rPr sz="3600" b="1">
                <a:solidFill>
                  <a:srgbClr val="051C2A"/>
                </a:solidFill>
                <a:latin typeface="Calibri"/>
                <a:ea typeface="Calibri"/>
                <a:cs typeface="Calibri"/>
              </a:rPr>
              <a:t>Read one trace from plan to report</a:t>
            </a:r>
          </a:p>
        </p:txBody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79128475-820B-447C-A724-7D8A31328FF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381250" y="6210300"/>
            <a:ext cx="104775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2100" b="1">
                <a:solidFill>
                  <a:srgbClr val="051C2A"/>
                </a:solidFill>
                <a:latin typeface="Calibri"/>
                <a:ea typeface="Calibri"/>
                <a:cs typeface="Calibri"/>
              </a:defRPr>
            </a:pPr>
            <a:r>
              <a:rPr sz="2100" b="1">
                <a:solidFill>
                  <a:srgbClr val="051C2A"/>
                </a:solidFill>
                <a:latin typeface="Calibri"/>
                <a:ea typeface="Calibri"/>
                <a:cs typeface="Calibri"/>
              </a:rPr>
              <a:t>Post-error success must clear the evidence gate before report.</a:t>
            </a:r>
          </a:p>
        </p:txBody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685F2AAD-81FC-436A-88F7-89F49C9F167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885950" y="6838950"/>
            <a:ext cx="44767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1500" b="0">
                <a:solidFill>
                  <a:srgbClr val="64748B"/>
                </a:solidFill>
                <a:latin typeface="Calibri"/>
                <a:ea typeface="Calibri"/>
                <a:cs typeface="Calibri"/>
              </a:defRPr>
            </a:pPr>
            <a:r>
              <a:rPr sz="1500" b="0">
                <a:solidFill>
                  <a:srgbClr val="64748B"/>
                </a:solidFill>
                <a:latin typeface="Calibri"/>
                <a:ea typeface="Calibri"/>
                <a:cs typeface="Calibri"/>
              </a:rPr>
              <a:t>typed error retained</a:t>
            </a:r>
          </a:p>
        </p:txBody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CDE04AD7-6CBE-4792-B549-765578FB3E1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01100" y="6838950"/>
            <a:ext cx="47625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1500" b="0">
                <a:solidFill>
                  <a:srgbClr val="64748B"/>
                </a:solidFill>
                <a:latin typeface="Calibri"/>
                <a:ea typeface="Calibri"/>
                <a:cs typeface="Calibri"/>
              </a:defRPr>
            </a:pPr>
            <a:r>
              <a:rPr sz="1500" b="0">
                <a:solidFill>
                  <a:srgbClr val="64748B"/>
                </a:solidFill>
                <a:latin typeface="Calibri"/>
                <a:ea typeface="Calibri"/>
                <a:cs typeface="Calibri"/>
              </a:rPr>
              <a:t>bounded recovery succeeds</a:t>
            </a:r>
          </a:p>
        </p:txBody>
      </p:sp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28CBA7AE-993C-4F84-A696-8D1323AC4E8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" y="7896225"/>
            <a:ext cx="13525500" cy="285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4E7E9"/>
          </a:solidFill>
          <a:ln xmlns:a="http://schemas.openxmlformats.org/drawingml/2006/main" w="0">
            <a:solidFill>
              <a:srgbClr val="E4E7E9"/>
            </a:solidFill>
            <a:prstDash val="solid"/>
          </a:ln>
        </p:spPr>
      </p:sp>
      <p:sp>
        <p:nvSpPr>
          <p:cNvPr id="31" name="">
            <a:extLst xmlns:a="http://schemas.openxmlformats.org/drawingml/2006/main">
              <a:ext uri="{FF2B5EF4-FFF2-40B4-BE49-F238E27FC236}">
                <a16:creationId xmlns:a16="http://schemas.microsoft.com/office/drawing/2014/main" id="{DE97BF4D-EDBC-4480-A82B-512A7222195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" y="7896225"/>
            <a:ext cx="8001000" cy="38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A2EB"/>
          </a:solidFill>
          <a:ln xmlns:a="http://schemas.openxmlformats.org/drawingml/2006/main" w="0">
            <a:solidFill>
              <a:srgbClr val="00A2EB"/>
            </a:solidFill>
            <a:prstDash val="solid"/>
          </a:ln>
        </p:spPr>
      </p:sp>
      <p:sp>
        <p:nvSpPr>
          <p:cNvPr id="32" name="">
            <a:extLst xmlns:a="http://schemas.openxmlformats.org/drawingml/2006/main">
              <a:ext uri="{FF2B5EF4-FFF2-40B4-BE49-F238E27FC236}">
                <a16:creationId xmlns:a16="http://schemas.microsoft.com/office/drawing/2014/main" id="{49281B64-2F0F-4357-A085-C65451F2823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8058150"/>
            <a:ext cx="37147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200" b="0">
                <a:solidFill>
                  <a:srgbClr val="9A9A9F"/>
                </a:solidFill>
                <a:latin typeface="Calibri"/>
                <a:ea typeface="Calibri"/>
                <a:cs typeface="Calibri"/>
              </a:defRPr>
            </a:pPr>
            <a:r>
              <a:rPr sz="1200" b="0">
                <a:solidFill>
                  <a:srgbClr val="9A9A9F"/>
                </a:solidFill>
                <a:latin typeface="Calibri"/>
                <a:ea typeface="Calibri"/>
                <a:cs typeface="Calibri"/>
              </a:rPr>
              <a:t>First Finance - Arnaud Demes</a:t>
            </a:r>
          </a:p>
        </p:txBody>
      </p:sp>
      <p:sp>
        <p:nvSpPr>
          <p:cNvPr id="33" name="">
            <a:extLst xmlns:a="http://schemas.openxmlformats.org/drawingml/2006/main">
              <a:ext uri="{FF2B5EF4-FFF2-40B4-BE49-F238E27FC236}">
                <a16:creationId xmlns:a16="http://schemas.microsoft.com/office/drawing/2014/main" id="{EAA325A4-7EC6-42CE-A13A-4B38A32DE7F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192000" y="8058150"/>
            <a:ext cx="18097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0000"/>
              </a:lnSpc>
              <a:buNone/>
              <a:defRPr sz="1200" b="1">
                <a:solidFill>
                  <a:srgbClr val="9A9A9F"/>
                </a:solidFill>
                <a:latin typeface="Calibri"/>
                <a:ea typeface="Calibri"/>
                <a:cs typeface="Calibri"/>
              </a:defRPr>
            </a:pPr>
            <a:r>
              <a:rPr sz="1200" b="1">
                <a:solidFill>
                  <a:srgbClr val="9A9A9F"/>
                </a:solidFill>
                <a:latin typeface="Calibri"/>
                <a:ea typeface="Calibri"/>
                <a:cs typeface="Calibri"/>
              </a:rPr>
              <a:t>TRACE</a:t>
            </a:r>
          </a:p>
        </p:txBody>
      </p:sp>
      <p:sp>
        <p:nvSpPr>
          <p:cNvPr id="34" name="">
            <a:extLst xmlns:a="http://schemas.openxmlformats.org/drawingml/2006/main">
              <a:ext uri="{FF2B5EF4-FFF2-40B4-BE49-F238E27FC236}">
                <a16:creationId xmlns:a16="http://schemas.microsoft.com/office/drawing/2014/main" id="{5F7FB65A-4A0D-4595-92F4-FD9B7163884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135100" y="8058150"/>
            <a:ext cx="2667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0000"/>
              </a:lnSpc>
              <a:buNone/>
              <a:defRPr sz="1200" b="1">
                <a:solidFill>
                  <a:srgbClr val="9A9A9F"/>
                </a:solidFill>
                <a:latin typeface="Calibri"/>
                <a:ea typeface="Calibri"/>
                <a:cs typeface="Calibri"/>
              </a:defRPr>
            </a:pPr>
            <a:r>
              <a:rPr sz="1200" b="1">
                <a:solidFill>
                  <a:srgbClr val="9A9A9F"/>
                </a:solidFill>
                <a:latin typeface="Calibri"/>
                <a:ea typeface="Calibri"/>
                <a:cs typeface="Calibri"/>
              </a:rPr>
              <a:t>06</a:t>
            </a:r>
          </a:p>
        </p:txBody>
      </p:sp>
      <p:sp>
        <p:nvSpPr>
          <p:cNvPr id="36" name="trace-stage-1">
            <a:extLst xmlns:a="http://schemas.openxmlformats.org/drawingml/2006/main">
              <a:ext uri="{FF2B5EF4-FFF2-40B4-BE49-F238E27FC236}">
                <a16:creationId xmlns:a16="http://schemas.microsoft.com/office/drawing/2014/main" id="{EA7513CE-170F-4519-B383-AF1A0926F87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0600" y="3048000"/>
            <a:ext cx="1771650" cy="2286000"/>
          </a:xfrm>
          <a:prstGeom xmlns:a="http://schemas.openxmlformats.org/drawingml/2006/main" prst="roundRect">
            <a:avLst>
              <a:gd name="adj" fmla="val 6452"/>
            </a:avLst>
          </a:prstGeom>
          <a:noFill xmlns:a="http://schemas.openxmlformats.org/drawingml/2006/main"/>
          <a:ln xmlns:a="http://schemas.openxmlformats.org/drawingml/2006/main" w="9525">
            <a:solidFill>
              <a:srgbClr val="E4E7E9"/>
            </a:solidFill>
            <a:prstDash val="solid"/>
          </a:ln>
        </p:spPr>
      </p:sp>
      <p:sp>
        <p:nvSpPr>
          <p:cNvPr id="37" name="trace-stage-1-step">
            <a:extLst xmlns:a="http://schemas.openxmlformats.org/drawingml/2006/main">
              <a:ext uri="{FF2B5EF4-FFF2-40B4-BE49-F238E27FC236}">
                <a16:creationId xmlns:a16="http://schemas.microsoft.com/office/drawing/2014/main" id="{67D7FEA0-BD75-4BAE-803A-210231C3B54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62050" y="3238500"/>
            <a:ext cx="5334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500" b="1">
                <a:solidFill>
                  <a:srgbClr val="00A2EB"/>
                </a:solidFill>
              </a:defRPr>
            </a:pPr>
            <a:r>
              <a:rPr sz="1500" b="1">
                <a:solidFill>
                  <a:srgbClr val="00A2EB"/>
                </a:solidFill>
              </a:rPr>
              <a:t>01</a:t>
            </a:r>
          </a:p>
        </p:txBody>
      </p:sp>
      <p:sp>
        <p:nvSpPr>
          <p:cNvPr id="38" name="trace-stage-1-title">
            <a:extLst xmlns:a="http://schemas.openxmlformats.org/drawingml/2006/main">
              <a:ext uri="{FF2B5EF4-FFF2-40B4-BE49-F238E27FC236}">
                <a16:creationId xmlns:a16="http://schemas.microsoft.com/office/drawing/2014/main" id="{F46221E3-E20E-4ED8-B523-2716C9BAD7E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" y="3733800"/>
            <a:ext cx="1543050" cy="590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1575" b="1">
                <a:solidFill>
                  <a:srgbClr val="0A2030"/>
                </a:solidFill>
              </a:defRPr>
            </a:pPr>
            <a:r>
              <a:rPr sz="1575" b="1">
                <a:solidFill>
                  <a:srgbClr val="0A2030"/>
                </a:solidFill>
              </a:rPr>
              <a:t>PLAN</a:t>
            </a:r>
          </a:p>
        </p:txBody>
      </p:sp>
      <p:sp>
        <p:nvSpPr>
          <p:cNvPr id="39" name="trace-stage-1-body">
            <a:extLst xmlns:a="http://schemas.openxmlformats.org/drawingml/2006/main">
              <a:ext uri="{FF2B5EF4-FFF2-40B4-BE49-F238E27FC236}">
                <a16:creationId xmlns:a16="http://schemas.microsoft.com/office/drawing/2014/main" id="{D1B29EEE-C8B0-4827-BFFE-35C898FB705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8700" y="4533900"/>
            <a:ext cx="169545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1200" b="0">
                <a:solidFill>
                  <a:srgbClr val="1F40CB"/>
                </a:solidFill>
              </a:defRPr>
            </a:pPr>
            <a:r>
              <a:rPr sz="1200" b="0">
                <a:solidFill>
                  <a:srgbClr val="1F40CB"/>
                </a:solidFill>
              </a:rPr>
              <a:t>mission +</a:t>
            </a:r>
          </a:p>
          <a:p xmlns:a="http://schemas.openxmlformats.org/drawingml/2006/main">
            <a:pPr algn="ctr">
              <a:defRPr sz="1200" b="0">
                <a:solidFill>
                  <a:srgbClr val="1F40CB"/>
                </a:solidFill>
              </a:defRPr>
            </a:pPr>
            <a:r>
              <a:rPr sz="1200" b="0">
                <a:solidFill>
                  <a:srgbClr val="1F40CB"/>
                </a:solidFill>
              </a:rPr>
              <a:t>typed steps</a:t>
            </a:r>
          </a:p>
        </p:txBody>
      </p:sp>
      <p:sp>
        <p:nvSpPr>
          <p:cNvPr id="40" name="trace-stage-2">
            <a:extLst xmlns:a="http://schemas.openxmlformats.org/drawingml/2006/main">
              <a:ext uri="{FF2B5EF4-FFF2-40B4-BE49-F238E27FC236}">
                <a16:creationId xmlns:a16="http://schemas.microsoft.com/office/drawing/2014/main" id="{65B12F75-F768-4BE1-9084-C180190E382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943225" y="3048000"/>
            <a:ext cx="1771650" cy="2286000"/>
          </a:xfrm>
          <a:prstGeom xmlns:a="http://schemas.openxmlformats.org/drawingml/2006/main" prst="roundRect">
            <a:avLst>
              <a:gd name="adj" fmla="val 6452"/>
            </a:avLst>
          </a:prstGeom>
          <a:noFill xmlns:a="http://schemas.openxmlformats.org/drawingml/2006/main"/>
          <a:ln xmlns:a="http://schemas.openxmlformats.org/drawingml/2006/main" w="9525">
            <a:solidFill>
              <a:srgbClr val="E4E7E9"/>
            </a:solidFill>
            <a:prstDash val="solid"/>
          </a:ln>
        </p:spPr>
      </p:sp>
      <p:sp>
        <p:nvSpPr>
          <p:cNvPr id="41" name="trace-stage-2-step">
            <a:extLst xmlns:a="http://schemas.openxmlformats.org/drawingml/2006/main">
              <a:ext uri="{FF2B5EF4-FFF2-40B4-BE49-F238E27FC236}">
                <a16:creationId xmlns:a16="http://schemas.microsoft.com/office/drawing/2014/main" id="{63D6C81A-FC0E-4E18-B82B-7DC9F9B4A59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114675" y="3238500"/>
            <a:ext cx="5334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500" b="1">
                <a:solidFill>
                  <a:srgbClr val="00A2EB"/>
                </a:solidFill>
              </a:defRPr>
            </a:pPr>
            <a:r>
              <a:rPr sz="1500" b="1">
                <a:solidFill>
                  <a:srgbClr val="00A2EB"/>
                </a:solidFill>
              </a:rPr>
              <a:t>02</a:t>
            </a:r>
          </a:p>
        </p:txBody>
      </p:sp>
      <p:sp>
        <p:nvSpPr>
          <p:cNvPr id="42" name="trace-stage-2-title">
            <a:extLst xmlns:a="http://schemas.openxmlformats.org/drawingml/2006/main">
              <a:ext uri="{FF2B5EF4-FFF2-40B4-BE49-F238E27FC236}">
                <a16:creationId xmlns:a16="http://schemas.microsoft.com/office/drawing/2014/main" id="{07FF58E4-B114-4034-B0EF-B2F909BB2F2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57525" y="3733800"/>
            <a:ext cx="1543050" cy="590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1575" b="1">
                <a:solidFill>
                  <a:srgbClr val="0A2030"/>
                </a:solidFill>
              </a:defRPr>
            </a:pPr>
            <a:r>
              <a:rPr sz="1575" b="1">
                <a:solidFill>
                  <a:srgbClr val="0A2030"/>
                </a:solidFill>
              </a:rPr>
              <a:t>PLAN GATE</a:t>
            </a:r>
          </a:p>
        </p:txBody>
      </p:sp>
      <p:sp>
        <p:nvSpPr>
          <p:cNvPr id="43" name="trace-stage-2-body">
            <a:extLst xmlns:a="http://schemas.openxmlformats.org/drawingml/2006/main">
              <a:ext uri="{FF2B5EF4-FFF2-40B4-BE49-F238E27FC236}">
                <a16:creationId xmlns:a16="http://schemas.microsoft.com/office/drawing/2014/main" id="{F8D56BB3-49F3-4446-BF77-B669E57FBBC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981325" y="4533900"/>
            <a:ext cx="169545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1200" b="0">
                <a:solidFill>
                  <a:srgbClr val="1F40CB"/>
                </a:solidFill>
              </a:defRPr>
            </a:pPr>
            <a:r>
              <a:rPr sz="1200" b="0">
                <a:solidFill>
                  <a:srgbClr val="1F40CB"/>
                </a:solidFill>
              </a:rPr>
              <a:t>schema +</a:t>
            </a:r>
          </a:p>
          <a:p xmlns:a="http://schemas.openxmlformats.org/drawingml/2006/main">
            <a:pPr algn="ctr">
              <a:defRPr sz="1200" b="0">
                <a:solidFill>
                  <a:srgbClr val="1F40CB"/>
                </a:solidFill>
              </a:defRPr>
            </a:pPr>
            <a:r>
              <a:rPr sz="1200" b="0">
                <a:solidFill>
                  <a:srgbClr val="1F40CB"/>
                </a:solidFill>
              </a:rPr>
              <a:t>budget</a:t>
            </a:r>
          </a:p>
        </p:txBody>
      </p:sp>
      <p:sp>
        <p:nvSpPr>
          <p:cNvPr id="44" name="trace-stage-3">
            <a:extLst xmlns:a="http://schemas.openxmlformats.org/drawingml/2006/main">
              <a:ext uri="{FF2B5EF4-FFF2-40B4-BE49-F238E27FC236}">
                <a16:creationId xmlns:a16="http://schemas.microsoft.com/office/drawing/2014/main" id="{338B1008-D419-4DB3-9570-40EC9F703C4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895850" y="3048000"/>
            <a:ext cx="1771650" cy="2286000"/>
          </a:xfrm>
          <a:prstGeom xmlns:a="http://schemas.openxmlformats.org/drawingml/2006/main" prst="roundRect">
            <a:avLst>
              <a:gd name="adj" fmla="val 6452"/>
            </a:avLst>
          </a:prstGeom>
          <a:noFill xmlns:a="http://schemas.openxmlformats.org/drawingml/2006/main"/>
          <a:ln xmlns:a="http://schemas.openxmlformats.org/drawingml/2006/main" w="19050">
            <a:solidFill>
              <a:srgbClr val="051C2A"/>
            </a:solidFill>
            <a:prstDash val="solid"/>
          </a:ln>
        </p:spPr>
      </p:sp>
      <p:sp>
        <p:nvSpPr>
          <p:cNvPr id="45" name="trace-stage-3-step">
            <a:extLst xmlns:a="http://schemas.openxmlformats.org/drawingml/2006/main">
              <a:ext uri="{FF2B5EF4-FFF2-40B4-BE49-F238E27FC236}">
                <a16:creationId xmlns:a16="http://schemas.microsoft.com/office/drawing/2014/main" id="{900A3379-3E75-4D8E-A6DE-9540E7365D2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67300" y="3238500"/>
            <a:ext cx="5334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500" b="1">
                <a:solidFill>
                  <a:srgbClr val="00A2EB"/>
                </a:solidFill>
              </a:defRPr>
            </a:pPr>
            <a:r>
              <a:rPr sz="1500" b="1">
                <a:solidFill>
                  <a:srgbClr val="00A2EB"/>
                </a:solidFill>
              </a:rPr>
              <a:t>03</a:t>
            </a:r>
          </a:p>
        </p:txBody>
      </p:sp>
      <p:sp>
        <p:nvSpPr>
          <p:cNvPr id="46" name="trace-stage-3-title">
            <a:extLst xmlns:a="http://schemas.openxmlformats.org/drawingml/2006/main">
              <a:ext uri="{FF2B5EF4-FFF2-40B4-BE49-F238E27FC236}">
                <a16:creationId xmlns:a16="http://schemas.microsoft.com/office/drawing/2014/main" id="{E9F01598-46EE-4682-BBA2-2356503767C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10150" y="3733800"/>
            <a:ext cx="1543050" cy="590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1575" b="1">
                <a:solidFill>
                  <a:srgbClr val="0A2030"/>
                </a:solidFill>
              </a:defRPr>
            </a:pPr>
            <a:r>
              <a:rPr sz="1575" b="1">
                <a:solidFill>
                  <a:srgbClr val="0A2030"/>
                </a:solidFill>
              </a:rPr>
              <a:t>TOOL</a:t>
            </a:r>
          </a:p>
          <a:p xmlns:a="http://schemas.openxmlformats.org/drawingml/2006/main">
            <a:pPr algn="ctr">
              <a:defRPr sz="1575" b="1">
                <a:solidFill>
                  <a:srgbClr val="0A2030"/>
                </a:solidFill>
              </a:defRPr>
            </a:pPr>
            <a:r>
              <a:rPr sz="1575" b="1">
                <a:solidFill>
                  <a:srgbClr val="0A2030"/>
                </a:solidFill>
              </a:rPr>
              <a:t>ATTEMPTS</a:t>
            </a:r>
          </a:p>
        </p:txBody>
      </p:sp>
      <p:sp>
        <p:nvSpPr>
          <p:cNvPr id="47" name="trace-stage-3-body">
            <a:extLst xmlns:a="http://schemas.openxmlformats.org/drawingml/2006/main">
              <a:ext uri="{FF2B5EF4-FFF2-40B4-BE49-F238E27FC236}">
                <a16:creationId xmlns:a16="http://schemas.microsoft.com/office/drawing/2014/main" id="{0563448A-43C5-4965-BC67-DFCE3D58FA2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33950" y="4533900"/>
            <a:ext cx="169545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1200" b="0">
                <a:solidFill>
                  <a:srgbClr val="F07D00"/>
                </a:solidFill>
              </a:defRPr>
            </a:pPr>
            <a:r>
              <a:rPr sz="1200" b="0">
                <a:solidFill>
                  <a:srgbClr val="F07D00"/>
                </a:solidFill>
              </a:rPr>
              <a:t>attempts 1-3</a:t>
            </a:r>
          </a:p>
          <a:p xmlns:a="http://schemas.openxmlformats.org/drawingml/2006/main">
            <a:pPr algn="ctr">
              <a:defRPr sz="1200" b="0">
                <a:solidFill>
                  <a:srgbClr val="F07D00"/>
                </a:solidFill>
              </a:defRPr>
            </a:pPr>
            <a:r>
              <a:rPr sz="1200" b="0">
                <a:solidFill>
                  <a:srgbClr val="F07D00"/>
                </a:solidFill>
              </a:rPr>
              <a:t>unsupported_metric</a:t>
            </a:r>
          </a:p>
        </p:txBody>
      </p:sp>
      <p:sp>
        <p:nvSpPr>
          <p:cNvPr id="48" name="trace-stage-4">
            <a:extLst xmlns:a="http://schemas.openxmlformats.org/drawingml/2006/main">
              <a:ext uri="{FF2B5EF4-FFF2-40B4-BE49-F238E27FC236}">
                <a16:creationId xmlns:a16="http://schemas.microsoft.com/office/drawing/2014/main" id="{C3B10C6A-E59F-4187-A6D6-6A05FE85183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48475" y="3048000"/>
            <a:ext cx="1771650" cy="2286000"/>
          </a:xfrm>
          <a:prstGeom xmlns:a="http://schemas.openxmlformats.org/drawingml/2006/main" prst="roundRect">
            <a:avLst>
              <a:gd name="adj" fmla="val 6452"/>
            </a:avLst>
          </a:prstGeom>
          <a:noFill xmlns:a="http://schemas.openxmlformats.org/drawingml/2006/main"/>
          <a:ln xmlns:a="http://schemas.openxmlformats.org/drawingml/2006/main" w="19050">
            <a:solidFill>
              <a:srgbClr val="F07D00"/>
            </a:solidFill>
            <a:prstDash val="solid"/>
          </a:ln>
        </p:spPr>
      </p:sp>
      <p:sp>
        <p:nvSpPr>
          <p:cNvPr id="49" name="trace-stage-4-step">
            <a:extLst xmlns:a="http://schemas.openxmlformats.org/drawingml/2006/main">
              <a:ext uri="{FF2B5EF4-FFF2-40B4-BE49-F238E27FC236}">
                <a16:creationId xmlns:a16="http://schemas.microsoft.com/office/drawing/2014/main" id="{8BF90EA8-2443-4E4C-B53A-B022E697EBF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19925" y="3238500"/>
            <a:ext cx="5334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500" b="1">
                <a:solidFill>
                  <a:srgbClr val="00A2EB"/>
                </a:solidFill>
              </a:defRPr>
            </a:pPr>
            <a:r>
              <a:rPr sz="1500" b="1">
                <a:solidFill>
                  <a:srgbClr val="00A2EB"/>
                </a:solidFill>
              </a:rPr>
              <a:t>04</a:t>
            </a:r>
          </a:p>
        </p:txBody>
      </p:sp>
      <p:sp>
        <p:nvSpPr>
          <p:cNvPr id="50" name="trace-stage-4-title">
            <a:extLst xmlns:a="http://schemas.openxmlformats.org/drawingml/2006/main">
              <a:ext uri="{FF2B5EF4-FFF2-40B4-BE49-F238E27FC236}">
                <a16:creationId xmlns:a16="http://schemas.microsoft.com/office/drawing/2014/main" id="{20E81F41-414E-46F1-9017-282A4CDFF8D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62775" y="3733800"/>
            <a:ext cx="1543050" cy="590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1575" b="1">
                <a:solidFill>
                  <a:srgbClr val="F07D00"/>
                </a:solidFill>
              </a:defRPr>
            </a:pPr>
            <a:r>
              <a:rPr sz="1575" b="1">
                <a:solidFill>
                  <a:srgbClr val="F07D00"/>
                </a:solidFill>
              </a:rPr>
              <a:t>REPLAN</a:t>
            </a:r>
          </a:p>
        </p:txBody>
      </p:sp>
      <p:sp>
        <p:nvSpPr>
          <p:cNvPr id="51" name="trace-stage-4-body">
            <a:extLst xmlns:a="http://schemas.openxmlformats.org/drawingml/2006/main">
              <a:ext uri="{FF2B5EF4-FFF2-40B4-BE49-F238E27FC236}">
                <a16:creationId xmlns:a16="http://schemas.microsoft.com/office/drawing/2014/main" id="{531F0166-3794-4A33-BF4C-0500EE6B141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86575" y="4533900"/>
            <a:ext cx="169545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1200" b="0">
                <a:solidFill>
                  <a:srgbClr val="F07D00"/>
                </a:solidFill>
              </a:defRPr>
            </a:pPr>
            <a:r>
              <a:rPr sz="1200" b="0">
                <a:solidFill>
                  <a:srgbClr val="F07D00"/>
                </a:solidFill>
              </a:rPr>
              <a:t>revision 1</a:t>
            </a:r>
          </a:p>
          <a:p xmlns:a="http://schemas.openxmlformats.org/drawingml/2006/main">
            <a:pPr algn="ctr">
              <a:defRPr sz="1200" b="0">
                <a:solidFill>
                  <a:srgbClr val="F07D00"/>
                </a:solidFill>
              </a:defRPr>
            </a:pPr>
            <a:r>
              <a:rPr sz="1200" b="0">
                <a:solidFill>
                  <a:srgbClr val="F07D00"/>
                </a:solidFill>
              </a:rPr>
              <a:t>bounded recovery</a:t>
            </a:r>
          </a:p>
        </p:txBody>
      </p:sp>
      <p:sp>
        <p:nvSpPr>
          <p:cNvPr id="52" name="trace-stage-5">
            <a:extLst xmlns:a="http://schemas.openxmlformats.org/drawingml/2006/main">
              <a:ext uri="{FF2B5EF4-FFF2-40B4-BE49-F238E27FC236}">
                <a16:creationId xmlns:a16="http://schemas.microsoft.com/office/drawing/2014/main" id="{A66F224A-79FC-4433-8EE4-B0B6F50595F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01100" y="3048000"/>
            <a:ext cx="1771650" cy="2286000"/>
          </a:xfrm>
          <a:prstGeom xmlns:a="http://schemas.openxmlformats.org/drawingml/2006/main" prst="roundRect">
            <a:avLst>
              <a:gd name="adj" fmla="val 6452"/>
            </a:avLst>
          </a:prstGeom>
          <a:noFill xmlns:a="http://schemas.openxmlformats.org/drawingml/2006/main"/>
          <a:ln xmlns:a="http://schemas.openxmlformats.org/drawingml/2006/main" w="19050">
            <a:solidFill>
              <a:srgbClr val="2E8B57"/>
            </a:solidFill>
            <a:prstDash val="solid"/>
          </a:ln>
        </p:spPr>
      </p:sp>
      <p:sp>
        <p:nvSpPr>
          <p:cNvPr id="53" name="trace-stage-5-step">
            <a:extLst xmlns:a="http://schemas.openxmlformats.org/drawingml/2006/main">
              <a:ext uri="{FF2B5EF4-FFF2-40B4-BE49-F238E27FC236}">
                <a16:creationId xmlns:a16="http://schemas.microsoft.com/office/drawing/2014/main" id="{4DA94BE3-B8A6-4A10-A2F0-A3EBFAD6D73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72550" y="3238500"/>
            <a:ext cx="5334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500" b="1">
                <a:solidFill>
                  <a:srgbClr val="00A2EB"/>
                </a:solidFill>
              </a:defRPr>
            </a:pPr>
            <a:r>
              <a:rPr sz="1500" b="1">
                <a:solidFill>
                  <a:srgbClr val="00A2EB"/>
                </a:solidFill>
              </a:rPr>
              <a:t>05</a:t>
            </a:r>
          </a:p>
        </p:txBody>
      </p:sp>
      <p:sp>
        <p:nvSpPr>
          <p:cNvPr id="54" name="trace-stage-5-title">
            <a:extLst xmlns:a="http://schemas.openxmlformats.org/drawingml/2006/main">
              <a:ext uri="{FF2B5EF4-FFF2-40B4-BE49-F238E27FC236}">
                <a16:creationId xmlns:a16="http://schemas.microsoft.com/office/drawing/2014/main" id="{3EAA3FDE-42E0-4587-80FC-4DC6EE8A631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15400" y="3733800"/>
            <a:ext cx="1543050" cy="590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1575" b="1">
                <a:solidFill>
                  <a:srgbClr val="2E8B57"/>
                </a:solidFill>
              </a:defRPr>
            </a:pPr>
            <a:r>
              <a:rPr sz="1575" b="1">
                <a:solidFill>
                  <a:srgbClr val="2E8B57"/>
                </a:solidFill>
              </a:rPr>
              <a:t>TOOL</a:t>
            </a:r>
          </a:p>
          <a:p xmlns:a="http://schemas.openxmlformats.org/drawingml/2006/main">
            <a:pPr algn="ctr">
              <a:defRPr sz="1575" b="1">
                <a:solidFill>
                  <a:srgbClr val="2E8B57"/>
                </a:solidFill>
              </a:defRPr>
            </a:pPr>
            <a:r>
              <a:rPr sz="1575" b="1">
                <a:solidFill>
                  <a:srgbClr val="2E8B57"/>
                </a:solidFill>
              </a:rPr>
              <a:t>ATTEMPTS</a:t>
            </a:r>
          </a:p>
        </p:txBody>
      </p:sp>
      <p:sp>
        <p:nvSpPr>
          <p:cNvPr id="55" name="trace-stage-5-body">
            <a:extLst xmlns:a="http://schemas.openxmlformats.org/drawingml/2006/main">
              <a:ext uri="{FF2B5EF4-FFF2-40B4-BE49-F238E27FC236}">
                <a16:creationId xmlns:a16="http://schemas.microsoft.com/office/drawing/2014/main" id="{39A5C400-4A30-4B6E-AF84-568ECB1189D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39200" y="4533900"/>
            <a:ext cx="169545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1200" b="0">
                <a:solidFill>
                  <a:srgbClr val="2E8B57"/>
                </a:solidFill>
              </a:defRPr>
            </a:pPr>
            <a:r>
              <a:rPr sz="1200" b="0">
                <a:solidFill>
                  <a:srgbClr val="2E8B57"/>
                </a:solidFill>
              </a:rPr>
              <a:t>attempts 4-5</a:t>
            </a:r>
          </a:p>
          <a:p xmlns:a="http://schemas.openxmlformats.org/drawingml/2006/main">
            <a:pPr algn="ctr">
              <a:defRPr sz="1200" b="0">
                <a:solidFill>
                  <a:srgbClr val="2E8B57"/>
                </a:solidFill>
              </a:defRPr>
            </a:pPr>
            <a:r>
              <a:rPr sz="1200" b="0">
                <a:solidFill>
                  <a:srgbClr val="2E8B57"/>
                </a:solidFill>
              </a:rPr>
              <a:t>post-error success</a:t>
            </a:r>
          </a:p>
        </p:txBody>
      </p:sp>
      <p:sp>
        <p:nvSpPr>
          <p:cNvPr id="56" name="trace-stage-6">
            <a:extLst xmlns:a="http://schemas.openxmlformats.org/drawingml/2006/main">
              <a:ext uri="{FF2B5EF4-FFF2-40B4-BE49-F238E27FC236}">
                <a16:creationId xmlns:a16="http://schemas.microsoft.com/office/drawing/2014/main" id="{B297F765-A263-4428-8584-AF2E5E9D86C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753725" y="3048000"/>
            <a:ext cx="1771650" cy="2286000"/>
          </a:xfrm>
          <a:prstGeom xmlns:a="http://schemas.openxmlformats.org/drawingml/2006/main" prst="roundRect">
            <a:avLst>
              <a:gd name="adj" fmla="val 6452"/>
            </a:avLst>
          </a:prstGeom>
          <a:noFill xmlns:a="http://schemas.openxmlformats.org/drawingml/2006/main"/>
          <a:ln xmlns:a="http://schemas.openxmlformats.org/drawingml/2006/main" w="19050">
            <a:solidFill>
              <a:srgbClr val="00A2EB"/>
            </a:solidFill>
            <a:prstDash val="solid"/>
          </a:ln>
        </p:spPr>
      </p:sp>
      <p:sp>
        <p:nvSpPr>
          <p:cNvPr id="57" name="trace-stage-6-step">
            <a:extLst xmlns:a="http://schemas.openxmlformats.org/drawingml/2006/main">
              <a:ext uri="{FF2B5EF4-FFF2-40B4-BE49-F238E27FC236}">
                <a16:creationId xmlns:a16="http://schemas.microsoft.com/office/drawing/2014/main" id="{65F3307D-E778-4B53-B738-B05D3935685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925175" y="3238500"/>
            <a:ext cx="5334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500" b="1">
                <a:solidFill>
                  <a:srgbClr val="00A2EB"/>
                </a:solidFill>
              </a:defRPr>
            </a:pPr>
            <a:r>
              <a:rPr sz="1500" b="1">
                <a:solidFill>
                  <a:srgbClr val="00A2EB"/>
                </a:solidFill>
              </a:rPr>
              <a:t>06</a:t>
            </a:r>
          </a:p>
        </p:txBody>
      </p:sp>
      <p:sp>
        <p:nvSpPr>
          <p:cNvPr id="58" name="trace-stage-6-title">
            <a:extLst xmlns:a="http://schemas.openxmlformats.org/drawingml/2006/main">
              <a:ext uri="{FF2B5EF4-FFF2-40B4-BE49-F238E27FC236}">
                <a16:creationId xmlns:a16="http://schemas.microsoft.com/office/drawing/2014/main" id="{3BF74CAD-5A15-45AB-841B-C80336555CE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868025" y="3733800"/>
            <a:ext cx="1543050" cy="590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1575" b="1">
                <a:solidFill>
                  <a:srgbClr val="0A2030"/>
                </a:solidFill>
              </a:defRPr>
            </a:pPr>
            <a:r>
              <a:rPr sz="1575" b="1">
                <a:solidFill>
                  <a:srgbClr val="0A2030"/>
                </a:solidFill>
              </a:rPr>
              <a:t>EVIDENCE</a:t>
            </a:r>
          </a:p>
          <a:p xmlns:a="http://schemas.openxmlformats.org/drawingml/2006/main">
            <a:pPr algn="ctr">
              <a:defRPr sz="1575" b="1">
                <a:solidFill>
                  <a:srgbClr val="0A2030"/>
                </a:solidFill>
              </a:defRPr>
            </a:pPr>
            <a:r>
              <a:rPr sz="1575" b="1">
                <a:solidFill>
                  <a:srgbClr val="0A2030"/>
                </a:solidFill>
              </a:rPr>
              <a:t>GATE</a:t>
            </a:r>
          </a:p>
        </p:txBody>
      </p:sp>
      <p:sp>
        <p:nvSpPr>
          <p:cNvPr id="59" name="trace-stage-6-body">
            <a:extLst xmlns:a="http://schemas.openxmlformats.org/drawingml/2006/main">
              <a:ext uri="{FF2B5EF4-FFF2-40B4-BE49-F238E27FC236}">
                <a16:creationId xmlns:a16="http://schemas.microsoft.com/office/drawing/2014/main" id="{412B9B49-9498-4CE7-8DBE-3D133DD25CA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791825" y="4533900"/>
            <a:ext cx="169545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1200" b="0">
                <a:solidFill>
                  <a:srgbClr val="1F40CB"/>
                </a:solidFill>
              </a:defRPr>
            </a:pPr>
            <a:r>
              <a:rPr sz="1200" b="0">
                <a:solidFill>
                  <a:srgbClr val="1F40CB"/>
                </a:solidFill>
              </a:rPr>
              <a:t>source +</a:t>
            </a:r>
          </a:p>
          <a:p xmlns:a="http://schemas.openxmlformats.org/drawingml/2006/main">
            <a:pPr algn="ctr">
              <a:defRPr sz="1200" b="0">
                <a:solidFill>
                  <a:srgbClr val="1F40CB"/>
                </a:solidFill>
              </a:defRPr>
            </a:pPr>
            <a:r>
              <a:rPr sz="1200" b="0">
                <a:solidFill>
                  <a:srgbClr val="1F40CB"/>
                </a:solidFill>
              </a:rPr>
              <a:t>evidence pairs</a:t>
            </a:r>
          </a:p>
        </p:txBody>
      </p:sp>
      <p:sp>
        <p:nvSpPr>
          <p:cNvPr id="60" name="trace-stage-7">
            <a:extLst xmlns:a="http://schemas.openxmlformats.org/drawingml/2006/main">
              <a:ext uri="{FF2B5EF4-FFF2-40B4-BE49-F238E27FC236}">
                <a16:creationId xmlns:a16="http://schemas.microsoft.com/office/drawing/2014/main" id="{487E1049-C402-43E7-8FAA-D5C8D865238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706350" y="3048000"/>
            <a:ext cx="1771650" cy="2286000"/>
          </a:xfrm>
          <a:prstGeom xmlns:a="http://schemas.openxmlformats.org/drawingml/2006/main" prst="roundRect">
            <a:avLst>
              <a:gd name="adj" fmla="val 6452"/>
            </a:avLst>
          </a:prstGeom>
          <a:noFill xmlns:a="http://schemas.openxmlformats.org/drawingml/2006/main"/>
          <a:ln xmlns:a="http://schemas.openxmlformats.org/drawingml/2006/main" w="19050">
            <a:solidFill>
              <a:srgbClr val="F07D00"/>
            </a:solidFill>
            <a:prstDash val="solid"/>
          </a:ln>
        </p:spPr>
      </p:sp>
      <p:sp>
        <p:nvSpPr>
          <p:cNvPr id="61" name="trace-stage-7-step">
            <a:extLst xmlns:a="http://schemas.openxmlformats.org/drawingml/2006/main">
              <a:ext uri="{FF2B5EF4-FFF2-40B4-BE49-F238E27FC236}">
                <a16:creationId xmlns:a16="http://schemas.microsoft.com/office/drawing/2014/main" id="{D99BA43C-AC15-45F4-B8C4-2287BBF4ECA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877800" y="3238500"/>
            <a:ext cx="5334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500" b="1">
                <a:solidFill>
                  <a:srgbClr val="00A2EB"/>
                </a:solidFill>
              </a:defRPr>
            </a:pPr>
            <a:r>
              <a:rPr sz="1500" b="1">
                <a:solidFill>
                  <a:srgbClr val="00A2EB"/>
                </a:solidFill>
              </a:rPr>
              <a:t>07</a:t>
            </a:r>
          </a:p>
        </p:txBody>
      </p:sp>
      <p:sp>
        <p:nvSpPr>
          <p:cNvPr id="62" name="trace-stage-7-title">
            <a:extLst xmlns:a="http://schemas.openxmlformats.org/drawingml/2006/main">
              <a:ext uri="{FF2B5EF4-FFF2-40B4-BE49-F238E27FC236}">
                <a16:creationId xmlns:a16="http://schemas.microsoft.com/office/drawing/2014/main" id="{8BC7260B-022A-40C5-8C21-61EB65C48DC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820650" y="3733800"/>
            <a:ext cx="1543050" cy="590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1575" b="1">
                <a:solidFill>
                  <a:srgbClr val="0A2030"/>
                </a:solidFill>
              </a:defRPr>
            </a:pPr>
            <a:r>
              <a:rPr sz="1575" b="1">
                <a:solidFill>
                  <a:srgbClr val="0A2030"/>
                </a:solidFill>
              </a:rPr>
              <a:t>REPORT</a:t>
            </a:r>
          </a:p>
        </p:txBody>
      </p:sp>
      <p:sp>
        <p:nvSpPr>
          <p:cNvPr id="63" name="trace-stage-7-body">
            <a:extLst xmlns:a="http://schemas.openxmlformats.org/drawingml/2006/main">
              <a:ext uri="{FF2B5EF4-FFF2-40B4-BE49-F238E27FC236}">
                <a16:creationId xmlns:a16="http://schemas.microsoft.com/office/drawing/2014/main" id="{68E3277F-1E35-4D00-AB85-4AC545C9F5A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744450" y="4533900"/>
            <a:ext cx="169545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1200" b="0">
                <a:solidFill>
                  <a:srgbClr val="1F40CB"/>
                </a:solidFill>
              </a:defRPr>
            </a:pPr>
            <a:r>
              <a:rPr sz="1200" b="0">
                <a:solidFill>
                  <a:srgbClr val="1F40CB"/>
                </a:solidFill>
              </a:rPr>
              <a:t>briefing +</a:t>
            </a:r>
          </a:p>
          <a:p xmlns:a="http://schemas.openxmlformats.org/drawingml/2006/main">
            <a:pPr algn="ctr">
              <a:defRPr sz="1200" b="0">
                <a:solidFill>
                  <a:srgbClr val="1F40CB"/>
                </a:solidFill>
              </a:defRPr>
            </a:pPr>
            <a:r>
              <a:rPr sz="1200" b="0">
                <a:solidFill>
                  <a:srgbClr val="1F40CB"/>
                </a:solidFill>
              </a:rPr>
              <a:t>citations</a:t>
            </a:r>
          </a:p>
        </p:txBody>
      </p:sp>
      <p:cxnSp>
        <p:nvCxnSpPr>
          <p:cNvPr id="108" name=""/>
          <p:cNvCxnSpPr>
            <a:stCxn xmlns:a="http://schemas.openxmlformats.org/drawingml/2006/main" id="36" idx="3"/>
            <a:endCxn xmlns:a="http://schemas.openxmlformats.org/drawingml/2006/main" id="40" idx="1"/>
          </p:cNvCxnSpPr>
          <p:nvPr/>
        </p:nvCxnSpPr>
        <p:spPr>
          <a:xfrm xmlns:a="http://schemas.openxmlformats.org/drawingml/2006/main">
            <a:off x="2762250" y="4191000"/>
            <a:ext cx="180975" cy="0"/>
          </a:xfrm>
          <a:prstGeom xmlns:a="http://schemas.openxmlformats.org/drawingml/2006/main" prst="straightConnector1">
            <a:avLst/>
          </a:prstGeom>
          <a:ln xmlns:a="http://schemas.openxmlformats.org/drawingml/2006/main" w="19050">
            <a:solidFill>
              <a:srgbClr val="9A9A9F"/>
            </a:solidFill>
            <a:prstDash val="solid"/>
            <a:tailEnd type="triangle" w="sm" len="sm"/>
          </a:ln>
        </p:spPr>
      </p:cxnSp>
      <p:cxnSp>
        <p:nvCxnSpPr>
          <p:cNvPr id="109" name=""/>
          <p:cNvCxnSpPr>
            <a:stCxn xmlns:a="http://schemas.openxmlformats.org/drawingml/2006/main" id="40" idx="3"/>
            <a:endCxn xmlns:a="http://schemas.openxmlformats.org/drawingml/2006/main" id="44" idx="1"/>
          </p:cNvCxnSpPr>
          <p:nvPr/>
        </p:nvCxnSpPr>
        <p:spPr>
          <a:xfrm xmlns:a="http://schemas.openxmlformats.org/drawingml/2006/main">
            <a:off x="4714875" y="4191000"/>
            <a:ext cx="180975" cy="0"/>
          </a:xfrm>
          <a:prstGeom xmlns:a="http://schemas.openxmlformats.org/drawingml/2006/main" prst="straightConnector1">
            <a:avLst/>
          </a:prstGeom>
          <a:ln xmlns:a="http://schemas.openxmlformats.org/drawingml/2006/main" w="19050">
            <a:solidFill>
              <a:srgbClr val="9A9A9F"/>
            </a:solidFill>
            <a:prstDash val="solid"/>
            <a:tailEnd type="triangle" w="sm" len="sm"/>
          </a:ln>
        </p:spPr>
      </p:cxnSp>
      <p:cxnSp>
        <p:nvCxnSpPr>
          <p:cNvPr id="110" name=""/>
          <p:cNvCxnSpPr>
            <a:stCxn xmlns:a="http://schemas.openxmlformats.org/drawingml/2006/main" id="44" idx="3"/>
            <a:endCxn xmlns:a="http://schemas.openxmlformats.org/drawingml/2006/main" id="48" idx="1"/>
          </p:cNvCxnSpPr>
          <p:nvPr/>
        </p:nvCxnSpPr>
        <p:spPr>
          <a:xfrm xmlns:a="http://schemas.openxmlformats.org/drawingml/2006/main">
            <a:off x="6667500" y="4191000"/>
            <a:ext cx="180975" cy="0"/>
          </a:xfrm>
          <a:prstGeom xmlns:a="http://schemas.openxmlformats.org/drawingml/2006/main" prst="straightConnector1">
            <a:avLst/>
          </a:prstGeom>
          <a:ln xmlns:a="http://schemas.openxmlformats.org/drawingml/2006/main" w="19050">
            <a:solidFill>
              <a:srgbClr val="9A9A9F"/>
            </a:solidFill>
            <a:prstDash val="solid"/>
            <a:tailEnd type="triangle" w="sm" len="sm"/>
          </a:ln>
        </p:spPr>
      </p:cxnSp>
      <p:cxnSp>
        <p:nvCxnSpPr>
          <p:cNvPr id="111" name=""/>
          <p:cNvCxnSpPr>
            <a:stCxn xmlns:a="http://schemas.openxmlformats.org/drawingml/2006/main" id="48" idx="3"/>
            <a:endCxn xmlns:a="http://schemas.openxmlformats.org/drawingml/2006/main" id="52" idx="1"/>
          </p:cNvCxnSpPr>
          <p:nvPr/>
        </p:nvCxnSpPr>
        <p:spPr>
          <a:xfrm xmlns:a="http://schemas.openxmlformats.org/drawingml/2006/main">
            <a:off x="8620125" y="4191000"/>
            <a:ext cx="180975" cy="0"/>
          </a:xfrm>
          <a:prstGeom xmlns:a="http://schemas.openxmlformats.org/drawingml/2006/main" prst="straightConnector1">
            <a:avLst/>
          </a:prstGeom>
          <a:ln xmlns:a="http://schemas.openxmlformats.org/drawingml/2006/main" w="19050">
            <a:solidFill>
              <a:srgbClr val="9A9A9F"/>
            </a:solidFill>
            <a:prstDash val="solid"/>
            <a:tailEnd type="triangle" w="sm" len="sm"/>
          </a:ln>
        </p:spPr>
      </p:cxnSp>
      <p:cxnSp>
        <p:nvCxnSpPr>
          <p:cNvPr id="112" name=""/>
          <p:cNvCxnSpPr>
            <a:stCxn xmlns:a="http://schemas.openxmlformats.org/drawingml/2006/main" id="52" idx="3"/>
            <a:endCxn xmlns:a="http://schemas.openxmlformats.org/drawingml/2006/main" id="56" idx="1"/>
          </p:cNvCxnSpPr>
          <p:nvPr/>
        </p:nvCxnSpPr>
        <p:spPr>
          <a:xfrm xmlns:a="http://schemas.openxmlformats.org/drawingml/2006/main">
            <a:off x="10572750" y="4191000"/>
            <a:ext cx="180975" cy="0"/>
          </a:xfrm>
          <a:prstGeom xmlns:a="http://schemas.openxmlformats.org/drawingml/2006/main" prst="straightConnector1">
            <a:avLst/>
          </a:prstGeom>
          <a:ln xmlns:a="http://schemas.openxmlformats.org/drawingml/2006/main" w="19050">
            <a:solidFill>
              <a:srgbClr val="9A9A9F"/>
            </a:solidFill>
            <a:prstDash val="solid"/>
            <a:tailEnd type="triangle" w="sm" len="sm"/>
          </a:ln>
        </p:spPr>
      </p:cxnSp>
      <p:cxnSp>
        <p:nvCxnSpPr>
          <p:cNvPr id="113" name=""/>
          <p:cNvCxnSpPr>
            <a:stCxn xmlns:a="http://schemas.openxmlformats.org/drawingml/2006/main" id="56" idx="3"/>
            <a:endCxn xmlns:a="http://schemas.openxmlformats.org/drawingml/2006/main" id="60" idx="1"/>
          </p:cNvCxnSpPr>
          <p:nvPr/>
        </p:nvCxnSpPr>
        <p:spPr>
          <a:xfrm xmlns:a="http://schemas.openxmlformats.org/drawingml/2006/main">
            <a:off x="12525375" y="4191000"/>
            <a:ext cx="180975" cy="0"/>
          </a:xfrm>
          <a:prstGeom xmlns:a="http://schemas.openxmlformats.org/drawingml/2006/main" prst="straightConnector1">
            <a:avLst/>
          </a:prstGeom>
          <a:ln xmlns:a="http://schemas.openxmlformats.org/drawingml/2006/main" w="19050">
            <a:solidFill>
              <a:srgbClr val="9A9A9F"/>
            </a:solidFill>
            <a:prstDash val="solid"/>
            <a:tailEnd type="triangle" w="sm" len="sm"/>
          </a:ln>
        </p:spPr>
      </p:cxnSp>
    </p:spTree>
    <p:extLst>
      <p:ext uri="{BB962C8B-B14F-4D97-AF65-F5344CB8AC3E}">
        <p14:creationId xmlns:p14="http://schemas.microsoft.com/office/powerpoint/2010/main" val="1169510731"/>
      </p:ext>
    </p:extLst>
  </p:cSld>
</p:sld>
</file>

<file path=ppt/slides/slide7.xml><?xml version="1.0" encoding="utf-8"?>
<p:sld xmlns:p="http://schemas.openxmlformats.org/presentationml/2006/main">
  <p:cSld>
    <p:bg>
      <p:bgPr>
        <a:solidFill xmlns:a="http://schemas.openxmlformats.org/drawingml/2006/main">
          <a:srgbClr val="F5F5F5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5" name="">
            <a:extLst xmlns:a="http://schemas.openxmlformats.org/drawingml/2006/main">
              <a:ext uri="{FF2B5EF4-FFF2-40B4-BE49-F238E27FC236}">
                <a16:creationId xmlns:a16="http://schemas.microsoft.com/office/drawing/2014/main" id="{ABF4BAA6-B729-496F-9507-674DB3429F9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666750"/>
            <a:ext cx="476250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425" b="1">
                <a:solidFill>
                  <a:srgbClr val="1F40CB"/>
                </a:solidFill>
                <a:latin typeface="Calibri"/>
                <a:ea typeface="Calibri"/>
                <a:cs typeface="Calibri"/>
              </a:defRPr>
            </a:pPr>
            <a:r>
              <a:rPr sz="1800" b="1">
                <a:solidFill>
                  <a:srgbClr val="1F40CB"/>
                </a:solidFill>
                <a:latin typeface="Calibri"/>
                <a:ea typeface="Calibri"/>
                <a:cs typeface="Calibri"/>
              </a:rPr>
              <a:t>RELEASE LOGIC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EB6C2DCA-6A55-434D-995F-2D0AB2788AE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1181100"/>
            <a:ext cx="13296900" cy="781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3600" b="1">
                <a:solidFill>
                  <a:srgbClr val="051C2A"/>
                </a:solidFill>
                <a:latin typeface="Calibri"/>
                <a:ea typeface="Calibri"/>
                <a:cs typeface="Calibri"/>
              </a:defRPr>
            </a:pPr>
            <a:r>
              <a:rPr sz="3600" b="1">
                <a:solidFill>
                  <a:srgbClr val="051C2A"/>
                </a:solidFill>
                <a:latin typeface="Calibri"/>
                <a:ea typeface="Calibri"/>
                <a:cs typeface="Calibri"/>
              </a:rPr>
              <a:t>Deterministic rules decide release</a:t>
            </a:r>
          </a:p>
        </p:txBody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B71760BB-B653-4A2F-A39B-D370FC39BF0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8700" y="6838950"/>
            <a:ext cx="13163550" cy="609600"/>
          </a:xfrm>
          <a:prstGeom xmlns:a="http://schemas.openxmlformats.org/drawingml/2006/main" prst="roundRect">
            <a:avLst>
              <a:gd name="adj" fmla="val 12500"/>
            </a:avLst>
          </a:prstGeom>
          <a:solidFill xmlns:a="http://schemas.openxmlformats.org/drawingml/2006/main">
            <a:srgbClr val="FFF1E5"/>
          </a:solidFill>
          <a:ln xmlns:a="http://schemas.openxmlformats.org/drawingml/2006/main" w="9525">
            <a:solidFill>
              <a:srgbClr val="F07D00"/>
            </a:solidFill>
            <a:prstDash val="solid"/>
          </a:ln>
        </p:spPr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0FA73608-CD25-41CB-8836-D0C27AC581F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71600" y="6934200"/>
            <a:ext cx="1247775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1950" b="1">
                <a:solidFill>
                  <a:srgbClr val="051C2A"/>
                </a:solidFill>
                <a:latin typeface="Calibri"/>
                <a:ea typeface="Calibri"/>
                <a:cs typeface="Calibri"/>
              </a:defRPr>
            </a:pPr>
            <a:r>
              <a:rPr sz="1950" b="1">
                <a:solidFill>
                  <a:srgbClr val="051C2A"/>
                </a:solidFill>
                <a:latin typeface="Calibri"/>
                <a:ea typeface="Calibri"/>
                <a:cs typeface="Calibri"/>
              </a:rPr>
              <a:t>Code decides finance release. A judge adds context only when run.</a:t>
            </a:r>
          </a:p>
        </p:txBody>
      </p:sp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63E0B34D-9DCB-48D8-8070-C30B3364EBB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" y="7896225"/>
            <a:ext cx="13525500" cy="285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4E7E9"/>
          </a:solidFill>
          <a:ln xmlns:a="http://schemas.openxmlformats.org/drawingml/2006/main" w="0">
            <a:solidFill>
              <a:srgbClr val="E4E7E9"/>
            </a:solidFill>
            <a:prstDash val="solid"/>
          </a:ln>
        </p:spPr>
      </p:sp>
      <p:sp>
        <p:nvSpPr>
          <p:cNvPr id="31" name="">
            <a:extLst xmlns:a="http://schemas.openxmlformats.org/drawingml/2006/main">
              <a:ext uri="{FF2B5EF4-FFF2-40B4-BE49-F238E27FC236}">
                <a16:creationId xmlns:a16="http://schemas.microsoft.com/office/drawing/2014/main" id="{3EFB9970-6C67-40D6-AFF0-F0FE598EF90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" y="7896225"/>
            <a:ext cx="8001000" cy="38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A2EB"/>
          </a:solidFill>
          <a:ln xmlns:a="http://schemas.openxmlformats.org/drawingml/2006/main" w="0">
            <a:solidFill>
              <a:srgbClr val="00A2EB"/>
            </a:solidFill>
            <a:prstDash val="solid"/>
          </a:ln>
        </p:spPr>
      </p:sp>
      <p:sp>
        <p:nvSpPr>
          <p:cNvPr id="32" name="">
            <a:extLst xmlns:a="http://schemas.openxmlformats.org/drawingml/2006/main">
              <a:ext uri="{FF2B5EF4-FFF2-40B4-BE49-F238E27FC236}">
                <a16:creationId xmlns:a16="http://schemas.microsoft.com/office/drawing/2014/main" id="{3503E1FB-8ACB-4423-AB2C-92A3E103D53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8058150"/>
            <a:ext cx="37147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200" b="0">
                <a:solidFill>
                  <a:srgbClr val="9A9A9F"/>
                </a:solidFill>
                <a:latin typeface="Calibri"/>
                <a:ea typeface="Calibri"/>
                <a:cs typeface="Calibri"/>
              </a:defRPr>
            </a:pPr>
            <a:r>
              <a:rPr sz="1200" b="0">
                <a:solidFill>
                  <a:srgbClr val="9A9A9F"/>
                </a:solidFill>
                <a:latin typeface="Calibri"/>
                <a:ea typeface="Calibri"/>
                <a:cs typeface="Calibri"/>
              </a:rPr>
              <a:t>First Finance - Arnaud Demes</a:t>
            </a:r>
          </a:p>
        </p:txBody>
      </p:sp>
      <p:sp>
        <p:nvSpPr>
          <p:cNvPr id="33" name="">
            <a:extLst xmlns:a="http://schemas.openxmlformats.org/drawingml/2006/main">
              <a:ext uri="{FF2B5EF4-FFF2-40B4-BE49-F238E27FC236}">
                <a16:creationId xmlns:a16="http://schemas.microsoft.com/office/drawing/2014/main" id="{C07028D7-2EEC-4312-806B-59F42D9F1CA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192000" y="8058150"/>
            <a:ext cx="18097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0000"/>
              </a:lnSpc>
              <a:buNone/>
              <a:defRPr sz="1200" b="1">
                <a:solidFill>
                  <a:srgbClr val="9A9A9F"/>
                </a:solidFill>
                <a:latin typeface="Calibri"/>
                <a:ea typeface="Calibri"/>
                <a:cs typeface="Calibri"/>
              </a:defRPr>
            </a:pPr>
            <a:r>
              <a:rPr sz="1200" b="1">
                <a:solidFill>
                  <a:srgbClr val="9A9A9F"/>
                </a:solidFill>
                <a:latin typeface="Calibri"/>
                <a:ea typeface="Calibri"/>
                <a:cs typeface="Calibri"/>
              </a:rPr>
              <a:t>GATE</a:t>
            </a:r>
          </a:p>
        </p:txBody>
      </p:sp>
      <p:sp>
        <p:nvSpPr>
          <p:cNvPr id="34" name="">
            <a:extLst xmlns:a="http://schemas.openxmlformats.org/drawingml/2006/main">
              <a:ext uri="{FF2B5EF4-FFF2-40B4-BE49-F238E27FC236}">
                <a16:creationId xmlns:a16="http://schemas.microsoft.com/office/drawing/2014/main" id="{5334563E-9E00-41F4-886E-137032B6DD0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135100" y="8058150"/>
            <a:ext cx="2667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0000"/>
              </a:lnSpc>
              <a:buNone/>
              <a:defRPr sz="1200" b="1">
                <a:solidFill>
                  <a:srgbClr val="9A9A9F"/>
                </a:solidFill>
                <a:latin typeface="Calibri"/>
                <a:ea typeface="Calibri"/>
                <a:cs typeface="Calibri"/>
              </a:defRPr>
            </a:pPr>
            <a:r>
              <a:rPr sz="1200" b="1">
                <a:solidFill>
                  <a:srgbClr val="9A9A9F"/>
                </a:solidFill>
                <a:latin typeface="Calibri"/>
                <a:ea typeface="Calibri"/>
                <a:cs typeface="Calibri"/>
              </a:rPr>
              <a:t>07</a:t>
            </a:r>
          </a:p>
        </p:txBody>
      </p:sp>
      <p:graphicFrame>
        <p:nvGraphicFramePr>
          <p:cNvPr id="46" name=""/>
          <p:cNvGraphicFramePr/>
          <p:nvPr/>
        </p:nvGraphicFramePr>
        <p:xfrm>
          <a:off xmlns:a="http://schemas.openxmlformats.org/drawingml/2006/main" x="1028700" y="2457450"/>
          <a:ext xmlns:a="http://schemas.openxmlformats.org/drawingml/2006/main" cx="13163550" cy="4114800"/>
        </p:xfrm>
        <a:graphic xmlns:a="http://schemas.openxmlformats.org/drawingml/2006/main">
          <a:graphicData uri="http://schemas.openxmlformats.org/drawingml/2006/table">
            <a:tbl>
              <a:tblPr firstRow="1" bandRow="0"/>
              <a:tblGrid>
                <a:gridCol w="2419350"/>
                <a:gridCol w="5429250"/>
                <a:gridCol w="5314950"/>
              </a:tblGrid>
              <a:tr h="628650">
                <a:tc>
                  <a:txBody>
                    <a:bodyPr/>
                    <a:lstStyle/>
                    <a:p>
                      <a:pPr algn="l"/>
                      <a:r>
                        <a:rPr sz="1425" b="1">
                          <a:solidFill>
                            <a:srgbClr val="FFFFFF"/>
                          </a:solidFill>
                          <a:latin typeface="Calibri"/>
                          <a:ea typeface="Calibri"/>
                          <a:cs typeface="Calibri"/>
                        </a:rPr>
                        <a:t>DECISION LAYER</a:t>
                      </a:r>
                    </a:p>
                  </a:txBody>
                  <a:tcPr marL="152400" marR="152400" marT="95250" marB="95250">
                    <a:solidFill>
                      <a:srgbClr val="2546D5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425" b="1">
                          <a:solidFill>
                            <a:srgbClr val="FFFFFF"/>
                          </a:solidFill>
                          <a:latin typeface="Calibri"/>
                          <a:ea typeface="Calibri"/>
                          <a:cs typeface="Calibri"/>
                        </a:rPr>
                        <a:t>DETERMINISTIC RELEASE GATE</a:t>
                      </a:r>
                    </a:p>
                  </a:txBody>
                  <a:tcPr marL="152400" marR="152400" marT="95250" marB="95250">
                    <a:solidFill>
                      <a:srgbClr val="2546D5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425" b="1">
                          <a:solidFill>
                            <a:srgbClr val="FFFFFF"/>
                          </a:solidFill>
                          <a:latin typeface="Calibri"/>
                          <a:ea typeface="Calibri"/>
                          <a:cs typeface="Calibri"/>
                        </a:rPr>
                        <a:t>OPTIONAL LLM JUDGE</a:t>
                      </a:r>
                    </a:p>
                  </a:txBody>
                  <a:tcPr marL="152400" marR="152400" marT="95250" marB="95250">
                    <a:solidFill>
                      <a:srgbClr val="2546D5"/>
                    </a:solidFill>
                  </a:tcPr>
                </a:tc>
              </a:tr>
              <a:tr h="866775">
                <a:tc>
                  <a:txBody>
                    <a:bodyPr/>
                    <a:lstStyle/>
                    <a:p>
                      <a:pPr algn="l"/>
                      <a:r>
                        <a:rPr sz="1500" b="1">
                          <a:solidFill>
                            <a:srgbClr val="2546D5"/>
                          </a:solidFill>
                          <a:latin typeface="Calibri"/>
                          <a:ea typeface="Calibri"/>
                          <a:cs typeface="Calibri"/>
                        </a:rPr>
                        <a:t>INPUT</a:t>
                      </a:r>
                    </a:p>
                  </a:txBody>
                  <a:tcPr marL="152400" marR="152400" marT="95250" marB="9525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500" b="0">
                          <a:solidFill>
                            <a:srgbClr val="0A2030"/>
                          </a:solidFill>
                          <a:latin typeface="Calibri"/>
                          <a:ea typeface="Calibri"/>
                          <a:cs typeface="Calibri"/>
                        </a:rPr>
                        <a:t>Public fields and exact evidence pairs</a:t>
                      </a:r>
                    </a:p>
                  </a:txBody>
                  <a:tcPr marL="152400" marR="152400" marT="95250" marB="9525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500" b="0">
                          <a:solidFill>
                            <a:srgbClr val="0A2030"/>
                          </a:solidFill>
                          <a:latin typeface="Calibri"/>
                          <a:ea typeface="Calibri"/>
                          <a:cs typeface="Calibri"/>
                        </a:rPr>
                        <a:t>Trace and answer text</a:t>
                      </a:r>
                    </a:p>
                  </a:txBody>
                  <a:tcPr marL="152400" marR="152400" marT="95250" marB="95250">
                    <a:solidFill>
                      <a:srgbClr val="FFFFFF"/>
                    </a:solidFill>
                  </a:tcPr>
                </a:tc>
              </a:tr>
              <a:tr h="866775">
                <a:tc>
                  <a:txBody>
                    <a:bodyPr/>
                    <a:lstStyle/>
                    <a:p>
                      <a:pPr algn="l"/>
                      <a:r>
                        <a:rPr sz="1500" b="1">
                          <a:solidFill>
                            <a:srgbClr val="2546D5"/>
                          </a:solidFill>
                          <a:latin typeface="Calibri"/>
                          <a:ea typeface="Calibri"/>
                          <a:cs typeface="Calibri"/>
                        </a:rPr>
                        <a:t>STRENGTH</a:t>
                      </a:r>
                    </a:p>
                  </a:txBody>
                  <a:tcPr marL="152400" marR="152400" marT="95250" marB="95250"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500" b="0">
                          <a:solidFill>
                            <a:srgbClr val="0A2030"/>
                          </a:solidFill>
                          <a:latin typeface="Calibri"/>
                          <a:ea typeface="Calibri"/>
                          <a:cs typeface="Calibri"/>
                        </a:rPr>
                        <a:t>Reproducible, offline finance rules</a:t>
                      </a:r>
                    </a:p>
                  </a:txBody>
                  <a:tcPr marL="152400" marR="152400" marT="95250" marB="95250"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500" b="0">
                          <a:solidFill>
                            <a:srgbClr val="0A2030"/>
                          </a:solidFill>
                          <a:latin typeface="Calibri"/>
                          <a:ea typeface="Calibri"/>
                          <a:cs typeface="Calibri"/>
                        </a:rPr>
                        <a:t>Semantic nuance</a:t>
                      </a:r>
                    </a:p>
                  </a:txBody>
                  <a:tcPr marL="152400" marR="152400" marT="95250" marB="95250">
                    <a:solidFill>
                      <a:srgbClr val="F5F7FA"/>
                    </a:solidFill>
                  </a:tcPr>
                </a:tc>
              </a:tr>
              <a:tr h="866775">
                <a:tc>
                  <a:txBody>
                    <a:bodyPr/>
                    <a:lstStyle/>
                    <a:p>
                      <a:pPr algn="l"/>
                      <a:r>
                        <a:rPr sz="1500" b="1">
                          <a:solidFill>
                            <a:srgbClr val="2546D5"/>
                          </a:solidFill>
                          <a:latin typeface="Calibri"/>
                          <a:ea typeface="Calibri"/>
                          <a:cs typeface="Calibri"/>
                        </a:rPr>
                        <a:t>FAILURE</a:t>
                      </a:r>
                    </a:p>
                  </a:txBody>
                  <a:tcPr marL="152400" marR="152400" marT="95250" marB="9525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500" b="0">
                          <a:solidFill>
                            <a:srgbClr val="0A2030"/>
                          </a:solidFill>
                          <a:latin typeface="Calibri"/>
                          <a:ea typeface="Calibri"/>
                          <a:cs typeface="Calibri"/>
                        </a:rPr>
                        <a:t>Blocks release</a:t>
                      </a:r>
                    </a:p>
                  </a:txBody>
                  <a:tcPr marL="152400" marR="152400" marT="95250" marB="9525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500" b="0">
                          <a:solidFill>
                            <a:srgbClr val="0A2030"/>
                          </a:solidFill>
                          <a:latin typeface="Calibri"/>
                          <a:ea typeface="Calibri"/>
                          <a:cs typeface="Calibri"/>
                        </a:rPr>
                        <a:t>NOT RUN or review signal</a:t>
                      </a:r>
                    </a:p>
                  </a:txBody>
                  <a:tcPr marL="152400" marR="152400" marT="95250" marB="95250">
                    <a:solidFill>
                      <a:srgbClr val="FFFFFF"/>
                    </a:solidFill>
                  </a:tcPr>
                </a:tc>
              </a:tr>
              <a:tr h="866775">
                <a:tc>
                  <a:txBody>
                    <a:bodyPr/>
                    <a:lstStyle/>
                    <a:p>
                      <a:pPr algn="l"/>
                      <a:r>
                        <a:rPr sz="1500" b="1">
                          <a:solidFill>
                            <a:srgbClr val="2546D5"/>
                          </a:solidFill>
                          <a:latin typeface="Calibri"/>
                          <a:ea typeface="Calibri"/>
                          <a:cs typeface="Calibri"/>
                        </a:rPr>
                        <a:t>ROLE</a:t>
                      </a:r>
                    </a:p>
                  </a:txBody>
                  <a:tcPr marL="152400" marR="152400" marT="95250" marB="95250"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500" b="0">
                          <a:solidFill>
                            <a:srgbClr val="0A2030"/>
                          </a:solidFill>
                          <a:latin typeface="Calibri"/>
                          <a:ea typeface="Calibri"/>
                          <a:cs typeface="Calibri"/>
                        </a:rPr>
                        <a:t>Required for every case</a:t>
                      </a:r>
                    </a:p>
                  </a:txBody>
                  <a:tcPr marL="152400" marR="152400" marT="95250" marB="95250"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500" b="0">
                          <a:solidFill>
                            <a:srgbClr val="0A2030"/>
                          </a:solidFill>
                          <a:latin typeface="Calibri"/>
                          <a:ea typeface="Calibri"/>
                          <a:cs typeface="Calibri"/>
                        </a:rPr>
                        <a:t>Never overrides the gate</a:t>
                      </a:r>
                    </a:p>
                  </a:txBody>
                  <a:tcPr marL="152400" marR="152400" marT="95250" marB="95250">
                    <a:solidFill>
                      <a:srgbClr val="F5F7FA"/>
                    </a:solidFill>
                  </a:tcPr>
                </a:tc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926141459"/>
      </p:ext>
    </p:extLst>
  </p:cSld>
</p:sld>
</file>

<file path=ppt/slides/slide8.xml><?xml version="1.0" encoding="utf-8"?>
<p:sld xmlns:p="http://schemas.openxmlformats.org/presentationml/2006/main">
  <p:cSld>
    <p:bg>
      <p:bgPr>
        <a:solidFill xmlns:a="http://schemas.openxmlformats.org/drawingml/2006/main">
          <a:srgbClr val="F5F5F5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5" name="">
            <a:extLst xmlns:a="http://schemas.openxmlformats.org/drawingml/2006/main">
              <a:ext uri="{FF2B5EF4-FFF2-40B4-BE49-F238E27FC236}">
                <a16:creationId xmlns:a16="http://schemas.microsoft.com/office/drawing/2014/main" id="{ABF4BAA6-B729-496F-9507-674DB3429F9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666750"/>
            <a:ext cx="476250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425" b="1">
                <a:solidFill>
                  <a:srgbClr val="1F40CB"/>
                </a:solidFill>
                <a:latin typeface="Calibri"/>
                <a:ea typeface="Calibri"/>
                <a:cs typeface="Calibri"/>
              </a:defRPr>
            </a:pPr>
            <a:r>
              <a:rPr sz="1800" b="1">
                <a:solidFill>
                  <a:srgbClr val="1F40CB"/>
                </a:solidFill>
                <a:latin typeface="Calibri"/>
                <a:ea typeface="Calibri"/>
                <a:cs typeface="Calibri"/>
              </a:rPr>
              <a:t>FAILURE OWNERSHIP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EB6C2DCA-6A55-434D-995F-2D0AB2788AE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1181100"/>
            <a:ext cx="13296900" cy="781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3600" b="1">
                <a:solidFill>
                  <a:srgbClr val="051C2A"/>
                </a:solidFill>
                <a:latin typeface="Calibri"/>
                <a:ea typeface="Calibri"/>
                <a:cs typeface="Calibri"/>
              </a:defRPr>
            </a:pPr>
            <a:r>
              <a:rPr sz="3600" b="1">
                <a:solidFill>
                  <a:srgbClr val="051C2A"/>
                </a:solidFill>
                <a:latin typeface="Calibri"/>
                <a:ea typeface="Calibri"/>
                <a:cs typeface="Calibri"/>
              </a:rPr>
              <a:t>Score patterns assign failure ownership</a:t>
            </a:r>
          </a:p>
        </p:txBody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B71760BB-B653-4A2F-A39B-D370FC39BF0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8700" y="6838950"/>
            <a:ext cx="13163550" cy="609600"/>
          </a:xfrm>
          <a:prstGeom xmlns:a="http://schemas.openxmlformats.org/drawingml/2006/main" prst="roundRect">
            <a:avLst>
              <a:gd name="adj" fmla="val 12500"/>
            </a:avLst>
          </a:prstGeom>
          <a:solidFill xmlns:a="http://schemas.openxmlformats.org/drawingml/2006/main">
            <a:srgbClr val="FFF1E5"/>
          </a:solidFill>
          <a:ln xmlns:a="http://schemas.openxmlformats.org/drawingml/2006/main" w="9525">
            <a:solidFill>
              <a:srgbClr val="F07D00"/>
            </a:solidFill>
            <a:prstDash val="solid"/>
          </a:ln>
        </p:spPr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0FA73608-CD25-41CB-8836-D0C27AC581F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71600" y="6934200"/>
            <a:ext cx="1247775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1950" b="1">
                <a:solidFill>
                  <a:srgbClr val="051C2A"/>
                </a:solidFill>
                <a:latin typeface="Calibri"/>
                <a:ea typeface="Calibri"/>
                <a:cs typeface="Calibri"/>
              </a:defRPr>
            </a:pPr>
            <a:r>
              <a:rPr sz="1950" b="1">
                <a:solidFill>
                  <a:srgbClr val="051C2A"/>
                </a:solidFill>
                <a:latin typeface="Calibri"/>
                <a:ea typeface="Calibri"/>
                <a:cs typeface="Calibri"/>
              </a:rPr>
              <a:t>Diagnose the earliest public stage, then fix that boundary.</a:t>
            </a:r>
          </a:p>
        </p:txBody>
      </p:sp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63E0B34D-9DCB-48D8-8070-C30B3364EBB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" y="7896225"/>
            <a:ext cx="13525500" cy="285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4E7E9"/>
          </a:solidFill>
          <a:ln xmlns:a="http://schemas.openxmlformats.org/drawingml/2006/main" w="0">
            <a:solidFill>
              <a:srgbClr val="E4E7E9"/>
            </a:solidFill>
            <a:prstDash val="solid"/>
          </a:ln>
        </p:spPr>
      </p:sp>
      <p:sp>
        <p:nvSpPr>
          <p:cNvPr id="31" name="">
            <a:extLst xmlns:a="http://schemas.openxmlformats.org/drawingml/2006/main">
              <a:ext uri="{FF2B5EF4-FFF2-40B4-BE49-F238E27FC236}">
                <a16:creationId xmlns:a16="http://schemas.microsoft.com/office/drawing/2014/main" id="{3EFB9970-6C67-40D6-AFF0-F0FE598EF90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" y="7896225"/>
            <a:ext cx="8001000" cy="38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A2EB"/>
          </a:solidFill>
          <a:ln xmlns:a="http://schemas.openxmlformats.org/drawingml/2006/main" w="0">
            <a:solidFill>
              <a:srgbClr val="00A2EB"/>
            </a:solidFill>
            <a:prstDash val="solid"/>
          </a:ln>
        </p:spPr>
      </p:sp>
      <p:sp>
        <p:nvSpPr>
          <p:cNvPr id="32" name="">
            <a:extLst xmlns:a="http://schemas.openxmlformats.org/drawingml/2006/main">
              <a:ext uri="{FF2B5EF4-FFF2-40B4-BE49-F238E27FC236}">
                <a16:creationId xmlns:a16="http://schemas.microsoft.com/office/drawing/2014/main" id="{3503E1FB-8ACB-4423-AB2C-92A3E103D53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8058150"/>
            <a:ext cx="37147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200" b="0">
                <a:solidFill>
                  <a:srgbClr val="9A9A9F"/>
                </a:solidFill>
                <a:latin typeface="Calibri"/>
                <a:ea typeface="Calibri"/>
                <a:cs typeface="Calibri"/>
              </a:defRPr>
            </a:pPr>
            <a:r>
              <a:rPr sz="1200" b="0">
                <a:solidFill>
                  <a:srgbClr val="9A9A9F"/>
                </a:solidFill>
                <a:latin typeface="Calibri"/>
                <a:ea typeface="Calibri"/>
                <a:cs typeface="Calibri"/>
              </a:rPr>
              <a:t>First Finance - Arnaud Demes</a:t>
            </a:r>
          </a:p>
        </p:txBody>
      </p:sp>
      <p:sp>
        <p:nvSpPr>
          <p:cNvPr id="33" name="">
            <a:extLst xmlns:a="http://schemas.openxmlformats.org/drawingml/2006/main">
              <a:ext uri="{FF2B5EF4-FFF2-40B4-BE49-F238E27FC236}">
                <a16:creationId xmlns:a16="http://schemas.microsoft.com/office/drawing/2014/main" id="{C07028D7-2EEC-4312-806B-59F42D9F1CA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192000" y="8058150"/>
            <a:ext cx="18097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0000"/>
              </a:lnSpc>
              <a:buNone/>
              <a:defRPr sz="1200" b="1">
                <a:solidFill>
                  <a:srgbClr val="9A9A9F"/>
                </a:solidFill>
                <a:latin typeface="Calibri"/>
                <a:ea typeface="Calibri"/>
                <a:cs typeface="Calibri"/>
              </a:defRPr>
            </a:pPr>
            <a:r>
              <a:rPr sz="1200" b="1">
                <a:solidFill>
                  <a:srgbClr val="9A9A9F"/>
                </a:solidFill>
                <a:latin typeface="Calibri"/>
                <a:ea typeface="Calibri"/>
                <a:cs typeface="Calibri"/>
              </a:rPr>
              <a:t>DIAGNOSE</a:t>
            </a:r>
          </a:p>
        </p:txBody>
      </p:sp>
      <p:sp>
        <p:nvSpPr>
          <p:cNvPr id="34" name="">
            <a:extLst xmlns:a="http://schemas.openxmlformats.org/drawingml/2006/main">
              <a:ext uri="{FF2B5EF4-FFF2-40B4-BE49-F238E27FC236}">
                <a16:creationId xmlns:a16="http://schemas.microsoft.com/office/drawing/2014/main" id="{5334563E-9E00-41F4-886E-137032B6DD0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135100" y="8058150"/>
            <a:ext cx="2667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0000"/>
              </a:lnSpc>
              <a:buNone/>
              <a:defRPr sz="1200" b="1">
                <a:solidFill>
                  <a:srgbClr val="9A9A9F"/>
                </a:solidFill>
                <a:latin typeface="Calibri"/>
                <a:ea typeface="Calibri"/>
                <a:cs typeface="Calibri"/>
              </a:defRPr>
            </a:pPr>
            <a:r>
              <a:rPr sz="1200" b="1">
                <a:solidFill>
                  <a:srgbClr val="9A9A9F"/>
                </a:solidFill>
                <a:latin typeface="Calibri"/>
                <a:ea typeface="Calibri"/>
                <a:cs typeface="Calibri"/>
              </a:rPr>
              <a:t>08</a:t>
            </a:r>
          </a:p>
        </p:txBody>
      </p:sp>
      <p:graphicFrame>
        <p:nvGraphicFramePr>
          <p:cNvPr id="46" name=""/>
          <p:cNvGraphicFramePr/>
          <p:nvPr/>
        </p:nvGraphicFramePr>
        <p:xfrm>
          <a:off xmlns:a="http://schemas.openxmlformats.org/drawingml/2006/main" x="1028700" y="2457450"/>
          <a:ext xmlns:a="http://schemas.openxmlformats.org/drawingml/2006/main" cx="13163550" cy="4114800"/>
        </p:xfrm>
        <a:graphic xmlns:a="http://schemas.openxmlformats.org/drawingml/2006/main">
          <a:graphicData uri="http://schemas.openxmlformats.org/drawingml/2006/table">
            <a:tbl>
              <a:tblPr firstRow="1" bandRow="0"/>
              <a:tblGrid>
                <a:gridCol w="5581650"/>
                <a:gridCol w="4781550"/>
                <a:gridCol w="2800350"/>
              </a:tblGrid>
              <a:tr h="628650">
                <a:tc>
                  <a:txBody>
                    <a:bodyPr/>
                    <a:lstStyle/>
                    <a:p>
                      <a:pPr algn="l"/>
                      <a:r>
                        <a:rPr sz="1425" b="1">
                          <a:solidFill>
                            <a:srgbClr val="FFFFFF"/>
                          </a:solidFill>
                          <a:latin typeface="Calibri"/>
                          <a:ea typeface="Calibri"/>
                          <a:cs typeface="Calibri"/>
                        </a:rPr>
                        <a:t>SCORE PATTERN</a:t>
                      </a:r>
                    </a:p>
                  </a:txBody>
                  <a:tcPr marL="152400" marR="152400" marT="95250" marB="95250">
                    <a:solidFill>
                      <a:srgbClr val="2546D5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425" b="1">
                          <a:solidFill>
                            <a:srgbClr val="FFFFFF"/>
                          </a:solidFill>
                          <a:latin typeface="Calibri"/>
                          <a:ea typeface="Calibri"/>
                          <a:cs typeface="Calibri"/>
                        </a:rPr>
                        <a:t>EARLIEST PUBLIC OWNER</a:t>
                      </a:r>
                    </a:p>
                  </a:txBody>
                  <a:tcPr marL="152400" marR="152400" marT="95250" marB="95250">
                    <a:solidFill>
                      <a:srgbClr val="2546D5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425" b="1">
                          <a:solidFill>
                            <a:srgbClr val="FFFFFF"/>
                          </a:solidFill>
                          <a:latin typeface="Calibri"/>
                          <a:ea typeface="Calibri"/>
                          <a:cs typeface="Calibri"/>
                        </a:rPr>
                        <a:t>RELEASE</a:t>
                      </a:r>
                    </a:p>
                  </a:txBody>
                  <a:tcPr marL="152400" marR="152400" marT="95250" marB="95250">
                    <a:solidFill>
                      <a:srgbClr val="2546D5"/>
                    </a:solidFill>
                  </a:tcPr>
                </a:tc>
              </a:tr>
              <a:tr h="866775">
                <a:tc>
                  <a:txBody>
                    <a:bodyPr/>
                    <a:lstStyle/>
                    <a:p>
                      <a:pPr algn="l"/>
                      <a:r>
                        <a:rPr sz="1500" b="1">
                          <a:solidFill>
                            <a:srgbClr val="2546D5"/>
                          </a:solidFill>
                          <a:latin typeface="Calibri"/>
                          <a:ea typeface="Calibri"/>
                          <a:cs typeface="Calibri"/>
                        </a:rPr>
                        <a:t>Answer good, path bad</a:t>
                      </a:r>
                    </a:p>
                  </a:txBody>
                  <a:tcPr marL="152400" marR="152400" marT="95250" marB="9525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500" b="0">
                          <a:solidFill>
                            <a:srgbClr val="0A2030"/>
                          </a:solidFill>
                          <a:latin typeface="Calibri"/>
                          <a:ea typeface="Calibri"/>
                          <a:cs typeface="Calibri"/>
                        </a:rPr>
                        <a:t>Planner or replanner</a:t>
                      </a:r>
                    </a:p>
                  </a:txBody>
                  <a:tcPr marL="152400" marR="152400" marT="95250" marB="9525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500" b="1">
                          <a:solidFill>
                            <a:srgbClr val="E87800"/>
                          </a:solidFill>
                          <a:latin typeface="Calibri"/>
                          <a:ea typeface="Calibri"/>
                          <a:cs typeface="Calibri"/>
                        </a:rPr>
                        <a:t>BLOCK</a:t>
                      </a:r>
                    </a:p>
                  </a:txBody>
                  <a:tcPr marL="152400" marR="152400" marT="95250" marB="95250">
                    <a:solidFill>
                      <a:srgbClr val="FFFFFF"/>
                    </a:solidFill>
                  </a:tcPr>
                </a:tc>
              </a:tr>
              <a:tr h="866775">
                <a:tc>
                  <a:txBody>
                    <a:bodyPr/>
                    <a:lstStyle/>
                    <a:p>
                      <a:pPr algn="l"/>
                      <a:r>
                        <a:rPr sz="1500" b="1">
                          <a:solidFill>
                            <a:srgbClr val="2546D5"/>
                          </a:solidFill>
                          <a:latin typeface="Calibri"/>
                          <a:ea typeface="Calibri"/>
                          <a:cs typeface="Calibri"/>
                        </a:rPr>
                        <a:t>Path good, answer incomplete</a:t>
                      </a:r>
                    </a:p>
                  </a:txBody>
                  <a:tcPr marL="152400" marR="152400" marT="95250" marB="95250"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500" b="0">
                          <a:solidFill>
                            <a:srgbClr val="0A2030"/>
                          </a:solidFill>
                          <a:latin typeface="Calibri"/>
                          <a:ea typeface="Calibri"/>
                          <a:cs typeface="Calibri"/>
                        </a:rPr>
                        <a:t>Evidence gate or report writer</a:t>
                      </a:r>
                    </a:p>
                  </a:txBody>
                  <a:tcPr marL="152400" marR="152400" marT="95250" marB="95250"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500" b="1">
                          <a:solidFill>
                            <a:srgbClr val="E87800"/>
                          </a:solidFill>
                          <a:latin typeface="Calibri"/>
                          <a:ea typeface="Calibri"/>
                          <a:cs typeface="Calibri"/>
                        </a:rPr>
                        <a:t>BLOCK</a:t>
                      </a:r>
                    </a:p>
                  </a:txBody>
                  <a:tcPr marL="152400" marR="152400" marT="95250" marB="95250">
                    <a:solidFill>
                      <a:srgbClr val="F5F7FA"/>
                    </a:solidFill>
                  </a:tcPr>
                </a:tc>
              </a:tr>
              <a:tr h="866775">
                <a:tc>
                  <a:txBody>
                    <a:bodyPr/>
                    <a:lstStyle/>
                    <a:p>
                      <a:pPr algn="l"/>
                      <a:r>
                        <a:rPr sz="1500" b="1">
                          <a:solidFill>
                            <a:srgbClr val="2546D5"/>
                          </a:solidFill>
                          <a:latin typeface="Calibri"/>
                          <a:ea typeface="Calibri"/>
                          <a:cs typeface="Calibri"/>
                        </a:rPr>
                        <a:t>CITATION INTEGRITY = 0</a:t>
                      </a:r>
                    </a:p>
                  </a:txBody>
                  <a:tcPr marL="152400" marR="152400" marT="95250" marB="9525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500" b="0">
                          <a:solidFill>
                            <a:srgbClr val="0A2030"/>
                          </a:solidFill>
                          <a:latin typeface="Calibri"/>
                          <a:ea typeface="Calibri"/>
                          <a:cs typeface="Calibri"/>
                        </a:rPr>
                        <a:t>Report writer</a:t>
                      </a:r>
                    </a:p>
                  </a:txBody>
                  <a:tcPr marL="152400" marR="152400" marT="95250" marB="9525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500" b="1">
                          <a:solidFill>
                            <a:srgbClr val="E87800"/>
                          </a:solidFill>
                          <a:latin typeface="Calibri"/>
                          <a:ea typeface="Calibri"/>
                          <a:cs typeface="Calibri"/>
                        </a:rPr>
                        <a:t>BLOCK</a:t>
                      </a:r>
                    </a:p>
                  </a:txBody>
                  <a:tcPr marL="152400" marR="152400" marT="95250" marB="95250">
                    <a:solidFill>
                      <a:srgbClr val="FFFFFF"/>
                    </a:solidFill>
                  </a:tcPr>
                </a:tc>
              </a:tr>
              <a:tr h="866775">
                <a:tc>
                  <a:txBody>
                    <a:bodyPr/>
                    <a:lstStyle/>
                    <a:p>
                      <a:pPr algn="l"/>
                      <a:r>
                        <a:rPr sz="1500" b="1">
                          <a:solidFill>
                            <a:srgbClr val="2546D5"/>
                          </a:solidFill>
                          <a:latin typeface="Calibri"/>
                          <a:ea typeface="Calibri"/>
                          <a:cs typeface="Calibri"/>
                        </a:rPr>
                        <a:t>Correct typed stop, no briefing</a:t>
                      </a:r>
                    </a:p>
                  </a:txBody>
                  <a:tcPr marL="152400" marR="152400" marT="95250" marB="95250"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500" b="0">
                          <a:solidFill>
                            <a:srgbClr val="0A2030"/>
                          </a:solidFill>
                          <a:latin typeface="Calibri"/>
                          <a:ea typeface="Calibri"/>
                          <a:cs typeface="Calibri"/>
                        </a:rPr>
                        <a:t>Evidence gate</a:t>
                      </a:r>
                    </a:p>
                  </a:txBody>
                  <a:tcPr marL="152400" marR="152400" marT="95250" marB="95250"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500" b="1">
                          <a:solidFill>
                            <a:srgbClr val="2F8F5B"/>
                          </a:solidFill>
                          <a:latin typeface="Calibri"/>
                          <a:ea typeface="Calibri"/>
                          <a:cs typeface="Calibri"/>
                        </a:rPr>
                        <a:t>PASS</a:t>
                      </a:r>
                    </a:p>
                  </a:txBody>
                  <a:tcPr marL="152400" marR="152400" marT="95250" marB="95250">
                    <a:solidFill>
                      <a:srgbClr val="F5F7FA"/>
                    </a:solidFill>
                  </a:tcPr>
                </a:tc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926141459"/>
      </p:ext>
    </p:extLst>
  </p:cSld>
</p:sld>
</file>

<file path=ppt/slides/slide9.xml><?xml version="1.0" encoding="utf-8"?>
<p:sld xmlns:p="http://schemas.openxmlformats.org/presentationml/2006/main">
  <p:cSld>
    <p:bg>
      <p:bgPr>
        <a:solidFill xmlns:a="http://schemas.openxmlformats.org/drawingml/2006/main">
          <a:srgbClr val="F5F5F5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5D84E1CF-DA64-4EFC-8528-B207517D3EC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666750"/>
            <a:ext cx="476250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425" b="1">
                <a:solidFill>
                  <a:srgbClr val="1F40CB"/>
                </a:solidFill>
                <a:latin typeface="Calibri"/>
                <a:ea typeface="Calibri"/>
                <a:cs typeface="Calibri"/>
              </a:defRPr>
            </a:pPr>
            <a:r>
              <a:rPr sz="1800" b="1">
                <a:solidFill>
                  <a:srgbClr val="1F40CB"/>
                </a:solidFill>
                <a:latin typeface="Calibri"/>
                <a:ea typeface="Calibri"/>
                <a:cs typeface="Calibri"/>
              </a:rPr>
              <a:t>RELEASE + CAPSTONE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0AEDDB7F-E2AD-4762-B051-D3A0AC293CC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1181100"/>
            <a:ext cx="13296900" cy="781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3600" b="1">
                <a:solidFill>
                  <a:srgbClr val="051C2A"/>
                </a:solidFill>
                <a:latin typeface="Calibri"/>
                <a:ea typeface="Calibri"/>
                <a:cs typeface="Calibri"/>
              </a:defRPr>
            </a:pPr>
            <a:r>
              <a:rPr sz="3600" b="1">
                <a:solidFill>
                  <a:srgbClr val="051C2A"/>
                </a:solidFill>
                <a:latin typeface="Calibri"/>
                <a:ea typeface="Calibri"/>
                <a:cs typeface="Calibri"/>
              </a:rPr>
              <a:t>Release the evidence, then design the capstone</a:t>
            </a:r>
          </a:p>
        </p:txBody>
      </p:sp>
      <p:sp>
        <p:nvSpPr>
          <p:cNvPr id="3" name="decision-source">
            <a:extLst xmlns:a="http://schemas.openxmlformats.org/drawingml/2006/main">
              <a:ext uri="{FF2B5EF4-FFF2-40B4-BE49-F238E27FC236}">
                <a16:creationId xmlns:a16="http://schemas.microsoft.com/office/drawing/2014/main" id="{F0F1628B-25FC-4A7D-9ACB-11ED41518DD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8700" y="2990850"/>
            <a:ext cx="2724150" cy="1562100"/>
          </a:xfrm>
          <a:prstGeom xmlns:a="http://schemas.openxmlformats.org/drawingml/2006/main" prst="roundRect">
            <a:avLst>
              <a:gd name="adj" fmla="val 7317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E4E7E9"/>
            </a:solidFill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62CDE4FD-810A-4BB6-A9E2-9D453E2B432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95400" y="3181350"/>
            <a:ext cx="21907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1350" b="1">
                <a:solidFill>
                  <a:srgbClr val="1F40CB"/>
                </a:solidFill>
                <a:latin typeface="Calibri"/>
                <a:ea typeface="Calibri"/>
                <a:cs typeface="Calibri"/>
              </a:defRPr>
            </a:pPr>
            <a:r>
              <a:rPr sz="1800" b="1">
                <a:solidFill>
                  <a:srgbClr val="1F40CB"/>
                </a:solidFill>
                <a:latin typeface="Calibri"/>
                <a:ea typeface="Calibri"/>
                <a:cs typeface="Calibri"/>
              </a:rPr>
              <a:t>CITATION INTEGRITY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25AA52CC-262C-4723-8C2E-E43262748B6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95400" y="3657600"/>
            <a:ext cx="2190750" cy="647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85859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1650" b="1">
                <a:solidFill>
                  <a:srgbClr val="051C2A"/>
                </a:solidFill>
                <a:latin typeface="Calibri"/>
                <a:ea typeface="Calibri"/>
                <a:cs typeface="Calibri"/>
              </a:defRPr>
            </a:pPr>
            <a:r>
              <a:rPr sz="1650" b="1">
                <a:solidFill>
                  <a:srgbClr val="051C2A"/>
                </a:solidFill>
                <a:latin typeface="Calibri"/>
                <a:ea typeface="Calibri"/>
                <a:cs typeface="Calibri"/>
              </a:rPr>
              <a:t>exact source + evidence pair</a:t>
            </a:r>
          </a:p>
          <a:p xmlns:a="http://schemas.openxmlformats.org/drawingml/2006/main">
            <a:pPr algn="ctr">
              <a:lnSpc>
                <a:spcPct val="100000"/>
              </a:lnSpc>
              <a:buNone/>
              <a:defRPr sz="1650" b="1">
                <a:solidFill>
                  <a:srgbClr val="051C2A"/>
                </a:solidFill>
                <a:latin typeface="Calibri"/>
                <a:ea typeface="Calibri"/>
                <a:cs typeface="Calibri"/>
              </a:defRPr>
            </a:pPr>
            <a:r>
              <a:rPr sz="1650" b="1">
                <a:solidFill>
                  <a:srgbClr val="051C2A"/>
                </a:solidFill>
                <a:latin typeface="Calibri"/>
                <a:ea typeface="Calibri"/>
                <a:cs typeface="Calibri"/>
              </a:rPr>
              <a:t>all cases pass</a:t>
            </a:r>
          </a:p>
        </p:txBody>
      </p:sp>
      <p:sp>
        <p:nvSpPr>
          <p:cNvPr id="6" name="decision-child">
            <a:extLst xmlns:a="http://schemas.openxmlformats.org/drawingml/2006/main">
              <a:ext uri="{FF2B5EF4-FFF2-40B4-BE49-F238E27FC236}">
                <a16:creationId xmlns:a16="http://schemas.microsoft.com/office/drawing/2014/main" id="{E359D7F5-9555-4867-8587-2F8EC5254E0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62550" y="2857500"/>
            <a:ext cx="3257550" cy="1828800"/>
          </a:xfrm>
          <a:prstGeom xmlns:a="http://schemas.openxmlformats.org/drawingml/2006/main" prst="roundRect">
            <a:avLst>
              <a:gd name="adj" fmla="val 6250"/>
            </a:avLst>
          </a:prstGeom>
          <a:solidFill xmlns:a="http://schemas.openxmlformats.org/drawingml/2006/main">
            <a:srgbClr val="E8F6FB"/>
          </a:solidFill>
          <a:ln xmlns:a="http://schemas.openxmlformats.org/drawingml/2006/main" w="19050">
            <a:solidFill>
              <a:srgbClr val="00A2EB"/>
            </a:solidFill>
            <a:prstDash val="solid"/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14C45E62-2BDC-4F11-8E8E-92ACD6B6E61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67350" y="2914650"/>
            <a:ext cx="264795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1275" b="1">
                <a:solidFill>
                  <a:srgbClr val="00A2EB"/>
                </a:solidFill>
                <a:latin typeface="Calibri"/>
                <a:ea typeface="Calibri"/>
                <a:cs typeface="Calibri"/>
              </a:defRPr>
            </a:pPr>
            <a:r>
              <a:rPr sz="1800" b="1">
                <a:solidFill>
                  <a:srgbClr val="00A2EB"/>
                </a:solidFill>
                <a:latin typeface="Calibri"/>
                <a:ea typeface="Calibri"/>
                <a:cs typeface="Calibri"/>
              </a:rPr>
              <a:t>RELEASE</a:t>
            </a:r>
          </a:p>
          <a:p xmlns:a="http://schemas.openxmlformats.org/drawingml/2006/main">
            <a:pPr algn="ctr">
              <a:lnSpc>
                <a:spcPct val="100000"/>
              </a:lnSpc>
              <a:buNone/>
              <a:defRPr sz="1275" b="1">
                <a:solidFill>
                  <a:srgbClr val="00A2EB"/>
                </a:solidFill>
                <a:latin typeface="Calibri"/>
                <a:ea typeface="Calibri"/>
                <a:cs typeface="Calibri"/>
              </a:defRPr>
            </a:pPr>
            <a:r>
              <a:rPr sz="1800" b="1">
                <a:solidFill>
                  <a:srgbClr val="00A2EB"/>
                </a:solidFill>
                <a:latin typeface="Calibri"/>
                <a:ea typeface="Calibri"/>
                <a:cs typeface="Calibri"/>
              </a:rPr>
              <a:t>PROOF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9FF2A998-C21C-458F-BEED-486513923D8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67350" y="3390900"/>
            <a:ext cx="2647950" cy="800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80000"/>
              </a:lnSpc>
              <a:buNone/>
              <a:defRPr sz="2175" b="1">
                <a:solidFill>
                  <a:srgbClr val="051C2A"/>
                </a:solidFill>
                <a:latin typeface="Calibri"/>
                <a:ea typeface="Calibri"/>
                <a:cs typeface="Calibri"/>
              </a:defRPr>
            </a:pPr>
            <a:r>
              <a:rPr sz="1800" b="1">
                <a:solidFill>
                  <a:srgbClr val="051C2A"/>
                </a:solidFill>
                <a:latin typeface="Calibri"/>
                <a:ea typeface="Calibri"/>
                <a:cs typeface="Calibri"/>
              </a:rPr>
              <a:t>six aligned cases</a:t>
            </a:r>
          </a:p>
          <a:p xmlns:a="http://schemas.openxmlformats.org/drawingml/2006/main">
            <a:pPr algn="ctr">
              <a:lnSpc>
                <a:spcPct val="80000"/>
              </a:lnSpc>
              <a:buNone/>
              <a:defRPr sz="2175" b="1">
                <a:solidFill>
                  <a:srgbClr val="051C2A"/>
                </a:solidFill>
                <a:latin typeface="Calibri"/>
                <a:ea typeface="Calibri"/>
                <a:cs typeface="Calibri"/>
              </a:defRPr>
            </a:pPr>
            <a:r>
              <a:rPr sz="1800" b="1">
                <a:solidFill>
                  <a:srgbClr val="051C2A"/>
                </a:solidFill>
                <a:latin typeface="Calibri"/>
                <a:ea typeface="Calibri"/>
                <a:cs typeface="Calibri"/>
              </a:rPr>
              <a:t>no forbidden briefing</a:t>
            </a:r>
          </a:p>
          <a:p xmlns:a="http://schemas.openxmlformats.org/drawingml/2006/main">
            <a:pPr algn="ctr">
              <a:lnSpc>
                <a:spcPct val="80000"/>
              </a:lnSpc>
              <a:buNone/>
              <a:defRPr sz="2175" b="1">
                <a:solidFill>
                  <a:srgbClr val="051C2A"/>
                </a:solidFill>
                <a:latin typeface="Calibri"/>
                <a:ea typeface="Calibri"/>
                <a:cs typeface="Calibri"/>
              </a:defRPr>
            </a:pPr>
            <a:r>
              <a:rPr sz="1800" b="1">
                <a:solidFill>
                  <a:srgbClr val="051C2A"/>
                </a:solidFill>
                <a:latin typeface="Calibri"/>
                <a:ea typeface="Calibri"/>
                <a:cs typeface="Calibri"/>
              </a:rPr>
              <a:t>same dataset hash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EE8A313B-A32E-4318-B50D-32C786561C8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67350" y="4191000"/>
            <a:ext cx="264795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70000"/>
              </a:lnSpc>
              <a:buNone/>
              <a:defRPr sz="1275" b="0">
                <a:solidFill>
                  <a:srgbClr val="1F40CB"/>
                </a:solidFill>
                <a:latin typeface="Calibri"/>
                <a:ea typeface="Calibri"/>
                <a:cs typeface="Calibri"/>
              </a:defRPr>
            </a:pPr>
            <a:r>
              <a:rPr sz="1800" b="0">
                <a:solidFill>
                  <a:srgbClr val="1F40CB"/>
                </a:solidFill>
                <a:latin typeface="Calibri"/>
                <a:ea typeface="Calibri"/>
                <a:cs typeface="Calibri"/>
              </a:rPr>
              <a:t>DETERMINISTIC RELEASE GATE</a:t>
            </a:r>
          </a:p>
        </p:txBody>
      </p:sp>
      <p:sp>
        <p:nvSpPr>
          <p:cNvPr id="10" name="decision-parent">
            <a:extLst xmlns:a="http://schemas.openxmlformats.org/drawingml/2006/main">
              <a:ext uri="{FF2B5EF4-FFF2-40B4-BE49-F238E27FC236}">
                <a16:creationId xmlns:a16="http://schemas.microsoft.com/office/drawing/2014/main" id="{7E8CC043-3F7C-4B5E-B01A-E942C33D874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829800" y="2990850"/>
            <a:ext cx="3543300" cy="1562100"/>
          </a:xfrm>
          <a:prstGeom xmlns:a="http://schemas.openxmlformats.org/drawingml/2006/main" prst="roundRect">
            <a:avLst>
              <a:gd name="adj" fmla="val 7317"/>
            </a:avLst>
          </a:prstGeom>
          <a:solidFill xmlns:a="http://schemas.openxmlformats.org/drawingml/2006/main">
            <a:srgbClr val="062433"/>
          </a:solidFill>
          <a:ln xmlns:a="http://schemas.openxmlformats.org/drawingml/2006/main" w="9525">
            <a:solidFill>
              <a:srgbClr val="062433"/>
            </a:solidFill>
            <a:prstDash val="solid"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0595FD15-7156-4E52-87B2-404D626063B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134600" y="3181350"/>
            <a:ext cx="29337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1350" b="1">
                <a:solidFill>
                  <a:srgbClr val="00A2EB"/>
                </a:solidFill>
                <a:latin typeface="Calibri"/>
                <a:ea typeface="Calibri"/>
                <a:cs typeface="Calibri"/>
              </a:defRPr>
            </a:pPr>
            <a:r>
              <a:rPr sz="1800" b="1">
                <a:solidFill>
                  <a:srgbClr val="00A2EB"/>
                </a:solidFill>
                <a:latin typeface="Calibri"/>
                <a:ea typeface="Calibri"/>
                <a:cs typeface="Calibri"/>
              </a:rPr>
              <a:t>CAPSTONE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39CEFAC4-B99C-4E5B-B744-4D0EEDB15B0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134600" y="3638550"/>
            <a:ext cx="293370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71429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2100" b="1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2100" b="1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choose mission</a:t>
            </a:r>
          </a:p>
          <a:p xmlns:a="http://schemas.openxmlformats.org/drawingml/2006/main">
            <a:pPr algn="ctr">
              <a:lnSpc>
                <a:spcPct val="100000"/>
              </a:lnSpc>
              <a:buNone/>
              <a:defRPr sz="2100" b="1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2100" b="1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controls + evidence</a:t>
            </a:r>
          </a:p>
          <a:p xmlns:a="http://schemas.openxmlformats.org/drawingml/2006/main">
            <a:pPr algn="ctr">
              <a:lnSpc>
                <a:spcPct val="100000"/>
              </a:lnSpc>
              <a:buNone/>
              <a:defRPr sz="2100" b="1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2100" b="1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release rubric</a:t>
            </a:r>
          </a:p>
        </p:txBody>
      </p:sp>
      <p:cxnSp>
        <p:nvCxnSpPr>
          <p:cNvPr id="376" name=""/>
          <p:cNvCxnSpPr>
            <a:stCxn xmlns:a="http://schemas.openxmlformats.org/drawingml/2006/main" id="3" idx="3"/>
            <a:endCxn xmlns:a="http://schemas.openxmlformats.org/drawingml/2006/main" id="6" idx="1"/>
          </p:cNvCxnSpPr>
          <p:nvPr/>
        </p:nvCxnSpPr>
        <p:spPr>
          <a:xfrm xmlns:a="http://schemas.openxmlformats.org/drawingml/2006/main">
            <a:off x="3752850" y="3771900"/>
            <a:ext cx="1409700" cy="0"/>
          </a:xfrm>
          <a:prstGeom xmlns:a="http://schemas.openxmlformats.org/drawingml/2006/main" prst="straightConnector1">
            <a:avLst/>
          </a:prstGeom>
          <a:ln xmlns:a="http://schemas.openxmlformats.org/drawingml/2006/main" w="28575">
            <a:solidFill>
              <a:srgbClr val="F07D00"/>
            </a:solidFill>
            <a:prstDash val="solid"/>
            <a:tailEnd type="triangle" w="med" len="med"/>
          </a:ln>
        </p:spPr>
      </p:cxnSp>
      <p:cxnSp>
        <p:nvCxnSpPr>
          <p:cNvPr id="377" name=""/>
          <p:cNvCxnSpPr>
            <a:stCxn xmlns:a="http://schemas.openxmlformats.org/drawingml/2006/main" id="6" idx="3"/>
            <a:endCxn xmlns:a="http://schemas.openxmlformats.org/drawingml/2006/main" id="10" idx="1"/>
          </p:cNvCxnSpPr>
          <p:nvPr/>
        </p:nvCxnSpPr>
        <p:spPr>
          <a:xfrm xmlns:a="http://schemas.openxmlformats.org/drawingml/2006/main" flipV="0">
            <a:off x="8420100" y="3771900"/>
            <a:ext cx="1409700" cy="0"/>
          </a:xfrm>
          <a:prstGeom xmlns:a="http://schemas.openxmlformats.org/drawingml/2006/main" prst="straightConnector1">
            <a:avLst/>
          </a:prstGeom>
          <a:ln xmlns:a="http://schemas.openxmlformats.org/drawingml/2006/main" w="28575">
            <a:solidFill>
              <a:srgbClr val="F07D00"/>
            </a:solidFill>
            <a:prstDash val="solid"/>
            <a:tailEnd type="triangle" w="med" len="med"/>
          </a:ln>
        </p:spPr>
      </p:cxn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FE1BEF3A-6A25-4B3F-8E60-6108148E558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00200" y="5467350"/>
            <a:ext cx="12039600" cy="1123950"/>
          </a:xfrm>
          <a:prstGeom xmlns:a="http://schemas.openxmlformats.org/drawingml/2006/main" prst="roundRect">
            <a:avLst>
              <a:gd name="adj" fmla="val 8475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E4E7E9"/>
            </a:solidFill>
            <a:prstDash val="solid"/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DFE4947E-2E2C-4D5A-B088-DFED206E71B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943100" y="5638800"/>
            <a:ext cx="24765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275" b="1">
                <a:solidFill>
                  <a:srgbClr val="F07D00"/>
                </a:solidFill>
                <a:latin typeface="Calibri"/>
                <a:ea typeface="Calibri"/>
                <a:cs typeface="Calibri"/>
              </a:defRPr>
            </a:pPr>
            <a:r>
              <a:rPr sz="1800" b="1">
                <a:solidFill>
                  <a:srgbClr val="F07D00"/>
                </a:solidFill>
                <a:latin typeface="Calibri"/>
                <a:ea typeface="Calibri"/>
                <a:cs typeface="Calibri"/>
              </a:rPr>
              <a:t>KEEP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DC1A217F-7E45-4462-994A-E1A7947A47F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943100" y="5962650"/>
            <a:ext cx="49530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650" b="1">
                <a:solidFill>
                  <a:srgbClr val="051C2A"/>
                </a:solidFill>
                <a:latin typeface="Calibri"/>
                <a:ea typeface="Calibri"/>
                <a:cs typeface="Calibri"/>
              </a:defRPr>
            </a:pPr>
            <a:r>
              <a:rPr sz="1650" b="1">
                <a:solidFill>
                  <a:srgbClr val="051C2A"/>
                </a:solidFill>
                <a:latin typeface="Calibri"/>
                <a:ea typeface="Calibri"/>
                <a:cs typeface="Calibri"/>
              </a:rPr>
              <a:t>traces · score rows · source pairs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4B74CAF0-D3F9-408B-B959-2864FA7108B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86650" y="5638800"/>
            <a:ext cx="28575" cy="7429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4E7E9"/>
          </a:solidFill>
          <a:ln xmlns:a="http://schemas.openxmlformats.org/drawingml/2006/main" w="0">
            <a:solidFill>
              <a:srgbClr val="E4E7E9"/>
            </a:solidFill>
            <a:prstDash val="solid"/>
          </a:ln>
        </p:spPr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F6C058E3-0326-4715-852F-1F8B32F61FB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67650" y="5638800"/>
            <a:ext cx="31432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275" b="1">
                <a:solidFill>
                  <a:srgbClr val="00A2EB"/>
                </a:solidFill>
                <a:latin typeface="Calibri"/>
                <a:ea typeface="Calibri"/>
                <a:cs typeface="Calibri"/>
              </a:defRPr>
            </a:pPr>
            <a:r>
              <a:rPr sz="1800" b="1">
                <a:solidFill>
                  <a:srgbClr val="00A2EB"/>
                </a:solidFill>
                <a:latin typeface="Calibri"/>
                <a:ea typeface="Calibri"/>
                <a:cs typeface="Calibri"/>
              </a:rPr>
              <a:t>HANDOFF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0AA9B25E-ADFB-4067-BF4C-46A5AE9FE83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67650" y="5962650"/>
            <a:ext cx="51435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650" b="1">
                <a:solidFill>
                  <a:srgbClr val="051C2A"/>
                </a:solidFill>
                <a:latin typeface="Calibri"/>
                <a:ea typeface="Calibri"/>
                <a:cs typeface="Calibri"/>
              </a:defRPr>
            </a:pPr>
            <a:r>
              <a:rPr sz="1650" b="1">
                <a:solidFill>
                  <a:srgbClr val="051C2A"/>
                </a:solidFill>
                <a:latin typeface="Calibri"/>
                <a:ea typeface="Calibri"/>
                <a:cs typeface="Calibri"/>
              </a:rPr>
              <a:t>capstone architecture remains a design choice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BCAA4B4E-BD27-48A6-A4E1-ACF33C620C4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8700" y="7086600"/>
            <a:ext cx="15240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350" b="1">
                <a:solidFill>
                  <a:srgbClr val="F07D00"/>
                </a:solidFill>
                <a:latin typeface="Calibri"/>
                <a:ea typeface="Calibri"/>
                <a:cs typeface="Calibri"/>
              </a:defRPr>
            </a:pPr>
            <a:r>
              <a:rPr sz="1800" b="1">
                <a:solidFill>
                  <a:srgbClr val="F07D00"/>
                </a:solidFill>
                <a:latin typeface="Calibri"/>
                <a:ea typeface="Calibri"/>
                <a:cs typeface="Calibri"/>
              </a:rPr>
              <a:t>CAPSTONE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539B97AA-C4C9-4A8D-997E-C7AD0F311AD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705100" y="6991350"/>
            <a:ext cx="1141095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875" b="1">
                <a:solidFill>
                  <a:srgbClr val="1F40CB"/>
                </a:solidFill>
                <a:latin typeface="Calibri"/>
                <a:ea typeface="Calibri"/>
                <a:cs typeface="Calibri"/>
              </a:defRPr>
            </a:pPr>
            <a:r>
              <a:rPr sz="1875" b="1">
                <a:solidFill>
                  <a:srgbClr val="1F40CB"/>
                </a:solidFill>
                <a:latin typeface="Calibri"/>
                <a:ea typeface="Calibri"/>
                <a:cs typeface="Calibri"/>
              </a:rPr>
              <a:t>Release the evidence. Use failures to design the capstone.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3CA8D079-E333-430B-9198-F3840FF4222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" y="7896225"/>
            <a:ext cx="13525500" cy="285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4E7E9"/>
          </a:solidFill>
          <a:ln xmlns:a="http://schemas.openxmlformats.org/drawingml/2006/main" w="0">
            <a:solidFill>
              <a:srgbClr val="E4E7E9"/>
            </a:solidFill>
            <a:prstDash val="solid"/>
          </a:ln>
        </p:spPr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56B1FA6E-7D19-4BD4-95AB-A7A96F2D9D4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" y="7896225"/>
            <a:ext cx="8001000" cy="38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A2EB"/>
          </a:solidFill>
          <a:ln xmlns:a="http://schemas.openxmlformats.org/drawingml/2006/main" w="0">
            <a:solidFill>
              <a:srgbClr val="00A2EB"/>
            </a:solidFill>
            <a:prstDash val="solid"/>
          </a:ln>
        </p:spPr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C621D69C-B05C-4F0B-A6BD-0B4E43C7FA7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8058150"/>
            <a:ext cx="37147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200" b="0">
                <a:solidFill>
                  <a:srgbClr val="9A9A9F"/>
                </a:solidFill>
                <a:latin typeface="Calibri"/>
                <a:ea typeface="Calibri"/>
                <a:cs typeface="Calibri"/>
              </a:defRPr>
            </a:pPr>
            <a:r>
              <a:rPr sz="1200" b="0">
                <a:solidFill>
                  <a:srgbClr val="9A9A9F"/>
                </a:solidFill>
                <a:latin typeface="Calibri"/>
                <a:ea typeface="Calibri"/>
                <a:cs typeface="Calibri"/>
              </a:rPr>
              <a:t>First Finance - Arnaud Demes</a:t>
            </a:r>
          </a:p>
        </p:txBody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84A9C6EC-5AC1-4AD4-9D79-D0462CD0122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192000" y="8058150"/>
            <a:ext cx="18097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0000"/>
              </a:lnSpc>
              <a:buNone/>
              <a:defRPr sz="1200" b="1">
                <a:solidFill>
                  <a:srgbClr val="9A9A9F"/>
                </a:solidFill>
                <a:latin typeface="Calibri"/>
                <a:ea typeface="Calibri"/>
                <a:cs typeface="Calibri"/>
              </a:defRPr>
            </a:pPr>
            <a:r>
              <a:rPr sz="1200" b="1">
                <a:solidFill>
                  <a:srgbClr val="9A9A9F"/>
                </a:solidFill>
                <a:latin typeface="Calibri"/>
                <a:ea typeface="Calibri"/>
                <a:cs typeface="Calibri"/>
              </a:rPr>
              <a:t>RELEASE</a:t>
            </a:r>
          </a:p>
        </p:txBody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E30F561A-2997-41E1-8361-56739584F87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135100" y="8058150"/>
            <a:ext cx="2667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0000"/>
              </a:lnSpc>
              <a:buNone/>
              <a:defRPr sz="1200" b="1">
                <a:solidFill>
                  <a:srgbClr val="9A9A9F"/>
                </a:solidFill>
                <a:latin typeface="Calibri"/>
                <a:ea typeface="Calibri"/>
                <a:cs typeface="Calibri"/>
              </a:defRPr>
            </a:pPr>
            <a:r>
              <a:rPr sz="1200" b="1">
                <a:solidFill>
                  <a:srgbClr val="9A9A9F"/>
                </a:solidFill>
                <a:latin typeface="Calibri"/>
                <a:ea typeface="Calibri"/>
                <a:cs typeface="Calibri"/>
              </a:rPr>
              <a:t>09</a:t>
            </a:r>
          </a:p>
        </p:txBody>
      </p:sp>
    </p:spTree>
    <p:extLst>
      <p:ext uri="{BB962C8B-B14F-4D97-AF65-F5344CB8AC3E}">
        <p14:creationId xmlns:p14="http://schemas.microsoft.com/office/powerpoint/2010/main" val="1663571577"/>
      </p:ext>
    </p:extLst>
  </p:cSld>
</p:sld>
</file>

<file path=ppt/theme/theme1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docProps/app.xml><?xml version="1.0" encoding="utf-8"?>
<ap:Properties xmlns:ap="http://schemas.openxmlformats.org/officeDocument/2006/extended-properties">
  <ap:Application>Walnut Exporter</ap:Application>
  <ap:PresentationFormat>Converted Presentation</ap:PresentationFormat>
  <ap:Slides>0</ap:Slides>
  <ap:Notes>0</ap:Notes>
  <ap:HiddenSlides>0</ap:HiddenSlides>
  <ap:SharedDoc>false</ap:SharedDoc>
  <ap:DocSecurity>0</ap:DocSecurity>
</ap:Properties>
</file>

<file path=docProps/core.xml><?xml version="1.0" encoding="utf-8"?>
<coreProperties xmlns:dc="http://purl.org/dc/elements/1.1/" xmlns:dcterms="http://purl.org/dc/terms/" xmlns:xsi="http://www.w3.org/2001/XMLSchema-instance" xmlns="http://schemas.openxmlformats.org/package/2006/metadata/core-properties">
  <dc:creator>Walnut Exporter</dc:creator>
  <lastModifiedBy>Walnut Exporter</lastModifiedBy>
  <dc:title>Presentation</dc:title>
  <dcterms:created xsi:type="dcterms:W3CDTF">2026-08-23T16:59:28.4020000Z</dcterms:created>
  <dcterms:modified xsi:type="dcterms:W3CDTF">2026-08-23T16:59:28.4020000Z</dcterms:modified>
</coreProperties>
</file>