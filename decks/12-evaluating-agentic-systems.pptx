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1b1bc5f26b4f79" /><Relationship Type="http://schemas.openxmlformats.org/officeDocument/2006/relationships/extended-properties" Target="/docProps/app.xml" Id="R03dbd6f86b0d45d0" /><Relationship Type="http://schemas.openxmlformats.org/officeDocument/2006/relationships/officeDocument" Target="/ppt/presentation.xml" Id="Rc7979ffee2514d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bacaeed31c4eed"/>
  </p:sldMasterIdLst>
  <p:notesMasterIdLst>
    <p:notesMasterId xmlns:r="http://schemas.openxmlformats.org/officeDocument/2006/relationships" r:id="Reea06163b1bf43a3"/>
  </p:notesMasterIdLst>
  <p:sldIdLst>
    <p:sldId xmlns:r="http://schemas.openxmlformats.org/officeDocument/2006/relationships" id="256" r:id="R700cefbde7c84356"/>
    <p:sldId xmlns:r="http://schemas.openxmlformats.org/officeDocument/2006/relationships" id="257" r:id="Rc6649d33d66543a8"/>
    <p:sldId xmlns:r="http://schemas.openxmlformats.org/officeDocument/2006/relationships" id="258" r:id="R997998aebbe447b4"/>
    <p:sldId xmlns:r="http://schemas.openxmlformats.org/officeDocument/2006/relationships" id="259" r:id="Re392c3ff316d49c2"/>
    <p:sldId xmlns:r="http://schemas.openxmlformats.org/officeDocument/2006/relationships" id="260" r:id="R43d63a2efc6f4547"/>
    <p:sldId xmlns:r="http://schemas.openxmlformats.org/officeDocument/2006/relationships" id="261" r:id="R4b25f785efbb4c19"/>
    <p:sldId xmlns:r="http://schemas.openxmlformats.org/officeDocument/2006/relationships" id="262" r:id="Rf7a8bfec493d4805"/>
    <p:sldId xmlns:r="http://schemas.openxmlformats.org/officeDocument/2006/relationships" id="263" r:id="R3f39182bd7fc4dfe"/>
    <p:sldId xmlns:r="http://schemas.openxmlformats.org/officeDocument/2006/relationships" id="264" r:id="R3f7f957f32d84a32"/>
    <p:sldId xmlns:r="http://schemas.openxmlformats.org/officeDocument/2006/relationships" id="265" r:id="Raa0321de2a654c10"/>
    <p:sldId xmlns:r="http://schemas.openxmlformats.org/officeDocument/2006/relationships" id="266" r:id="R2d93661e8c684a4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b1942fc47e4a1d" /><Relationship Type="http://schemas.openxmlformats.org/officeDocument/2006/relationships/slideMaster" Target="/ppt/slideMasters/slideMaster1.xml" Id="Rebbacaeed31c4eed" /><Relationship Type="http://schemas.openxmlformats.org/officeDocument/2006/relationships/notesMaster" Target="/ppt/notesMasters/notesMaster1.xml" Id="Reea06163b1bf43a3" /><Relationship Type="http://schemas.openxmlformats.org/officeDocument/2006/relationships/presProps" Target="/ppt/presProps.xml" Id="Racfde2d08b4f4e17" /><Relationship Type="http://schemas.openxmlformats.org/officeDocument/2006/relationships/tableStyles" Target="/ppt/tableStyles.xml" Id="R3c1138b019c24939" /><Relationship Type="http://schemas.openxmlformats.org/officeDocument/2006/relationships/slide" Target="/ppt/slides/slide1.xml" Id="R700cefbde7c84356" /><Relationship Type="http://schemas.openxmlformats.org/officeDocument/2006/relationships/slide" Target="/ppt/slides/slide2.xml" Id="Rc6649d33d66543a8" /><Relationship Type="http://schemas.openxmlformats.org/officeDocument/2006/relationships/slide" Target="/ppt/slides/slide3.xml" Id="R997998aebbe447b4" /><Relationship Type="http://schemas.openxmlformats.org/officeDocument/2006/relationships/slide" Target="/ppt/slides/slide4.xml" Id="Re392c3ff316d49c2" /><Relationship Type="http://schemas.openxmlformats.org/officeDocument/2006/relationships/slide" Target="/ppt/slides/slide5.xml" Id="R43d63a2efc6f4547" /><Relationship Type="http://schemas.openxmlformats.org/officeDocument/2006/relationships/slide" Target="/ppt/slides/slide6.xml" Id="R4b25f785efbb4c19" /><Relationship Type="http://schemas.openxmlformats.org/officeDocument/2006/relationships/slide" Target="/ppt/slides/slide7.xml" Id="Rf7a8bfec493d4805" /><Relationship Type="http://schemas.openxmlformats.org/officeDocument/2006/relationships/slide" Target="/ppt/slides/slide8.xml" Id="R3f39182bd7fc4dfe" /><Relationship Type="http://schemas.openxmlformats.org/officeDocument/2006/relationships/slide" Target="/ppt/slides/slide9.xml" Id="R3f7f957f32d84a32" /><Relationship Type="http://schemas.openxmlformats.org/officeDocument/2006/relationships/slide" Target="/ppt/slides/slide10.xml" Id="Raa0321de2a654c10" /><Relationship Type="http://schemas.openxmlformats.org/officeDocument/2006/relationships/slide" Target="/ppt/slides/slide11.xml" Id="R2d93661e8c684a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124447f69f4d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47a83ec0294f33" /><Relationship Type="http://schemas.openxmlformats.org/officeDocument/2006/relationships/notesMaster" Target="/ppt/notesMasters/notesMaster1.xml" Id="R9fe58131908746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36756408164c67" /><Relationship Type="http://schemas.openxmlformats.org/officeDocument/2006/relationships/notesMaster" Target="/ppt/notesMasters/notesMaster1.xml" Id="R81a3bea8fd2b4c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0b3e520dde4952" /><Relationship Type="http://schemas.openxmlformats.org/officeDocument/2006/relationships/notesMaster" Target="/ppt/notesMasters/notesMaster1.xml" Id="R4100f6ce691e44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feeba13d404390" /><Relationship Type="http://schemas.openxmlformats.org/officeDocument/2006/relationships/notesMaster" Target="/ppt/notesMasters/notesMaster1.xml" Id="R762b293db2914a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9a71ef14414ad4" /><Relationship Type="http://schemas.openxmlformats.org/officeDocument/2006/relationships/notesMaster" Target="/ppt/notesMasters/notesMaster1.xml" Id="R96c240d4f79f44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b15854eedd4a9b" /><Relationship Type="http://schemas.openxmlformats.org/officeDocument/2006/relationships/notesMaster" Target="/ppt/notesMasters/notesMaster1.xml" Id="Rae8e00c9f3464e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2bf3dc73cc4e0c" /><Relationship Type="http://schemas.openxmlformats.org/officeDocument/2006/relationships/notesMaster" Target="/ppt/notesMasters/notesMaster1.xml" Id="R892973535a9f4e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fb5eea8abd419d" /><Relationship Type="http://schemas.openxmlformats.org/officeDocument/2006/relationships/notesMaster" Target="/ppt/notesMasters/notesMaster1.xml" Id="R3bcabf648fd74f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584b14d93541ad" /><Relationship Type="http://schemas.openxmlformats.org/officeDocument/2006/relationships/notesMaster" Target="/ppt/notesMasters/notesMaster1.xml" Id="R0768fbfaa21d44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d9497277b64988" /><Relationship Type="http://schemas.openxmlformats.org/officeDocument/2006/relationships/notesMaster" Target="/ppt/notesMasters/notesMaster1.xml" Id="Rc879a56ae52849a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6ae4446bfc4442" /><Relationship Type="http://schemas.openxmlformats.org/officeDocument/2006/relationships/notesMaster" Target="/ppt/notesMasters/notesMaster1.xml" Id="R89005bb16bd94a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Frame the lesson around release evidence: the agent's path, answer, trace, and decision.</a:t>
            </a:r>
          </a:p>
          <a:p xmlns:a="http://schemas.openxmlformats.org/drawingml/2006/main">
            <a:r>
              <a:t>Planned timing: 0:00-1:00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https://mlflow.org/docs/latest/genai/eval-monitor/quickstart/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Contrast two equally plausible answers whose execution paths carry very different risk.</a:t>
            </a:r>
          </a:p>
          <a:p xmlns:a="http://schemas.openxmlformats.org/drawingml/2006/main">
            <a:r>
              <a:t>Planned timing: 1:00-2:15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Separate path correctness and efficiency from answer completeness and citation integrity.</a:t>
            </a:r>
          </a:p>
          <a:p xmlns:a="http://schemas.openxmlformats.org/drawingml/2006/main">
            <a:r>
              <a:t>Planned timing: 2:15-3:45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notebooks/12_evaluating_agentic_systems.ipynb</a:t>
            </a:r>
          </a:p>
          <a:p xmlns:a="http://schemas.openxmlformats.org/drawingml/2006/main">
            <a:r>
              <a:t>assets/lesson-12/evaluation-contract.png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Show how a versioned dataset becomes one comparable MLflow run with a trace behind every row.</a:t>
            </a:r>
          </a:p>
          <a:p xmlns:a="http://schemas.openxmlformats.org/drawingml/2006/main">
            <a:r>
              <a:t>Planned timing: 3:45-5:15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https://www.mlflow.org/docs/latest/genai/eval-monitor/running-evaluation/traces/</a:t>
            </a:r>
          </a:p>
          <a:p xmlns:a="http://schemas.openxmlformats.org/drawingml/2006/main">
            <a:r>
              <a:t>assets/lesson-12/mlflow-trace-evaluation-overview.png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Teach the MLflow trace viewer as the debugging surface for spans, tool calls, errors, and assessments.</a:t>
            </a:r>
          </a:p>
          <a:p xmlns:a="http://schemas.openxmlformats.org/drawingml/2006/main">
            <a:r>
              <a:t>Planned timing: 5:15-7:00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https://mlflow.org/docs/latest/genai/tracing/observe-with-traces/ui</a:t>
            </a:r>
          </a:p>
          <a:p xmlns:a="http://schemas.openxmlformats.org/drawingml/2006/main">
            <a:r>
              <a:t>assets/lesson-12/mlflow-trace-detail.png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Read the lowest case before trusting a configuration average, then open the matching trace.</a:t>
            </a:r>
          </a:p>
          <a:p xmlns:a="http://schemas.openxmlformats.org/drawingml/2006/main">
            <a:r>
              <a:t>Planned timing: 7:00-8:30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notebooks/12_evaluating_agentic_systems.ipynb</a:t>
            </a:r>
          </a:p>
          <a:p xmlns:a="http://schemas.openxmlformats.org/drawingml/2006/main">
            <a:r>
              <a:t>assets/lesson-12/per-case-heatmap.png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Keep deterministic finance rules as release gates and optional semantic judges as context.</a:t>
            </a:r>
          </a:p>
          <a:p xmlns:a="http://schemas.openxmlformats.org/drawingml/2006/main">
            <a:r>
              <a:t>Planned timing: 8:30-9:45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https://mlflow.org/docs/latest/genai/eval-monitor/scorers/index.html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Map each failed score to the earliest public component that can own and fix it.</a:t>
            </a:r>
          </a:p>
          <a:p xmlns:a="http://schemas.openxmlformats.org/drawingml/2006/main">
            <a:r>
              <a:t>Planned timing: 9:45-11:00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https://mlflow.org/docs/latest/genai/tracing/observe-with-traces/ui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Close with a release checklist and use dashboard failures to define the capstone experiment.</a:t>
            </a:r>
          </a:p>
          <a:p xmlns:a="http://schemas.openxmlformats.org/drawingml/2006/main">
            <a:r>
              <a:t>Planned timing: 11:00-12:30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chapters/12-evaluating-agentic-systems.md</a:t>
            </a:r>
          </a:p>
          <a:p xmlns:a="http://schemas.openxmlformats.org/drawingml/2006/main">
            <a:r>
              <a:t>https://mlflow.org/docs/latest/genai/tracing/observe-with-traces/dashboard/</a:t>
            </a:r>
          </a:p>
          <a:p xmlns:a="http://schemas.openxmlformats.org/drawingml/2006/main">
            <a:r>
              <a:t>assets/lesson-12/mlflow-quality-dashboard.png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chapters/12-evaluating-agentic-systems.md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chapters/12-evaluating-agentic-systems.md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ca2425968b4d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c4a0bf65ef44f0" /><Relationship Type="http://schemas.openxmlformats.org/officeDocument/2006/relationships/slideLayout" Target="/ppt/slideLayouts/slideLayout1.xml" Id="Rb509a54f4e7a4d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09a54f4e7a4d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5230636ad45fd" /><Relationship Type="http://schemas.openxmlformats.org/officeDocument/2006/relationships/notesSlide" Target="/ppt/notesSlides/notesSlide1.xml" Id="R533a9c578fdd4c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324b4be9e4a2b" /><Relationship Type="http://schemas.openxmlformats.org/officeDocument/2006/relationships/notesSlide" Target="/ppt/notesSlides/notesSlide2.xml" Id="R7e7b935d3f2a4f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8c2c1b7b14bbc" /><Relationship Type="http://schemas.openxmlformats.org/officeDocument/2006/relationships/image" Target="/ppt/media/image.png" Id="R126ba3253d3c485d" /><Relationship Type="http://schemas.openxmlformats.org/officeDocument/2006/relationships/notesSlide" Target="/ppt/notesSlides/notesSlide3.xml" Id="R3b1368b779a748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9ad13b76c4541" /><Relationship Type="http://schemas.openxmlformats.org/officeDocument/2006/relationships/image" Target="/ppt/media/image2.png" Id="R8be7bb86fa424e53" /><Relationship Type="http://schemas.openxmlformats.org/officeDocument/2006/relationships/image" Target="/ppt/media/image3.png" Id="Rfb0860ee43ad454b" /><Relationship Type="http://schemas.openxmlformats.org/officeDocument/2006/relationships/image" Target="/ppt/media/image.svg" Id="R30672179d3da4ec9" /><Relationship Type="http://schemas.openxmlformats.org/officeDocument/2006/relationships/image" Target="/ppt/media/image4.png" Id="R8e8a8ecadeae4b28" /><Relationship Type="http://schemas.openxmlformats.org/officeDocument/2006/relationships/image" Target="/ppt/media/image2.svg" Id="R5d208598071b423c" /><Relationship Type="http://schemas.openxmlformats.org/officeDocument/2006/relationships/image" Target="/ppt/media/image5.png" Id="R75a588c72a7f4d91" /><Relationship Type="http://schemas.openxmlformats.org/officeDocument/2006/relationships/image" Target="/ppt/media/image3.svg" Id="R8e9e5735d6604705" /><Relationship Type="http://schemas.openxmlformats.org/officeDocument/2006/relationships/image" Target="/ppt/media/image6.png" Id="R8695c9692e914379" /><Relationship Type="http://schemas.openxmlformats.org/officeDocument/2006/relationships/image" Target="/ppt/media/image4.svg" Id="R9aab6e29d1aa4246" /><Relationship Type="http://schemas.openxmlformats.org/officeDocument/2006/relationships/notesSlide" Target="/ppt/notesSlides/notesSlide4.xml" Id="R599e7c1147bd4b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e648b73d743f6" /><Relationship Type="http://schemas.openxmlformats.org/officeDocument/2006/relationships/image" Target="/ppt/media/image7.png" Id="R4be0e4dc5f4f427d" /><Relationship Type="http://schemas.openxmlformats.org/officeDocument/2006/relationships/image" Target="/ppt/media/image8.png" Id="Rc5ba48b4d7a440df" /><Relationship Type="http://schemas.openxmlformats.org/officeDocument/2006/relationships/image" Target="/ppt/media/image5.svg" Id="R977b11d50ad84323" /><Relationship Type="http://schemas.openxmlformats.org/officeDocument/2006/relationships/image" Target="/ppt/media/image9.png" Id="R424b29cc17da47f6" /><Relationship Type="http://schemas.openxmlformats.org/officeDocument/2006/relationships/image" Target="/ppt/media/image6.svg" Id="R0a59c8d0018d4623" /><Relationship Type="http://schemas.openxmlformats.org/officeDocument/2006/relationships/image" Target="/ppt/media/image10.png" Id="R7536c4a730f84729" /><Relationship Type="http://schemas.openxmlformats.org/officeDocument/2006/relationships/image" Target="/ppt/media/image7.svg" Id="R52c8c595b4f2471e" /><Relationship Type="http://schemas.openxmlformats.org/officeDocument/2006/relationships/image" Target="/ppt/media/image11.png" Id="R900eae4e37484930" /><Relationship Type="http://schemas.openxmlformats.org/officeDocument/2006/relationships/image" Target="/ppt/media/image8.svg" Id="R73dd57ecd2be4e4b" /><Relationship Type="http://schemas.openxmlformats.org/officeDocument/2006/relationships/image" Target="/ppt/media/image12.png" Id="R55defa1d2b2442be" /><Relationship Type="http://schemas.openxmlformats.org/officeDocument/2006/relationships/image" Target="/ppt/media/image9.svg" Id="Rf8addf2d274141c3" /><Relationship Type="http://schemas.openxmlformats.org/officeDocument/2006/relationships/notesSlide" Target="/ppt/notesSlides/notesSlide5.xml" Id="R99a58e1635af41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d3ae2bda04e24" /><Relationship Type="http://schemas.openxmlformats.org/officeDocument/2006/relationships/image" Target="/ppt/media/image13.png" Id="R34dc223289994997" /><Relationship Type="http://schemas.openxmlformats.org/officeDocument/2006/relationships/image" Target="/ppt/media/image14.png" Id="R661d334b3d8d4411" /><Relationship Type="http://schemas.openxmlformats.org/officeDocument/2006/relationships/image" Target="/ppt/media/image10.svg" Id="R766266761a0d46f2" /><Relationship Type="http://schemas.openxmlformats.org/officeDocument/2006/relationships/image" Target="/ppt/media/image15.png" Id="Rfd833393d0c94c98" /><Relationship Type="http://schemas.openxmlformats.org/officeDocument/2006/relationships/image" Target="/ppt/media/image11.svg" Id="R6e7b63e7790b4f05" /><Relationship Type="http://schemas.openxmlformats.org/officeDocument/2006/relationships/image" Target="/ppt/media/image16.png" Id="Rcbd4d01655f848e7" /><Relationship Type="http://schemas.openxmlformats.org/officeDocument/2006/relationships/image" Target="/ppt/media/image12.svg" Id="R7a5ad0ea001247f3" /><Relationship Type="http://schemas.openxmlformats.org/officeDocument/2006/relationships/image" Target="/ppt/media/image17.png" Id="Rad949b6fc6744cd7" /><Relationship Type="http://schemas.openxmlformats.org/officeDocument/2006/relationships/image" Target="/ppt/media/image13.svg" Id="Re27178cdaff345f2" /><Relationship Type="http://schemas.openxmlformats.org/officeDocument/2006/relationships/image" Target="/ppt/media/image18.png" Id="Raa5c3beacd2b41e7" /><Relationship Type="http://schemas.openxmlformats.org/officeDocument/2006/relationships/image" Target="/ppt/media/image14.svg" Id="Re6956568d38e42b7" /><Relationship Type="http://schemas.openxmlformats.org/officeDocument/2006/relationships/notesSlide" Target="/ppt/notesSlides/notesSlide6.xml" Id="R7d73e27b6fea44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842ebf63e409b" /><Relationship Type="http://schemas.openxmlformats.org/officeDocument/2006/relationships/notesSlide" Target="/ppt/notesSlides/notesSlide7.xml" Id="Rba3c65ebbafa4e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c2310e78043f8" /><Relationship Type="http://schemas.openxmlformats.org/officeDocument/2006/relationships/notesSlide" Target="/ppt/notesSlides/notesSlide8.xml" Id="R0cca1e645ea041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a638b36e4453d" /><Relationship Type="http://schemas.openxmlformats.org/officeDocument/2006/relationships/image" Target="/ppt/media/image19.png" Id="R0e0ea5681cf14743" /><Relationship Type="http://schemas.openxmlformats.org/officeDocument/2006/relationships/image" Target="/ppt/media/image20.png" Id="R575f429ee0be4d53" /><Relationship Type="http://schemas.openxmlformats.org/officeDocument/2006/relationships/image" Target="/ppt/media/image15.svg" Id="R4328d43af3be4aa9" /><Relationship Type="http://schemas.openxmlformats.org/officeDocument/2006/relationships/image" Target="/ppt/media/image21.png" Id="R47850bbc586447af" /><Relationship Type="http://schemas.openxmlformats.org/officeDocument/2006/relationships/image" Target="/ppt/media/image16.svg" Id="Ra94101b539554668" /><Relationship Type="http://schemas.openxmlformats.org/officeDocument/2006/relationships/image" Target="/ppt/media/image22.png" Id="R73e7f943f2464720" /><Relationship Type="http://schemas.openxmlformats.org/officeDocument/2006/relationships/image" Target="/ppt/media/image17.svg" Id="R65b408e12d3942cb" /><Relationship Type="http://schemas.openxmlformats.org/officeDocument/2006/relationships/image" Target="/ppt/media/image23.png" Id="R0d52fa22e71b4a7b" /><Relationship Type="http://schemas.openxmlformats.org/officeDocument/2006/relationships/image" Target="/ppt/media/image18.svg" Id="R295be9ca3d7547c8" /><Relationship Type="http://schemas.openxmlformats.org/officeDocument/2006/relationships/image" Target="/ppt/media/image24.png" Id="R0b34580ffbdb487e" /><Relationship Type="http://schemas.openxmlformats.org/officeDocument/2006/relationships/image" Target="/ppt/media/image19.svg" Id="R9b04c7581c4b41dd" /><Relationship Type="http://schemas.openxmlformats.org/officeDocument/2006/relationships/image" Target="/ppt/media/image25.png" Id="Rb871dcaeea844f80" /><Relationship Type="http://schemas.openxmlformats.org/officeDocument/2006/relationships/image" Target="/ppt/media/image20.svg" Id="Rc9e5b05384b14a4f" /><Relationship Type="http://schemas.openxmlformats.org/officeDocument/2006/relationships/notesSlide" Target="/ppt/notesSlides/notesSlide9.xml" Id="R5781583b715a4c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a196acdc74c45" /><Relationship Type="http://schemas.openxmlformats.org/officeDocument/2006/relationships/notesSlide" Target="/ppt/notesSlides/notesSlide10.xml" Id="R41054e31e91949a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ea6466894446a" /><Relationship Type="http://schemas.openxmlformats.org/officeDocument/2006/relationships/notesSlide" Target="/ppt/notesSlides/notesSlide11.xml" Id="R2c795f1d4cfc4bd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Evaluate the agent, not only the answer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Evaluating Agentic Systems with MLflow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PATH  ·  ANSWER  ·  TRACE  ·  RELEASE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WHY EVALUATE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good answer can still come from a bad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BOUNDED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SAME ANSWER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REDUNDANT PATH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 + TOOL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AGAIN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DIFFERENT PATH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correct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extra call after gate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final paragraph cannot reveal redundant calls or a failed gate.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EVALUATION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Score the answer and the path separately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release decision needs both scorecards.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graphicFrame>
        <p:nvGraphicFramePr>
          <p:cNvPr id="50" name=""/>
          <p:cNvGraphicFramePr/>
          <p:nvPr/>
        </p:nvGraphicFramePr>
        <p:xfrm>
          <a:off xmlns:a="http://schemas.openxmlformats.org/drawingml/2006/main" x="1028700" y="2571750"/>
          <a:ext xmlns:a="http://schemas.openxmlformats.org/drawingml/2006/main" cx="13163550" cy="4000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66950"/>
                <a:gridCol w="4762500"/>
                <a:gridCol w="6134100"/>
              </a:tblGrid>
              <a:tr h="609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LAYER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VISIBLE METRICS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FINANCE QUESTION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TRAJECTORY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tool_call_correctness</a:t>
                      </a:r>
                    </a:p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tool_call_efficiency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Right capabilities, order, and call budget?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answer_relevance</a:t>
                      </a:r>
                    </a:p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answer_completeness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Required companies, facts, comparison, and limits?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EVIDENCE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citation_integrity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Does every source and evidence ID pair match an observation?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ba3253d3c485d"/>
          <a:stretch xmlns:a="http://schemas.openxmlformats.org/drawingml/2006/main"/>
        </p:blipFill>
        <p:spPr>
          <a:xfrm xmlns:a="http://schemas.openxmlformats.org/drawingml/2006/main">
            <a:off x="3011632" y="2571750"/>
            <a:ext cx="9159586" cy="39052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199A3E-47A6-4776-8EC6-EDC809E3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619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447D8"/>
                </a:solidFill>
              </a:defRPr>
            </a:pPr>
            <a:r>
              <a:rPr sz="1125" b="1">
                <a:solidFill>
                  <a:srgbClr val="2447D8"/>
                </a:solidFill>
              </a:rPr>
              <a:t>INPUT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B17E55-FB74-47B0-9171-8497C009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619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7C00"/>
                </a:solidFill>
              </a:defRPr>
            </a:pPr>
            <a:r>
              <a:rPr sz="1125" b="1">
                <a:solidFill>
                  <a:srgbClr val="F47C00"/>
                </a:solidFill>
              </a:rPr>
              <a:t>PUBLIC PATH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7E222F-B1EB-4579-BEE0-5EE7EF7E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191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E8B57"/>
                </a:solidFill>
              </a:defRPr>
            </a:pPr>
            <a:r>
              <a:rPr sz="1125" b="1">
                <a:solidFill>
                  <a:srgbClr val="2E8B57"/>
                </a:solidFill>
              </a:rPr>
              <a:t>CITED ANSWER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MLFLOW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MLflow turns every case into inspectable 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run compares cases; each row opens the trace behind the score.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5F2E49-D915-4553-8763-11A6CCA5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336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47D8"/>
                </a:solidFill>
              </a:defRPr>
            </a:pPr>
            <a:r>
              <a:rPr sz="1200" b="1">
                <a:solidFill>
                  <a:srgbClr val="2447D8"/>
                </a:solidFill>
              </a:rPr>
              <a:t>EVALUATION RUN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7bb86fa424e53"/>
          <a:stretch xmlns:a="http://schemas.openxmlformats.org/drawingml/2006/main"/>
        </p:blipFill>
        <p:spPr>
          <a:xfrm xmlns:a="http://schemas.openxmlformats.org/drawingml/2006/main">
            <a:off x="3586436" y="2647950"/>
            <a:ext cx="8029028" cy="3219450"/>
          </a:xfrm>
          <a:prstGeom xmlns:a="http://schemas.openxmlformats.org/drawingml/2006/main" prst="rect">
            <a:avLst/>
          </a:prstGeom>
        </p:spPr>
      </p:pic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860ee43ad454b">
            <a:extLst>
              <a:ext uri="{96DAC541-7B7A-43D3-8B79-37D633B846F1}">
                <asvg:svgBlip xmlns:asvg="http://schemas.microsoft.com/office/drawing/2016/SVG/main" r:embed="R30672179d3da4e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" y="5953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3D7FF3-33A3-4840-84EF-D3CBD344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9912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FE178F-0328-461E-874B-6AC5711E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924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1C2A"/>
                </a:solidFill>
              </a:defRPr>
            </a:pPr>
            <a:r>
              <a:rPr sz="1275" b="1">
                <a:solidFill>
                  <a:srgbClr val="051C2A"/>
                </a:solidFill>
              </a:rPr>
              <a:t>Versioned cases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84DD47-2B00-427E-9C18-57F5DD59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91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291A6"/>
                </a:solidFill>
              </a:defRPr>
            </a:pPr>
            <a:r>
              <a:rPr sz="1050" b="0">
                <a:solidFill>
                  <a:srgbClr val="8291A6"/>
                </a:solidFill>
              </a:rPr>
              <a:t>Inputs + expectations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a8ecadeae4b28">
            <a:extLst>
              <a:ext uri="{96DAC541-7B7A-43D3-8B79-37D633B846F1}">
                <asvg:svgBlip xmlns:asvg="http://schemas.microsoft.com/office/drawing/2016/SVG/main" r:embed="R5d208598071b42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57700" y="5953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CD89DA-7D82-4860-90B2-89D67A2B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9912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2BC7E1-5782-4250-AAD3-4F668386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924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1C2A"/>
                </a:solidFill>
              </a:defRPr>
            </a:pPr>
            <a:r>
              <a:rPr sz="1275" b="1">
                <a:solidFill>
                  <a:srgbClr val="051C2A"/>
                </a:solidFill>
              </a:rPr>
              <a:t>Run the agent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D9106C9-6EDC-4767-A928-2F22C3BC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6191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291A6"/>
                </a:solidFill>
              </a:defRPr>
            </a:pPr>
            <a:r>
              <a:rPr sz="1050" b="0">
                <a:solidFill>
                  <a:srgbClr val="8291A6"/>
                </a:solidFill>
              </a:rPr>
              <a:t>One root trace per case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588c72a7f4d91">
            <a:extLst>
              <a:ext uri="{96DAC541-7B7A-43D3-8B79-37D633B846F1}">
                <asvg:svgBlip xmlns:asvg="http://schemas.microsoft.com/office/drawing/2016/SVG/main" r:embed="R8e9e5735d66047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791450" y="5953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5D7915-D39D-4F78-AA17-D6003923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9912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1354985-CAE6-4006-8B91-60887936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924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1C2A"/>
                </a:solidFill>
              </a:defRPr>
            </a:pPr>
            <a:r>
              <a:rPr sz="1275" b="1">
                <a:solidFill>
                  <a:srgbClr val="051C2A"/>
                </a:solidFill>
              </a:rPr>
              <a:t>Apply scorers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4F386C1-3724-4C9A-9333-A1A4DC1A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191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291A6"/>
                </a:solidFill>
              </a:defRPr>
            </a:pPr>
            <a:r>
              <a:rPr sz="1050" b="0">
                <a:solidFill>
                  <a:srgbClr val="8291A6"/>
                </a:solidFill>
              </a:rPr>
              <a:t>Path + answer metrics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5c9692e914379">
            <a:extLst>
              <a:ext uri="{96DAC541-7B7A-43D3-8B79-37D633B846F1}">
                <asvg:svgBlip xmlns:asvg="http://schemas.microsoft.com/office/drawing/2016/SVG/main" r:embed="R9aab6e29d1aa42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125200" y="5953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FAA47F-7AAC-4363-A805-A73B2FBC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59912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39D203-59F4-44CF-AA2C-C474F790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5924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51C2A"/>
                </a:solidFill>
              </a:defRPr>
            </a:pPr>
            <a:r>
              <a:rPr sz="1275" b="1">
                <a:solidFill>
                  <a:srgbClr val="051C2A"/>
                </a:solidFill>
              </a:rPr>
              <a:t>Open failures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F861C8-9EF1-4C03-A3A5-1F040EE7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61912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291A6"/>
                </a:solidFill>
              </a:defRPr>
            </a:pPr>
            <a:r>
              <a:rPr sz="1050" b="0">
                <a:solidFill>
                  <a:srgbClr val="8291A6"/>
                </a:solidFill>
              </a:rPr>
              <a:t>Inspect spans and owners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TRACE VIEWER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trace reveals what the agent actually did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Open a score, follow its span tree, find the earliest public failure.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e0e4dc5f4f427d"/>
          <a:stretch xmlns:a="http://schemas.openxmlformats.org/drawingml/2006/main"/>
        </p:blipFill>
        <p:spPr>
          <a:xfrm xmlns:a="http://schemas.openxmlformats.org/drawingml/2006/main">
            <a:off x="2385514" y="2400300"/>
            <a:ext cx="7173321" cy="4095750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ba48b4d7a440df">
            <a:extLst>
              <a:ext uri="{96DAC541-7B7A-43D3-8B79-37D633B846F1}">
                <asvg:svgBlip xmlns:asvg="http://schemas.microsoft.com/office/drawing/2016/SVG/main" r:embed="R977b11d50ad843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0" y="2476500"/>
            <a:ext cx="2476500" cy="47625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D7FDBA-045F-4FFC-B2E3-5269F239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6670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0A6E8"/>
                </a:solidFill>
              </a:defRPr>
            </a:pPr>
            <a:r>
              <a:rPr sz="1275" b="1">
                <a:solidFill>
                  <a:srgbClr val="00A6E8"/>
                </a:solidFill>
              </a:rPr>
              <a:t>HOW TO READ IT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4b29cc17da47f6">
            <a:extLst>
              <a:ext uri="{96DAC541-7B7A-43D3-8B79-37D633B846F1}">
                <asvg:svgBlip xmlns:asvg="http://schemas.microsoft.com/office/drawing/2016/SVG/main" r:embed="R0a59c8d0018d462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0" y="31432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38C767-1419-4CB0-9177-B51A50CD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90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CC0764-CC25-459F-B13D-0A030DE7E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3114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51C2A"/>
                </a:solidFill>
              </a:defRPr>
            </a:pPr>
            <a:r>
              <a:rPr sz="1425" b="1">
                <a:solidFill>
                  <a:srgbClr val="051C2A"/>
                </a:solidFill>
              </a:rPr>
              <a:t>Span tree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55B2B4-F46E-4401-BC89-369B3BFE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33813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291A6"/>
                </a:solidFill>
              </a:defRPr>
            </a:pPr>
            <a:r>
              <a:rPr sz="1125" b="0">
                <a:solidFill>
                  <a:srgbClr val="8291A6"/>
                </a:solidFill>
              </a:rPr>
              <a:t>Where time and branching occurred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6c4a730f84729">
            <a:extLst>
              <a:ext uri="{96DAC541-7B7A-43D3-8B79-37D633B846F1}">
                <asvg:svgBlip xmlns:asvg="http://schemas.microsoft.com/office/drawing/2016/SVG/main" r:embed="R52c8c595b4f247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0" y="39052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848D35-C30A-45F2-865D-5A1BE06F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952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5ECE92-9DB2-4989-A632-E08A0B21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3876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51C2A"/>
                </a:solidFill>
              </a:defRPr>
            </a:pPr>
            <a:r>
              <a:rPr sz="1425" b="1">
                <a:solidFill>
                  <a:srgbClr val="051C2A"/>
                </a:solidFill>
              </a:rPr>
              <a:t>Inputs / outputs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DE1E2E-32B2-4B55-9976-8A651707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1433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291A6"/>
                </a:solidFill>
              </a:defRPr>
            </a:pPr>
            <a:r>
              <a:rPr sz="1125" b="0">
                <a:solidFill>
                  <a:srgbClr val="8291A6"/>
                </a:solidFill>
              </a:rPr>
              <a:t>What entered and left each span</a:t>
            </a:r>
          </a:p>
        </p:txBody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eae4e37484930">
            <a:extLst>
              <a:ext uri="{96DAC541-7B7A-43D3-8B79-37D633B846F1}">
                <asvg:svgBlip xmlns:asvg="http://schemas.microsoft.com/office/drawing/2016/SVG/main" r:embed="R73dd57ecd2be4e4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0" y="46672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43C35-5A8F-49C4-80B6-38E63FB6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714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9C5550-CAFD-4321-94B4-DF700789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638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51C2A"/>
                </a:solidFill>
              </a:defRPr>
            </a:pPr>
            <a:r>
              <a:rPr sz="1425" b="1">
                <a:solidFill>
                  <a:srgbClr val="051C2A"/>
                </a:solidFill>
              </a:rPr>
              <a:t>Tools + errors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86778B-E60B-43ED-BC35-0142BEEC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49053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291A6"/>
                </a:solidFill>
              </a:defRPr>
            </a:pPr>
            <a:r>
              <a:rPr sz="1125" b="0">
                <a:solidFill>
                  <a:srgbClr val="8291A6"/>
                </a:solidFill>
              </a:rPr>
              <a:t>Calls, arguments and typed failures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efa1d2b2442be">
            <a:extLst>
              <a:ext uri="{96DAC541-7B7A-43D3-8B79-37D633B846F1}">
                <asvg:svgBlip xmlns:asvg="http://schemas.microsoft.com/office/drawing/2016/SVG/main" r:embed="Rf8addf2d274141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239500" y="5429250"/>
            <a:ext cx="400050" cy="400050"/>
          </a:xfrm>
          <a:prstGeom xmlns:a="http://schemas.openxmlformats.org/drawingml/2006/main" prst="rect">
            <a:avLst/>
          </a:prstGeom>
        </p:spPr>
      </p:pic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251984-8BF4-45DF-B7EB-2A8AD846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476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E13349-121B-464C-8ABE-6F8278DE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400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51C2A"/>
                </a:solidFill>
              </a:defRPr>
            </a:pPr>
            <a:r>
              <a:rPr sz="1425" b="1">
                <a:solidFill>
                  <a:srgbClr val="051C2A"/>
                </a:solidFill>
              </a:rPr>
              <a:t>Assessments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D00E43-2785-46AC-BCB0-A5C48AF5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56673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8291A6"/>
                </a:solidFill>
              </a:defRPr>
            </a:pPr>
            <a:r>
              <a:rPr sz="1125" b="0">
                <a:solidFill>
                  <a:srgbClr val="8291A6"/>
                </a:solidFill>
              </a:rPr>
              <a:t>Scores, feedback and expectations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CASE-LEVEL SCORES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Per-case failures matter more than averages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CASES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c223289994997"/>
          <a:stretch xmlns:a="http://schemas.openxmlformats.org/drawingml/2006/main"/>
        </p:blipFill>
        <p:spPr>
          <a:xfrm xmlns:a="http://schemas.openxmlformats.org/drawingml/2006/main">
            <a:off x="1834044" y="2324100"/>
            <a:ext cx="7438062" cy="4762500"/>
          </a:xfrm>
          <a:prstGeom xmlns:a="http://schemas.openxmlformats.org/drawingml/2006/main" prst="rect">
            <a:avLst/>
          </a:prstGeom>
        </p:spPr>
      </p:pic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1d334b3d8d4411">
            <a:extLst>
              <a:ext uri="{96DAC541-7B7A-43D3-8B79-37D633B846F1}">
                <asvg:svgBlip xmlns:asvg="http://schemas.microsoft.com/office/drawing/2016/SVG/main" r:embed="R766266761a0d46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0" y="2476500"/>
            <a:ext cx="2952750" cy="47625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18A228-B088-4DE6-ABA7-F2188580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860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7C00"/>
                </a:solidFill>
              </a:defRPr>
            </a:pPr>
            <a:r>
              <a:rPr sz="1350" b="1">
                <a:solidFill>
                  <a:srgbClr val="F47C00"/>
                </a:solidFill>
              </a:rPr>
              <a:t>READ ROWS BEFORE MEANS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A4F01D-1C4F-4F61-8D43-EBD58A13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004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51C2A"/>
                </a:solidFill>
              </a:defRPr>
            </a:pPr>
            <a:r>
              <a:rPr sz="1725" b="1">
                <a:solidFill>
                  <a:srgbClr val="051C2A"/>
                </a:solidFill>
              </a:rPr>
              <a:t>Averages can hide one severe citation or stop-control failure.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833393d0c94c98">
            <a:extLst>
              <a:ext uri="{96DAC541-7B7A-43D3-8B79-37D633B846F1}">
                <asvg:svgBlip xmlns:asvg="http://schemas.microsoft.com/office/drawing/2016/SVG/main" r:embed="R6e7b63e7790b4f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0" y="42672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DDBFD4-5DAE-4730-9E8B-96B4E4EB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957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914DC4-5E87-4660-A772-28B1DF0D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2576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Find the weakest case</a:t>
            </a:r>
          </a:p>
        </p:txBody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4d01655f848e7">
            <a:extLst>
              <a:ext uri="{96DAC541-7B7A-43D3-8B79-37D633B846F1}">
                <asvg:svgBlip xmlns:asvg="http://schemas.microsoft.com/office/drawing/2016/SVG/main" r:embed="R7a5ad0ea001247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0" y="48768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4719E8-CC98-472F-A945-A5C8887A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9053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2E7611-4F03-4293-AACF-1DE63C64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8672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Open its trace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949b6fc6744cd7">
            <a:extLst>
              <a:ext uri="{96DAC541-7B7A-43D3-8B79-37D633B846F1}">
                <asvg:svgBlip xmlns:asvg="http://schemas.microsoft.com/office/drawing/2016/SVG/main" r:embed="Re27178cdaff345f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0" y="54864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0F9A69-201B-4F97-BE8D-8F584A8B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5149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590097-164D-48B3-B9D4-A1A0EDA0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4768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Locate the first failed span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5c3beacd2b41e7">
            <a:extLst>
              <a:ext uri="{96DAC541-7B7A-43D3-8B79-37D633B846F1}">
                <asvg:svgBlip xmlns:asvg="http://schemas.microsoft.com/office/drawing/2016/SVG/main" r:embed="Re6956568d38e42b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0" y="60960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184986-9730-4442-8733-E7D001D3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1245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53E3999-2CDE-4FCF-95B9-523193F2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0864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Assign the fix to its owner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GATES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Code gates release; judges add context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Deterministic checks decide release. Optional judges never override the gate.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457450"/>
          <a:ext xmlns:a="http://schemas.openxmlformats.org/drawingml/2006/main" cx="13163550" cy="4114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19350"/>
                <a:gridCol w="5429250"/>
                <a:gridCol w="5314950"/>
              </a:tblGrid>
              <a:tr h="6286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DECISION LAYER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DETERMINISTIC RELEASE GATE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OPTIONAL LLM JUDGE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INPUT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Public fields and exact evidence pairs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Trace and answer text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STRENGTH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Reproducible, offline finance rules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Semantic nuance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FAILURE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Blocks release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NOT RUN or review signal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ROLE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Required for every case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Never overrides the gate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 the earliest public owner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trace turns a low score into an actionable owner and next step.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OWNER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  <p:graphicFrame>
        <p:nvGraphicFramePr>
          <p:cNvPr id="46" name=""/>
          <p:cNvGraphicFramePr/>
          <p:nvPr/>
        </p:nvGraphicFramePr>
        <p:xfrm>
          <a:off xmlns:a="http://schemas.openxmlformats.org/drawingml/2006/main" x="1028700" y="2457450"/>
          <a:ext xmlns:a="http://schemas.openxmlformats.org/drawingml/2006/main" cx="13163550" cy="4114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5581650"/>
                <a:gridCol w="4781550"/>
                <a:gridCol w="2800350"/>
              </a:tblGrid>
              <a:tr h="6286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SCORE PATTERN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EARLIEST PUBLIC OWNER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RELEASE</a:t>
                      </a:r>
                    </a:p>
                  </a:txBody>
                  <a:tcPr marL="152400" marR="152400" marT="95250" marB="95250">
                    <a:solidFill>
                      <a:srgbClr val="2546D5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Answer good, path bad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Planner or replanner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Path good, answer incomplete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Evidence gate or report writer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CITATION INTEGRITY = 0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Report writer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E87800"/>
                          </a:solidFill>
                          <a:latin typeface="Calibri"/>
                          <a:ea typeface="Calibri"/>
                          <a:cs typeface="Calibri"/>
                        </a:rPr>
                        <a:t>BLOCK</a:t>
                      </a:r>
                    </a:p>
                  </a:txBody>
                  <a:tcPr marL="152400" marR="152400" marT="95250" marB="95250"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546D5"/>
                          </a:solidFill>
                          <a:latin typeface="Calibri"/>
                          <a:ea typeface="Calibri"/>
                          <a:cs typeface="Calibri"/>
                        </a:rPr>
                        <a:t>Correct typed stop, no briefing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0A2030"/>
                          </a:solidFill>
                          <a:latin typeface="Calibri"/>
                          <a:ea typeface="Calibri"/>
                          <a:cs typeface="Calibri"/>
                        </a:rPr>
                        <a:t>Evidence gate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2F8F5B"/>
                          </a:solidFill>
                          <a:latin typeface="Calibri"/>
                          <a:ea typeface="Calibri"/>
                          <a:cs typeface="Calibri"/>
                        </a:rPr>
                        <a:t>PASS</a:t>
                      </a:r>
                    </a:p>
                  </a:txBody>
                  <a:tcPr marL="152400" marR="152400" marT="95250" marB="95250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RELEASE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Release only when path, answer, and citations 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CAPSTONE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Use the failures to design the capstone, not to hide them.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RELEASE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0ea5681cf14743"/>
          <a:stretch xmlns:a="http://schemas.openxmlformats.org/drawingml/2006/main"/>
        </p:blipFill>
        <p:spPr>
          <a:xfrm xmlns:a="http://schemas.openxmlformats.org/drawingml/2006/main">
            <a:off x="1979478" y="2400300"/>
            <a:ext cx="6994793" cy="3905250"/>
          </a:xfrm>
          <a:prstGeom xmlns:a="http://schemas.openxmlformats.org/drawingml/2006/main" prst="rect">
            <a:avLst/>
          </a:prstGeom>
        </p:spPr>
      </p:pic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5f429ee0be4d53">
            <a:extLst>
              <a:ext uri="{96DAC541-7B7A-43D3-8B79-37D633B846F1}">
                <asvg:svgBlip xmlns:asvg="http://schemas.microsoft.com/office/drawing/2016/SVG/main" r:embed="R4328d43af3be4a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382250" y="2400300"/>
            <a:ext cx="3714750" cy="4095750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87E278-575A-4E0E-A177-ADFF0EFF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241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A6E8"/>
                </a:solidFill>
              </a:defRPr>
            </a:pPr>
            <a:r>
              <a:rPr sz="1425" b="1">
                <a:solidFill>
                  <a:srgbClr val="00A6E8"/>
                </a:solidFill>
              </a:rPr>
              <a:t>RELEASE ONLY IF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850bbc586447af">
            <a:extLst>
              <a:ext uri="{96DAC541-7B7A-43D3-8B79-37D633B846F1}">
                <asvg:svgBlip xmlns:asvg="http://schemas.microsoft.com/office/drawing/2016/SVG/main" r:embed="Ra94101b5395546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763250" y="34290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6C634F-CE99-48C1-9D3F-C09337C3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4575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0ECF6F-C91C-4EE9-BBEE-12209DA1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1947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Public path passes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e7f943f2464720">
            <a:extLst>
              <a:ext uri="{96DAC541-7B7A-43D3-8B79-37D633B846F1}">
                <asvg:svgBlip xmlns:asvg="http://schemas.microsoft.com/office/drawing/2016/SVG/main" r:embed="R65b408e12d3942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763250" y="40576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D98E0E-0549-4F98-AC8E-8EA65DA7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8622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80A011-26BF-403A-BD2A-261AC4FF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4812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Answer passes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2fa22e71b4a7b">
            <a:extLst>
              <a:ext uri="{96DAC541-7B7A-43D3-8B79-37D633B846F1}">
                <asvg:svgBlip xmlns:asvg="http://schemas.microsoft.com/office/drawing/2016/SVG/main" r:embed="R295be9ca3d7547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763250" y="468630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8ADFBD7-C4F4-40FB-94EE-4EF5C8AA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71487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13D285-A6CF-4AB4-BF80-F7408736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67677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Citations resolve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4580ffbdb487e">
            <a:extLst>
              <a:ext uri="{96DAC541-7B7A-43D3-8B79-37D633B846F1}">
                <asvg:svgBlip xmlns:asvg="http://schemas.microsoft.com/office/drawing/2016/SVG/main" r:embed="R9b04c7581c4b41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763250" y="5314950"/>
            <a:ext cx="342900" cy="342900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B7A36E-7DB5-4F66-8FB4-840E0213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343525"/>
            <a:ext cx="342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86974E2-C994-4D73-9EE4-BE0FB7AC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30542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No forbidden stop behavior</a:t>
            </a:r>
          </a:p>
        </p:txBody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71dcaeea844f80">
            <a:extLst>
              <a:ext uri="{96DAC541-7B7A-43D3-8B79-37D633B846F1}">
                <asvg:svgBlip xmlns:asvg="http://schemas.microsoft.com/office/drawing/2016/SVG/main" r:embed="Rc9e5b05384b14a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763250" y="5810250"/>
            <a:ext cx="2952750" cy="38100"/>
          </a:xfrm>
          <a:prstGeom xmlns:a="http://schemas.openxmlformats.org/drawingml/2006/main" prst="rect">
            <a:avLst/>
          </a:prstGeom>
        </p:spPr>
      </p:pic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BA78383-7712-4353-AEC5-E57525AA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91502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Any failure blocks release and becomes the next experiment.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12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B8C12B95-0AEF-4DAC-ACED-9105A111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Should path quality and answer quality be scored separately?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1B915C0D-67DA-42DC-8D1E-5A38B614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Yes     |     B  No     |     C  Only with OpenAI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3B700542-40A3-4259-B07F-956D5C94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Which gate must run for every release case?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14C4B184-C4E9-4FD8-B0B1-975A979E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Deterministic gate     |     B  Optional LLM judge     |     C  Manual demo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27EAEA27-5D19-47C2-976D-ECEE08DD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How should an unavailable optional judge be recorded?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8757DE33-3F4E-4485-8596-1A39EDB4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NOT RUN     |     B  PASS     |     C  Zero cost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12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E601880F-E87A-40E7-881C-A4E36B3A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Yes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2BF96AB7-A48E-42F5-A5B5-22775849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plausible answer can still come from an inefficient or unsafe path.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73C926EC-584A-497B-9A16-63C8B670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Deterministic gate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B8BE2CD4-56B0-437D-B244-96AB7053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Stable rules make release decisions reproducible and inspectable.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95355199-8447-44A5-95AA-958508F9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NOT RUN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99CA71E6-E40C-4FB9-AABE-00279279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An optional judge must never be silently replaced or reported as executed.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2026-08-26T12:18:41.4550000Z</dcterms:created>
  <dcterms:modified xsi:type="dcterms:W3CDTF">2026-08-26T12:18:41.4550000Z</dcterms:modified>
</coreProperties>
</file>