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17fae00c034135" /><Relationship Type="http://schemas.openxmlformats.org/officeDocument/2006/relationships/extended-properties" Target="/docProps/app.xml" Id="Rf25e9090abd042f0" /><Relationship Type="http://schemas.openxmlformats.org/officeDocument/2006/relationships/officeDocument" Target="/ppt/presentation.xml" Id="R11f41293efa34f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634d8a1465940d9"/>
  </p:sldMasterIdLst>
  <p:notesMasterIdLst>
    <p:notesMasterId xmlns:r="http://schemas.openxmlformats.org/officeDocument/2006/relationships" r:id="R6884eca8c3a54e6c"/>
  </p:notesMasterIdLst>
  <p:sldIdLst>
    <p:sldId xmlns:r="http://schemas.openxmlformats.org/officeDocument/2006/relationships" id="256" r:id="R1b84239b5f154bba"/>
    <p:sldId xmlns:r="http://schemas.openxmlformats.org/officeDocument/2006/relationships" id="257" r:id="Ra095a4c1bf234c05"/>
    <p:sldId xmlns:r="http://schemas.openxmlformats.org/officeDocument/2006/relationships" id="258" r:id="R3cb3857268bc46b6"/>
    <p:sldId xmlns:r="http://schemas.openxmlformats.org/officeDocument/2006/relationships" id="259" r:id="R6487e87bb27d437a"/>
    <p:sldId xmlns:r="http://schemas.openxmlformats.org/officeDocument/2006/relationships" id="260" r:id="Rcadd20a45bf94bdf"/>
    <p:sldId xmlns:r="http://schemas.openxmlformats.org/officeDocument/2006/relationships" id="261" r:id="R52633a79d86e4c73"/>
    <p:sldId xmlns:r="http://schemas.openxmlformats.org/officeDocument/2006/relationships" id="262" r:id="R08418420aacd4a33"/>
    <p:sldId xmlns:r="http://schemas.openxmlformats.org/officeDocument/2006/relationships" id="263" r:id="R7e13d98d30e345ed"/>
    <p:sldId xmlns:r="http://schemas.openxmlformats.org/officeDocument/2006/relationships" id="264" r:id="R5ca61f53fbb8492e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f6ba8188f441a9" /><Relationship Type="http://schemas.openxmlformats.org/officeDocument/2006/relationships/slideMaster" Target="/ppt/slideMasters/slideMaster1.xml" Id="Rc634d8a1465940d9" /><Relationship Type="http://schemas.openxmlformats.org/officeDocument/2006/relationships/notesMaster" Target="/ppt/notesMasters/notesMaster1.xml" Id="R6884eca8c3a54e6c" /><Relationship Type="http://schemas.openxmlformats.org/officeDocument/2006/relationships/presProps" Target="/ppt/presProps.xml" Id="R3443d6855a6a4dae" /><Relationship Type="http://schemas.openxmlformats.org/officeDocument/2006/relationships/tableStyles" Target="/ppt/tableStyles.xml" Id="Rff903ea0f03a4951" /><Relationship Type="http://schemas.openxmlformats.org/officeDocument/2006/relationships/slide" Target="/ppt/slides/slide1.xml" Id="R1b84239b5f154bba" /><Relationship Type="http://schemas.openxmlformats.org/officeDocument/2006/relationships/slide" Target="/ppt/slides/slide2.xml" Id="Ra095a4c1bf234c05" /><Relationship Type="http://schemas.openxmlformats.org/officeDocument/2006/relationships/slide" Target="/ppt/slides/slide3.xml" Id="R3cb3857268bc46b6" /><Relationship Type="http://schemas.openxmlformats.org/officeDocument/2006/relationships/slide" Target="/ppt/slides/slide4.xml" Id="R6487e87bb27d437a" /><Relationship Type="http://schemas.openxmlformats.org/officeDocument/2006/relationships/slide" Target="/ppt/slides/slide5.xml" Id="Rcadd20a45bf94bdf" /><Relationship Type="http://schemas.openxmlformats.org/officeDocument/2006/relationships/slide" Target="/ppt/slides/slide6.xml" Id="R52633a79d86e4c73" /><Relationship Type="http://schemas.openxmlformats.org/officeDocument/2006/relationships/slide" Target="/ppt/slides/slide7.xml" Id="R08418420aacd4a33" /><Relationship Type="http://schemas.openxmlformats.org/officeDocument/2006/relationships/slide" Target="/ppt/slides/slide8.xml" Id="R7e13d98d30e345ed" /><Relationship Type="http://schemas.openxmlformats.org/officeDocument/2006/relationships/slide" Target="/ppt/slides/slide9.xml" Id="R5ca61f53fbb849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6ae63af87d4b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1cf67665474549" /><Relationship Type="http://schemas.openxmlformats.org/officeDocument/2006/relationships/notesMaster" Target="/ppt/notesMasters/notesMaster1.xml" Id="R22b20d36ef7140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7590db387d40e5" /><Relationship Type="http://schemas.openxmlformats.org/officeDocument/2006/relationships/notesMaster" Target="/ppt/notesMasters/notesMaster1.xml" Id="R1a91d7091c044c0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95e91713f94326" /><Relationship Type="http://schemas.openxmlformats.org/officeDocument/2006/relationships/notesMaster" Target="/ppt/notesMasters/notesMaster1.xml" Id="Rf5cde4ff3f2541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ad9d78a2154e7f" /><Relationship Type="http://schemas.openxmlformats.org/officeDocument/2006/relationships/notesMaster" Target="/ppt/notesMasters/notesMaster1.xml" Id="R1284b747deaa4b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d08ad52b0e4944" /><Relationship Type="http://schemas.openxmlformats.org/officeDocument/2006/relationships/notesMaster" Target="/ppt/notesMasters/notesMaster1.xml" Id="Rc9d4f7169e8b41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71a0317e9c4346" /><Relationship Type="http://schemas.openxmlformats.org/officeDocument/2006/relationships/notesMaster" Target="/ppt/notesMasters/notesMaster1.xml" Id="R70e627d261ca45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ee85aa3e67f4bc4" /><Relationship Type="http://schemas.openxmlformats.org/officeDocument/2006/relationships/notesMaster" Target="/ppt/notesMasters/notesMaster1.xml" Id="R92fd12b2302f40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e8438297f5246c9" /><Relationship Type="http://schemas.openxmlformats.org/officeDocument/2006/relationships/notesMaster" Target="/ppt/notesMasters/notesMaster1.xml" Id="R1a88e6e4d31e412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a9bee4dc1da445c" /><Relationship Type="http://schemas.openxmlformats.org/officeDocument/2006/relationships/notesMaster" Target="/ppt/notesMasters/notesMaster1.xml" Id="Rf3737ce8c93142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State the outcome and pacing: evaluate both the public path and the cited answer.</a:t>
            </a:r>
          </a:p>
          <a:p xmlns:a="http://schemas.openxmlformats.org/drawingml/2006/main">
            <a:r>
              <a:t>Planned timing: 0:00-1:00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https://mlflow.org/docs/latest/genai/eval-monitor/quickstart/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Contrast a bounded path with a redundant path that reaches equally plausible copy.</a:t>
            </a:r>
          </a:p>
          <a:p xmlns:a="http://schemas.openxmlformats.org/drawingml/2006/main">
            <a:r>
              <a:t>Planned timing: 1:00-2:15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https://mlflow.org/docs/latest/genai/tracing/</a:t>
            </a:r>
          </a:p>
          <a:p xmlns:a="http://schemas.openxmlformats.org/drawingml/2006/main">
            <a:r>
              <a:t>https://mlflow.org/docs/latest/genai/concepts/scorers/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Separate trajectory correctness and efficiency from answer relevance, completeness, and citation integrity.</a:t>
            </a:r>
          </a:p>
          <a:p xmlns:a="http://schemas.openxmlformats.org/drawingml/2006/main">
            <a:r>
              <a:t>Planned timing: 2:15-3:45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https://mlflow.org/docs/latest/genai/concepts/scorers/</a:t>
            </a:r>
          </a:p>
          <a:p xmlns:a="http://schemas.openxmlformats.org/drawingml/2006/main">
            <a:r>
              <a:t>https://mlflow.org/docs/latest/genai/eval-monitor/scorers/custom/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Explain how one versioned case fixes expectations, dependencies, evidence, status, and budget.</a:t>
            </a:r>
          </a:p>
          <a:p xmlns:a="http://schemas.openxmlformats.org/drawingml/2006/main">
            <a:r>
              <a:t>Planned timing: 3:45-5:00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https://mlflow.org/docs/latest/genai/eval-monitor/quickstart/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Map one dataset to pure scorers, one MLflow run per configuration, and one root trace per case.</a:t>
            </a:r>
          </a:p>
          <a:p xmlns:a="http://schemas.openxmlformats.org/drawingml/2006/main">
            <a:r>
              <a:t>Planned timing: 5:00-6:30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https://mlflow.org/docs/latest/genai/eval-monitor/quickstart/</a:t>
            </a:r>
          </a:p>
          <a:p xmlns:a="http://schemas.openxmlformats.org/drawingml/2006/main">
            <a:r>
              <a:t>https://mlflow.org/docs/latest/genai/tracing/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Read the public trace from planning through one typed TOOL error, replanning, the evidence gate, and report.</a:t>
            </a:r>
          </a:p>
          <a:p xmlns:a="http://schemas.openxmlformats.org/drawingml/2006/main">
            <a:r>
              <a:t>Planned timing: 6:30-8:00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https://mlflow.org/docs/latest/genai/tracing/</a:t>
            </a:r>
          </a:p>
          <a:p xmlns:a="http://schemas.openxmlformats.org/drawingml/2006/main">
            <a:r>
              <a:t>https://mlflow.org/docs/latest/genai/tracing/observe-with-traces/ui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Keep deterministic finance rules as the release gate and optional semantic judges as explicit context only.</a:t>
            </a:r>
          </a:p>
          <a:p xmlns:a="http://schemas.openxmlformats.org/drawingml/2006/main">
            <a:r>
              <a:t>Planned timing: 8:00-9:30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https://mlflow.org/docs/latest/genai/eval-monitor/scorers/index.html</a:t>
            </a:r>
          </a:p>
          <a:p xmlns:a="http://schemas.openxmlformats.org/drawingml/2006/main">
            <a:r>
              <a:t>https://mlflow.org/docs/latest/genai/eval-monitor/scorers/custom/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Assign each score pattern to the earliest public component that can fix it.</a:t>
            </a:r>
          </a:p>
          <a:p xmlns:a="http://schemas.openxmlformats.org/drawingml/2006/main">
            <a:r>
              <a:t>Planned timing: 9:30-11:00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https://mlflow.org/docs/latest/genai/tracing/</a:t>
            </a:r>
          </a:p>
          <a:p xmlns:a="http://schemas.openxmlformats.org/drawingml/2006/main">
            <a:r>
              <a:t>https://mlflow.org/docs/latest/genai/eval-monitor/scorers/index.html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Close on citation release, six aligned cases, no forbidden briefing after a stop, and the capstone handoff.</a:t>
            </a:r>
          </a:p>
          <a:p xmlns:a="http://schemas.openxmlformats.org/drawingml/2006/main">
            <a:r>
              <a:t>Planned timing: 11:00-12:00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https://mlflow.org/docs/latest/genai/eval-monitor/quickstart/</a:t>
            </a:r>
          </a:p>
          <a:p xmlns:a="http://schemas.openxmlformats.org/drawingml/2006/main">
            <a:r>
              <a:t>https://mlflow.org/docs/latest/genai/eval-monitor/scorers/index.html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db718ca974463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e47aacf69eb4b5b" /><Relationship Type="http://schemas.openxmlformats.org/officeDocument/2006/relationships/slideLayout" Target="/ppt/slideLayouts/slideLayout1.xml" Id="R87ff9d1615e547a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ff9d1615e547a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f2577c3cb428c" /><Relationship Type="http://schemas.openxmlformats.org/officeDocument/2006/relationships/notesSlide" Target="/ppt/notesSlides/notesSlide1.xml" Id="Rf556bb8564024a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09520a55ed4f53" /><Relationship Type="http://schemas.openxmlformats.org/officeDocument/2006/relationships/notesSlide" Target="/ppt/notesSlides/notesSlide2.xml" Id="R417e7ae202e248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b46149277e454e" /><Relationship Type="http://schemas.openxmlformats.org/officeDocument/2006/relationships/notesSlide" Target="/ppt/notesSlides/notesSlide3.xml" Id="Rd11eae719961447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3fcc04c7ea4d46" /><Relationship Type="http://schemas.openxmlformats.org/officeDocument/2006/relationships/notesSlide" Target="/ppt/notesSlides/notesSlide4.xml" Id="R4d4f7ae71a8142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d09791f0ec4b78" /><Relationship Type="http://schemas.openxmlformats.org/officeDocument/2006/relationships/notesSlide" Target="/ppt/notesSlides/notesSlide5.xml" Id="R63f8e43580814e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467b1e42dc4127" /><Relationship Type="http://schemas.openxmlformats.org/officeDocument/2006/relationships/notesSlide" Target="/ppt/notesSlides/notesSlide6.xml" Id="R9b3a10b6a9ae4c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009737a2644152" /><Relationship Type="http://schemas.openxmlformats.org/officeDocument/2006/relationships/notesSlide" Target="/ppt/notesSlides/notesSlide7.xml" Id="R9cf94b9de45541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c776b4480149bd" /><Relationship Type="http://schemas.openxmlformats.org/officeDocument/2006/relationships/notesSlide" Target="/ppt/notesSlides/notesSlide8.xml" Id="R6442987214494e1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cbf8a7ba16400d" /><Relationship Type="http://schemas.openxmlformats.org/officeDocument/2006/relationships/notesSlide" Target="/ppt/notesSlides/notesSlide9.xml" Id="Rc6175cf874544ec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Evaluate the path and the answer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Evaluating Agentic Systems with MLflow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14:30-15:30  ·  12 + 40 + 8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PATH QUALITY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answer, different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BOUNDED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SAME ANSWER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REDUNDANT PATH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 + TOOL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 AGAIN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DIFFERENT PATH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RISK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correct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extra call after gate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FAIL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plausible answer does not certify the path.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PATH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TWO SCORECARDS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Trajectory quality and answer quality are separate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Score the public path and the cited answer separately.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SCORECARD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graphicFrame>
        <p:nvGraphicFramePr>
          <p:cNvPr id="46" name=""/>
          <p:cNvGraphicFramePr/>
          <p:nvPr/>
        </p:nvGraphicFramePr>
        <p:xfrm>
          <a:off xmlns:a="http://schemas.openxmlformats.org/drawingml/2006/main" x="1028700" y="2571750"/>
          <a:ext xmlns:a="http://schemas.openxmlformats.org/drawingml/2006/main" cx="13163550" cy="4000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66950"/>
                <a:gridCol w="4762500"/>
                <a:gridCol w="6134100"/>
              </a:tblGrid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LAYER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VISIBLE METRICS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FINANCE QUESTION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TRAJECTORY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tool_call_correctness</a:t>
                      </a:r>
                    </a:p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tool_call_efficiency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Right capabilities, order, and call budget?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ANSWER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answer_relevance</a:t>
                      </a:r>
                    </a:p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answer_completeness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Required companies, facts, comparison, and limits?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EVIDENCE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citation_integrity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Does every source and evidence ID pair match an observation?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VERSIONED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versioned case defines the exam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CASE ID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agent-cases-v1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reference 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hash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VERSIONED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EXAM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mission + status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calls + dependencies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EXPLICIT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BUDGET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max_tool_calls: 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expected replan: 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BOUNDED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Fix the mission, expected calls, evidence gate, and budget.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CASE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MLFLOW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configuration is one MLflow run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agent-cases-v1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six aligned cases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dataset hash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MLFLOW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RUN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configuration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pure scorers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score artifacts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ROOT TRACE per case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ROOT TRACES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3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public steps + TOOL calls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scores + diagnosis</a:t>
            </a:r>
          </a:p>
        </p:txBody>
      </p:sp>
      <p:cxnSp>
        <p:nvCxnSpPr>
          <p:cNvPr id="376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77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STORE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run per configuration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cases and five metrics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MLFLOW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Cases flow through pure scorers; MLflow records evidence.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RUN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ROOT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Read one trace from plan to report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mission + typed steps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 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schema + budget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unsupported_metric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REPLAN + 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tail + evidence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briefing + citations</a:t>
            </a:r>
          </a:p>
        </p:txBody>
      </p:sp>
      <p:cxnSp>
        <p:nvCxnSpPr>
          <p:cNvPr id="681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8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83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84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typed error stays visible between TOOL and replan.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public state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one typed error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RELEASE LOGIC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Deterministic rules decide release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Code decides finance release. A judge adds context only when run.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GATE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  <p:graphicFrame>
        <p:nvGraphicFramePr>
          <p:cNvPr id="46" name=""/>
          <p:cNvGraphicFramePr/>
          <p:nvPr/>
        </p:nvGraphicFramePr>
        <p:xfrm>
          <a:off xmlns:a="http://schemas.openxmlformats.org/drawingml/2006/main" x="1028700" y="2457450"/>
          <a:ext xmlns:a="http://schemas.openxmlformats.org/drawingml/2006/main" cx="13163550" cy="41148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419350"/>
                <a:gridCol w="5429250"/>
                <a:gridCol w="5314950"/>
              </a:tblGrid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DECISION LAYER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DETERMINISTIC RELEASE GATE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OPTIONAL LLM JUDGE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INPUT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Public fields and exact evidence pairs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Trace and answer text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STRENGTH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Reproducible, offline finance rules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Semantic nuance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FAILURE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Blocks release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NOT RUN or review signal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ROLE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Required for every case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Never overrides the gate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OWNERSHIP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Score patterns assign failure ownership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Diagnose the earliest public stage, then fix that boundary.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DIAGNOSE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  <p:graphicFrame>
        <p:nvGraphicFramePr>
          <p:cNvPr id="46" name=""/>
          <p:cNvGraphicFramePr/>
          <p:nvPr/>
        </p:nvGraphicFramePr>
        <p:xfrm>
          <a:off xmlns:a="http://schemas.openxmlformats.org/drawingml/2006/main" x="1028700" y="2457450"/>
          <a:ext xmlns:a="http://schemas.openxmlformats.org/drawingml/2006/main" cx="13163550" cy="41148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5581650"/>
                <a:gridCol w="4781550"/>
                <a:gridCol w="2800350"/>
              </a:tblGrid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SCORE PATTERN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EARLIEST PUBLIC OWNER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RELEASE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Answer good, path bad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Planner or replanner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E87800"/>
                          </a:solidFill>
                          <a:latin typeface="Calibri"/>
                          <a:ea typeface="Calibri"/>
                          <a:cs typeface="Calibri"/>
                        </a:rPr>
                        <a:t>BLOCK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Path good, answer incomplete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Evidence gate or report writer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E87800"/>
                          </a:solidFill>
                          <a:latin typeface="Calibri"/>
                          <a:ea typeface="Calibri"/>
                          <a:cs typeface="Calibri"/>
                        </a:rPr>
                        <a:t>BLOCK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CITATION INTEGRITY = 0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Report writer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E87800"/>
                          </a:solidFill>
                          <a:latin typeface="Calibri"/>
                          <a:ea typeface="Calibri"/>
                          <a:cs typeface="Calibri"/>
                        </a:rPr>
                        <a:t>BLOCK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Correct typed stop, no briefing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Evidence gate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F8F5B"/>
                          </a:solidFill>
                          <a:latin typeface="Calibri"/>
                          <a:ea typeface="Calibri"/>
                          <a:cs typeface="Calibri"/>
                        </a:rPr>
                        <a:t>PASS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RELEASE + CAPSTONE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Release the evidence, then design the capstone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CITATION INTEGRITY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8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exact source + evidence pair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all cases pass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RELEASE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PROOF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six aligned cases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 forbidden briefing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dataset hash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DETERMINISTIC RELEASE GATE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CAPSTONE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14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choose mission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controls + evidence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release rubric</a:t>
            </a:r>
          </a:p>
        </p:txBody>
      </p:sp>
      <p:cxnSp>
        <p:nvCxnSpPr>
          <p:cNvPr id="376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77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KEEP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traces · score rows · source pairs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HANDOFF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capstone architecture remains a design choice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CAPSTONE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Release the evidence. Use failures to design the capstone.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RELEASE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2026-08-23T16:37:51.1320000Z</dcterms:created>
  <dcterms:modified xsi:type="dcterms:W3CDTF">2026-08-23T16:37:51.1320000Z</dcterms:modified>
</coreProperties>
</file>