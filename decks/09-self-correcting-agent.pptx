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9522a1c434eb8" /><Relationship Type="http://schemas.openxmlformats.org/officeDocument/2006/relationships/extended-properties" Target="/docProps/app.xml" Id="R62664449257c4ab5" /><Relationship Type="http://schemas.openxmlformats.org/officeDocument/2006/relationships/officeDocument" Target="/ppt/presentation.xml" Id="R9f776e43076a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9b8d960544c61"/>
  </p:sldMasterIdLst>
  <p:notesMasterIdLst>
    <p:notesMasterId xmlns:r="http://schemas.openxmlformats.org/officeDocument/2006/relationships" r:id="Rb0dd9ba9d1414cfe"/>
  </p:notesMasterIdLst>
  <p:sldIdLst>
    <p:sldId xmlns:r="http://schemas.openxmlformats.org/officeDocument/2006/relationships" id="256" r:id="Rfb38f375b61344a0"/>
    <p:sldId xmlns:r="http://schemas.openxmlformats.org/officeDocument/2006/relationships" id="257" r:id="R3b59f95898844af7"/>
    <p:sldId xmlns:r="http://schemas.openxmlformats.org/officeDocument/2006/relationships" id="258" r:id="R951808d9aae64e04"/>
    <p:sldId xmlns:r="http://schemas.openxmlformats.org/officeDocument/2006/relationships" id="259" r:id="R8880034b1bc54b5a"/>
    <p:sldId xmlns:r="http://schemas.openxmlformats.org/officeDocument/2006/relationships" id="260" r:id="R9aa21953ccb34bd0"/>
    <p:sldId xmlns:r="http://schemas.openxmlformats.org/officeDocument/2006/relationships" id="261" r:id="Reaba1a98cd1a43af"/>
    <p:sldId xmlns:r="http://schemas.openxmlformats.org/officeDocument/2006/relationships" id="262" r:id="Rff7e396cb5ae44c5"/>
    <p:sldId xmlns:r="http://schemas.openxmlformats.org/officeDocument/2006/relationships" id="263" r:id="R733389b0e6704a1f"/>
    <p:sldId xmlns:r="http://schemas.openxmlformats.org/officeDocument/2006/relationships" id="264" r:id="R632a3c0237dd43fa"/>
    <p:sldId xmlns:r="http://schemas.openxmlformats.org/officeDocument/2006/relationships" id="265" r:id="R7ea733255e3d469b"/>
    <p:sldId xmlns:r="http://schemas.openxmlformats.org/officeDocument/2006/relationships" id="266" r:id="Rc065c62d477646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06f007b7f4f95" /><Relationship Type="http://schemas.openxmlformats.org/officeDocument/2006/relationships/slideMaster" Target="/ppt/slideMasters/slideMaster1.xml" Id="Rf9e9b8d960544c61" /><Relationship Type="http://schemas.openxmlformats.org/officeDocument/2006/relationships/notesMaster" Target="/ppt/notesMasters/notesMaster1.xml" Id="Rb0dd9ba9d1414cfe" /><Relationship Type="http://schemas.openxmlformats.org/officeDocument/2006/relationships/presProps" Target="/ppt/presProps.xml" Id="Rbbdae45140944779" /><Relationship Type="http://schemas.openxmlformats.org/officeDocument/2006/relationships/tableStyles" Target="/ppt/tableStyles.xml" Id="Re6e31fd3c2c64be2" /><Relationship Type="http://schemas.openxmlformats.org/officeDocument/2006/relationships/slide" Target="/ppt/slides/slide1.xml" Id="Rfb38f375b61344a0" /><Relationship Type="http://schemas.openxmlformats.org/officeDocument/2006/relationships/slide" Target="/ppt/slides/slide2.xml" Id="R3b59f95898844af7" /><Relationship Type="http://schemas.openxmlformats.org/officeDocument/2006/relationships/slide" Target="/ppt/slides/slide3.xml" Id="R951808d9aae64e04" /><Relationship Type="http://schemas.openxmlformats.org/officeDocument/2006/relationships/slide" Target="/ppt/slides/slide4.xml" Id="R8880034b1bc54b5a" /><Relationship Type="http://schemas.openxmlformats.org/officeDocument/2006/relationships/slide" Target="/ppt/slides/slide5.xml" Id="R9aa21953ccb34bd0" /><Relationship Type="http://schemas.openxmlformats.org/officeDocument/2006/relationships/slide" Target="/ppt/slides/slide6.xml" Id="Reaba1a98cd1a43af" /><Relationship Type="http://schemas.openxmlformats.org/officeDocument/2006/relationships/slide" Target="/ppt/slides/slide7.xml" Id="Rff7e396cb5ae44c5" /><Relationship Type="http://schemas.openxmlformats.org/officeDocument/2006/relationships/slide" Target="/ppt/slides/slide8.xml" Id="R733389b0e6704a1f" /><Relationship Type="http://schemas.openxmlformats.org/officeDocument/2006/relationships/slide" Target="/ppt/slides/slide9.xml" Id="R632a3c0237dd43fa" /><Relationship Type="http://schemas.openxmlformats.org/officeDocument/2006/relationships/slide" Target="/ppt/slides/slide10.xml" Id="R7ea733255e3d469b" /><Relationship Type="http://schemas.openxmlformats.org/officeDocument/2006/relationships/slide" Target="/ppt/slides/slide11.xml" Id="Rc065c62d4776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c9be37f944f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e889652294c3b" /><Relationship Type="http://schemas.openxmlformats.org/officeDocument/2006/relationships/notesMaster" Target="/ppt/notesMasters/notesMaster1.xml" Id="Re330e314009043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ca3ebc8cfd414f" /><Relationship Type="http://schemas.openxmlformats.org/officeDocument/2006/relationships/notesMaster" Target="/ppt/notesMasters/notesMaster1.xml" Id="R0c0d8d921de249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d82d659a804747" /><Relationship Type="http://schemas.openxmlformats.org/officeDocument/2006/relationships/notesMaster" Target="/ppt/notesMasters/notesMaster1.xml" Id="R6f76023884644f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eaa062274452f" /><Relationship Type="http://schemas.openxmlformats.org/officeDocument/2006/relationships/notesMaster" Target="/ppt/notesMasters/notesMaster1.xml" Id="Rebf707d517fb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0032a6c5bb4d85" /><Relationship Type="http://schemas.openxmlformats.org/officeDocument/2006/relationships/notesMaster" Target="/ppt/notesMasters/notesMaster1.xml" Id="Re0686e23983d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41416aeab44aa1" /><Relationship Type="http://schemas.openxmlformats.org/officeDocument/2006/relationships/notesMaster" Target="/ppt/notesMasters/notesMaster1.xml" Id="R9f11cccd97c4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16dba914244ace" /><Relationship Type="http://schemas.openxmlformats.org/officeDocument/2006/relationships/notesMaster" Target="/ppt/notesMasters/notesMaster1.xml" Id="Ra2e21e9cf5d445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4450a49934211" /><Relationship Type="http://schemas.openxmlformats.org/officeDocument/2006/relationships/notesMaster" Target="/ppt/notesMasters/notesMaster1.xml" Id="Rdc2a85f6ac1942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ab8aabc1684110" /><Relationship Type="http://schemas.openxmlformats.org/officeDocument/2006/relationships/notesMaster" Target="/ppt/notesMasters/notesMaster1.xml" Id="R98f55a0a8d934d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4720b258d4ff6" /><Relationship Type="http://schemas.openxmlformats.org/officeDocument/2006/relationships/notesMaster" Target="/ppt/notesMasters/notesMaster1.xml" Id="R42bd18d5d70a4e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ba6d93def447b8" /><Relationship Type="http://schemas.openxmlformats.org/officeDocument/2006/relationships/notesMaster" Target="/ppt/notesMasters/notesMaster1.xml" Id="Rc086b84061fb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tool error can be transformed into structured feedback, but the application owns the permission to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chapters/09-self-correcting-agent.md</a:t>
            </a:r>
          </a:p>
          <a:p xmlns:a="http://schemas.openxmlformats.org/drawingml/2006/main">
            <a:r>
              <a:t>- https://developers.openai.com/api/docs/guides/structured-outputs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baseline fails because the error terminates execution instead of becoming an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notebooks/09_self_correcting_agent.ipynb</a:t>
            </a:r>
          </a:p>
          <a:p xmlns:a="http://schemas.openxmlformats.org/drawingml/2006/main">
            <a:r>
              <a:t>- src/finai_academy/self_correcting_agent.py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distinguishes transient, LLM-recoverable, user-fixable, and unexpected failures. The course uses the label model-correctable for LLM-recoverable tool requests.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https://docs.langchain.com/oss/python/langgraph/thinking-in-langgraph#handle-errors-appropriately</a:t>
            </a:r>
          </a:p>
          <a:p xmlns:a="http://schemas.openxmlformats.org/drawingml/2006/main">
            <a:r>
              <a:t>- assets/lesson-09/langgraph-error-strategies.png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Anthropic's evaluator-optimizer depicts generated output, evaluator feedback, and a revised attempt. In this lesson, feedback comes from an external tool contract rather than the model judging its own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https://www.anthropic.com/engineering/building-effective-agents#workflow-evaluator-optimizer</a:t>
            </a:r>
          </a:p>
          <a:p xmlns:a="http://schemas.openxmlformats.org/drawingml/2006/main">
            <a:r>
              <a:t>- assets/lesson-09/anthropic-evaluator-optimizer-crop.png</a:t>
            </a:r>
          </a:p>
          <a:p xmlns:a="http://schemas.openxmlformats.org/drawingml/2006/main">
            <a:r>
              <a:t>- https://arxiv.org/abs/2310.01798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makes the recovery route explicit in state and conditional edges. The host validates actions and owns stop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https://docs.langchain.com/oss/python/langgraph/graph-api</a:t>
            </a:r>
          </a:p>
          <a:p xmlns:a="http://schemas.openxmlformats.org/drawingml/2006/main">
            <a:r>
              <a:t>- src/finai_academy/self_correcting_agent.py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tool returns a typed unsupported_metric observation with the rejected value, valid alternatives, and retryability.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notebooks/09_self_correcting_agent.ipynb</a:t>
            </a:r>
          </a:p>
          <a:p xmlns:a="http://schemas.openxmlformats.org/drawingml/2006/main">
            <a:r>
              <a:t>- src/finai_academy/self_correcting_agent.py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observable correction is PE to P/E. Successful evidence for both companies is required before finish. The values are controlled course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assets/course-data/market/lesson09_metrics_snapshot_v1.json</a:t>
            </a:r>
          </a:p>
          <a:p xmlns:a="http://schemas.openxmlformats.org/drawingml/2006/main">
            <a:r>
              <a:t>- notebooks/09_self_correcting_agent.ipynb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demonstrates both a completed recovery and retry_budget_exhausted. Budgets bound execution rather than answer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notebooks/09_self_correcting_agent.ipynb</a:t>
            </a:r>
          </a:p>
          <a:p xmlns:a="http://schemas.openxmlformats.org/drawingml/2006/main">
            <a:r>
              <a:t>- src/finai_academy/self_correcting_agent.py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feedback can improve the next action, but intrinsic self-correction is not a general truth guarantee. Lesson 10 moves to MCP-discovered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https://arxiv.org/abs/2310.01798</a:t>
            </a:r>
          </a:p>
          <a:p xmlns:a="http://schemas.openxmlformats.org/drawingml/2006/main">
            <a:r>
              <a:t>- chapters/09-self-correcting-agent.md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classify errors and distinguish model recovery from system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chapters/09-self-correcting-agent.md</a:t>
            </a:r>
          </a:p>
          <a:p xmlns:a="http://schemas.openxmlformats.org/drawingml/2006/main">
            <a:r>
              <a:t>- https://docs.langchain.com/oss/python/langgraph/thinking-in-langgraph#handle-errors-appropriately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boundary of retry budgets.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chapters/09-self-correcting-agent.md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6ef2c41dd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5dd9dc93140e3" /><Relationship Type="http://schemas.openxmlformats.org/officeDocument/2006/relationships/slideLayout" Target="/ppt/slideLayouts/slideLayout1.xml" Id="R60ab1c4f011640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b1c4f011640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46530f80a4552" /><Relationship Type="http://schemas.openxmlformats.org/officeDocument/2006/relationships/notesSlide" Target="/ppt/notesSlides/notesSlide1.xml" Id="R3db60eff690b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3da7117b41d8" /><Relationship Type="http://schemas.openxmlformats.org/officeDocument/2006/relationships/notesSlide" Target="/ppt/notesSlides/notesSlide2.xml" Id="R0360d0eda05a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4056bb0d74957" /><Relationship Type="http://schemas.openxmlformats.org/officeDocument/2006/relationships/image" Target="/ppt/media/image.png" Id="R32af756bfec14436" /><Relationship Type="http://schemas.openxmlformats.org/officeDocument/2006/relationships/notesSlide" Target="/ppt/notesSlides/notesSlide3.xml" Id="R1ccd9ecf8de7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dfc7ebb6342a3" /><Relationship Type="http://schemas.openxmlformats.org/officeDocument/2006/relationships/image" Target="/ppt/media/image2.png" Id="R9f4ee02f0dbf41fd" /><Relationship Type="http://schemas.openxmlformats.org/officeDocument/2006/relationships/notesSlide" Target="/ppt/notesSlides/notesSlide4.xml" Id="R00afddacc5e3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7c7494498452a" /><Relationship Type="http://schemas.openxmlformats.org/officeDocument/2006/relationships/notesSlide" Target="/ppt/notesSlides/notesSlide5.xml" Id="R48879603bd06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bc80da26f4a8c" /><Relationship Type="http://schemas.openxmlformats.org/officeDocument/2006/relationships/notesSlide" Target="/ppt/notesSlides/notesSlide6.xml" Id="Re33aded1c8ee41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1118b725b4f29" /><Relationship Type="http://schemas.openxmlformats.org/officeDocument/2006/relationships/notesSlide" Target="/ppt/notesSlides/notesSlide7.xml" Id="Rde2babd45395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1fa3be77a46b0" /><Relationship Type="http://schemas.openxmlformats.org/officeDocument/2006/relationships/notesSlide" Target="/ppt/notesSlides/notesSlide8.xml" Id="R43b2fe12f2fa40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2dab3b974408f" /><Relationship Type="http://schemas.openxmlformats.org/officeDocument/2006/relationships/notesSlide" Target="/ppt/notesSlides/notesSlide9.xml" Id="Re2740b701bb143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edb63041846da" /><Relationship Type="http://schemas.openxmlformats.org/officeDocument/2006/relationships/notesSlide" Target="/ppt/notesSlides/notesSlide10.xml" Id="R5de1d1c4e13d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a52bab3234e5b" /><Relationship Type="http://schemas.openxmlformats.org/officeDocument/2006/relationships/notesSlide" Target="/ppt/notesSlides/notesSlide11.xml" Id="R16307231356344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Tool Error Can Become the Next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External feedback can correct an action. Application code decides whether another attempt is allowed.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09  ·  10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WHY RECOVERY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 unhandled error ends the task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Compare P/E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metric = PE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unsupported_metric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Exception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application stops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trace ends</a:t>
            </a:r>
          </a:p>
        </p:txBody>
      </p:sp>
      <p:cxnSp>
        <p:nvCxnSpPr>
          <p:cNvPr id="62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Catching the error is not enough. The next action needs useful feedback.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before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one error · failed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OFFICIAL ERROR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Errors need different recovery strategies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LANGGRAPH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TRANSIENT · MODEL-CORRECTABLE · USER-FIXABLE · UNEXPECTED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f756bfec14436"/>
          <a:stretch xmlns:a="http://schemas.openxmlformats.org/drawingml/2006/main"/>
        </p:blipFill>
        <p:spPr>
          <a:xfrm xmlns:a="http://schemas.openxmlformats.org/drawingml/2006/main">
            <a:off x="5848764" y="2076450"/>
            <a:ext cx="3542472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WHAT SELF-CORRECTION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External feedback changes the 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External feedback changes an action. Self-critique evaluates a generated answer.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ee02f0dbf41fd"/>
          <a:stretch xmlns:a="http://schemas.openxmlformats.org/drawingml/2006/main"/>
        </p:blipFill>
        <p:spPr>
          <a:xfrm xmlns:a="http://schemas.openxmlformats.org/drawingml/2006/main">
            <a:off x="4499610" y="2095500"/>
            <a:ext cx="624078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LANGGRAPH MAKES THE RECOVERY ROUTE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State decides where the graph goes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MODEL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update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TOOL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APPLICATION GUARDS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MAX_RETRIES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MAX_TOOL_CALLS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model proposes. LangGraph routes. Python validates and executes.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TYPED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precise error is a prompt for the next action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Compare P/E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NVDA metric = PE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unsupported_metric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Valid metrics: EPS, P/E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retryable = true</a:t>
            </a:r>
          </a:p>
        </p:txBody>
      </p:sp>
      <p:cxnSp>
        <p:nvCxnSpPr>
          <p:cNvPr id="62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rejected value and valid alternatives remain visible in the trace.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error_count =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retry available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CORRECTED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agent uses the valid name returned by the tool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Error 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unsupported_metric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Correct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metric = P/E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NVIDIA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P/E = 52.4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Schneider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P/E = 31.8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Finish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source + date</a:t>
            </a:r>
          </a:p>
        </p:txBody>
      </p:sp>
      <p:cxnSp>
        <p:nvCxnSpPr>
          <p:cNvPr id="62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63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External feedback changes the next observable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MAX_RETRIES =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tool_calls =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RECOVER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BOUNDED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same graph can complete safely or stop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CORRECTED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 fails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P/E succeeds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two companies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REPEATED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 repeats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MAX_RETRIES =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MAX_TOOL_CALLS =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CODE-OWNED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Budgets bound behavior. They do not guarantee answer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GUARDS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PRODUCTION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Self-correction does not guarantee truth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changes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next action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typed state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budgets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trace · source · date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LESSON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MCP tools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discovered at runtime</a:t>
            </a:r>
          </a:p>
        </p:txBody>
      </p:sp>
      <p:cxnSp>
        <p:nvCxnSpPr>
          <p:cNvPr id="34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3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external feedback · bounded retries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DO NOT ASSUME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corrected action is a correct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DAY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Next: expose financial tools and resources through MCP.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09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62F169D3-0E7B-44F9-926D-94D5DA61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Which error should loop back to the model?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A450E5B0-548B-44C4-90A2-F875AF07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Model-correctable     |     B  Every timeout     |     C  Unknown bug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50E03BE0-8C4C-48C0-A804-8641E550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What should handle a transient timeout?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99178217-6D9A-4D0C-B60A-DDD2083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System retry with backoff     |     B  Agent self-critique     |     C  Ignore it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81E0B37D-93D0-4800-A41F-6200F86F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What do budgets guarantee?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B152A5DE-F8A9-49ED-ACF7-747AA9F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Bounded behavior     |     B  Correct answers     |     C  Live data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09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2F245209-7771-42C8-BFB6-3C393EE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Model-correctable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14E72BFA-A89F-4249-93D8-300CB133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Return a precise observation so the model can propose a valid action.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31EF166A-DE4E-4D35-BFE1-180110D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System retry with backoff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FBB95882-D376-48F1-8D1E-B744C9AE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Transient infrastructure failures should not consume model reasoning retries.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9B662905-4007-44A3-8791-21B9ED0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Bounded behavior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234E0ED5-8863-4DD4-8138-AD53ADF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Budgets stop loops; they do not prove the final answer is true.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2026-08-26T10:06:24.7700000Z</dcterms:created>
  <dcterms:modified xsi:type="dcterms:W3CDTF">2026-08-26T10:06:24.7700000Z</dcterms:modified>
</coreProperties>
</file>