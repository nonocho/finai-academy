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322df34a6d34ee3" /><Relationship Type="http://schemas.openxmlformats.org/officeDocument/2006/relationships/extended-properties" Target="/docProps/app.xml" Id="R291aaef575124151" /><Relationship Type="http://schemas.openxmlformats.org/officeDocument/2006/relationships/officeDocument" Target="/ppt/presentation.xml" Id="Rb3ed2f96581246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06adb1fe6134127"/>
  </p:sldMasterIdLst>
  <p:notesMasterIdLst>
    <p:notesMasterId xmlns:r="http://schemas.openxmlformats.org/officeDocument/2006/relationships" r:id="R3f3ae3361ca54954"/>
  </p:notesMasterIdLst>
  <p:sldIdLst>
    <p:sldId xmlns:r="http://schemas.openxmlformats.org/officeDocument/2006/relationships" id="256" r:id="R45ea45e637474974"/>
    <p:sldId xmlns:r="http://schemas.openxmlformats.org/officeDocument/2006/relationships" id="257" r:id="Rb56daa6b9f2a4a00"/>
    <p:sldId xmlns:r="http://schemas.openxmlformats.org/officeDocument/2006/relationships" id="258" r:id="R7836dbd982c6468c"/>
    <p:sldId xmlns:r="http://schemas.openxmlformats.org/officeDocument/2006/relationships" id="259" r:id="R60ea5daa30214f8b"/>
    <p:sldId xmlns:r="http://schemas.openxmlformats.org/officeDocument/2006/relationships" id="260" r:id="R76692f2291294c63"/>
    <p:sldId xmlns:r="http://schemas.openxmlformats.org/officeDocument/2006/relationships" id="261" r:id="R26f3e33a79274cbd"/>
    <p:sldId xmlns:r="http://schemas.openxmlformats.org/officeDocument/2006/relationships" id="262" r:id="R8d201aceae8443e8"/>
    <p:sldId xmlns:r="http://schemas.openxmlformats.org/officeDocument/2006/relationships" id="263" r:id="Re6ecdcd60d094e37"/>
    <p:sldId xmlns:r="http://schemas.openxmlformats.org/officeDocument/2006/relationships" id="264" r:id="R8439cfdcc9ae43a0"/>
    <p:sldId xmlns:r="http://schemas.openxmlformats.org/officeDocument/2006/relationships" id="265" r:id="R32a97381eeae45a5"/>
    <p:sldId xmlns:r="http://schemas.openxmlformats.org/officeDocument/2006/relationships" id="266" r:id="Rc685ad48cdb74639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eff1a8edcac4951" /><Relationship Type="http://schemas.openxmlformats.org/officeDocument/2006/relationships/slideMaster" Target="/ppt/slideMasters/slideMaster1.xml" Id="Ra06adb1fe6134127" /><Relationship Type="http://schemas.openxmlformats.org/officeDocument/2006/relationships/notesMaster" Target="/ppt/notesMasters/notesMaster1.xml" Id="R3f3ae3361ca54954" /><Relationship Type="http://schemas.openxmlformats.org/officeDocument/2006/relationships/presProps" Target="/ppt/presProps.xml" Id="Rfff68f333e0c45a5" /><Relationship Type="http://schemas.openxmlformats.org/officeDocument/2006/relationships/tableStyles" Target="/ppt/tableStyles.xml" Id="R5f9d9fa6d49b49bf" /><Relationship Type="http://schemas.openxmlformats.org/officeDocument/2006/relationships/slide" Target="/ppt/slides/slide1.xml" Id="R45ea45e637474974" /><Relationship Type="http://schemas.openxmlformats.org/officeDocument/2006/relationships/slide" Target="/ppt/slides/slide2.xml" Id="Rb56daa6b9f2a4a00" /><Relationship Type="http://schemas.openxmlformats.org/officeDocument/2006/relationships/slide" Target="/ppt/slides/slide3.xml" Id="R7836dbd982c6468c" /><Relationship Type="http://schemas.openxmlformats.org/officeDocument/2006/relationships/slide" Target="/ppt/slides/slide4.xml" Id="R60ea5daa30214f8b" /><Relationship Type="http://schemas.openxmlformats.org/officeDocument/2006/relationships/slide" Target="/ppt/slides/slide5.xml" Id="R76692f2291294c63" /><Relationship Type="http://schemas.openxmlformats.org/officeDocument/2006/relationships/slide" Target="/ppt/slides/slide6.xml" Id="R26f3e33a79274cbd" /><Relationship Type="http://schemas.openxmlformats.org/officeDocument/2006/relationships/slide" Target="/ppt/slides/slide7.xml" Id="R8d201aceae8443e8" /><Relationship Type="http://schemas.openxmlformats.org/officeDocument/2006/relationships/slide" Target="/ppt/slides/slide8.xml" Id="Re6ecdcd60d094e37" /><Relationship Type="http://schemas.openxmlformats.org/officeDocument/2006/relationships/slide" Target="/ppt/slides/slide9.xml" Id="R8439cfdcc9ae43a0" /><Relationship Type="http://schemas.openxmlformats.org/officeDocument/2006/relationships/slide" Target="/ppt/slides/slide10.xml" Id="R32a97381eeae45a5" /><Relationship Type="http://schemas.openxmlformats.org/officeDocument/2006/relationships/slide" Target="/ppt/slides/slide11.xml" Id="Rc685ad48cdb746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73c574696c64aa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1504039c1b4eff" /><Relationship Type="http://schemas.openxmlformats.org/officeDocument/2006/relationships/notesMaster" Target="/ppt/notesMasters/notesMaster1.xml" Id="R95b95e309c694b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20cfdef86e04172" /><Relationship Type="http://schemas.openxmlformats.org/officeDocument/2006/relationships/notesMaster" Target="/ppt/notesMasters/notesMaster1.xml" Id="Ra6a41a9d0d674b7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a9eae76d0646c4" /><Relationship Type="http://schemas.openxmlformats.org/officeDocument/2006/relationships/notesMaster" Target="/ppt/notesMasters/notesMaster1.xml" Id="Rdebcc86ea0b0419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e54c42057c34d97" /><Relationship Type="http://schemas.openxmlformats.org/officeDocument/2006/relationships/notesMaster" Target="/ppt/notesMasters/notesMaster1.xml" Id="Rae5aa0493f1848e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0ee13b91c6343bc" /><Relationship Type="http://schemas.openxmlformats.org/officeDocument/2006/relationships/notesMaster" Target="/ppt/notesMasters/notesMaster1.xml" Id="R53448a30dbd7412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fa8608c13fb43d9" /><Relationship Type="http://schemas.openxmlformats.org/officeDocument/2006/relationships/notesMaster" Target="/ppt/notesMasters/notesMaster1.xml" Id="Ra2dedf02a9c84e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9a516a189a94285" /><Relationship Type="http://schemas.openxmlformats.org/officeDocument/2006/relationships/notesMaster" Target="/ppt/notesMasters/notesMaster1.xml" Id="R30d734f29bad4c2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d90a365da6b4da3" /><Relationship Type="http://schemas.openxmlformats.org/officeDocument/2006/relationships/notesMaster" Target="/ppt/notesMasters/notesMaster1.xml" Id="Rc84fab4abf714b0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939d3388d44d3b" /><Relationship Type="http://schemas.openxmlformats.org/officeDocument/2006/relationships/notesMaster" Target="/ppt/notesMasters/notesMaster1.xml" Id="R4b6975f3dea34c2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a6ef6a23bcf4593" /><Relationship Type="http://schemas.openxmlformats.org/officeDocument/2006/relationships/notesMaster" Target="/ppt/notesMasters/notesMaster1.xml" Id="R4f23fe1e6c924a8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641fb1e2b0f4227" /><Relationship Type="http://schemas.openxmlformats.org/officeDocument/2006/relationships/notesMaster" Target="/ppt/notesMasters/notesMaster1.xml" Id="Rffcfa5a4ce9640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09 adds explicit state and recovery routing to the bounded agent from Lesson 08.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 chapter: chapters/09-self-correcting-agent.md</a:t>
            </a:r>
          </a:p>
          <a:p xmlns:a="http://schemas.openxmlformats.org/drawingml/2006/main">
            <a:r>
              <a:t>- Course notebook: notebooks/09_self_correcting_agent.ipynb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 unhandled validation error ends the application path. Recovery requires a useful observation, not only a try-and-catch block.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https://www.mlexpert.io/academy/v1/ai-agents/self-correcting-agent</a:t>
            </a:r>
          </a:p>
          <a:p xmlns:a="http://schemas.openxmlformats.org/drawingml/2006/main">
            <a:r>
              <a:t>- Course chapter: chapters/09-self-correcting-agent.md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graph separates the model decision node, deterministic tool node, finish node, and guardrail routes. State remains visible and serializable.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https://docs.langchain.com/oss/python/langgraph/graph-api</a:t>
            </a:r>
          </a:p>
          <a:p xmlns:a="http://schemas.openxmlformats.org/drawingml/2006/main">
            <a:r>
              <a:t>- src/finai_academy/self_correcting_agent.py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tool returns a typed error with the rejected metric and valid alternatives. This observation becomes context for the next model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https://www.mlexpert.io/academy/v1/ai-agents/self-correcting-agent</a:t>
            </a:r>
          </a:p>
          <a:p xmlns:a="http://schemas.openxmlformats.org/drawingml/2006/main">
            <a:r>
              <a:t>- src/finai_academy/self_correcting_agent.py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Conditional edges route from the agent to tools, finish, or a guardrail. The model does not own these stop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https://docs.langchain.com/oss/python/langgraph/graph-api</a:t>
            </a:r>
          </a:p>
          <a:p xmlns:a="http://schemas.openxmlformats.org/drawingml/2006/main">
            <a:r>
              <a:t>- Course notebook: notebooks/09_self_correcting_agent.ipynb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first request deliberately uses PE so every classroom run exposes the structured recovery path. The fixture is controlled and not live market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assets/course-data/market/lesson09_metrics_snapshot_v1.json</a:t>
            </a:r>
          </a:p>
          <a:p xmlns:a="http://schemas.openxmlformats.org/drawingml/2006/main">
            <a:r>
              <a:t>- Course notebook: notebooks/09_self_correcting_agent.ipynb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corrected trace obtains successful P/E observations for NVIDIA and Schneider Electric before finishing.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src/finai_academy/self_correcting_agent.py</a:t>
            </a:r>
          </a:p>
          <a:p xmlns:a="http://schemas.openxmlformats.org/drawingml/2006/main">
            <a:r>
              <a:t>- assets/course-data/market/lesson09_metrics_snapshot_v1.json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MAX_RETRIES counts model-caused validation failures. MAX_TOOL_CALLS bounds every tool execution. Neither budget guarantees answer quality.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src/finai_academy/self_correcting_agent.py</a:t>
            </a:r>
          </a:p>
          <a:p xmlns:a="http://schemas.openxmlformats.org/drawingml/2006/main">
            <a:r>
              <a:t>- https://docs.langchain.com/oss/python/langgraph/thinking-in-langgraph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Production self-correction requires precise feedback, explicit state, and hard limits. Lesson 10 exposes the same typed capabilities through MCP.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 chapter: chapters/09-self-correcting-agent.md</a:t>
            </a:r>
          </a:p>
          <a:p xmlns:a="http://schemas.openxmlformats.org/drawingml/2006/main">
            <a:r>
              <a:t>- Course notebook: notebooks/09_self_correcting_agent.ipynb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Check the three core decisions before the lesson closes.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for one letter per question.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chapters/09-self-correcting-agent.md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Correct the quiz and restate the practical rule behind each answer.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learners to explain each rule in their own words.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chapters/09-self-correcting-agent.md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a9c3f7cb024fd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f2bc12002fd481f" /><Relationship Type="http://schemas.openxmlformats.org/officeDocument/2006/relationships/slideLayout" Target="/ppt/slideLayouts/slideLayout1.xml" Id="R84bb1870d34941d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4bb1870d34941d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5accfa53f4617" /><Relationship Type="http://schemas.openxmlformats.org/officeDocument/2006/relationships/notesSlide" Target="/ppt/notesSlides/notesSlide1.xml" Id="R2c0554089e0e4b8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ac1cbb4f6c4f66" /><Relationship Type="http://schemas.openxmlformats.org/officeDocument/2006/relationships/notesSlide" Target="/ppt/notesSlides/notesSlide2.xml" Id="R894cf646f6c8477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3524fce0a64005" /><Relationship Type="http://schemas.openxmlformats.org/officeDocument/2006/relationships/notesSlide" Target="/ppt/notesSlides/notesSlide3.xml" Id="R759c0e2595de496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253237a4c84ffe" /><Relationship Type="http://schemas.openxmlformats.org/officeDocument/2006/relationships/notesSlide" Target="/ppt/notesSlides/notesSlide4.xml" Id="R2b74e1dd1d10464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861954861a4174" /><Relationship Type="http://schemas.openxmlformats.org/officeDocument/2006/relationships/notesSlide" Target="/ppt/notesSlides/notesSlide5.xml" Id="Ra80f1803a0314a9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70fb43fd9b4310" /><Relationship Type="http://schemas.openxmlformats.org/officeDocument/2006/relationships/notesSlide" Target="/ppt/notesSlides/notesSlide6.xml" Id="Re4e967833011447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c6ce07ef9e47df" /><Relationship Type="http://schemas.openxmlformats.org/officeDocument/2006/relationships/notesSlide" Target="/ppt/notesSlides/notesSlide7.xml" Id="R67ef6495d7b24ea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ff5bc6662a47c9" /><Relationship Type="http://schemas.openxmlformats.org/officeDocument/2006/relationships/notesSlide" Target="/ppt/notesSlides/notesSlide8.xml" Id="Rb7ea26b09f16468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4ef6c290924eec" /><Relationship Type="http://schemas.openxmlformats.org/officeDocument/2006/relationships/notesSlide" Target="/ppt/notesSlides/notesSlide9.xml" Id="R413361565cae4c1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d5dc4255f84a51" /><Relationship Type="http://schemas.openxmlformats.org/officeDocument/2006/relationships/notesSlide" Target="/ppt/notesSlides/notesSlide10.xml" Id="R11ccb1554e58403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8903d634134554" /><Relationship Type="http://schemas.openxmlformats.org/officeDocument/2006/relationships/notesSlide" Target="/ppt/notesSlides/notesSlide11.xml" Id="Rfa25439c369c4b1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Self-Correcting Financial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Use tool errors to correct the next action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09  ·  10 MIN CONCEPTS + 30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WHY RECOVERY MATTERS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 unhandled tool error ends the task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User 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Compare P/E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Agent request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metric = PE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Validation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unsupported_metric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Exception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application stops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 answer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trace ends</a:t>
            </a:r>
          </a:p>
        </p:txBody>
      </p:sp>
      <p:cxnSp>
        <p:nvCxnSpPr>
          <p:cNvPr id="577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78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79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80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Catching the error is not enough. The model needs useful feedback.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before recovery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one error · failed task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PROBLEM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EXPLICIT GRAPH STATE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LangGraph makes every route visible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AGENT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reads state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chooses action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TOOL</a:t>
            </a:r>
            <a:br/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NODE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validate request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result or error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error_count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tool_calls · trace</a:t>
            </a:r>
          </a:p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state update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FINISH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answer from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successful data</a:t>
            </a:r>
          </a:p>
        </p:txBody>
      </p:sp>
      <p:cxnSp>
        <p:nvCxnSpPr>
          <p:cNvPr id="320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321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CONDITIONAL ROUTES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tools · finish · guards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STATE CONTRACT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question · decision · observation · budgets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DAY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Errors return to the agent as context. Budgets remain application-owned.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GRAPH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ERRORS BECOME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precise error tells the agent what to change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INVALID REQUEST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get_metric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ticker = NVDA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metric = PE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typed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rejected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TOOL FEEDBACK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unsupported_metric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retryable = true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Valid metrics: EPS, P/E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context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CORRECTED REQUEST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ticker = NVDA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metric = P/E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valid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tool returns a typed observation. The notebook does not crash.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FEEDBACK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CONDITIONAL ROUTING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State decides where the graph goes next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AGENT 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 request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finish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check budgets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route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TOOL RESULT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error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update state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LOOP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BUDGET CHECK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MAX_RETRIES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MAX_TOOL_CALLS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STOP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model proposes. LangGraph routes. Python executes.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ROUTE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ATTEMPT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tool rejects PE and returns the valid names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Compare P/E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Agent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NVDA metric = PE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validate request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Error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unsupported_metric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Context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EPS, P/E</a:t>
            </a:r>
          </a:p>
        </p:txBody>
      </p:sp>
      <p:cxnSp>
        <p:nvCxnSpPr>
          <p:cNvPr id="577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78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79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80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Nothing is hidden. The failed action stays in the trace.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error_count = 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retry available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ERROR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SELF-CORRECTION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agent reads the error and retries with P/E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Observe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unsupported_metric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Correct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metric = P/E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NVIDIA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P/E = 52.4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Schneider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P/E = 31.8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Finish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source + date</a:t>
            </a:r>
          </a:p>
        </p:txBody>
      </p:sp>
      <p:cxnSp>
        <p:nvCxnSpPr>
          <p:cNvPr id="577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78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79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80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External feedback changes the next observable action.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MAX_RETRIES = 1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tool_calls = 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RECOVER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BOUNDED RECOVERY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Two budgets prevent an endless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MAX_RETRIES =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one retry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 errors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second failure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STOP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BOUND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MAX_TOOL_CALLS = 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all calls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success + error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fourth call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STOP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FINAL ANSWER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evidence required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 successful data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REFUSE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Budgets bound behavior. They do not guarantee answer quality.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GUARDS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PRODUCTION RULE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Self-correction needs feedback, state and limits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PROMPT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reduces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tool errors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LANG</a:t>
            </a:r>
            <a:br/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GRAPH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error feedback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changes next action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MAX_RETRIES =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typed state · clear trace</a:t>
            </a:r>
          </a:p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MAX_TOOL_CALLS = 4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LESSON 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MCP tools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discovered at runtime</a:t>
            </a:r>
          </a:p>
        </p:txBody>
      </p:sp>
      <p:cxnSp>
        <p:nvCxnSpPr>
          <p:cNvPr id="320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321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KEEP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typed errors · bounded retries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DO NOT ASSUME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self-correction guarantees truth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DAY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Next: expose financial tools and resources through MCP.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NEXT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Quick quiz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Choose one answer for each question.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09  ·  3 QUESTIONS  ·  3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question-1">
            <a:extLst xmlns:a="http://schemas.openxmlformats.org/drawingml/2006/main">
              <a:ext uri="{FF2B5EF4-FFF2-40B4-BE49-F238E27FC236}">
                <a16:creationId xmlns:a16="http://schemas.microsoft.com/office/drawing/2014/main" id="{62F169D3-0E7B-44F9-926D-94D5DA61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1. Why is a typed tool error useful?</a:t>
            </a:r>
          </a:p>
        </p:txBody>
      </p:sp>
      <p:sp>
        <p:nvSpPr>
          <p:cNvPr id="9" name="quiz-options-1">
            <a:extLst xmlns:a="http://schemas.openxmlformats.org/drawingml/2006/main">
              <a:ext uri="{FF2B5EF4-FFF2-40B4-BE49-F238E27FC236}">
                <a16:creationId xmlns:a16="http://schemas.microsoft.com/office/drawing/2014/main" id="{A450E5B0-548B-44C4-90A2-F875AF07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It gives correction context     |     B  It hides failure     |     C  It removes limits</a:t>
            </a:r>
          </a:p>
        </p:txBody>
      </p:sp>
      <p:sp>
        <p:nvSpPr>
          <p:cNvPr id="10" name="quiz-question-2">
            <a:extLst xmlns:a="http://schemas.openxmlformats.org/drawingml/2006/main">
              <a:ext uri="{FF2B5EF4-FFF2-40B4-BE49-F238E27FC236}">
                <a16:creationId xmlns:a16="http://schemas.microsoft.com/office/drawing/2014/main" id="{50E03BE0-8C4C-48C0-A804-8641E550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2. What does a retry budget prevent?</a:t>
            </a:r>
          </a:p>
        </p:txBody>
      </p:sp>
      <p:sp>
        <p:nvSpPr>
          <p:cNvPr id="11" name="quiz-options-2">
            <a:extLst xmlns:a="http://schemas.openxmlformats.org/drawingml/2006/main">
              <a:ext uri="{FF2B5EF4-FFF2-40B4-BE49-F238E27FC236}">
                <a16:creationId xmlns:a16="http://schemas.microsoft.com/office/drawing/2014/main" id="{99178217-6D9A-4D0C-B60A-DDD208399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Endless loops     |     B  Every wrong answer     |     C  Slow networks</a:t>
            </a:r>
          </a:p>
        </p:txBody>
      </p:sp>
      <p:sp>
        <p:nvSpPr>
          <p:cNvPr id="12" name="quiz-question-3">
            <a:extLst xmlns:a="http://schemas.openxmlformats.org/drawingml/2006/main">
              <a:ext uri="{FF2B5EF4-FFF2-40B4-BE49-F238E27FC236}">
                <a16:creationId xmlns:a16="http://schemas.microsoft.com/office/drawing/2014/main" id="{81E0B37D-93D0-4800-A41F-6200F86F1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3. What is required before the agent can finish the comparison?</a:t>
            </a:r>
          </a:p>
        </p:txBody>
      </p:sp>
      <p:sp>
        <p:nvSpPr>
          <p:cNvPr id="13" name="quiz-options-3">
            <a:extLst xmlns:a="http://schemas.openxmlformats.org/drawingml/2006/main">
              <a:ext uri="{FF2B5EF4-FFF2-40B4-BE49-F238E27FC236}">
                <a16:creationId xmlns:a16="http://schemas.microsoft.com/office/drawing/2014/main" id="{B152A5DE-F8A9-49ED-ACF7-747AA9F2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Evidence for both companies     |     B  One tool error     |     C  A longer prompt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Answers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Check the idea, not only the letter.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09  ·  CORRECTION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answer-1">
            <a:extLst xmlns:a="http://schemas.openxmlformats.org/drawingml/2006/main">
              <a:ext uri="{FF2B5EF4-FFF2-40B4-BE49-F238E27FC236}">
                <a16:creationId xmlns:a16="http://schemas.microsoft.com/office/drawing/2014/main" id="{2F245209-7771-42C8-BFB6-3C393EE1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1. A. It gives correction context</a:t>
            </a:r>
          </a:p>
        </p:txBody>
      </p:sp>
      <p:sp>
        <p:nvSpPr>
          <p:cNvPr id="9" name="quiz-explanation-1">
            <a:extLst xmlns:a="http://schemas.openxmlformats.org/drawingml/2006/main">
              <a:ext uri="{FF2B5EF4-FFF2-40B4-BE49-F238E27FC236}">
                <a16:creationId xmlns:a16="http://schemas.microsoft.com/office/drawing/2014/main" id="{14E72BFA-A89F-4249-93D8-300CB1335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The agent can change a rejected request instead of repeating it.</a:t>
            </a:r>
          </a:p>
        </p:txBody>
      </p:sp>
      <p:sp>
        <p:nvSpPr>
          <p:cNvPr id="10" name="quiz-answer-2">
            <a:extLst xmlns:a="http://schemas.openxmlformats.org/drawingml/2006/main">
              <a:ext uri="{FF2B5EF4-FFF2-40B4-BE49-F238E27FC236}">
                <a16:creationId xmlns:a16="http://schemas.microsoft.com/office/drawing/2014/main" id="{31EF166A-DE4E-4D35-BFE1-180110D3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2. A. Endless loops</a:t>
            </a:r>
          </a:p>
        </p:txBody>
      </p:sp>
      <p:sp>
        <p:nvSpPr>
          <p:cNvPr id="11" name="quiz-explanation-2">
            <a:extLst xmlns:a="http://schemas.openxmlformats.org/drawingml/2006/main">
              <a:ext uri="{FF2B5EF4-FFF2-40B4-BE49-F238E27FC236}">
                <a16:creationId xmlns:a16="http://schemas.microsoft.com/office/drawing/2014/main" id="{FBB95882-D376-48F1-8D1E-B744C9AE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retry limit bounds behaviour but does not guarantee answer quality.</a:t>
            </a:r>
          </a:p>
        </p:txBody>
      </p:sp>
      <p:sp>
        <p:nvSpPr>
          <p:cNvPr id="12" name="quiz-answer-3">
            <a:extLst xmlns:a="http://schemas.openxmlformats.org/drawingml/2006/main">
              <a:ext uri="{FF2B5EF4-FFF2-40B4-BE49-F238E27FC236}">
                <a16:creationId xmlns:a16="http://schemas.microsoft.com/office/drawing/2014/main" id="{9B662905-4007-44A3-8791-21B9ED08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3. A. Evidence for both companies</a:t>
            </a:r>
          </a:p>
        </p:txBody>
      </p:sp>
      <p:sp>
        <p:nvSpPr>
          <p:cNvPr id="13" name="quiz-explanation-3">
            <a:extLst xmlns:a="http://schemas.openxmlformats.org/drawingml/2006/main">
              <a:ext uri="{FF2B5EF4-FFF2-40B4-BE49-F238E27FC236}">
                <a16:creationId xmlns:a16="http://schemas.microsoft.com/office/drawing/2014/main" id="{234E0ED5-8863-4DD4-8138-AD53ADFA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The final comparison must be supported by successful observations.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2026-08-24T19:24:34.0980000Z</dcterms:created>
  <dcterms:modified xsi:type="dcterms:W3CDTF">2026-08-24T19:24:34.0980000Z</dcterms:modified>
</coreProperties>
</file>