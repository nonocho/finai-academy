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a88cfcccef45ce" /><Relationship Type="http://schemas.openxmlformats.org/officeDocument/2006/relationships/extended-properties" Target="/docProps/app.xml" Id="R66399fcbaa0e433f" /><Relationship Type="http://schemas.openxmlformats.org/officeDocument/2006/relationships/officeDocument" Target="/ppt/presentation.xml" Id="R896c714a0ffc4e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e357ac2834494c"/>
  </p:sldMasterIdLst>
  <p:notesMasterIdLst>
    <p:notesMasterId xmlns:r="http://schemas.openxmlformats.org/officeDocument/2006/relationships" r:id="R41ddbcea6aeb42e5"/>
  </p:notesMasterIdLst>
  <p:sldIdLst>
    <p:sldId xmlns:r="http://schemas.openxmlformats.org/officeDocument/2006/relationships" id="256" r:id="R4247d9a51bb84487"/>
    <p:sldId xmlns:r="http://schemas.openxmlformats.org/officeDocument/2006/relationships" id="257" r:id="Rcd988334fde447d3"/>
    <p:sldId xmlns:r="http://schemas.openxmlformats.org/officeDocument/2006/relationships" id="258" r:id="Rfacd74b056344560"/>
    <p:sldId xmlns:r="http://schemas.openxmlformats.org/officeDocument/2006/relationships" id="259" r:id="R479f5d083680409e"/>
    <p:sldId xmlns:r="http://schemas.openxmlformats.org/officeDocument/2006/relationships" id="260" r:id="R1ddd38a3ef154ea4"/>
    <p:sldId xmlns:r="http://schemas.openxmlformats.org/officeDocument/2006/relationships" id="261" r:id="R9fd666cd26bc41a9"/>
    <p:sldId xmlns:r="http://schemas.openxmlformats.org/officeDocument/2006/relationships" id="262" r:id="Rad7bd70038ad4c2b"/>
    <p:sldId xmlns:r="http://schemas.openxmlformats.org/officeDocument/2006/relationships" id="263" r:id="R7a74a41e1955439b"/>
    <p:sldId xmlns:r="http://schemas.openxmlformats.org/officeDocument/2006/relationships" id="264" r:id="R52aec58fcec24ede"/>
    <p:sldId xmlns:r="http://schemas.openxmlformats.org/officeDocument/2006/relationships" id="265" r:id="R5aa946280bb743c7"/>
    <p:sldId xmlns:r="http://schemas.openxmlformats.org/officeDocument/2006/relationships" id="266" r:id="R2f536a10644e4e18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dc81bf9bbe4cca" /><Relationship Type="http://schemas.openxmlformats.org/officeDocument/2006/relationships/slideMaster" Target="/ppt/slideMasters/slideMaster1.xml" Id="Rd7e357ac2834494c" /><Relationship Type="http://schemas.openxmlformats.org/officeDocument/2006/relationships/notesMaster" Target="/ppt/notesMasters/notesMaster1.xml" Id="R41ddbcea6aeb42e5" /><Relationship Type="http://schemas.openxmlformats.org/officeDocument/2006/relationships/presProps" Target="/ppt/presProps.xml" Id="R2b48e024a420468f" /><Relationship Type="http://schemas.openxmlformats.org/officeDocument/2006/relationships/tableStyles" Target="/ppt/tableStyles.xml" Id="R675ede4c6f434c7b" /><Relationship Type="http://schemas.openxmlformats.org/officeDocument/2006/relationships/slide" Target="/ppt/slides/slide1.xml" Id="R4247d9a51bb84487" /><Relationship Type="http://schemas.openxmlformats.org/officeDocument/2006/relationships/slide" Target="/ppt/slides/slide2.xml" Id="Rcd988334fde447d3" /><Relationship Type="http://schemas.openxmlformats.org/officeDocument/2006/relationships/slide" Target="/ppt/slides/slide3.xml" Id="Rfacd74b056344560" /><Relationship Type="http://schemas.openxmlformats.org/officeDocument/2006/relationships/slide" Target="/ppt/slides/slide4.xml" Id="R479f5d083680409e" /><Relationship Type="http://schemas.openxmlformats.org/officeDocument/2006/relationships/slide" Target="/ppt/slides/slide5.xml" Id="R1ddd38a3ef154ea4" /><Relationship Type="http://schemas.openxmlformats.org/officeDocument/2006/relationships/slide" Target="/ppt/slides/slide6.xml" Id="R9fd666cd26bc41a9" /><Relationship Type="http://schemas.openxmlformats.org/officeDocument/2006/relationships/slide" Target="/ppt/slides/slide7.xml" Id="Rad7bd70038ad4c2b" /><Relationship Type="http://schemas.openxmlformats.org/officeDocument/2006/relationships/slide" Target="/ppt/slides/slide8.xml" Id="R7a74a41e1955439b" /><Relationship Type="http://schemas.openxmlformats.org/officeDocument/2006/relationships/slide" Target="/ppt/slides/slide9.xml" Id="R52aec58fcec24ede" /><Relationship Type="http://schemas.openxmlformats.org/officeDocument/2006/relationships/slide" Target="/ppt/slides/slide10.xml" Id="R5aa946280bb743c7" /><Relationship Type="http://schemas.openxmlformats.org/officeDocument/2006/relationships/slide" Target="/ppt/slides/slide11.xml" Id="R2f536a10644e4e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ab5addb8e74b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91eacc7281433a" /><Relationship Type="http://schemas.openxmlformats.org/officeDocument/2006/relationships/notesMaster" Target="/ppt/notesMasters/notesMaster1.xml" Id="R55b3b77dde814a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7d19d2930f84ef7" /><Relationship Type="http://schemas.openxmlformats.org/officeDocument/2006/relationships/notesMaster" Target="/ppt/notesMasters/notesMaster1.xml" Id="R012795a5b65343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84bdd1ad724c48" /><Relationship Type="http://schemas.openxmlformats.org/officeDocument/2006/relationships/notesMaster" Target="/ppt/notesMasters/notesMaster1.xml" Id="R70e60f9d04de4ab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e4f2a9ed0a4f81" /><Relationship Type="http://schemas.openxmlformats.org/officeDocument/2006/relationships/notesMaster" Target="/ppt/notesMasters/notesMaster1.xml" Id="Re34fec10c6ca45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bacf3c85264928" /><Relationship Type="http://schemas.openxmlformats.org/officeDocument/2006/relationships/notesMaster" Target="/ppt/notesMasters/notesMaster1.xml" Id="R8921cab06f914d5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88ce5e2ce484b18" /><Relationship Type="http://schemas.openxmlformats.org/officeDocument/2006/relationships/notesMaster" Target="/ppt/notesMasters/notesMaster1.xml" Id="R8ca90c078383468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10381ba03784a03" /><Relationship Type="http://schemas.openxmlformats.org/officeDocument/2006/relationships/notesMaster" Target="/ppt/notesMasters/notesMaster1.xml" Id="Ra8a071a7b728418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2808c5e23e9410d" /><Relationship Type="http://schemas.openxmlformats.org/officeDocument/2006/relationships/notesMaster" Target="/ppt/notesMasters/notesMaster1.xml" Id="R8587126bd33f4f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3ef45bad33d4d09" /><Relationship Type="http://schemas.openxmlformats.org/officeDocument/2006/relationships/notesMaster" Target="/ppt/notesMasters/notesMaster1.xml" Id="Rd929cd9564c54d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542842186bf46cf" /><Relationship Type="http://schemas.openxmlformats.org/officeDocument/2006/relationships/notesMaster" Target="/ppt/notesMasters/notesMaster1.xml" Id="R2d22912fdc2549d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4085df4a1bd4c88" /><Relationship Type="http://schemas.openxmlformats.org/officeDocument/2006/relationships/notesMaster" Target="/ppt/notesMasters/notesMaster1.xml" Id="Ra5f71c0ffdac44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failure pattern: finance questions mix literal identifiers and semantic intent. One retrieval channel cannot reliably protect both.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backbone before the algorithms. The same corpus is searched through a lexical channel and an embedding channel. Rank fusion combines ordering rather than incompatible raw score scales. Anthropic labels the lexical branch TF-IDF in this visual; the lesson implements BM25 as the stronger lexical baseline.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https://www.anthropic.com/engineering/contextual-retrieval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green passage first: BM25 rewards the maintained evidence token. Dense retrieval ranks by semantic proximity and can miss a literal figure. The channels are complementary, and their raw scores are intentionally not compared.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Filters define the eligible corpus before either channel scores passages. Post-filtering cannot restore evidence that was pushed out of a global top-k by another company or period.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https://learn.microsoft.com/en-us/azure/search/hybrid-search-overview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RRF assigns a contribution from each channel rank and adds them. It never pretends BM25 and cosine scores share units. Keep each contribution visible so the final ordering remains inspectable.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https://qdrant.tech/documentation/search/hybrid-queries/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Candidate retrieval should be broad enough to protect recall, but reranking should operate only on the eligible, deduplicated set. This lesson uses visible finance-aware features so students can explain why the final passages win.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https://www.anthropic.com/engineering/contextual-retrieval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Anthropic reports average failed retrievals at top 20 falling from 5.7% for embeddings alone to 1.9% for reranked contextual embeddings plus contextual BM25. This is evidence for the architecture, not a promise that every corpus will obtain the same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https://www.anthropic.com/engineering/contextual-retrieval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the mental model. Eligibility fixes corpus scope; BM25 fixes literal matching; dense search fixes paraphrase and conceptual recall; RRF fixes incomparable channel scores; reranking fixes the final evidence budget.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https://learn.microsoft.com/en-us/azure/search/hybrid-search-overview</a:t>
            </a:r>
          </a:p>
          <a:p xmlns:a="http://schemas.openxmlformats.org/drawingml/2006/main">
            <a:r>
              <a:t>- https://www.anthropic.com/engineering/contextual-retrieval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lab is intentionally compact. Students run six figures, reproduce the exact-number miss and cross-company leakage, inspect RRF contributions and reranker features, and finish with a four-query rank-1 scorecard.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before revealing the answers. Ask learners to explain the mechanism, not only choose a letter.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restating the retrieval order: define eligibility, retrieve through BM25 and dense channels, fuse ranks, rerank a smaller set, and cite the final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edea31f4a143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766c03debd4835" /><Relationship Type="http://schemas.openxmlformats.org/officeDocument/2006/relationships/slideLayout" Target="/ppt/slideLayouts/slideLayout1.xml" Id="R4521224fbf88401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21224fbf8840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9638175f964ef0" /><Relationship Type="http://schemas.openxmlformats.org/officeDocument/2006/relationships/notesSlide" Target="/ppt/notesSlides/notesSlide1.xml" Id="R36e889597fbe4f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ae5f06cf244a3b" /><Relationship Type="http://schemas.openxmlformats.org/officeDocument/2006/relationships/image" Target="/ppt/media/image.png" Id="R55122afec8354706" /><Relationship Type="http://schemas.openxmlformats.org/officeDocument/2006/relationships/notesSlide" Target="/ppt/notesSlides/notesSlide2.xml" Id="R7086a0c36c8d41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22db9f779e4d9e" /><Relationship Type="http://schemas.openxmlformats.org/officeDocument/2006/relationships/image" Target="/ppt/media/image2.png" Id="R715eb731dbf5407a" /><Relationship Type="http://schemas.openxmlformats.org/officeDocument/2006/relationships/notesSlide" Target="/ppt/notesSlides/notesSlide3.xml" Id="R9766e53125bd4c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9cd7f9fd444ae7" /><Relationship Type="http://schemas.openxmlformats.org/officeDocument/2006/relationships/notesSlide" Target="/ppt/notesSlides/notesSlide4.xml" Id="Re2143720fc774e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528355d83940b2" /><Relationship Type="http://schemas.openxmlformats.org/officeDocument/2006/relationships/notesSlide" Target="/ppt/notesSlides/notesSlide5.xml" Id="Rb4aad192c25a40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1af4efb9744019" /><Relationship Type="http://schemas.openxmlformats.org/officeDocument/2006/relationships/notesSlide" Target="/ppt/notesSlides/notesSlide6.xml" Id="R7d99da10480943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ad4b8709240ff" /><Relationship Type="http://schemas.openxmlformats.org/officeDocument/2006/relationships/image" Target="/ppt/media/image3.png" Id="R7c99ca316cda464e" /><Relationship Type="http://schemas.openxmlformats.org/officeDocument/2006/relationships/notesSlide" Target="/ppt/notesSlides/notesSlide7.xml" Id="Ra68077052c8f47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dcd1f7519645a7" /><Relationship Type="http://schemas.openxmlformats.org/officeDocument/2006/relationships/notesSlide" Target="/ppt/notesSlides/notesSlide8.xml" Id="Rad6669f8513a4c0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27a553841d46ce" /><Relationship Type="http://schemas.openxmlformats.org/officeDocument/2006/relationships/notesSlide" Target="/ppt/notesSlides/notesSlide9.xml" Id="R2c067aa19d244e0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a5c7d535054aff" /><Relationship Type="http://schemas.openxmlformats.org/officeDocument/2006/relationships/notesSlide" Target="/ppt/notesSlides/notesSlide10.xml" Id="R4fc75870610343c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0325ca4164610" /><Relationship Type="http://schemas.openxmlformats.org/officeDocument/2006/relationships/notesSlide" Target="/ppt/notesSlides/notesSlide11.xml" Id="Re6dbeacd387343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Hybrid Retrieval: Exact Terms + Meaning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Filter first, combine BM25 and dense search, then rerank the evidence you cite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06  ·  15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521A64-93BB-447D-87E9-41FC1E8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WHY HYBRID RETRIEVAL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93F9E-8AD7-4755-853A-CFF63AED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Run lexical and semantic search in parallel—then fuse ranks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6780A-5D65-4410-9457-661BBB6C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69519E-645C-4800-9FE8-656AB5D5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032C2C-E113-4AB5-9CC6-D6B41AED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D0EC2-8E86-44C8-B8C1-3DB1E93C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ARCHITECTURE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07089F-BB21-465D-B53D-42746B7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122afec8354706"/>
          <a:stretch xmlns:a="http://schemas.openxmlformats.org/drawingml/2006/main"/>
        </p:blipFill>
        <p:spPr>
          <a:xfrm xmlns:a="http://schemas.openxmlformats.org/drawingml/2006/main">
            <a:off x="1100667" y="2076450"/>
            <a:ext cx="9990667" cy="5619750"/>
          </a:xfrm>
          <a:prstGeom xmlns:a="http://schemas.openxmlformats.org/drawingml/2006/main" prst="rect">
            <a:avLst/>
          </a:prstGeom>
        </p:spPr>
      </p:pic>
      <p:sp>
        <p:nvSpPr>
          <p:cNvPr id="46" name="source-interpretation">
            <a:extLst xmlns:a="http://schemas.openxmlformats.org/drawingml/2006/main">
              <a:ext uri="{FF2B5EF4-FFF2-40B4-BE49-F238E27FC236}">
                <a16:creationId xmlns:a16="http://schemas.microsoft.com/office/drawing/2014/main" id="{87F0D186-B0BB-4204-AE26-E6899FEC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600" y="2838450"/>
            <a:ext cx="2857500" cy="28956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0">
            <a:solidFill>
              <a:srgbClr val="051C2A"/>
            </a:solidFill>
            <a:prstDash val="solid"/>
          </a:ln>
        </p:spPr>
        <p:txBody>
          <a:bodyPr xmlns:a="http://schemas.openxmlformats.org/drawingml/2006/main" lIns="133350" tIns="133350" rIns="133350" bIns="13335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PATTERN</a:t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Lexical + semantic</a:t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Fuse ranks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LAB UPGRADE</a:t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BM25 replaces TF-IDF</a:t>
            </a:r>
          </a:p>
        </p:txBody>
      </p:sp>
    </p:spTree>
    <p:extLst>
      <p:ext uri="{BB962C8B-B14F-4D97-AF65-F5344CB8AC3E}">
        <p14:creationId xmlns:p14="http://schemas.microsoft.com/office/powerpoint/2010/main" val="3494443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521A64-93BB-447D-87E9-41FC1E8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COMPLEMENTARY CHANNELS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93F9E-8AD7-4755-853A-CFF63AED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BM25 finds the figure; dense search finds the meaning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6780A-5D65-4410-9457-661BBB6C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69519E-645C-4800-9FE8-656AB5D5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032C2C-E113-4AB5-9CC6-D6B41AED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D0EC2-8E86-44C8-B8C1-3DB1E93C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CHANNELS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07089F-BB21-465D-B53D-42746B7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5eb731dbf5407a"/>
          <a:stretch xmlns:a="http://schemas.openxmlformats.org/drawingml/2006/main"/>
        </p:blipFill>
        <p:spPr>
          <a:xfrm xmlns:a="http://schemas.openxmlformats.org/drawingml/2006/main">
            <a:off x="990600" y="2291726"/>
            <a:ext cx="13258800" cy="520824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443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3EFE36-F0E5-4A34-9303-2F261E07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SAFETY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2B6B0-9CAB-42A6-9CDA-FDF3A13D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1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Filter first: ineligible passages never enter either candidate list</a:t>
            </a:r>
          </a:p>
        </p:txBody>
      </p:sp>
      <p:sp>
        <p:nvSpPr>
          <p:cNvPr id="3" name="canonical-block">
            <a:extLst xmlns:a="http://schemas.openxmlformats.org/drawingml/2006/main">
              <a:ext uri="{FF2B5EF4-FFF2-40B4-BE49-F238E27FC236}">
                <a16:creationId xmlns:a16="http://schemas.microsoft.com/office/drawing/2014/main" id="{02D02DA8-4C0F-400F-BD3D-E5C1B80C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819400"/>
            <a:ext cx="4610100" cy="3105150"/>
          </a:xfrm>
          <a:prstGeom xmlns:a="http://schemas.openxmlformats.org/drawingml/2006/main" prst="roundRect">
            <a:avLst>
              <a:gd name="adj" fmla="val 3681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94F27-A4E9-43D6-91FC-255B527D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24200"/>
            <a:ext cx="3733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ELIGIBLE PASSAGES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840549-C1BA-4343-8D7C-0F20981F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7909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company AND period AND type AND section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8ED5F6-048D-47C9-84A8-2C0DBB8E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362450"/>
            <a:ext cx="3695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548304-EC73-4226-BDEE-2B1DF0C7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591050"/>
            <a:ext cx="3543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Only eligible passages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may be scored</a:t>
            </a:r>
          </a:p>
        </p:txBody>
      </p:sp>
      <p:sp>
        <p:nvSpPr>
          <p:cNvPr id="8" name="left-field-0">
            <a:extLst xmlns:a="http://schemas.openxmlformats.org/drawingml/2006/main">
              <a:ext uri="{FF2B5EF4-FFF2-40B4-BE49-F238E27FC236}">
                <a16:creationId xmlns:a16="http://schemas.microsoft.com/office/drawing/2014/main" id="{720AE8BF-AA92-49DE-8E2A-99C0FB63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ACEB0-7877-4121-958A-EABE3281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194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COMPANY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77E674-7E6C-4E95-A44F-3D0874CD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NVIDIA</a:t>
            </a:r>
          </a:p>
        </p:txBody>
      </p:sp>
      <p:sp>
        <p:nvSpPr>
          <p:cNvPr id="11" name="left-field-1">
            <a:extLst xmlns:a="http://schemas.openxmlformats.org/drawingml/2006/main">
              <a:ext uri="{FF2B5EF4-FFF2-40B4-BE49-F238E27FC236}">
                <a16:creationId xmlns:a16="http://schemas.microsoft.com/office/drawing/2014/main" id="{EB85D765-CD85-4A47-9B4D-BE4F254E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C1F3D-0AC2-4377-B5F6-24B12E2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195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PERIOD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F3BE42-D27D-4E49-97D3-2DA03AC8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FY2026</a:t>
            </a:r>
          </a:p>
        </p:txBody>
      </p:sp>
      <p:sp>
        <p:nvSpPr>
          <p:cNvPr id="14" name="left-field-2">
            <a:extLst xmlns:a="http://schemas.openxmlformats.org/drawingml/2006/main">
              <a:ext uri="{FF2B5EF4-FFF2-40B4-BE49-F238E27FC236}">
                <a16:creationId xmlns:a16="http://schemas.microsoft.com/office/drawing/2014/main" id="{D38A806E-0157-47C3-A918-4210A4D0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83342E-199A-44AF-A318-336CAE10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197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B5DA57-E61B-4C94-B0C3-378EC5FE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10-K teaching extract</a:t>
            </a:r>
          </a:p>
        </p:txBody>
      </p:sp>
      <p:sp>
        <p:nvSpPr>
          <p:cNvPr id="17" name="right-field-0">
            <a:extLst xmlns:a="http://schemas.openxmlformats.org/drawingml/2006/main">
              <a:ext uri="{FF2B5EF4-FFF2-40B4-BE49-F238E27FC236}">
                <a16:creationId xmlns:a16="http://schemas.microsoft.com/office/drawing/2014/main" id="{ED066AEE-EA4B-4DB1-B7D7-DA862330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072D8D-E329-4E1A-A744-1D6F1EA5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8194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BM25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0576CD-3A76-4FED-92A9-5CC11BA9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exact lexical candidates</a:t>
            </a:r>
          </a:p>
        </p:txBody>
      </p:sp>
      <p:sp>
        <p:nvSpPr>
          <p:cNvPr id="20" name="right-field-1">
            <a:extLst xmlns:a="http://schemas.openxmlformats.org/drawingml/2006/main">
              <a:ext uri="{FF2B5EF4-FFF2-40B4-BE49-F238E27FC236}">
                <a16:creationId xmlns:a16="http://schemas.microsoft.com/office/drawing/2014/main" id="{13EC72A3-15F5-4C75-A76D-0D6BA5AA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9EE2B-9704-4AB7-AB65-DBB12C98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0195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DENSE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B680EC-1257-4D06-9C48-5CABC3AD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semantic candidates</a:t>
            </a:r>
          </a:p>
        </p:txBody>
      </p:sp>
      <p:sp>
        <p:nvSpPr>
          <p:cNvPr id="23" name="right-field-2">
            <a:extLst xmlns:a="http://schemas.openxmlformats.org/drawingml/2006/main">
              <a:ext uri="{FF2B5EF4-FFF2-40B4-BE49-F238E27FC236}">
                <a16:creationId xmlns:a16="http://schemas.microsoft.com/office/drawing/2014/main" id="{A0E0710B-A185-4D6C-B16D-6B16D9A9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678660-B347-4DEE-AD4B-E62AD2E0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2197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ABSTAIN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137DBE-0373-4B7D-89B2-62CEDDD2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 eligible passage</a:t>
            </a:r>
          </a:p>
        </p:txBody>
      </p:sp>
      <p:cxnSp>
        <p:nvCxnSpPr>
          <p:cNvPr id="559" name=""/>
          <p:cNvCxnSpPr>
            <a:stCxn xmlns:a="http://schemas.openxmlformats.org/drawingml/2006/main" id="8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60" name=""/>
          <p:cNvCxnSpPr>
            <a:stCxn xmlns:a="http://schemas.openxmlformats.org/drawingml/2006/main" id="11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61" name=""/>
          <p:cNvCxnSpPr>
            <a:stCxn xmlns:a="http://schemas.openxmlformats.org/drawingml/2006/main" id="14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 flipV="1">
            <a:off x="426720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62" name=""/>
          <p:cNvCxnSpPr>
            <a:stCxn xmlns:a="http://schemas.openxmlformats.org/drawingml/2006/main" id="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992505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563" name=""/>
          <p:cNvCxnSpPr>
            <a:stCxn xmlns:a="http://schemas.openxmlformats.org/drawingml/2006/main" id="3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992505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564" name=""/>
          <p:cNvCxnSpPr>
            <a:stCxn xmlns:a="http://schemas.openxmlformats.org/drawingml/2006/main" id="3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992505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75D1AF-F6AB-4A2D-841A-C9B511F5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6705600"/>
            <a:ext cx="1055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Post-filtering cannot recover eligible evidence omitted from a global top-k.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7CAB67-18B2-45B8-A6D3-DDBE5255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AE100F-4D6F-45A8-A34A-47F11D77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579015-04F7-4D6F-9134-8D10D8D7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9C90B6-36DC-4661-AB68-C1D6A4EE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ELIGIBILITY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479DD1-2C8A-40B6-A3D0-33950CA5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241625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RECIPROCAL-RANK FUSION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 adds rank contributions—not raw channel scores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BM25 RANKS · w=1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rank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rank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 · rank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 · r4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 = .03252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DENSE RANKS · w=1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rank 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 · rank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rank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A = .03227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FUSED · k=60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1/62 + 1/61 = 0.03252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1/61 + 1/63 = 0.03227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B ranks first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RRF(p) = Σ w / (60 + rank); deduplicate by passage ID; keep every contribution visible.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FUSION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RERANKING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Retrieve for recall; rerank for final evidence quality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FUSED SET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3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candidate_k = 4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eligible + deduplicated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TRANSPARENT RERANK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lexical coverage=.25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numeric coverage=.45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section overlap=.10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metadata eligibility=.10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fusion signal=.10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FINAL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final_k = 2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budgeted + cited</a:t>
            </a:r>
          </a:p>
        </p:txBody>
      </p:sp>
      <p:cxnSp>
        <p:nvCxnSpPr>
          <p:cNvPr id="264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265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HARD BOUNDARY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pre-filtered only · no silent broadening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SCORE SEMANTICS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provider-neutral · offline illustrative · not confidence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DECISION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The reranker spends a small evidence budget on visible, finance-aware features.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RERANK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521A64-93BB-447D-87E9-41FC1E8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EVIDENCE FROM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93F9E-8AD7-4755-853A-CFF63AED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Hybrid retrieval + reranking cut failed retrievals by 67%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6780A-5D65-4410-9457-661BBB6C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69519E-645C-4800-9FE8-656AB5D5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032C2C-E113-4AB5-9CC6-D6B41AED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D0EC2-8E86-44C8-B8C1-3DB1E93C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BENCHMARK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07089F-BB21-465D-B53D-42746B7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99ca316cda464e"/>
          <a:stretch xmlns:a="http://schemas.openxmlformats.org/drawingml/2006/main"/>
        </p:blipFill>
        <p:spPr>
          <a:xfrm xmlns:a="http://schemas.openxmlformats.org/drawingml/2006/main">
            <a:off x="972608" y="2038350"/>
            <a:ext cx="10227733" cy="5753100"/>
          </a:xfrm>
          <a:prstGeom xmlns:a="http://schemas.openxmlformats.org/drawingml/2006/main" prst="rect">
            <a:avLst/>
          </a:prstGeom>
        </p:spPr>
      </p:pic>
      <p:sp>
        <p:nvSpPr>
          <p:cNvPr id="46" name="source-interpretation">
            <a:extLst xmlns:a="http://schemas.openxmlformats.org/drawingml/2006/main">
              <a:ext uri="{FF2B5EF4-FFF2-40B4-BE49-F238E27FC236}">
                <a16:creationId xmlns:a16="http://schemas.microsoft.com/office/drawing/2014/main" id="{CFC781F6-587C-447E-9E75-9BA54DF6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3028950"/>
            <a:ext cx="291465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  <p:txBody>
          <a:bodyPr xmlns:a="http://schemas.openxmlformats.org/drawingml/2006/main" lIns="133350" tIns="133350" rIns="133350" bIns="13335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67% FEWER</a:t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FAILED RETRIEVALS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5.7% → 1.9%</a:t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Top-20 benchmark</a:t>
            </a:r>
          </a:p>
        </p:txBody>
      </p:sp>
    </p:spTree>
    <p:extLst>
      <p:ext uri="{BB962C8B-B14F-4D97-AF65-F5344CB8AC3E}">
        <p14:creationId xmlns:p14="http://schemas.microsoft.com/office/powerpoint/2010/main" val="3494443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DESIGN BACKBONE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Each stage repairs a different retrieval failure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Eligibility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wrong company · period · type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BM25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exact figures · names · identifiers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Dense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concepts · paraphrases · related meaning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rank fusion · no score calibration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Rerank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final evidence budget · cited passages</a:t>
            </a:r>
          </a:p>
        </p:txBody>
      </p:sp>
      <p:cxnSp>
        <p:nvCxnSpPr>
          <p:cNvPr id="473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4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5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6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Hybrid works because the stages are complementary—not interchangeable.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protect corpus precision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protect answer 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BACKBONE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30-MINUTE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8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notebook proves each design choice—without busywork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Load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7 manifest-derived passages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BM25 versus dense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Filter first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block cross-company leakage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Fuse + rerank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RRF contributions stay visible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Score 4 queries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rank-1 evidence recovery</a:t>
            </a:r>
          </a:p>
        </p:txBody>
      </p:sp>
      <p:cxnSp>
        <p:nvCxnSpPr>
          <p:cNvPr id="473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4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5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6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Six figures explain the complete retrieval argument.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 cells · 8 code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offline deterministic · live embeddings optional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LAB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Can you defend the retrieval order?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Choose the answer that preserves retrieval correctness.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06  ·  3 QUESTIONS  ·  3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question-1">
            <a:extLst xmlns:a="http://schemas.openxmlformats.org/drawingml/2006/main">
              <a:ext uri="{FF2B5EF4-FFF2-40B4-BE49-F238E27FC236}">
                <a16:creationId xmlns:a16="http://schemas.microsoft.com/office/drawing/2014/main" id="{D47DE6EE-65D5-448B-956A-74C2A033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1. Which channel best protects exact figures?</a:t>
            </a:r>
          </a:p>
        </p:txBody>
      </p:sp>
      <p:sp>
        <p:nvSpPr>
          <p:cNvPr id="9" name="quiz-options-1">
            <a:extLst xmlns:a="http://schemas.openxmlformats.org/drawingml/2006/main">
              <a:ext uri="{FF2B5EF4-FFF2-40B4-BE49-F238E27FC236}">
                <a16:creationId xmlns:a16="http://schemas.microsoft.com/office/drawing/2014/main" id="{CE8F4525-9216-4D17-8F89-0D8835DA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BM25     |     B  Dense     |     C  Reranker</a:t>
            </a:r>
          </a:p>
        </p:txBody>
      </p:sp>
      <p:sp>
        <p:nvSpPr>
          <p:cNvPr id="10" name="quiz-question-2">
            <a:extLst xmlns:a="http://schemas.openxmlformats.org/drawingml/2006/main">
              <a:ext uri="{FF2B5EF4-FFF2-40B4-BE49-F238E27FC236}">
                <a16:creationId xmlns:a16="http://schemas.microsoft.com/office/drawing/2014/main" id="{E657C5AE-B0C8-4BC7-BD56-671F924C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2. When should eligibility filters run?</a:t>
            </a:r>
          </a:p>
        </p:txBody>
      </p:sp>
      <p:sp>
        <p:nvSpPr>
          <p:cNvPr id="11" name="quiz-options-2">
            <a:extLst xmlns:a="http://schemas.openxmlformats.org/drawingml/2006/main">
              <a:ext uri="{FF2B5EF4-FFF2-40B4-BE49-F238E27FC236}">
                <a16:creationId xmlns:a16="http://schemas.microsoft.com/office/drawing/2014/main" id="{2616C7EE-7B5D-4E11-AC93-A5B7DE25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Before ranking     |     B  After fusion     |     C  After the answer</a:t>
            </a:r>
          </a:p>
        </p:txBody>
      </p:sp>
      <p:sp>
        <p:nvSpPr>
          <p:cNvPr id="12" name="quiz-question-3">
            <a:extLst xmlns:a="http://schemas.openxmlformats.org/drawingml/2006/main">
              <a:ext uri="{FF2B5EF4-FFF2-40B4-BE49-F238E27FC236}">
                <a16:creationId xmlns:a16="http://schemas.microsoft.com/office/drawing/2014/main" id="{0617C18F-4AC6-40F1-B874-5E7E07D2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3. What does reciprocal-rank fusion combine?</a:t>
            </a:r>
          </a:p>
        </p:txBody>
      </p:sp>
      <p:sp>
        <p:nvSpPr>
          <p:cNvPr id="13" name="quiz-options-3">
            <a:extLst xmlns:a="http://schemas.openxmlformats.org/drawingml/2006/main">
              <a:ext uri="{FF2B5EF4-FFF2-40B4-BE49-F238E27FC236}">
                <a16:creationId xmlns:a16="http://schemas.microsoft.com/office/drawing/2014/main" id="{0A358EB0-776D-4242-B0D5-52BCB40A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Rank positions     |     B  Raw score scales     |     C  Token counts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Answers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The mechanism matters more than the letter.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06  ·  CORRECTION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answer-1">
            <a:extLst xmlns:a="http://schemas.openxmlformats.org/drawingml/2006/main">
              <a:ext uri="{FF2B5EF4-FFF2-40B4-BE49-F238E27FC236}">
                <a16:creationId xmlns:a16="http://schemas.microsoft.com/office/drawing/2014/main" id="{4E744DFB-D16B-4698-8482-269DEBBB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1. A. BM25</a:t>
            </a:r>
          </a:p>
        </p:txBody>
      </p:sp>
      <p:sp>
        <p:nvSpPr>
          <p:cNvPr id="9" name="quiz-explanation-1">
            <a:extLst xmlns:a="http://schemas.openxmlformats.org/drawingml/2006/main">
              <a:ext uri="{FF2B5EF4-FFF2-40B4-BE49-F238E27FC236}">
                <a16:creationId xmlns:a16="http://schemas.microsoft.com/office/drawing/2014/main" id="{4C627505-0DE7-4285-A451-136E18BF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Lexical scoring protects exact figures, names and identifiers.</a:t>
            </a:r>
          </a:p>
        </p:txBody>
      </p:sp>
      <p:sp>
        <p:nvSpPr>
          <p:cNvPr id="10" name="quiz-answer-2">
            <a:extLst xmlns:a="http://schemas.openxmlformats.org/drawingml/2006/main">
              <a:ext uri="{FF2B5EF4-FFF2-40B4-BE49-F238E27FC236}">
                <a16:creationId xmlns:a16="http://schemas.microsoft.com/office/drawing/2014/main" id="{C1127E6C-29CD-48D8-A463-E0780314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2. A. Before ranking</a:t>
            </a:r>
          </a:p>
        </p:txBody>
      </p:sp>
      <p:sp>
        <p:nvSpPr>
          <p:cNvPr id="11" name="quiz-explanation-2">
            <a:extLst xmlns:a="http://schemas.openxmlformats.org/drawingml/2006/main">
              <a:ext uri="{FF2B5EF4-FFF2-40B4-BE49-F238E27FC236}">
                <a16:creationId xmlns:a16="http://schemas.microsoft.com/office/drawing/2014/main" id="{C23AAFEF-CF39-445A-8601-0E3B6B6D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Ineligible evidence must never enter either candidate list.</a:t>
            </a:r>
          </a:p>
        </p:txBody>
      </p:sp>
      <p:sp>
        <p:nvSpPr>
          <p:cNvPr id="12" name="quiz-answer-3">
            <a:extLst xmlns:a="http://schemas.openxmlformats.org/drawingml/2006/main">
              <a:ext uri="{FF2B5EF4-FFF2-40B4-BE49-F238E27FC236}">
                <a16:creationId xmlns:a16="http://schemas.microsoft.com/office/drawing/2014/main" id="{FAB43B1E-5538-4DCC-B7C1-BD0CE331A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3. A. Rank positions</a:t>
            </a:r>
          </a:p>
        </p:txBody>
      </p:sp>
      <p:sp>
        <p:nvSpPr>
          <p:cNvPr id="13" name="quiz-explanation-3">
            <a:extLst xmlns:a="http://schemas.openxmlformats.org/drawingml/2006/main">
              <a:ext uri="{FF2B5EF4-FFF2-40B4-BE49-F238E27FC236}">
                <a16:creationId xmlns:a16="http://schemas.microsoft.com/office/drawing/2014/main" id="{7F729BBD-8D18-4DDB-B872-A273B3693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RRF fuses rank positions without pretending channel scores share one scale.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2026-08-26T07:56:48.8570000Z</dcterms:created>
  <dcterms:modified xsi:type="dcterms:W3CDTF">2026-08-26T07:56:48.8570000Z</dcterms:modified>
</coreProperties>
</file>