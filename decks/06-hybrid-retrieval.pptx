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3ea63df1104e0d" /><Relationship Type="http://schemas.openxmlformats.org/officeDocument/2006/relationships/extended-properties" Target="/docProps/app.xml" Id="R208f83745e744457" /><Relationship Type="http://schemas.openxmlformats.org/officeDocument/2006/relationships/officeDocument" Target="/ppt/presentation.xml" Id="Rcdcc052566204c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c001c6bc764840"/>
  </p:sldMasterIdLst>
  <p:notesMasterIdLst>
    <p:notesMasterId xmlns:r="http://schemas.openxmlformats.org/officeDocument/2006/relationships" r:id="R611db923d0ca494b"/>
  </p:notesMasterIdLst>
  <p:sldIdLst>
    <p:sldId xmlns:r="http://schemas.openxmlformats.org/officeDocument/2006/relationships" id="256" r:id="Re02784333e1a45c4"/>
    <p:sldId xmlns:r="http://schemas.openxmlformats.org/officeDocument/2006/relationships" id="257" r:id="R45a7e35061f344d0"/>
    <p:sldId xmlns:r="http://schemas.openxmlformats.org/officeDocument/2006/relationships" id="258" r:id="R034a5c3b51984490"/>
    <p:sldId xmlns:r="http://schemas.openxmlformats.org/officeDocument/2006/relationships" id="259" r:id="R9ac5243ff477445f"/>
    <p:sldId xmlns:r="http://schemas.openxmlformats.org/officeDocument/2006/relationships" id="260" r:id="R89496fc8947e490c"/>
    <p:sldId xmlns:r="http://schemas.openxmlformats.org/officeDocument/2006/relationships" id="261" r:id="R9500404f78d6424b"/>
    <p:sldId xmlns:r="http://schemas.openxmlformats.org/officeDocument/2006/relationships" id="262" r:id="R62105b01bf314d3d"/>
    <p:sldId xmlns:r="http://schemas.openxmlformats.org/officeDocument/2006/relationships" id="263" r:id="R0dad05f4a30f47e8"/>
    <p:sldId xmlns:r="http://schemas.openxmlformats.org/officeDocument/2006/relationships" id="264" r:id="R04fbcb9e281e450c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33ed0a2d0d432d" /><Relationship Type="http://schemas.openxmlformats.org/officeDocument/2006/relationships/slideMaster" Target="/ppt/slideMasters/slideMaster1.xml" Id="Rd1c001c6bc764840" /><Relationship Type="http://schemas.openxmlformats.org/officeDocument/2006/relationships/notesMaster" Target="/ppt/notesMasters/notesMaster1.xml" Id="R611db923d0ca494b" /><Relationship Type="http://schemas.openxmlformats.org/officeDocument/2006/relationships/presProps" Target="/ppt/presProps.xml" Id="R9b06dfe10fbc487d" /><Relationship Type="http://schemas.openxmlformats.org/officeDocument/2006/relationships/tableStyles" Target="/ppt/tableStyles.xml" Id="R66298d7396204831" /><Relationship Type="http://schemas.openxmlformats.org/officeDocument/2006/relationships/slide" Target="/ppt/slides/slide1.xml" Id="Re02784333e1a45c4" /><Relationship Type="http://schemas.openxmlformats.org/officeDocument/2006/relationships/slide" Target="/ppt/slides/slide2.xml" Id="R45a7e35061f344d0" /><Relationship Type="http://schemas.openxmlformats.org/officeDocument/2006/relationships/slide" Target="/ppt/slides/slide3.xml" Id="R034a5c3b51984490" /><Relationship Type="http://schemas.openxmlformats.org/officeDocument/2006/relationships/slide" Target="/ppt/slides/slide4.xml" Id="R9ac5243ff477445f" /><Relationship Type="http://schemas.openxmlformats.org/officeDocument/2006/relationships/slide" Target="/ppt/slides/slide5.xml" Id="R89496fc8947e490c" /><Relationship Type="http://schemas.openxmlformats.org/officeDocument/2006/relationships/slide" Target="/ppt/slides/slide6.xml" Id="R9500404f78d6424b" /><Relationship Type="http://schemas.openxmlformats.org/officeDocument/2006/relationships/slide" Target="/ppt/slides/slide7.xml" Id="R62105b01bf314d3d" /><Relationship Type="http://schemas.openxmlformats.org/officeDocument/2006/relationships/slide" Target="/ppt/slides/slide8.xml" Id="R0dad05f4a30f47e8" /><Relationship Type="http://schemas.openxmlformats.org/officeDocument/2006/relationships/slide" Target="/ppt/slides/slide9.xml" Id="R04fbcb9e281e45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d9b17a551d4c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33024c14eaf43c7" /><Relationship Type="http://schemas.openxmlformats.org/officeDocument/2006/relationships/notesMaster" Target="/ppt/notesMasters/notesMaster1.xml" Id="R2d93f8a33cd24bb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fee5d9af8b489c" /><Relationship Type="http://schemas.openxmlformats.org/officeDocument/2006/relationships/notesMaster" Target="/ppt/notesMasters/notesMaster1.xml" Id="R7aa4335907424a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5d233839ca94f00" /><Relationship Type="http://schemas.openxmlformats.org/officeDocument/2006/relationships/notesMaster" Target="/ppt/notesMasters/notesMaster1.xml" Id="R591e76b3c42949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a190a16cd54cec" /><Relationship Type="http://schemas.openxmlformats.org/officeDocument/2006/relationships/notesMaster" Target="/ppt/notesMasters/notesMaster1.xml" Id="Ra23457d7196f4c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7a86c652abe40e0" /><Relationship Type="http://schemas.openxmlformats.org/officeDocument/2006/relationships/notesMaster" Target="/ppt/notesMasters/notesMaster1.xml" Id="R7c06044d9e9c41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c8093b763f4419" /><Relationship Type="http://schemas.openxmlformats.org/officeDocument/2006/relationships/notesMaster" Target="/ppt/notesMasters/notesMaster1.xml" Id="Rc585753c13404e6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f82f25237f4757" /><Relationship Type="http://schemas.openxmlformats.org/officeDocument/2006/relationships/notesMaster" Target="/ppt/notesMasters/notesMaster1.xml" Id="Rd8e672cee9244b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8e3ac0aee74aff" /><Relationship Type="http://schemas.openxmlformats.org/officeDocument/2006/relationships/notesMaster" Target="/ppt/notesMasters/notesMaster1.xml" Id="R9d0b849d7ad24a6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0bcb98a0cd4409b" /><Relationship Type="http://schemas.openxmlformats.org/officeDocument/2006/relationships/notesMaster" Target="/ppt/notesMasters/notesMaster1.xml" Id="R83550806f58244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06 builds the provider-neutral hybrid retriever used by Lesson 07.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chapters/06-hybrid-retrieval.md</a:t>
            </a:r>
          </a:p>
          <a:p xmlns:a="http://schemas.openxmlformats.org/drawingml/2006/main">
            <a:r>
              <a:t>- notebooks/06_hybrid_retrieval.ipynb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Cosine similarity is treated as relative vector alignment, not confidence or truth.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notebooks/06_hybrid_retrieval.ipynb, embedding geometry section</a:t>
            </a:r>
          </a:p>
          <a:p xmlns:a="http://schemas.openxmlformats.org/drawingml/2006/main">
            <a:r>
              <a:t>- src/finai_academy/hybrid_retrieval.py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Maintained query: Which NVIDIA business generated $193.7 billion? Filter: company=NVIDIA and period=FY2026. Values below are from the deterministic offline execution of notebooks/06_hybrid_retrieval.ipynb. Keyword rank 1: NVDA-2026-10K-EXCERPT-CONTEXTUAL-003 (TF-IDF cosine 0.591); rank 2: NVDA-2026-10K-EXCERPT-CONTEXTUAL-001 (0.357); rank 3: NVDA-2026-10K-EXCERPT-CONTEXTUAL-002 (0.209); rank 4: NVDA-2026-10K-EXCERPT-CONTEXTUAL-004 (0.118). Dense rank 1: NVDA-2026-10K-EXCERPT-CONTEXTUAL-001 (raw cosine 0.577); rank 2: NVDA-2026-10K-EXCERPT-CONTEXTUAL-002 (0.577); rank 3: NVDA-2026-10K-EXCERPT-CONTEXTUAL-004 (0.447); dense rank 4: NVDA-2026-10K-EXCERPT-CONTEXTUAL-003 (0.408). Visible IDs use the collision-safe NVDA…NNN abbreviation; the full stable manifest IDs appear above. Raw embedding cosine is a ranking signal, not confidence.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Executable maintained run: notebooks/06_hybrid_retrieval.ipynb</a:t>
            </a:r>
          </a:p>
          <a:p xmlns:a="http://schemas.openxmlformats.org/drawingml/2006/main">
            <a:r>
              <a:t>- Course explanation and score contracts: chapters/06-hybrid-retrieval.md</a:t>
            </a:r>
          </a:p>
          <a:p xmlns:a="http://schemas.openxmlformats.org/drawingml/2006/main">
            <a:r>
              <a:t>- NVIDIA fiscal 2026 Form 10-K: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Eligibility filters are applied before either ranking channel scores candidates.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src/finai_academy/retrieval_pipeline.py</a:t>
            </a:r>
          </a:p>
          <a:p xmlns:a="http://schemas.openxmlformats.org/drawingml/2006/main">
            <a:r>
              <a:t>- notebooks/06_hybrid_retrieval.ipynb, eligibility gate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Reciprocal-rank fusion combines rank contributions while preserving per-channel provenance.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src/finai_academy/hybrid_retrieval.py</a:t>
            </a:r>
          </a:p>
          <a:p xmlns:a="http://schemas.openxmlformats.org/drawingml/2006/main">
            <a:r>
              <a:t>- notebooks/06_hybrid_retrieval.ipynb, RRF section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Reranking spends a smaller evidence budget after broad eligible candidate retrieval.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src/finai_academy/retrieval_pipeline.py</a:t>
            </a:r>
          </a:p>
          <a:p xmlns:a="http://schemas.openxmlformats.org/drawingml/2006/main">
            <a:r>
              <a:t>- notebooks/06_hybrid_retrieval.ipynb, reranking section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capstone exposes stable index, eligibility, ranking, fusion, reranking and evidence stages.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chapters/06-hybrid-retrieval.md</a:t>
            </a:r>
          </a:p>
          <a:p xmlns:a="http://schemas.openxmlformats.org/drawingml/2006/main">
            <a:r>
              <a:t>- notebooks/06_hybrid_retrieval.ipynb, capstone integration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documents, chunks and embeddings as explicit logical records. The teaching index uses exact local search so students can inspect every row. Production may replace only the storage/query engine with pgvector and an HNSW index while preserving stable IDs, metadata filters and evaluation contracts.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Course Notebook 06 architecture bridge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values are one deterministic offline execution on the instructor machine: eligibility 0.00 ms, keyword 1.04 ms, dense 0.03 ms, fusion 0.01 ms and rerank 0.06 ms. Hardware-dependent timings are observations, not correctness thresholds. Lesson 07 wraps the same stage boundaries as MLflow spans.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Notebook 06 offline execution, Figure 5</a:t>
            </a:r>
          </a:p>
          <a:p xmlns:a="http://schemas.openxmlformats.org/drawingml/2006/main">
            <a:r>
              <a:t>- https://mlflow.org/docs/latest/genai/tracing/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f6bb3147104c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d297e131fa4667" /><Relationship Type="http://schemas.openxmlformats.org/officeDocument/2006/relationships/slideLayout" Target="/ppt/slideLayouts/slideLayout1.xml" Id="R6b32388c3e1442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32388c3e1442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a9bfab529471b" /><Relationship Type="http://schemas.openxmlformats.org/officeDocument/2006/relationships/notesSlide" Target="/ppt/notesSlides/notesSlide1.xml" Id="R21cb522b54044d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0eee7c9cbf4233" /><Relationship Type="http://schemas.openxmlformats.org/officeDocument/2006/relationships/notesSlide" Target="/ppt/notesSlides/notesSlide2.xml" Id="Rd2cfa2e0a3a848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f96f3a6aa442de" /><Relationship Type="http://schemas.openxmlformats.org/officeDocument/2006/relationships/notesSlide" Target="/ppt/notesSlides/notesSlide3.xml" Id="R1bc3238cf05741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0f9525fe84743" /><Relationship Type="http://schemas.openxmlformats.org/officeDocument/2006/relationships/notesSlide" Target="/ppt/notesSlides/notesSlide4.xml" Id="R659fe75cee6844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a681792944c5f" /><Relationship Type="http://schemas.openxmlformats.org/officeDocument/2006/relationships/notesSlide" Target="/ppt/notesSlides/notesSlide5.xml" Id="Rf3bdb48cdf724f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db60b5b1a407d" /><Relationship Type="http://schemas.openxmlformats.org/officeDocument/2006/relationships/notesSlide" Target="/ppt/notesSlides/notesSlide6.xml" Id="Rcbdf74ed572f4d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d1cadb207f46b9" /><Relationship Type="http://schemas.openxmlformats.org/officeDocument/2006/relationships/notesSlide" Target="/ppt/notesSlides/notesSlide7.xml" Id="R3ac747586f8146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c5dd91b27a49a7" /><Relationship Type="http://schemas.openxmlformats.org/officeDocument/2006/relationships/notesSlide" Target="/ppt/notesSlides/notesSlide8.xml" Id="R5dea62e1a8c447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2b68ef3bdf43bd" /><Relationship Type="http://schemas.openxmlformats.org/officeDocument/2006/relationships/notesSlide" Target="/ppt/notesSlides/notesSlide9.xml" Id="Rdc4e24b56cf0444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Hybrid Retrieval and Reranking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Make eligible evidence compete across complementary ranking channels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06  ·  15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B9499D-57E3-4A1D-8EC6-611BB041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EMBEDDING GEOMETRY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5CF57-625B-488E-BEB2-B69B4A40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Cosine measures alignment—not confidence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47AA7-B631-41FD-ABBE-E3FFFB37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384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VECTOR INTUITION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257D7-8A5E-4ED5-99FB-9BEA2CD5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1028700" cy="41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8125A-6117-4802-BDED-1521C83E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05150"/>
            <a:ext cx="1028700" cy="59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50A16-6CE2-41AD-9C68-31BCF4A3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105150"/>
            <a:ext cx="10287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9E3D30-9339-457F-B7CD-A0EA27BB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A8E3BE-28EF-40CE-8891-51278C59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76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01DE89-BF1D-4E47-A0E5-E2BD6B90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E587B-C753-4E2B-8104-881E1547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52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69151E-D420-4D59-85E7-111FD86A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81450"/>
            <a:ext cx="3562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E1099-8F96-4D4A-A076-9A2E9069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386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angle grows → cosine falls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98DFA-9E2C-4070-94C7-94B63062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38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COSINE SIMILARITY</a:t>
            </a:r>
          </a:p>
        </p:txBody>
      </p:sp>
      <p:sp>
        <p:nvSpPr>
          <p:cNvPr id="14" name="parent-section">
            <a:extLst xmlns:a="http://schemas.openxmlformats.org/drawingml/2006/main">
              <a:ext uri="{FF2B5EF4-FFF2-40B4-BE49-F238E27FC236}">
                <a16:creationId xmlns:a16="http://schemas.microsoft.com/office/drawing/2014/main" id="{7E782CAC-BF7C-46FC-866C-E3E89506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09900"/>
            <a:ext cx="27241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A1344-7C73-4F1F-9D24-59FEB65C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4325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 · d / (‖q‖ · ‖d‖)</a:t>
            </a:r>
          </a:p>
        </p:txBody>
      </p:sp>
      <p:sp>
        <p:nvSpPr>
          <p:cNvPr id="16" name="child-0">
            <a:extLst xmlns:a="http://schemas.openxmlformats.org/drawingml/2006/main">
              <a:ext uri="{FF2B5EF4-FFF2-40B4-BE49-F238E27FC236}">
                <a16:creationId xmlns:a16="http://schemas.microsoft.com/office/drawing/2014/main" id="{49FF913A-8883-45CD-B244-354955AC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3589B9-91C1-4446-A372-5FFFE4BD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−1</a:t>
            </a:r>
          </a:p>
        </p:txBody>
      </p:sp>
      <p:sp>
        <p:nvSpPr>
          <p:cNvPr id="18" name="child-1">
            <a:extLst xmlns:a="http://schemas.openxmlformats.org/drawingml/2006/main">
              <a:ext uri="{FF2B5EF4-FFF2-40B4-BE49-F238E27FC236}">
                <a16:creationId xmlns:a16="http://schemas.microsoft.com/office/drawing/2014/main" id="{7ADCF829-81FB-4C43-A5F1-10A73F9F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4D7249-C284-46C6-A639-E3A0E60C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0" name="child-2">
            <a:extLst xmlns:a="http://schemas.openxmlformats.org/drawingml/2006/main">
              <a:ext uri="{FF2B5EF4-FFF2-40B4-BE49-F238E27FC236}">
                <a16:creationId xmlns:a16="http://schemas.microsoft.com/office/drawing/2014/main" id="{D221F047-9582-4D03-9D8B-65910E5A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71631-E8CD-4C8E-83BE-21A31097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+1</a:t>
            </a:r>
          </a:p>
        </p:txBody>
      </p:sp>
      <p:cxnSp>
        <p:nvCxnSpPr>
          <p:cNvPr id="350" name=""/>
          <p:cNvCxnSpPr>
            <a:stCxn xmlns:a="http://schemas.openxmlformats.org/drawingml/2006/main" id="14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 flipH="1">
            <a:off x="6400800" y="3714750"/>
            <a:ext cx="12287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351" name=""/>
          <p:cNvCxnSpPr>
            <a:stCxn xmlns:a="http://schemas.openxmlformats.org/drawingml/2006/main" id="14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7629525" y="3714750"/>
            <a:ext cx="2381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352" name=""/>
          <p:cNvCxnSpPr>
            <a:stCxn xmlns:a="http://schemas.openxmlformats.org/drawingml/2006/main" id="14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7629525" y="3714750"/>
            <a:ext cx="170497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59A2EB-91A2-485C-8769-4414CA08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524500"/>
            <a:ext cx="403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opposed · orthogonal · aligned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1A9A77-C203-4FF0-B40D-A9FCCEC0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4384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INTERPRETATION</a:t>
            </a:r>
          </a:p>
        </p:txBody>
      </p:sp>
      <p:sp>
        <p:nvSpPr>
          <p:cNvPr id="27" name="context-prefix">
            <a:extLst xmlns:a="http://schemas.openxmlformats.org/drawingml/2006/main">
              <a:ext uri="{FF2B5EF4-FFF2-40B4-BE49-F238E27FC236}">
                <a16:creationId xmlns:a16="http://schemas.microsoft.com/office/drawing/2014/main" id="{394DF3A4-55D3-49A5-B189-7898A8E7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009900"/>
            <a:ext cx="34099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481E31-07AB-413F-A9BC-2CCE1BE4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162300"/>
            <a:ext cx="299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Relative alignment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40ED50-2261-4CBA-A9F0-AC58EB91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4861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embedding space</a:t>
            </a:r>
          </a:p>
        </p:txBody>
      </p:sp>
      <p:sp>
        <p:nvSpPr>
          <p:cNvPr id="30" name="proposition">
            <a:extLst xmlns:a="http://schemas.openxmlformats.org/drawingml/2006/main">
              <a:ext uri="{FF2B5EF4-FFF2-40B4-BE49-F238E27FC236}">
                <a16:creationId xmlns:a16="http://schemas.microsoft.com/office/drawing/2014/main" id="{72273FB0-E051-4A9D-ACF9-E2567C1D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343400"/>
            <a:ext cx="34099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B58602-B779-49B2-B2C2-E7F6692D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4577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NOT CONFIDENCE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15A273-EB10-4B84-9D74-5A6A52A5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00600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not probability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not truth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41F16E-B897-4CFF-BC22-D4ACA3F5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7721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2D projection is explanatory; retrieval uses the full vector dimensions.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BEFBEB-C8FB-4ACA-94DB-124FCEC5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705600"/>
            <a:ext cx="107061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F55544-8A98-45CD-8540-D0A1E30F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8199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 passages only within one versioned embedding space.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F8A41E-A99D-409D-84BE-F33131D1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956031-4C7C-48C0-AB87-5A7D7BA6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3A278E-A894-4D27-A6F3-22DC6B6D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8798E0-FBD0-46BF-A594-53A0061D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GEOMETRY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1CC3F1-A84C-4B1D-A2E0-A25EF0E9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570352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MAINTAINED QUERY · OFFLINE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Which NVIDIA business generated $193.7 billion?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302C1-E6C0-49C0-9FA8-BA7896D6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KEYWORD · TF-IDF</a:t>
            </a:r>
          </a:p>
        </p:txBody>
      </p:sp>
      <p:sp>
        <p:nvSpPr>
          <p:cNvPr id="4" name="fixed-one">
            <a:extLst xmlns:a="http://schemas.openxmlformats.org/drawingml/2006/main">
              <a:ext uri="{FF2B5EF4-FFF2-40B4-BE49-F238E27FC236}">
                <a16:creationId xmlns:a16="http://schemas.microsoft.com/office/drawing/2014/main" id="{40C15356-6CC0-4340-AD48-214BA676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2FFA5-77A1-442E-984F-08CF9D90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4838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R1  NVDA…003  .591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$193.7bn exact match</a:t>
            </a:r>
          </a:p>
        </p:txBody>
      </p:sp>
      <p:sp>
        <p:nvSpPr>
          <p:cNvPr id="6" name="fixed-two">
            <a:extLst xmlns:a="http://schemas.openxmlformats.org/drawingml/2006/main">
              <a:ext uri="{FF2B5EF4-FFF2-40B4-BE49-F238E27FC236}">
                <a16:creationId xmlns:a16="http://schemas.microsoft.com/office/drawing/2014/main" id="{AD30FCD2-C657-4E45-B1A1-6793E46E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24350"/>
            <a:ext cx="285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EC4B2-CAE9-400F-B11D-2D4F3052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577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R2  NVDA…001  .357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46D44-14BC-44D4-9667-69FFDFBE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76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Filter · NVIDIA · FY2026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6CDE7-35E6-4C8C-A738-6BACCF9A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DENSE · OFFLINE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A6E03-2E74-4AA0-BC40-D36976B5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00350"/>
            <a:ext cx="21526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18B6A-26EA-404D-8004-B4AEFB1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051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Rank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E5910-AC18-40D2-B2F3-6FC1F08D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800350"/>
            <a:ext cx="19621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DBD99-75A2-4F76-80D2-886026B3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051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Candidate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61F5A-F082-42F4-BA7B-33237B01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2800350"/>
            <a:ext cx="25717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70624-C8CA-468D-98D9-37807488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9051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Why it ranks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3A85A-2DFF-4A0D-A0C0-99283CEF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84354-1A30-417B-8AE7-ECA5F6B0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B55295-3DA8-457F-83F0-53BB6A03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480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96DF8-2386-42C4-91BD-18AC99A2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NVDA…001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39A1A9-4564-4056-8CDC-CEDB497A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4480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725B4-5DC5-4222-B581-EB84BE90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35623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raw cosine .577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160DDC-C4FB-4932-B81B-09341596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C8390-620E-4337-B177-E20E1666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862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123193-7BA4-459F-B618-D3AB37E4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1719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A33689-B136-4C82-B577-8954D205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2862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NVDA…002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9AE3A-93EC-4D6A-8CF3-2D01BDBD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1719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772D1E-8248-480D-BA11-3458C9BA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42862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raw cosine .577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F86CEA-598B-4254-9CEF-1D77B357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24450"/>
            <a:ext cx="680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Evidence at dense R4 · NVDA…003 · raw cosine .408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5E3BAB-E11C-4A7E-89F3-AB1868F4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62200"/>
            <a:ext cx="2857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233CBA-8C3B-4B18-A5D5-D4F7061F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531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SCORE TYPES STAY DISTINCT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EA1FB2-5ABC-4E19-B39E-FBEB026E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Keyword scale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E73CC-AED7-4593-A08D-4913CB1D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TF-IDF cosine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3BC68A-D5B2-4F89-AC7A-F4A6B122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Dense scale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38EEE4-AA29-40C4-BA3C-01E40A9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raw cosine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5D4A6D-C246-49F7-9388-C795B5E0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Fusion input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066664-5058-4CD5-A636-49C7B36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rank positions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483989-A3BC-4F4A-A656-ACD3BAC9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Join key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B3CFBA-FD87-4351-8C2A-CF0B6F60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manifest 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CHANNELS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3EFE36-F0E5-4A34-9303-2F261E07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ELIGIBILITY BARRIER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2B6B0-9CAB-42A6-9CDA-FDF3A13D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Filter first: ineligible passages never enter either top-k</a:t>
            </a:r>
          </a:p>
        </p:txBody>
      </p:sp>
      <p:sp>
        <p:nvSpPr>
          <p:cNvPr id="3" name="canonical-block">
            <a:extLst xmlns:a="http://schemas.openxmlformats.org/drawingml/2006/main">
              <a:ext uri="{FF2B5EF4-FFF2-40B4-BE49-F238E27FC236}">
                <a16:creationId xmlns:a16="http://schemas.microsoft.com/office/drawing/2014/main" id="{02D02DA8-4C0F-400F-BD3D-E5C1B80C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19400"/>
            <a:ext cx="4610100" cy="3105150"/>
          </a:xfrm>
          <a:prstGeom xmlns:a="http://schemas.openxmlformats.org/drawingml/2006/main" prst="roundRect">
            <a:avLst>
              <a:gd name="adj" fmla="val 3681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94F27-A4E9-43D6-91FC-255B527D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24200"/>
            <a:ext cx="3733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ELIGIBLE PASSAGES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40549-C1BA-4343-8D7C-0F20981F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90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company AND period AND type AND section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ED5F6-048D-47C9-84A8-2C0DBB8E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362450"/>
            <a:ext cx="3695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548304-EC73-4226-BDEE-2B1DF0C7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591050"/>
            <a:ext cx="3543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Only eligible passages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may be scored</a:t>
            </a:r>
          </a:p>
        </p:txBody>
      </p:sp>
      <p:sp>
        <p:nvSpPr>
          <p:cNvPr id="8" name="left-field-0">
            <a:extLst xmlns:a="http://schemas.openxmlformats.org/drawingml/2006/main">
              <a:ext uri="{FF2B5EF4-FFF2-40B4-BE49-F238E27FC236}">
                <a16:creationId xmlns:a16="http://schemas.microsoft.com/office/drawing/2014/main" id="{720AE8BF-AA92-49DE-8E2A-99C0FB63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ACEB0-7877-4121-958A-EABE3281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194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COMPANY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77E674-7E6C-4E95-A44F-3D0874CD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NVIDIA</a:t>
            </a:r>
          </a:p>
        </p:txBody>
      </p:sp>
      <p:sp>
        <p:nvSpPr>
          <p:cNvPr id="11" name="left-field-1">
            <a:extLst xmlns:a="http://schemas.openxmlformats.org/drawingml/2006/main">
              <a:ext uri="{FF2B5EF4-FFF2-40B4-BE49-F238E27FC236}">
                <a16:creationId xmlns:a16="http://schemas.microsoft.com/office/drawing/2014/main" id="{EB85D765-CD85-4A47-9B4D-BE4F254E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C1F3D-0AC2-4377-B5F6-24B12E2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195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PERIOD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3BE42-D27D-4E49-97D3-2DA03AC8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FY2026</a:t>
            </a:r>
          </a:p>
        </p:txBody>
      </p:sp>
      <p:sp>
        <p:nvSpPr>
          <p:cNvPr id="14" name="left-field-2">
            <a:extLst xmlns:a="http://schemas.openxmlformats.org/drawingml/2006/main">
              <a:ext uri="{FF2B5EF4-FFF2-40B4-BE49-F238E27FC236}">
                <a16:creationId xmlns:a16="http://schemas.microsoft.com/office/drawing/2014/main" id="{D38A806E-0157-47C3-A918-4210A4D0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83342E-199A-44AF-A318-336CAE10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197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B5DA57-E61B-4C94-B0C3-378EC5FE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10-K teaching extract</a:t>
            </a:r>
          </a:p>
        </p:txBody>
      </p:sp>
      <p:sp>
        <p:nvSpPr>
          <p:cNvPr id="17" name="right-field-0">
            <a:extLst xmlns:a="http://schemas.openxmlformats.org/drawingml/2006/main">
              <a:ext uri="{FF2B5EF4-FFF2-40B4-BE49-F238E27FC236}">
                <a16:creationId xmlns:a16="http://schemas.microsoft.com/office/drawing/2014/main" id="{ED066AEE-EA4B-4DB1-B7D7-DA862330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072D8D-E329-4E1A-A744-1D6F1EA5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8194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KEYWORD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576CD-3A76-4FED-92A9-5CC11BA9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exact-term candidates</a:t>
            </a:r>
          </a:p>
        </p:txBody>
      </p:sp>
      <p:sp>
        <p:nvSpPr>
          <p:cNvPr id="20" name="right-field-1">
            <a:extLst xmlns:a="http://schemas.openxmlformats.org/drawingml/2006/main">
              <a:ext uri="{FF2B5EF4-FFF2-40B4-BE49-F238E27FC236}">
                <a16:creationId xmlns:a16="http://schemas.microsoft.com/office/drawing/2014/main" id="{13EC72A3-15F5-4C75-A76D-0D6BA5AA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9EE2B-9704-4AB7-AB65-DBB12C98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0195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DENSE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B680EC-1257-4D06-9C48-5CABC3AD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semantic candidates</a:t>
            </a:r>
          </a:p>
        </p:txBody>
      </p:sp>
      <p:sp>
        <p:nvSpPr>
          <p:cNvPr id="23" name="right-field-2">
            <a:extLst xmlns:a="http://schemas.openxmlformats.org/drawingml/2006/main">
              <a:ext uri="{FF2B5EF4-FFF2-40B4-BE49-F238E27FC236}">
                <a16:creationId xmlns:a16="http://schemas.microsoft.com/office/drawing/2014/main" id="{A0E0710B-A185-4D6C-B16D-6B16D9A9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678660-B347-4DEE-AD4B-E62AD2E0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2197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ABSTAIN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137DBE-0373-4B7D-89B2-62CEDDD2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 eligible passage</a:t>
            </a:r>
          </a:p>
        </p:txBody>
      </p:sp>
      <p:cxnSp>
        <p:nvCxnSpPr>
          <p:cNvPr id="435" name=""/>
          <p:cNvCxnSpPr>
            <a:stCxn xmlns:a="http://schemas.openxmlformats.org/drawingml/2006/main" id="8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36" name=""/>
          <p:cNvCxnSpPr>
            <a:stCxn xmlns:a="http://schemas.openxmlformats.org/drawingml/2006/main" id="11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37" name=""/>
          <p:cNvCxnSpPr>
            <a:stCxn xmlns:a="http://schemas.openxmlformats.org/drawingml/2006/main" id="14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 flipV="1">
            <a:off x="426720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38" name=""/>
          <p:cNvCxnSpPr>
            <a:stCxn xmlns:a="http://schemas.openxmlformats.org/drawingml/2006/main" id="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992505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439" name=""/>
          <p:cNvCxnSpPr>
            <a:stCxn xmlns:a="http://schemas.openxmlformats.org/drawingml/2006/main" id="3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992505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440" name=""/>
          <p:cNvCxnSpPr>
            <a:stCxn xmlns:a="http://schemas.openxmlformats.org/drawingml/2006/main" id="3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992505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75D1AF-F6AB-4A2D-841A-C9B511F5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705600"/>
            <a:ext cx="1055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Post-filtering cannot recover eligible evidence omitted from a global top-k.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7CAB67-18B2-45B8-A6D3-DDBE5255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AE100F-4D6F-45A8-A34A-47F11D77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579015-04F7-4D6F-9134-8D10D8D7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9C90B6-36DC-4661-AB68-C1D6A4EE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ELIGIBILITY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479DD1-2C8A-40B6-A3D0-33950CA5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241625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RECIPROCAL-RANK FUSION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 adds rank contributions—not raw channel scores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KEYWORD · w=1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rank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rank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 · rank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 · r4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 = .03252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DENSE RANKS · w=1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rank 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 · rank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rank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A = .03227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FUSED · k=60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1/62 + 1/61 = 0.03252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1/61 + 1/63 = 0.03227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B ranks first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RRF(p) = Σ w / (60 + rank); deduplicate by passage ID; keep every contribution visible.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FUSION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RERANKING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Retrieve widely, then rerank a smaller eligible set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FUSED 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3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candidate_k = 4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eligible + deduplicated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TRANSPARENT RERANK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lexical coverage=.25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numeric coverage=.45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section overlap=.10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metadata eligibility=.10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fusion signal=.10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FINAL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final_k = 2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budgeted + cited</a:t>
            </a:r>
          </a:p>
        </p:txBody>
      </p:sp>
      <p:cxnSp>
        <p:nvCxnSpPr>
          <p:cNvPr id="208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209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HARD BOUNDARY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pre-filtered only · no silent broadening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SCORE SEMANTICS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provider-neutral · offline illustrative · not confidence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DECISION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Candidate retrieval protects recall; reranking spends the evidence budget deliberately.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RERANK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CAPSTONE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capstone now exposes every retrieval decision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Versioned index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provider · model · dimensions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Pre-filter eligibility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company · period · document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Keyword + dense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candidate_k · ranked passage IDs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 + rerank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rank fusion · transparent features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Cited evidence set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final_k · provenance intact</a:t>
            </a:r>
          </a:p>
        </p:txBody>
      </p:sp>
      <p:cxnSp>
        <p:nvCxnSpPr>
          <p:cNvPr id="369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37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37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372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Lesson 07 evaluates each stage and traces the answer path.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retrieval recall is measured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answer groundedness stays separate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HANDOFF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STORAGE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Keep one logical schema when the vector engine changes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Documents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source · company · period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Chunks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stable ID · page · section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Embeddings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model · dimensions · vector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Local index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NumPy · exact search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pgvector / HNSW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persistent · approximate search</a:t>
            </a:r>
          </a:p>
        </p:txBody>
      </p:sp>
      <p:cxnSp>
        <p:nvCxnSpPr>
          <p:cNvPr id="369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37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37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372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IDs, filters and evaluation contracts stay unchanged.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prototype · simple + inspectable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production · persistence + scale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STORAGE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MEASUREMENT HANDOFF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Measure each retrieval stage before adding MLflow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Eligibility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0.00 ms · complete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Keyword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1.04 ms · complete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0.03 ms · complete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Fusion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0.01 ms · complete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Rerank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0.06 ms · complete</a:t>
            </a:r>
          </a:p>
        </p:txBody>
      </p:sp>
      <p:cxnSp>
        <p:nvCxnSpPr>
          <p:cNvPr id="369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37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37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372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Lesson 07 maps these stage objects to trace spans—no pipeline rewrite.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offline example · timings vary by machine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future spans · inputs · outputs · duration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2026-08-16T08:26:10.0720000Z</dcterms:created>
  <dcterms:modified xsi:type="dcterms:W3CDTF">2026-08-16T08:26:10.0720000Z</dcterms:modified>
</coreProperties>
</file>