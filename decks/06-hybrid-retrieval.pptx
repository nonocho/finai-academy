
<file path=[Content_Types].xml><?xml version="1.0" encoding="utf-8"?>
<Types xmlns="http://schemas.openxmlformats.org/package/2006/content-types">
  <Default Extension="xml" ContentType="application/vnd.openxmlformats-package.core-properties+xml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6e65cd82c3e04ae4" /><Relationship Type="http://schemas.openxmlformats.org/officeDocument/2006/relationships/extended-properties" Target="/docProps/app.xml" Id="Rf403a6b180604774" /><Relationship Type="http://schemas.openxmlformats.org/officeDocument/2006/relationships/officeDocument" Target="/ppt/presentation.xml" Id="R9f18256e76d24203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320efd7718684912"/>
  </p:sldMasterIdLst>
  <p:notesMasterIdLst>
    <p:notesMasterId xmlns:r="http://schemas.openxmlformats.org/officeDocument/2006/relationships" r:id="R6093a144a2564219"/>
  </p:notesMasterIdLst>
  <p:sldIdLst>
    <p:sldId xmlns:r="http://schemas.openxmlformats.org/officeDocument/2006/relationships" id="256" r:id="Rf430708f3f0c4e70"/>
    <p:sldId xmlns:r="http://schemas.openxmlformats.org/officeDocument/2006/relationships" id="257" r:id="R08cc39a7479b4f63"/>
    <p:sldId xmlns:r="http://schemas.openxmlformats.org/officeDocument/2006/relationships" id="258" r:id="Rf57b274e2c854a57"/>
    <p:sldId xmlns:r="http://schemas.openxmlformats.org/officeDocument/2006/relationships" id="259" r:id="Rdec7b3af8b3f4432"/>
    <p:sldId xmlns:r="http://schemas.openxmlformats.org/officeDocument/2006/relationships" id="260" r:id="R66f52d64c23746c8"/>
    <p:sldId xmlns:r="http://schemas.openxmlformats.org/officeDocument/2006/relationships" id="261" r:id="R07e81728b69244ea"/>
    <p:sldId xmlns:r="http://schemas.openxmlformats.org/officeDocument/2006/relationships" id="262" r:id="R87e60cf488d741ff"/>
  </p:sldIdLst>
  <p:sldSz cx="15240000" cy="85725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817cbe04c4764b6d" /><Relationship Type="http://schemas.openxmlformats.org/officeDocument/2006/relationships/slideMaster" Target="/ppt/slideMasters/slideMaster1.xml" Id="R320efd7718684912" /><Relationship Type="http://schemas.openxmlformats.org/officeDocument/2006/relationships/notesMaster" Target="/ppt/notesMasters/notesMaster1.xml" Id="R6093a144a2564219" /><Relationship Type="http://schemas.openxmlformats.org/officeDocument/2006/relationships/presProps" Target="/ppt/presProps.xml" Id="R4d9fbf0ba98d4764" /><Relationship Type="http://schemas.openxmlformats.org/officeDocument/2006/relationships/tableStyles" Target="/ppt/tableStyles.xml" Id="R285f59374dbd454a" /><Relationship Type="http://schemas.openxmlformats.org/officeDocument/2006/relationships/slide" Target="/ppt/slides/slide1.xml" Id="Rf430708f3f0c4e70" /><Relationship Type="http://schemas.openxmlformats.org/officeDocument/2006/relationships/slide" Target="/ppt/slides/slide2.xml" Id="R08cc39a7479b4f63" /><Relationship Type="http://schemas.openxmlformats.org/officeDocument/2006/relationships/slide" Target="/ppt/slides/slide3.xml" Id="Rf57b274e2c854a57" /><Relationship Type="http://schemas.openxmlformats.org/officeDocument/2006/relationships/slide" Target="/ppt/slides/slide4.xml" Id="Rdec7b3af8b3f4432" /><Relationship Type="http://schemas.openxmlformats.org/officeDocument/2006/relationships/slide" Target="/ppt/slides/slide5.xml" Id="R66f52d64c23746c8" /><Relationship Type="http://schemas.openxmlformats.org/officeDocument/2006/relationships/slide" Target="/ppt/slides/slide6.xml" Id="R07e81728b69244ea" /><Relationship Type="http://schemas.openxmlformats.org/officeDocument/2006/relationships/slide" Target="/ppt/slides/slide7.xml" Id="R87e60cf488d741ff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c475876bec294c3f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8be1efd5af4c46bb" /><Relationship Type="http://schemas.openxmlformats.org/officeDocument/2006/relationships/notesMaster" Target="/ppt/notesMasters/notesMaster1.xml" Id="Rbf8061a03c924bd2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a918595c81274717" /><Relationship Type="http://schemas.openxmlformats.org/officeDocument/2006/relationships/notesMaster" Target="/ppt/notesMasters/notesMaster1.xml" Id="Re0a02a3ad190472d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5d67544d5fdb40ff" /><Relationship Type="http://schemas.openxmlformats.org/officeDocument/2006/relationships/notesMaster" Target="/ppt/notesMasters/notesMaster1.xml" Id="R6b47865d1e3b4e5c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d13011e26b894140" /><Relationship Type="http://schemas.openxmlformats.org/officeDocument/2006/relationships/notesMaster" Target="/ppt/notesMasters/notesMaster1.xml" Id="Rd85729c6a5b0454a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23f5fc9da48a4957" /><Relationship Type="http://schemas.openxmlformats.org/officeDocument/2006/relationships/notesMaster" Target="/ppt/notesMasters/notesMaster1.xml" Id="Rb302e9cbc336479e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19ef0816c0794563" /><Relationship Type="http://schemas.openxmlformats.org/officeDocument/2006/relationships/notesMaster" Target="/ppt/notesMasters/notesMaster1.xml" Id="R11412121282249f7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f1243ab80c3a4dc3" /><Relationship Type="http://schemas.openxmlformats.org/officeDocument/2006/relationships/notesMaster" Target="/ppt/notesMasters/notesMaster1.xml" Id="R95d9c0fa3dec47a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Outcome: explain retrieval as a staged, testable system over the trusted Lesson 05 evidence units.</a:t>
            </a:r>
          </a:p>
          <a:p xmlns:a="http://schemas.openxmlformats.org/drawingml/2006/main">
            <a:r>
              <a:t>Use the full 15 minutes for the seven diagrams, then move to the 30-minute executable notebook.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Course-owned diagrams and claims: chapters/06-hybrid-retrieval.md</a:t>
            </a:r>
          </a:p>
          <a:p xmlns:a="http://schemas.openxmlformats.org/drawingml/2006/main">
            <a:r>
              <a:t>- Executable semantics: notebooks/06_hybrid_retrieval.ipynb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For normalized vectors, cosine is the dot product. Use it as a relative ranking signal inside one versioned embedding space.</a:t>
            </a:r>
          </a:p>
          <a:p xmlns:a="http://schemas.openxmlformats.org/drawingml/2006/main">
            <a:r>
              <a:t>The two-dimensional picture is intuition only; the notebook's similarity heatmap uses the full embedding dimensions.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scikit-learn cosine similarity: https://scikit-learn.org/stable/modules/generated/sklearn.metrics.pairwise.cosine_similarity.html</a:t>
            </a:r>
          </a:p>
          <a:p xmlns:a="http://schemas.openxmlformats.org/drawingml/2006/main">
            <a:r>
              <a:t>- Course explanation: chapters/06-hybrid-retrieval.md#cosine-similarity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Maintained query: Which NVIDIA business generated $193.7 billion?</a:t>
            </a:r>
          </a:p>
          <a:p xmlns:a="http://schemas.openxmlformats.org/drawingml/2006/main">
            <a:r>
              <a:t>Filter: company=NVIDIA and period=FY2026. Values below are from the deterministic offline execution of notebooks/06_hybrid_retrieval.ipynb.</a:t>
            </a:r>
          </a:p>
          <a:p xmlns:a="http://schemas.openxmlformats.org/drawingml/2006/main">
            <a:r>
              <a:t>Keyword rank 1: NVDA-2026-10K-EXCERPT-CONTEXTUAL-003 (TF-IDF cosine 0.591); rank 2: NVDA-2026-10K-EXCERPT-CONTEXTUAL-001 (0.357); rank 3: NVDA-2026-10K-EXCERPT-CONTEXTUAL-002 (0.209); rank 4: NVDA-2026-10K-EXCERPT-CONTEXTUAL-004 (0.118).</a:t>
            </a:r>
          </a:p>
          <a:p xmlns:a="http://schemas.openxmlformats.org/drawingml/2006/main">
            <a:r>
              <a:t>Dense rank 1: NVDA-2026-10K-EXCERPT-CONTEXTUAL-001 (raw cosine 0.577); rank 2: NVDA-2026-10K-EXCERPT-CONTEXTUAL-002 (0.577); rank 3: NVDA-2026-10K-EXCERPT-CONTEXTUAL-004 (0.447); dense rank 4: NVDA-2026-10K-EXCERPT-CONTEXTUAL-003 (0.408).</a:t>
            </a:r>
          </a:p>
          <a:p xmlns:a="http://schemas.openxmlformats.org/drawingml/2006/main">
            <a:r>
              <a:t>Visible IDs use the collision-safe NVDA…NNN abbreviation; the full stable manifest IDs appear above. Raw embedding cosine is a ranking signal, not confidence.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Executable maintained run: notebooks/06_hybrid_retrieval.ipynb</a:t>
            </a:r>
          </a:p>
          <a:p xmlns:a="http://schemas.openxmlformats.org/drawingml/2006/main">
            <a:r>
              <a:t>- Course explanation and score contracts: chapters/06-hybrid-retrieval.md</a:t>
            </a:r>
          </a:p>
          <a:p xmlns:a="http://schemas.openxmlformats.org/drawingml/2006/main">
            <a:r>
              <a:t>- NVIDIA fiscal 2026 Form 10-K: https://www.sec.gov/Archives/edgar/data/1045810/000104581026000021/nvda-20260125.htm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Eligibility uses exact company, period, document type, and section values with logical AND before both keyword and dense scoring.</a:t>
            </a:r>
          </a:p>
          <a:p xmlns:a="http://schemas.openxmlformats.org/drawingml/2006/main">
            <a:r>
              <a:t>If no passage is eligible, the production boundary abstains instead of silently broadening the search.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Retrieval filters: src/finai_academy/hybrid_retrieval.py</a:t>
            </a:r>
          </a:p>
          <a:p xmlns:a="http://schemas.openxmlformats.org/drawingml/2006/main">
            <a:r>
              <a:t>- Pipeline abstention and pre-filter order: src/finai_academy/retrieval_pipeline.py</a:t>
            </a:r>
          </a:p>
          <a:p xmlns:a="http://schemas.openxmlformats.org/drawingml/2006/main">
            <a:r>
              <a:t>- Course explanation: chapters/06-hybrid-retrieval.md#pre-filtering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Worked example: B receives 1/(60+2) from keyword and 1/(60+1) from dense, totaling 0.03252. A totals 1/61 + 1/63 = 0.03227.</a:t>
            </a:r>
          </a:p>
          <a:p xmlns:a="http://schemas.openxmlformats.org/drawingml/2006/main">
            <a:r>
              <a:t>RRF combines one-based rank positions because raw keyword and dense scores are not calibrated to each other. Passage IDs deduplicate the channels.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RRF implementation: src/finai_academy/hybrid_retrieval.py</a:t>
            </a:r>
          </a:p>
          <a:p xmlns:a="http://schemas.openxmlformats.org/drawingml/2006/main">
            <a:r>
              <a:t>- Course calculation: notebooks/06_hybrid_retrieval.ipynb, Figure 7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production interface is provider-neutral. The deterministic offline reranker is an illustrative, inspectable policy—not a production cross-encoder.</a:t>
            </a:r>
          </a:p>
          <a:p xmlns:a="http://schemas.openxmlformats.org/drawingml/2006/main">
            <a:r>
              <a:t>Offline feature weights are lexical coverage 0.25, exact numeric coverage 0.45, section overlap 0.10, metadata eligibility 0.10, and normalized fusion signal 0.10. Their sum is a rerank score, not confidence.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Feature definitions and weights: src/finai_academy/reranking.py</a:t>
            </a:r>
          </a:p>
          <a:p xmlns:a="http://schemas.openxmlformats.org/drawingml/2006/main">
            <a:r>
              <a:t>- Candidate and final budgets: src/finai_academy/retrieval_pipeline.py</a:t>
            </a:r>
          </a:p>
          <a:p xmlns:a="http://schemas.openxmlformats.org/drawingml/2006/main">
            <a:r>
              <a:t>- Provider-mode distinction: chapters/06-hybrid-retrieval.md#provider-modes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The capstone increment is filtered lexical+dense retrieval, reciprocal-rank fusion, and transparent reranking over a versioned local index.</a:t>
            </a:r>
          </a:p>
          <a:p xmlns:a="http://schemas.openxmlformats.org/drawingml/2006/main">
            <a:r>
              <a:t>Lesson 07 should trace index identity, eligibility, channel ranks, RRF contributions, rerank features, final evidence IDs, and provenance. It evaluates retrieval recall separately from answer groundedness.</a:t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Course-owned pipeline and transition: chapters/06-hybrid-retrieval.md</a:t>
            </a:r>
          </a:p>
          <a:p xmlns:a="http://schemas.openxmlformats.org/drawingml/2006/main">
            <a:r>
              <a:t>- Executable stage outputs: notebooks/06_hybrid_retrieval.ipynb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84e3d9caa36c4959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9088be6c1b5f468a" /><Relationship Type="http://schemas.openxmlformats.org/officeDocument/2006/relationships/slideLayout" Target="/ppt/slideLayouts/slideLayout1.xml" Id="R82517f2991814dd5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82517f2991814dd5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a9e288a907d4d78" /><Relationship Type="http://schemas.openxmlformats.org/officeDocument/2006/relationships/notesSlide" Target="/ppt/notesSlides/notesSlide1.xml" Id="Rad0587fbe9834d7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e4ff3dbe7104a7b" /><Relationship Type="http://schemas.openxmlformats.org/officeDocument/2006/relationships/notesSlide" Target="/ppt/notesSlides/notesSlide2.xml" Id="Rdb39248bf5bb46c2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a5ff79439d4d4a2d" /><Relationship Type="http://schemas.openxmlformats.org/officeDocument/2006/relationships/notesSlide" Target="/ppt/notesSlides/notesSlide3.xml" Id="Ra75d97e62d2641d8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34d955b20ce34de2" /><Relationship Type="http://schemas.openxmlformats.org/officeDocument/2006/relationships/notesSlide" Target="/ppt/notesSlides/notesSlide4.xml" Id="R7e92650a29164a85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fee48be60f0465a" /><Relationship Type="http://schemas.openxmlformats.org/officeDocument/2006/relationships/notesSlide" Target="/ppt/notesSlides/notesSlide5.xml" Id="Rdbe0355eed9c4a62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827ba2827be4614" /><Relationship Type="http://schemas.openxmlformats.org/officeDocument/2006/relationships/notesSlide" Target="/ppt/notesSlides/notesSlide6.xml" Id="Ra42ff1c0d166440e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1c230bc41bf4728" /><Relationship Type="http://schemas.openxmlformats.org/officeDocument/2006/relationships/notesSlide" Target="/ppt/notesSlides/notesSlide7.xml" Id="R3116d1b5632a4990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E1E88F9-4976-411E-8732-D45BE311BBD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81050"/>
            <a:ext cx="125730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5C43047-00B1-4B7A-BB36-D272D2C9B6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066800"/>
            <a:ext cx="2857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57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FIRST FINANCE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EBB9B00-5773-4D90-9774-8BB7FE35221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2362200"/>
            <a:ext cx="13296900" cy="895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48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4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Hybrid Retrieval and Reranking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01F96F8-8EA3-4B69-A3AF-EBD5CBCD09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3562350"/>
            <a:ext cx="11239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400" b="0">
                <a:solidFill>
                  <a:srgbClr val="3F3F42"/>
                </a:solidFill>
                <a:latin typeface="Calibri"/>
                <a:ea typeface="Calibri"/>
                <a:cs typeface="Calibri"/>
              </a:defRPr>
            </a:pPr>
            <a:r>
              <a:rPr sz="2400" b="0">
                <a:solidFill>
                  <a:srgbClr val="3F3F42"/>
                </a:solidFill>
                <a:latin typeface="Calibri"/>
                <a:ea typeface="Calibri"/>
                <a:cs typeface="Calibri"/>
              </a:rPr>
              <a:t>Make eligible evidence compete across complementary ranking channels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D4A6E89B-2708-4600-B820-727EF660DE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477000"/>
            <a:ext cx="9525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35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SESSION 06  ·  15 MIN CONCEPTS + 30 MIN NOTEBOOK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53831D6-7D46-4F1A-929F-D2CAD97F16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7067550"/>
            <a:ext cx="47625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72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72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Financial Analyst Copilot</a:t>
            </a:r>
          </a:p>
        </p:txBody>
      </p:sp>
    </p:spTree>
    <p:extLst>
      <p:ext uri="{BB962C8B-B14F-4D97-AF65-F5344CB8AC3E}">
        <p14:creationId xmlns:p14="http://schemas.microsoft.com/office/powerpoint/2010/main" val="131622913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DB9499D-57E3-4A1D-8EC6-611BB04185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EMBEDDING GEOMETRY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2695CF57-625B-488E-BEB2-B69B4A408F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Cosine measures alignment—not confidence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8B47AA7-B631-41FD-ABBE-E3FFFB37A7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43840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VECTOR INTUITION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A5257D7-8A5E-4ED5-99FB-9BEA2CD5AF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429000"/>
            <a:ext cx="1028700" cy="412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0CB"/>
          </a:solidFill>
          <a:ln xmlns:a="http://schemas.openxmlformats.org/drawingml/2006/main" w="0">
            <a:solidFill>
              <a:srgbClr val="1F40CB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28125A-6117-4802-BDED-1521C83E6A1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86000" y="3105150"/>
            <a:ext cx="1028700" cy="59267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0CB"/>
          </a:solidFill>
          <a:ln xmlns:a="http://schemas.openxmlformats.org/drawingml/2006/main" w="0">
            <a:solidFill>
              <a:srgbClr val="1F40CB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B0C50A16-6CE2-41AD-9C68-31BCF4A37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14700" y="3105150"/>
            <a:ext cx="1028700" cy="635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1F40CB"/>
          </a:solidFill>
          <a:ln xmlns:a="http://schemas.openxmlformats.org/drawingml/2006/main" w="0">
            <a:solidFill>
              <a:srgbClr val="1F40C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79E3D30-9339-457F-B7CD-A0EA27BB09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2050" y="333375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3A8E3BE-28EF-40CE-8891-51278C59B80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190750" y="40767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4701DE89-BF1D-4E47-A0E5-E2BD6B90E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219450" y="30099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3BE587B-C753-4E2B-8104-881E1547F2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48150" y="4152900"/>
            <a:ext cx="190500" cy="190500"/>
          </a:xfrm>
          <a:prstGeom xmlns:a="http://schemas.openxmlformats.org/drawingml/2006/main" prst="ellipse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569151E-D420-4D59-85E7-111FD86A43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43000" y="3981450"/>
            <a:ext cx="356235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F07D00"/>
          </a:solidFill>
          <a:ln xmlns:a="http://schemas.openxmlformats.org/drawingml/2006/main" w="0">
            <a:solidFill>
              <a:srgbClr val="F07D0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F6E1099-8F96-4D4A-A076-9A2E90695D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4438650"/>
            <a:ext cx="2667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angle grows → cosine falls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E498DFA-9E2C-4070-94C7-94B630627C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10250" y="24384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COSINE SIMILARITY</a:t>
            </a:r>
          </a:p>
        </p:txBody>
      </p:sp>
      <p:sp>
        <p:nvSpPr>
          <p:cNvPr id="14" name="parent-section">
            <a:extLst xmlns:a="http://schemas.openxmlformats.org/drawingml/2006/main">
              <a:ext uri="{FF2B5EF4-FFF2-40B4-BE49-F238E27FC236}">
                <a16:creationId xmlns:a16="http://schemas.microsoft.com/office/drawing/2014/main" id="{7E782CAC-BF7C-46FC-866C-E3E89506D3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67450" y="3009900"/>
            <a:ext cx="2724150" cy="704850"/>
          </a:xfrm>
          <a:prstGeom xmlns:a="http://schemas.openxmlformats.org/drawingml/2006/main" prst="roundRect">
            <a:avLst>
              <a:gd name="adj" fmla="val 16216"/>
            </a:avLst>
          </a:prstGeom>
          <a:solidFill xmlns:a="http://schemas.openxmlformats.org/drawingml/2006/main">
            <a:srgbClr val="062433"/>
          </a:solidFill>
          <a:ln xmlns:a="http://schemas.openxmlformats.org/drawingml/2006/main" w="9525">
            <a:solidFill>
              <a:srgbClr val="062433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3DA1344-7C73-4F1F-9D24-59FEB65C1E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3143250"/>
            <a:ext cx="22669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q · d / (‖q‖ · ‖d‖)</a:t>
            </a:r>
          </a:p>
        </p:txBody>
      </p:sp>
      <p:sp>
        <p:nvSpPr>
          <p:cNvPr id="16" name="child-0">
            <a:extLst xmlns:a="http://schemas.openxmlformats.org/drawingml/2006/main">
              <a:ext uri="{FF2B5EF4-FFF2-40B4-BE49-F238E27FC236}">
                <a16:creationId xmlns:a16="http://schemas.microsoft.com/office/drawing/2014/main" id="{49FF913A-8883-45CD-B244-354955ACD0E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4476750"/>
            <a:ext cx="121920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A2EB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573589B9-91C1-4446-A372-5FFFE4BDCB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86450" y="4629150"/>
            <a:ext cx="1028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−1</a:t>
            </a:r>
          </a:p>
        </p:txBody>
      </p:sp>
      <p:sp>
        <p:nvSpPr>
          <p:cNvPr id="18" name="child-1">
            <a:extLst xmlns:a="http://schemas.openxmlformats.org/drawingml/2006/main">
              <a:ext uri="{FF2B5EF4-FFF2-40B4-BE49-F238E27FC236}">
                <a16:creationId xmlns:a16="http://schemas.microsoft.com/office/drawing/2014/main" id="{7ADCF829-81FB-4C43-A5F1-10A73F9F1E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58050" y="4476750"/>
            <a:ext cx="121920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A2EB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114D7249-C284-46C6-A639-E3A0E60C64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53300" y="4629150"/>
            <a:ext cx="1028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0</a:t>
            </a:r>
          </a:p>
        </p:txBody>
      </p:sp>
      <p:sp>
        <p:nvSpPr>
          <p:cNvPr id="20" name="child-2">
            <a:extLst xmlns:a="http://schemas.openxmlformats.org/drawingml/2006/main">
              <a:ext uri="{FF2B5EF4-FFF2-40B4-BE49-F238E27FC236}">
                <a16:creationId xmlns:a16="http://schemas.microsoft.com/office/drawing/2014/main" id="{D221F047-9582-4D03-9D8B-65910E5A16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24900" y="4476750"/>
            <a:ext cx="121920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00A2EB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DE71631-E8CD-4C8E-83BE-21A31097CD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4629150"/>
            <a:ext cx="10287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27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+1</a:t>
            </a:r>
          </a:p>
        </p:txBody>
      </p:sp>
      <p:cxnSp>
        <p:nvCxnSpPr>
          <p:cNvPr id="254" name=""/>
          <p:cNvCxnSpPr>
            <a:stCxn xmlns:a="http://schemas.openxmlformats.org/drawingml/2006/main" id="14" idx="2"/>
            <a:endCxn xmlns:a="http://schemas.openxmlformats.org/drawingml/2006/main" id="16" idx="0"/>
          </p:cNvCxnSpPr>
          <p:nvPr/>
        </p:nvCxnSpPr>
        <p:spPr>
          <a:xfrm xmlns:a="http://schemas.openxmlformats.org/drawingml/2006/main" flipH="1">
            <a:off x="6400800" y="3714750"/>
            <a:ext cx="1228725" cy="7620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A2EB"/>
            </a:solidFill>
            <a:prstDash val="solid"/>
            <a:tailEnd type="triangle" w="sm" len="sm"/>
          </a:ln>
        </p:spPr>
      </p:cxnSp>
      <p:cxnSp>
        <p:nvCxnSpPr>
          <p:cNvPr id="255" name=""/>
          <p:cNvCxnSpPr>
            <a:stCxn xmlns:a="http://schemas.openxmlformats.org/drawingml/2006/main" id="14" idx="2"/>
            <a:endCxn xmlns:a="http://schemas.openxmlformats.org/drawingml/2006/main" id="18" idx="0"/>
          </p:cNvCxnSpPr>
          <p:nvPr/>
        </p:nvCxnSpPr>
        <p:spPr>
          <a:xfrm xmlns:a="http://schemas.openxmlformats.org/drawingml/2006/main">
            <a:off x="7629525" y="3714750"/>
            <a:ext cx="238125" cy="7620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A2EB"/>
            </a:solidFill>
            <a:prstDash val="solid"/>
            <a:tailEnd type="triangle" w="sm" len="sm"/>
          </a:ln>
        </p:spPr>
      </p:cxnSp>
      <p:cxnSp>
        <p:nvCxnSpPr>
          <p:cNvPr id="256" name=""/>
          <p:cNvCxnSpPr>
            <a:stCxn xmlns:a="http://schemas.openxmlformats.org/drawingml/2006/main" id="14" idx="2"/>
            <a:endCxn xmlns:a="http://schemas.openxmlformats.org/drawingml/2006/main" id="20" idx="0"/>
          </p:cNvCxnSpPr>
          <p:nvPr/>
        </p:nvCxnSpPr>
        <p:spPr>
          <a:xfrm xmlns:a="http://schemas.openxmlformats.org/drawingml/2006/main">
            <a:off x="7629525" y="3714750"/>
            <a:ext cx="1704975" cy="76200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00A2EB"/>
            </a:solidFill>
            <a:prstDash val="solid"/>
            <a:tailEnd type="triangle" w="sm" len="sm"/>
          </a:ln>
        </p:spPr>
      </p:cxn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459A2EB-91A2-485C-8769-4414CA087B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5524500"/>
            <a:ext cx="40386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42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opposed · orthogonal · aligned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11A9A77-C203-4FF0-B40D-A9FCCEC00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2438400"/>
            <a:ext cx="3429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INTERPRETATION</a:t>
            </a:r>
          </a:p>
        </p:txBody>
      </p:sp>
      <p:sp>
        <p:nvSpPr>
          <p:cNvPr id="27" name="context-prefix">
            <a:extLst xmlns:a="http://schemas.openxmlformats.org/drawingml/2006/main">
              <a:ext uri="{FF2B5EF4-FFF2-40B4-BE49-F238E27FC236}">
                <a16:creationId xmlns:a16="http://schemas.microsoft.com/office/drawing/2014/main" id="{394DF3A4-55D3-49A5-B189-7898A8E7DB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3009900"/>
            <a:ext cx="340995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E8F6FB"/>
          </a:solidFill>
          <a:ln xmlns:a="http://schemas.openxmlformats.org/drawingml/2006/main" w="9525">
            <a:solidFill>
              <a:srgbClr val="00A2EB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A481E31-07AB-413F-A9BC-2CCE1BE440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3162300"/>
            <a:ext cx="29908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Relative alignment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340ED50-2261-4CBA-A9F0-AC58EB913F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34700" y="3486150"/>
            <a:ext cx="29908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one embedding space</a:t>
            </a:r>
          </a:p>
        </p:txBody>
      </p:sp>
      <p:sp>
        <p:nvSpPr>
          <p:cNvPr id="30" name="proposition">
            <a:extLst xmlns:a="http://schemas.openxmlformats.org/drawingml/2006/main">
              <a:ext uri="{FF2B5EF4-FFF2-40B4-BE49-F238E27FC236}">
                <a16:creationId xmlns:a16="http://schemas.microsoft.com/office/drawing/2014/main" id="{72273FB0-E051-4A9D-ACF9-E2567C1DB7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4343400"/>
            <a:ext cx="3409950" cy="1162050"/>
          </a:xfrm>
          <a:prstGeom xmlns:a="http://schemas.openxmlformats.org/drawingml/2006/main" prst="roundRect">
            <a:avLst>
              <a:gd name="adj" fmla="val 9836"/>
            </a:avLst>
          </a:prstGeom>
          <a:solidFill xmlns:a="http://schemas.openxmlformats.org/drawingml/2006/main">
            <a:srgbClr val="FFF1E5"/>
          </a:solidFill>
          <a:ln xmlns:a="http://schemas.openxmlformats.org/drawingml/2006/main" w="9525">
            <a:solidFill>
              <a:srgbClr val="F07D00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B2B58602-B779-49B2-B2C2-E7F6692D3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4457700"/>
            <a:ext cx="29527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0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NOT CONFIDENCE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D815A273-EB10-4B84-9D74-5A6A52A527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53750" y="4800600"/>
            <a:ext cx="29527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not probability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5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not truth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D641F16E-B897-4CFF-BC22-D4ACA3F5D8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725150" y="5772150"/>
            <a:ext cx="34099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7222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35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2D projection is explanatory; retrieval uses the full vector dimensions.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BBEFBEB-C8FB-4ACA-94DB-124FCEC52D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266950" y="6705600"/>
            <a:ext cx="10706100" cy="628650"/>
          </a:xfrm>
          <a:prstGeom xmlns:a="http://schemas.openxmlformats.org/drawingml/2006/main" prst="roundRect">
            <a:avLst>
              <a:gd name="adj" fmla="val 12121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6F55544-8A98-45CD-8540-D0A1E30F9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571750" y="6819900"/>
            <a:ext cx="10096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8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75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Compare passages only within one versioned embedding space.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5AF8A41E-A99D-409D-84BE-F33131D113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33956031-4C7C-48C0-AB87-5A7D7BA681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913A278E-A894-4D27-A6F3-22DC6B6D40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F08798E0-FBD0-46BF-A594-53A0061D62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GEOMETRY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7F1CC3F1-A84C-4B1D-A2E0-A25EF0E905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</p:spTree>
    <p:extLst>
      <p:ext uri="{BB962C8B-B14F-4D97-AF65-F5344CB8AC3E}">
        <p14:creationId xmlns:p14="http://schemas.microsoft.com/office/powerpoint/2010/main" val="1257035274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7F521A64-93BB-447D-87E9-41FC1E867C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MAINTAINED QUERY · OFFLINE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C793F9E-8AD7-4755-853A-CFF63AEDB7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Which NVIDIA business generated $193.7 billion?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74302C1-E6C0-49C0-9FA8-BA7896D6FD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3431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KEYWORD · TF-IDF</a:t>
            </a:r>
          </a:p>
        </p:txBody>
      </p:sp>
      <p:sp>
        <p:nvSpPr>
          <p:cNvPr id="4" name="fixed-one">
            <a:extLst xmlns:a="http://schemas.openxmlformats.org/drawingml/2006/main">
              <a:ext uri="{FF2B5EF4-FFF2-40B4-BE49-F238E27FC236}">
                <a16:creationId xmlns:a16="http://schemas.microsoft.com/office/drawing/2014/main" id="{40C15356-6CC0-4340-AD48-214BA676B1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800350"/>
            <a:ext cx="5334000" cy="1104900"/>
          </a:xfrm>
          <a:prstGeom xmlns:a="http://schemas.openxmlformats.org/drawingml/2006/main" prst="roundRect">
            <a:avLst>
              <a:gd name="adj" fmla="val 10345"/>
            </a:avLst>
          </a:prstGeom>
          <a:solidFill xmlns:a="http://schemas.openxmlformats.org/drawingml/2006/main">
            <a:srgbClr val="FFF1E5"/>
          </a:solidFill>
          <a:ln xmlns:a="http://schemas.openxmlformats.org/drawingml/2006/main" w="19050">
            <a:solidFill>
              <a:srgbClr val="F07D00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782FFA5-77A1-442E-984F-08CF9D903B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2952750"/>
            <a:ext cx="483870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051C2A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051C2A"/>
                </a:solidFill>
                <a:latin typeface="Courier New"/>
                <a:ea typeface="Courier New"/>
                <a:cs typeface="Courier New"/>
              </a:rPr>
              <a:t>R1  NVDA…003  .591</a:t>
            </a:r>
          </a:p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051C2A"/>
                </a:solidFill>
                <a:latin typeface="Courier New"/>
                <a:ea typeface="Courier New"/>
                <a:cs typeface="Courier New"/>
              </a:defRPr>
            </a:pPr>
            <a:r>
              <a:rPr sz="1425" b="0">
                <a:solidFill>
                  <a:srgbClr val="051C2A"/>
                </a:solidFill>
                <a:latin typeface="Courier New"/>
                <a:ea typeface="Courier New"/>
                <a:cs typeface="Courier New"/>
              </a:rPr>
              <a:t>$193.7bn exact match</a:t>
            </a:r>
          </a:p>
        </p:txBody>
      </p:sp>
      <p:sp>
        <p:nvSpPr>
          <p:cNvPr id="6" name="fixed-two">
            <a:extLst xmlns:a="http://schemas.openxmlformats.org/drawingml/2006/main">
              <a:ext uri="{FF2B5EF4-FFF2-40B4-BE49-F238E27FC236}">
                <a16:creationId xmlns:a16="http://schemas.microsoft.com/office/drawing/2014/main" id="{AD30FCD2-C657-4E45-B1A1-6793E46E71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324350"/>
            <a:ext cx="2857500" cy="723900"/>
          </a:xfrm>
          <a:prstGeom xmlns:a="http://schemas.openxmlformats.org/drawingml/2006/main" prst="roundRect">
            <a:avLst>
              <a:gd name="adj" fmla="val 15789"/>
            </a:avLst>
          </a:prstGeom>
          <a:solidFill xmlns:a="http://schemas.openxmlformats.org/drawingml/2006/main">
            <a:srgbClr val="FFF1E5"/>
          </a:solidFill>
          <a:ln xmlns:a="http://schemas.openxmlformats.org/drawingml/2006/main" w="19050">
            <a:solidFill>
              <a:srgbClr val="F07D0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CF3EC4B2-CAE9-400F-B11D-2D4F3052F9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76350" y="4457700"/>
            <a:ext cx="23812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051C2A"/>
                </a:solidFill>
                <a:latin typeface="Courier New"/>
                <a:ea typeface="Courier New"/>
                <a:cs typeface="Courier New"/>
              </a:defRPr>
            </a:pPr>
            <a:r>
              <a:rPr sz="1500" b="1">
                <a:solidFill>
                  <a:srgbClr val="051C2A"/>
                </a:solidFill>
                <a:latin typeface="Courier New"/>
                <a:ea typeface="Courier New"/>
                <a:cs typeface="Courier New"/>
              </a:rPr>
              <a:t>R2  NVDA…001  .357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F846D44-14BC-44D4-9667-69FFDFBE9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276850"/>
            <a:ext cx="53340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75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Filter · NVIDIA · FY2026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1106CDE7-35E6-4C8C-A738-6BACCF9A48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343150"/>
            <a:ext cx="2857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2E8B57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2E8B57"/>
                </a:solidFill>
                <a:latin typeface="Calibri"/>
                <a:ea typeface="Calibri"/>
                <a:cs typeface="Calibri"/>
              </a:rPr>
              <a:t>DENSE · OFFLINE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62A6E03-2E74-4AA0-BC40-D36976B59F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2800350"/>
            <a:ext cx="2152650" cy="609600"/>
          </a:xfrm>
          <a:prstGeom xmlns:a="http://schemas.openxmlformats.org/drawingml/2006/main" prst="roundRect">
            <a:avLst>
              <a:gd name="adj" fmla="val 3125"/>
            </a:avLst>
          </a:prstGeom>
          <a:solidFill xmlns:a="http://schemas.openxmlformats.org/drawingml/2006/main">
            <a:srgbClr val="E8F7E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44E18B6A-26EA-404D-8004-B4AEFB1AC0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2905125"/>
            <a:ext cx="19240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Rank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F7E5910-AC18-40D2-B2F3-6FC1F08D1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2800350"/>
            <a:ext cx="1962150" cy="609600"/>
          </a:xfrm>
          <a:prstGeom xmlns:a="http://schemas.openxmlformats.org/drawingml/2006/main" prst="roundRect">
            <a:avLst>
              <a:gd name="adj" fmla="val 3125"/>
            </a:avLst>
          </a:prstGeom>
          <a:solidFill xmlns:a="http://schemas.openxmlformats.org/drawingml/2006/main">
            <a:srgbClr val="E8F7E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64DBD99-75A2-4F76-80D2-886026B311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2905125"/>
            <a:ext cx="17335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Candidate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0461F5A-F082-42F4-BA7B-33237B017D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63350" y="2800350"/>
            <a:ext cx="2571750" cy="609600"/>
          </a:xfrm>
          <a:prstGeom xmlns:a="http://schemas.openxmlformats.org/drawingml/2006/main" prst="roundRect">
            <a:avLst>
              <a:gd name="adj" fmla="val 3125"/>
            </a:avLst>
          </a:prstGeom>
          <a:solidFill xmlns:a="http://schemas.openxmlformats.org/drawingml/2006/main">
            <a:srgbClr val="E8F7EE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6A70624-C8CA-468D-98D9-378074887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77650" y="2905125"/>
            <a:ext cx="23431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Why it ranks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403A85A-2DFF-4A0D-A0C0-99283CEFD1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3448050"/>
            <a:ext cx="2152650" cy="666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7FBF8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1684354-1A30-417B-8AE7-ECA5F6B039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3562350"/>
            <a:ext cx="19240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1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5B55295-3DA8-457F-83F0-53BB6A0387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3448050"/>
            <a:ext cx="1962150" cy="666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7FBF8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3A696DF8-2386-42C4-91BD-18AC99A292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3562350"/>
            <a:ext cx="1733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NVDA…001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339A1A9-4564-4056-8CDC-CEDB497A7A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63350" y="3448050"/>
            <a:ext cx="2571750" cy="666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7FBF8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BC725B4-5DC5-4222-B581-EB84BE90E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77650" y="3562350"/>
            <a:ext cx="2343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raw cosine .577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D160DDC-C4FB-4932-B81B-093415961B7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4171950"/>
            <a:ext cx="2152650" cy="666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7FBF8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28C8390-620E-4337-B177-E20E166626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48550" y="4286250"/>
            <a:ext cx="19240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8123193-7BA4-459F-B618-D3AB37E4EF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44050" y="4171950"/>
            <a:ext cx="1962150" cy="666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7FBF8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AA33689-B136-4C82-B577-8954D2056B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58350" y="4286250"/>
            <a:ext cx="17335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NVDA…002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F49AE3A-93EC-4D6A-8CF3-2D01BDBDCB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563350" y="4171950"/>
            <a:ext cx="2571750" cy="666750"/>
          </a:xfrm>
          <a:prstGeom xmlns:a="http://schemas.openxmlformats.org/drawingml/2006/main" prst="roundRect">
            <a:avLst>
              <a:gd name="adj" fmla="val 2857"/>
            </a:avLst>
          </a:prstGeom>
          <a:solidFill xmlns:a="http://schemas.openxmlformats.org/drawingml/2006/main">
            <a:srgbClr val="F7FBF8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F772D1E-8248-480D-BA11-3458C9BA27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677650" y="4286250"/>
            <a:ext cx="234315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0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raw cosine .577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EF86CEA-598B-4254-9CEF-1D77B357BD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334250" y="5124450"/>
            <a:ext cx="68008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75" b="1">
                <a:solidFill>
                  <a:srgbClr val="2E8B57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2E8B57"/>
                </a:solidFill>
                <a:latin typeface="Calibri"/>
                <a:ea typeface="Calibri"/>
                <a:cs typeface="Calibri"/>
              </a:rPr>
              <a:t>Evidence at dense R4 · NVDA…003 · raw cosine .408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B65E3BAB-E11C-4A7E-89F3-AB1868F4F0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53250" y="2362200"/>
            <a:ext cx="28575" cy="3390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71233CBA-8C3B-4B18-A5D5-D4F7061FDC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153150"/>
            <a:ext cx="4286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SCORE TYPES STAY DISTINCT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5DEA1FB2-5ABC-4E19-B39E-FBEB026EF1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5341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Keyword scale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9EE73CC-AED7-4593-A08D-4913CB1DF8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85800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TF-IDF cosine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043BC68A-D5B2-4F89-AC7A-F4A6B12238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65341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Dense scale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D38EEE4-AA29-40C4-BA3C-01E40A9D5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43400" y="685800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2E8B57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2E8B57"/>
                </a:solidFill>
                <a:latin typeface="Calibri"/>
                <a:ea typeface="Calibri"/>
                <a:cs typeface="Calibri"/>
              </a:rPr>
              <a:t>raw cosine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B5D4A6D-C246-49F7-9388-C795B5E0FC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65341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Fusion input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02066664-5058-4CD5-A636-49C7B36A91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658100" y="685800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rank positions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D2483989-A3BC-4F4A-A656-ACD3BAC9F2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534150"/>
            <a:ext cx="26670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Join key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75B3CFBA-FD87-4351-8C2A-CF0B6F60B6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6858000"/>
            <a:ext cx="26670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2550" b="1">
                <a:solidFill>
                  <a:srgbClr val="2E8B57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2E8B57"/>
                </a:solidFill>
                <a:latin typeface="Calibri"/>
                <a:ea typeface="Calibri"/>
                <a:cs typeface="Calibri"/>
              </a:rPr>
              <a:t>manifest ID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846780A-5D65-4410-9457-661BBB6C3E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0C69519E-645C-4800-9FE8-656AB5D564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17032C2C-E113-4AB5-9CC6-D6B41AEDB1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23DD0EC2-8E86-44C8-B8C1-3DB1E93C5D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CHANNELS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A107089F-BB21-465D-B53D-42746B7A75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</p:spTree>
    <p:extLst>
      <p:ext uri="{BB962C8B-B14F-4D97-AF65-F5344CB8AC3E}">
        <p14:creationId xmlns:p14="http://schemas.microsoft.com/office/powerpoint/2010/main" val="349444305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53EFE36-F0E5-4A34-9303-2F261E07FB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ELIGIBILITY BARRIER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72B6B0-9CAB-42A6-9CDA-FDF3A13DA7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Filter first: ineligible passages never enter either top-k</a:t>
            </a:r>
          </a:p>
        </p:txBody>
      </p:sp>
      <p:sp>
        <p:nvSpPr>
          <p:cNvPr id="3" name="canonical-block">
            <a:extLst xmlns:a="http://schemas.openxmlformats.org/drawingml/2006/main">
              <a:ext uri="{FF2B5EF4-FFF2-40B4-BE49-F238E27FC236}">
                <a16:creationId xmlns:a16="http://schemas.microsoft.com/office/drawing/2014/main" id="{02D02DA8-4C0F-400F-BD3D-E5C1B80C7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14950" y="2819400"/>
            <a:ext cx="4610100" cy="3105150"/>
          </a:xfrm>
          <a:prstGeom xmlns:a="http://schemas.openxmlformats.org/drawingml/2006/main" prst="roundRect">
            <a:avLst>
              <a:gd name="adj" fmla="val 3681"/>
            </a:avLst>
          </a:prstGeom>
          <a:solidFill xmlns:a="http://schemas.openxmlformats.org/drawingml/2006/main">
            <a:srgbClr val="062433"/>
          </a:solidFill>
          <a:ln xmlns:a="http://schemas.openxmlformats.org/drawingml/2006/main" w="9525">
            <a:solidFill>
              <a:srgbClr val="062433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094F27-A4E9-43D6-91FC-255B527DED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3124200"/>
            <a:ext cx="37338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5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55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ELIGIBLE PASSAGES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44840549-C1BA-4343-8D7C-0F20981F0C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53100" y="3790950"/>
            <a:ext cx="37338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425" b="0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425" b="0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company AND period AND type AND section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48ED5F6-048D-47C9-84A8-2C0DBB8EFE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72150" y="4362450"/>
            <a:ext cx="36957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9548304-EC73-4226-BDEE-2B1DF0C783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848350" y="4591050"/>
            <a:ext cx="3543300" cy="876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Only eligible passages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72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725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may be scored</a:t>
            </a:r>
          </a:p>
        </p:txBody>
      </p:sp>
      <p:sp>
        <p:nvSpPr>
          <p:cNvPr id="8" name="left-field-0">
            <a:extLst xmlns:a="http://schemas.openxmlformats.org/drawingml/2006/main">
              <a:ext uri="{FF2B5EF4-FFF2-40B4-BE49-F238E27FC236}">
                <a16:creationId xmlns:a16="http://schemas.microsoft.com/office/drawing/2014/main" id="{720AE8BF-AA92-49DE-8E2A-99C0FB631A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724150"/>
            <a:ext cx="323850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7CBACEB0-7877-4121-958A-EABE32818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2819400"/>
            <a:ext cx="2781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COMPANY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5077E674-7E6C-4E95-A44F-3D0874CD58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3124200"/>
            <a:ext cx="2781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NVIDIA</a:t>
            </a:r>
          </a:p>
        </p:txBody>
      </p:sp>
      <p:sp>
        <p:nvSpPr>
          <p:cNvPr id="11" name="left-field-1">
            <a:extLst xmlns:a="http://schemas.openxmlformats.org/drawingml/2006/main">
              <a:ext uri="{FF2B5EF4-FFF2-40B4-BE49-F238E27FC236}">
                <a16:creationId xmlns:a16="http://schemas.microsoft.com/office/drawing/2014/main" id="{EB85D765-CD85-4A47-9B4D-BE4F254EF9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3924300"/>
            <a:ext cx="323850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A7C1F3D-0AC2-4377-B5F6-24B12E250B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019550"/>
            <a:ext cx="2781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PERIOD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8F3BE42-D27D-4E49-97D3-2DA03AC89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4324350"/>
            <a:ext cx="2781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FY2026</a:t>
            </a:r>
          </a:p>
        </p:txBody>
      </p:sp>
      <p:sp>
        <p:nvSpPr>
          <p:cNvPr id="14" name="left-field-2">
            <a:extLst xmlns:a="http://schemas.openxmlformats.org/drawingml/2006/main">
              <a:ext uri="{FF2B5EF4-FFF2-40B4-BE49-F238E27FC236}">
                <a16:creationId xmlns:a16="http://schemas.microsoft.com/office/drawing/2014/main" id="{D38A806E-0157-47C3-A918-4210A4D05F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124450"/>
            <a:ext cx="323850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183342E-199A-44AF-A318-336CAE10AB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219700"/>
            <a:ext cx="2781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DOCUMENT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ECB5DA57-E61B-4C94-B0C3-378EC5FEEC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57300" y="5524500"/>
            <a:ext cx="2781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10-K teaching extract</a:t>
            </a:r>
          </a:p>
        </p:txBody>
      </p:sp>
      <p:sp>
        <p:nvSpPr>
          <p:cNvPr id="17" name="right-field-0">
            <a:extLst xmlns:a="http://schemas.openxmlformats.org/drawingml/2006/main">
              <a:ext uri="{FF2B5EF4-FFF2-40B4-BE49-F238E27FC236}">
                <a16:creationId xmlns:a16="http://schemas.microsoft.com/office/drawing/2014/main" id="{ED066AEE-EA4B-4DB1-B7D7-DA8623309E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2724150"/>
            <a:ext cx="323850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0072D8D-E329-4E1A-A744-1D6F1EA576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2819400"/>
            <a:ext cx="2781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KEYWORD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40576CD-3A76-4FED-92A9-5CC11BA9C6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3124200"/>
            <a:ext cx="2781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exact-term candidates</a:t>
            </a:r>
          </a:p>
        </p:txBody>
      </p:sp>
      <p:sp>
        <p:nvSpPr>
          <p:cNvPr id="20" name="right-field-1">
            <a:extLst xmlns:a="http://schemas.openxmlformats.org/drawingml/2006/main">
              <a:ext uri="{FF2B5EF4-FFF2-40B4-BE49-F238E27FC236}">
                <a16:creationId xmlns:a16="http://schemas.microsoft.com/office/drawing/2014/main" id="{13EC72A3-15F5-4C75-A76D-0D6BA5AA27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3924300"/>
            <a:ext cx="323850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7C9EE2B-9704-4AB7-AB65-DBB12C984C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4019550"/>
            <a:ext cx="2781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DENSE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D4B680EC-1257-4D06-9C48-5CABC3AD6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4324350"/>
            <a:ext cx="2781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semantic candidates</a:t>
            </a:r>
          </a:p>
        </p:txBody>
      </p:sp>
      <p:sp>
        <p:nvSpPr>
          <p:cNvPr id="23" name="right-field-2">
            <a:extLst xmlns:a="http://schemas.openxmlformats.org/drawingml/2006/main">
              <a:ext uri="{FF2B5EF4-FFF2-40B4-BE49-F238E27FC236}">
                <a16:creationId xmlns:a16="http://schemas.microsoft.com/office/drawing/2014/main" id="{A0E0710B-A185-4D6C-B16D-6B16D9A997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972800" y="5124450"/>
            <a:ext cx="3238500" cy="895350"/>
          </a:xfrm>
          <a:prstGeom xmlns:a="http://schemas.openxmlformats.org/drawingml/2006/main" prst="roundRect">
            <a:avLst>
              <a:gd name="adj" fmla="val 12766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BE678660-B347-4DEE-AD4B-E62AD2E01E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5219700"/>
            <a:ext cx="27813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ABSTAIN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B137DBE-0373-4B7D-89B2-62CEDDD2A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201400" y="5524500"/>
            <a:ext cx="27813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5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5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no eligible passage</a:t>
            </a:r>
          </a:p>
        </p:txBody>
      </p:sp>
      <p:cxnSp>
        <p:nvCxnSpPr>
          <p:cNvPr id="311" name=""/>
          <p:cNvCxnSpPr>
            <a:stCxn xmlns:a="http://schemas.openxmlformats.org/drawingml/2006/main" id="8" idx="3"/>
            <a:endCxn xmlns:a="http://schemas.openxmlformats.org/drawingml/2006/main" id="3" idx="1"/>
          </p:cNvCxnSpPr>
          <p:nvPr/>
        </p:nvCxnSpPr>
        <p:spPr>
          <a:xfrm xmlns:a="http://schemas.openxmlformats.org/drawingml/2006/main">
            <a:off x="4267200" y="3171825"/>
            <a:ext cx="1047750" cy="12001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312" name=""/>
          <p:cNvCxnSpPr>
            <a:stCxn xmlns:a="http://schemas.openxmlformats.org/drawingml/2006/main" id="11" idx="3"/>
            <a:endCxn xmlns:a="http://schemas.openxmlformats.org/drawingml/2006/main" id="3" idx="1"/>
          </p:cNvCxnSpPr>
          <p:nvPr/>
        </p:nvCxnSpPr>
        <p:spPr>
          <a:xfrm xmlns:a="http://schemas.openxmlformats.org/drawingml/2006/main">
            <a:off x="4267200" y="4371975"/>
            <a:ext cx="1047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313" name=""/>
          <p:cNvCxnSpPr>
            <a:stCxn xmlns:a="http://schemas.openxmlformats.org/drawingml/2006/main" id="14" idx="3"/>
            <a:endCxn xmlns:a="http://schemas.openxmlformats.org/drawingml/2006/main" id="3" idx="1"/>
          </p:cNvCxnSpPr>
          <p:nvPr/>
        </p:nvCxnSpPr>
        <p:spPr>
          <a:xfrm xmlns:a="http://schemas.openxmlformats.org/drawingml/2006/main" flipV="1">
            <a:off x="4267200" y="4371975"/>
            <a:ext cx="1047750" cy="12001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314" name=""/>
          <p:cNvCxnSpPr>
            <a:stCxn xmlns:a="http://schemas.openxmlformats.org/drawingml/2006/main" id="3" idx="3"/>
            <a:endCxn xmlns:a="http://schemas.openxmlformats.org/drawingml/2006/main" id="17" idx="1"/>
          </p:cNvCxnSpPr>
          <p:nvPr/>
        </p:nvCxnSpPr>
        <p:spPr>
          <a:xfrm xmlns:a="http://schemas.openxmlformats.org/drawingml/2006/main" flipV="1">
            <a:off x="9925050" y="3171825"/>
            <a:ext cx="1047750" cy="12001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9A9A9F"/>
            </a:solidFill>
            <a:prstDash val="solid"/>
            <a:tailEnd type="triangle" w="sm" len="sm"/>
          </a:ln>
        </p:spPr>
      </p:cxnSp>
      <p:cxnSp>
        <p:nvCxnSpPr>
          <p:cNvPr id="315" name=""/>
          <p:cNvCxnSpPr>
            <a:stCxn xmlns:a="http://schemas.openxmlformats.org/drawingml/2006/main" id="3" idx="3"/>
            <a:endCxn xmlns:a="http://schemas.openxmlformats.org/drawingml/2006/main" id="20" idx="1"/>
          </p:cNvCxnSpPr>
          <p:nvPr/>
        </p:nvCxnSpPr>
        <p:spPr>
          <a:xfrm xmlns:a="http://schemas.openxmlformats.org/drawingml/2006/main">
            <a:off x="9925050" y="4371975"/>
            <a:ext cx="1047750" cy="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9A9A9F"/>
            </a:solidFill>
            <a:prstDash val="solid"/>
            <a:tailEnd type="triangle" w="sm" len="sm"/>
          </a:ln>
        </p:spPr>
      </p:cxnSp>
      <p:cxnSp>
        <p:nvCxnSpPr>
          <p:cNvPr id="316" name=""/>
          <p:cNvCxnSpPr>
            <a:stCxn xmlns:a="http://schemas.openxmlformats.org/drawingml/2006/main" id="3" idx="3"/>
            <a:endCxn xmlns:a="http://schemas.openxmlformats.org/drawingml/2006/main" id="23" idx="1"/>
          </p:cNvCxnSpPr>
          <p:nvPr/>
        </p:nvCxnSpPr>
        <p:spPr>
          <a:xfrm xmlns:a="http://schemas.openxmlformats.org/drawingml/2006/main">
            <a:off x="9925050" y="4371975"/>
            <a:ext cx="1047750" cy="1200150"/>
          </a:xfrm>
          <a:prstGeom xmlns:a="http://schemas.openxmlformats.org/drawingml/2006/main" prst="straightConnector1">
            <a:avLst/>
          </a:prstGeom>
          <a:ln xmlns:a="http://schemas.openxmlformats.org/drawingml/2006/main" w="19050">
            <a:solidFill>
              <a:srgbClr val="9A9A9F"/>
            </a:solidFill>
            <a:prstDash val="solid"/>
            <a:tailEnd type="triangle" w="sm" len="sm"/>
          </a:ln>
        </p:spPr>
      </p:cxn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C75D1AF-F6AB-4A2D-841A-C9B511F5D1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43150" y="6705600"/>
            <a:ext cx="105537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Post-filtering cannot recover eligible evidence omitted from a global top-k.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207CAB67-18B2-45B8-A6D3-DDBE52558E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7CAE100F-4D6F-45A8-A34A-47F11D7739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E9579015-04F7-4D6F-9134-8D10D8D76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E99C90B6-36DC-4661-AB68-C1D6A4EE7F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ELIGIBILITY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B3479DD1-2C8A-40B6-A3D0-33950CA55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</p:spTree>
    <p:extLst>
      <p:ext uri="{BB962C8B-B14F-4D97-AF65-F5344CB8AC3E}">
        <p14:creationId xmlns:p14="http://schemas.microsoft.com/office/powerpoint/2010/main" val="2024162592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ABF4BAA6-B729-496F-9507-674DB3429F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RECIPROCAL-RANK FUSION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B6C2DCA-6A55-434D-995F-2D0AB2788A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RRF adds rank contributions—not raw channel scores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7E8B752-5838-4084-A09E-2C38B9D5B3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80035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KEYWORD · w=1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CA53B89-6D78-4803-9B7F-A0162294F3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743200"/>
            <a:ext cx="2381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32FC0D2-12CA-4723-B1F4-C8F21C5F17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2838450"/>
            <a:ext cx="2190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 · rank 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3E9AAB83-2BB1-4A7A-84F9-1F2BE14A6F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53150" y="2743200"/>
            <a:ext cx="2000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F07D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6740ED07-2E49-4E7A-9CBF-23CD3B8CFF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2838450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 · rank 2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5A5E176-BCBA-4C49-9196-B98EF7C59C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743200"/>
            <a:ext cx="167640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D62C752-A7F9-4B50-9D20-A71CEAD8FA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05800" y="2838450"/>
            <a:ext cx="14859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 · rank 3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9A9A56C-9DB1-49FF-8E87-2C6B8DB8CE9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44100" y="2743200"/>
            <a:ext cx="106680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F07D00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9D4F50D-12C3-4331-801A-91C1EC1A4D3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39350" y="2838450"/>
            <a:ext cx="876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D · r4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94D2954-A4C1-482E-AAB1-42DAC0BB19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28003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B = .03252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3122776-3C69-478E-8B1D-4E859ACC86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426720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DENSE RANKS · w=1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020E4D2-1B72-432A-AD48-61D3EF9BC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4210050"/>
            <a:ext cx="3143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99905A1-C4D3-46AB-A516-DCFB88A03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4305300"/>
            <a:ext cx="2952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 · rank 1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C2240E6-0102-4064-B038-AB12EDED6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915150" y="4210050"/>
            <a:ext cx="29527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00A2E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ECBA82F-0F85-40C1-9BE1-6E7847AE3F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4305300"/>
            <a:ext cx="2762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C · rank 2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BD7C7D4-5A09-43DC-B381-56DF305B422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25050" y="4210050"/>
            <a:ext cx="20002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9A2F20F1-CF35-4789-AC4A-62229AB1DD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020300" y="4305300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 · rank 3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58CD3E4-48E0-4421-8A8E-9A03948E10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426720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A = .03227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DA8DF2BD-542C-4821-AB60-F914C2D7D5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5734050"/>
            <a:ext cx="24765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2E8B57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2E8B57"/>
                </a:solidFill>
                <a:latin typeface="Calibri"/>
                <a:ea typeface="Calibri"/>
                <a:cs typeface="Calibri"/>
              </a:rPr>
              <a:t>FUSED · k=60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0D1C47B-0B67-4AFB-8BDC-2F9D29D001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5676900"/>
            <a:ext cx="331470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1F40CB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E2F7603-BBFF-4854-9F2D-F8FF1E3B19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5772150"/>
            <a:ext cx="31242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 · 1/62 + 1/61 = 0.03252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18F6C86-F0E1-4812-B3DD-797EA0ED5A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86600" y="5676900"/>
            <a:ext cx="4781550" cy="647700"/>
          </a:xfrm>
          <a:prstGeom xmlns:a="http://schemas.openxmlformats.org/drawingml/2006/main" prst="roundRect">
            <a:avLst>
              <a:gd name="adj" fmla="val 5882"/>
            </a:avLst>
          </a:prstGeom>
          <a:solidFill xmlns:a="http://schemas.openxmlformats.org/drawingml/2006/main">
            <a:srgbClr val="2E8B57"/>
          </a:solidFill>
          <a:ln xmlns:a="http://schemas.openxmlformats.org/drawingml/2006/main" w="9525">
            <a:solidFill>
              <a:srgbClr val="FFFFFF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B9A6A990-C3AB-4ED0-A029-B6138AA542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5772150"/>
            <a:ext cx="45910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A · 1/61 + 1/63 = 0.03227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4845B58-81DD-48AA-9B5B-C9CA27F8A4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001500" y="5734050"/>
            <a:ext cx="2190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350" b="1">
                <a:solidFill>
                  <a:srgbClr val="2E8B57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2E8B57"/>
                </a:solidFill>
                <a:latin typeface="Calibri"/>
                <a:ea typeface="Calibri"/>
                <a:cs typeface="Calibri"/>
              </a:rPr>
              <a:t>B ranks first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1F021015-2BDE-427C-B7E6-89D40DC755A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714750" y="2819400"/>
            <a:ext cx="28575" cy="34861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B71760BB-B653-4A2F-A39B-D370FC39BF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6838950"/>
            <a:ext cx="13163550" cy="609600"/>
          </a:xfrm>
          <a:prstGeom xmlns:a="http://schemas.openxmlformats.org/drawingml/2006/main" prst="roundRect">
            <a:avLst>
              <a:gd name="adj" fmla="val 12500"/>
            </a:avLst>
          </a:prstGeom>
          <a:solidFill xmlns:a="http://schemas.openxmlformats.org/drawingml/2006/main">
            <a:srgbClr val="FFF1E5"/>
          </a:solidFill>
          <a:ln xmlns:a="http://schemas.openxmlformats.org/drawingml/2006/main" w="9525">
            <a:solidFill>
              <a:srgbClr val="F07D00"/>
            </a:solidFill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0FA73608-CD25-41CB-8836-D0C27AC581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371600" y="6934200"/>
            <a:ext cx="124777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RRF(p) = Σ w / (60 + rank); deduplicate by passage ID; keep every contribution visible.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63E0B34D-9DCB-48D8-8070-C30B3364EB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3EFB9970-6C67-40D6-AFF0-F0FE598EF9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3503E1FB-8ACB-4423-AB2C-92A3E103D5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C07028D7-2EEC-4312-806B-59F42D9F1CA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FUSION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334563E-9E00-41F4-886E-137032B6D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05</a:t>
            </a:r>
          </a:p>
        </p:txBody>
      </p:sp>
    </p:spTree>
    <p:extLst>
      <p:ext uri="{BB962C8B-B14F-4D97-AF65-F5344CB8AC3E}">
        <p14:creationId xmlns:p14="http://schemas.microsoft.com/office/powerpoint/2010/main" val="926141459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5D84E1CF-DA64-4EFC-8528-B207517D3E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RERANKING BOUNDARY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EDDB7F-E2AD-4762-B051-D3A0AC293C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Retrieve widely, then rerank a smaller eligible set</a:t>
            </a:r>
          </a:p>
        </p:txBody>
      </p:sp>
      <p:sp>
        <p:nvSpPr>
          <p:cNvPr id="3" name="decision-source">
            <a:extLst xmlns:a="http://schemas.openxmlformats.org/drawingml/2006/main">
              <a:ext uri="{FF2B5EF4-FFF2-40B4-BE49-F238E27FC236}">
                <a16:creationId xmlns:a16="http://schemas.microsoft.com/office/drawing/2014/main" id="{F0F1628B-25FC-4A7D-9ACB-11ED41518D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2990850"/>
            <a:ext cx="2724150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62CDE4FD-810A-4BB6-A9E2-9D453E2B43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181350"/>
            <a:ext cx="2190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FUSED SET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5AA52CC-262C-4723-8C2E-E43262748B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95400" y="3657600"/>
            <a:ext cx="219075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7307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candidate_k = 4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eligible + deduplicated</a:t>
            </a:r>
          </a:p>
        </p:txBody>
      </p:sp>
      <p:sp>
        <p:nvSpPr>
          <p:cNvPr id="6" name="decision-child">
            <a:extLst xmlns:a="http://schemas.openxmlformats.org/drawingml/2006/main">
              <a:ext uri="{FF2B5EF4-FFF2-40B4-BE49-F238E27FC236}">
                <a16:creationId xmlns:a16="http://schemas.microsoft.com/office/drawing/2014/main" id="{E359D7F5-9555-4867-8587-2F8EC5254E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162550" y="2857500"/>
            <a:ext cx="3257550" cy="1828800"/>
          </a:xfrm>
          <a:prstGeom xmlns:a="http://schemas.openxmlformats.org/drawingml/2006/main" prst="roundRect">
            <a:avLst>
              <a:gd name="adj" fmla="val 6250"/>
            </a:avLst>
          </a:prstGeom>
          <a:solidFill xmlns:a="http://schemas.openxmlformats.org/drawingml/2006/main">
            <a:srgbClr val="E8F6FB"/>
          </a:solidFill>
          <a:ln xmlns:a="http://schemas.openxmlformats.org/drawingml/2006/main" w="19050">
            <a:solidFill>
              <a:srgbClr val="00A2EB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4C45E62-2BDC-4F11-8E8E-92ACD6B6E6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2914650"/>
            <a:ext cx="2647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27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TRANSPARENT RERANK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FF2A998-C21C-458F-BEED-486513923D8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3390900"/>
            <a:ext cx="2647950" cy="800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80000"/>
              </a:lnSpc>
              <a:buNone/>
              <a:defRPr sz="21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lexical coverage=.25</a:t>
            </a:r>
          </a:p>
          <a:p xmlns:a="http://schemas.openxmlformats.org/drawingml/2006/main">
            <a:pPr algn="ctr">
              <a:lnSpc>
                <a:spcPct val="80000"/>
              </a:lnSpc>
              <a:buNone/>
              <a:defRPr sz="21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numeric coverage=.45</a:t>
            </a:r>
          </a:p>
          <a:p xmlns:a="http://schemas.openxmlformats.org/drawingml/2006/main">
            <a:pPr algn="ctr">
              <a:lnSpc>
                <a:spcPct val="80000"/>
              </a:lnSpc>
              <a:buNone/>
              <a:defRPr sz="2175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section overlap=.10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E8A313B-A32E-4318-B50D-32C786561C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467350" y="4191000"/>
            <a:ext cx="2647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70000"/>
              </a:lnSpc>
              <a:buNone/>
              <a:defRPr sz="1275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metadata eligibility=.10</a:t>
            </a:r>
          </a:p>
          <a:p xmlns:a="http://schemas.openxmlformats.org/drawingml/2006/main">
            <a:pPr algn="ctr">
              <a:lnSpc>
                <a:spcPct val="70000"/>
              </a:lnSpc>
              <a:buNone/>
              <a:defRPr sz="1275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fusion signal=.10</a:t>
            </a:r>
          </a:p>
        </p:txBody>
      </p:sp>
      <p:sp>
        <p:nvSpPr>
          <p:cNvPr id="10" name="decision-parent">
            <a:extLst xmlns:a="http://schemas.openxmlformats.org/drawingml/2006/main">
              <a:ext uri="{FF2B5EF4-FFF2-40B4-BE49-F238E27FC236}">
                <a16:creationId xmlns:a16="http://schemas.microsoft.com/office/drawing/2014/main" id="{7E8CC043-3F7C-4B5E-B01A-E942C33D87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829800" y="2990850"/>
            <a:ext cx="3543300" cy="1562100"/>
          </a:xfrm>
          <a:prstGeom xmlns:a="http://schemas.openxmlformats.org/drawingml/2006/main" prst="roundRect">
            <a:avLst>
              <a:gd name="adj" fmla="val 7317"/>
            </a:avLst>
          </a:prstGeom>
          <a:solidFill xmlns:a="http://schemas.openxmlformats.org/drawingml/2006/main">
            <a:srgbClr val="062433"/>
          </a:solidFill>
          <a:ln xmlns:a="http://schemas.openxmlformats.org/drawingml/2006/main" w="9525">
            <a:solidFill>
              <a:srgbClr val="062433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595FD15-7156-4E52-87B2-404D626063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3181350"/>
            <a:ext cx="2933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FINAL EVIDENCE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9CEFAC4-B99C-4E5B-B744-4D0EEDB15B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34600" y="3638550"/>
            <a:ext cx="29337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final_k = 2</a:t>
            </a:r>
          </a:p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budgeted + cited</a:t>
            </a:r>
          </a:p>
        </p:txBody>
      </p:sp>
      <p:cxnSp>
        <p:nvCxnSpPr>
          <p:cNvPr id="152" name=""/>
          <p:cNvCxnSpPr>
            <a:stCxn xmlns:a="http://schemas.openxmlformats.org/drawingml/2006/main" id="3" idx="3"/>
            <a:endCxn xmlns:a="http://schemas.openxmlformats.org/drawingml/2006/main" id="6" idx="1"/>
          </p:cNvCxnSpPr>
          <p:nvPr/>
        </p:nvCxnSpPr>
        <p:spPr>
          <a:xfrm xmlns:a="http://schemas.openxmlformats.org/drawingml/2006/main">
            <a:off x="3752850" y="3771900"/>
            <a:ext cx="1409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F07D00"/>
            </a:solidFill>
            <a:prstDash val="solid"/>
            <a:tailEnd type="triangle" w="med" len="med"/>
          </a:ln>
        </p:spPr>
      </p:cxnSp>
      <p:cxnSp>
        <p:nvCxnSpPr>
          <p:cNvPr id="153" name=""/>
          <p:cNvCxnSpPr>
            <a:stCxn xmlns:a="http://schemas.openxmlformats.org/drawingml/2006/main" id="6" idx="3"/>
            <a:endCxn xmlns:a="http://schemas.openxmlformats.org/drawingml/2006/main" id="10" idx="1"/>
          </p:cNvCxnSpPr>
          <p:nvPr/>
        </p:nvCxnSpPr>
        <p:spPr>
          <a:xfrm xmlns:a="http://schemas.openxmlformats.org/drawingml/2006/main" flipV="0">
            <a:off x="8420100" y="3771900"/>
            <a:ext cx="14097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F07D00"/>
            </a:solidFill>
            <a:prstDash val="solid"/>
            <a:tailEnd type="triangle" w="med" len="med"/>
          </a:ln>
        </p:spPr>
      </p:cxn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E1BEF3A-6A25-4B3F-8E60-6108148E55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600200" y="5467350"/>
            <a:ext cx="12039600" cy="1123950"/>
          </a:xfrm>
          <a:prstGeom xmlns:a="http://schemas.openxmlformats.org/drawingml/2006/main" prst="roundRect">
            <a:avLst>
              <a:gd name="adj" fmla="val 847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FE4947E-2E2C-4D5A-B088-DFED206E71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638800"/>
            <a:ext cx="24765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HARD BOUNDARY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DC1A217F-7E45-4462-994A-E1A7947A47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943100" y="5962650"/>
            <a:ext cx="49530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pre-filtered only · no silent broadening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B74CAF0-D3F9-408B-B959-2864FA7108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486650" y="5638800"/>
            <a:ext cx="28575" cy="7429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6C058E3-0326-4715-852F-1F8B32F61FB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63880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75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SCORE SEMANTICS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0AA9B25E-ADFB-4067-BF4C-46A5AE9FE8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67650" y="5962650"/>
            <a:ext cx="51435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99725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6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provider-neutral · offline illustrative · not confidence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CAA4B4E-BD27-48A6-A4E1-ACF33C620C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8700" y="7086600"/>
            <a:ext cx="1524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F07D00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07D00"/>
                </a:solidFill>
                <a:latin typeface="Calibri"/>
                <a:ea typeface="Calibri"/>
                <a:cs typeface="Calibri"/>
              </a:rPr>
              <a:t>DECISION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39B97AA-C4C9-4A8D-997E-C7AD0F311A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05100" y="6991350"/>
            <a:ext cx="1141095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87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75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Candidate retrieval protects recall; reranking spends the evidence budget deliberately.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3CA8D079-E333-430B-9198-F3840FF422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56B1FA6E-7D19-4BD4-95AB-A7A96F2D9D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621D69C-B05C-4F0B-A6BD-0B4E43C7FA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4A9C6EC-5AC1-4AD4-9D79-D0462CD0122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RERANK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E30F561A-2997-41E1-8361-56739584F8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06</a:t>
            </a:r>
          </a:p>
        </p:txBody>
      </p:sp>
    </p:spTree>
    <p:extLst>
      <p:ext uri="{BB962C8B-B14F-4D97-AF65-F5344CB8AC3E}">
        <p14:creationId xmlns:p14="http://schemas.microsoft.com/office/powerpoint/2010/main" val="1663571577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F5F5F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45EAFBC5-0120-406B-9113-A189734D7D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666750"/>
            <a:ext cx="47625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425" b="1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CAPSTONE PIPELINE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788E1BA-062C-4D13-89C4-9762E55DD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1181100"/>
            <a:ext cx="132969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non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36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36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The capstone now exposes every retrieval decision</a:t>
            </a:r>
          </a:p>
        </p:txBody>
      </p:sp>
      <p:sp>
        <p:nvSpPr>
          <p:cNvPr id="3" name="ingestion-1">
            <a:extLst xmlns:a="http://schemas.openxmlformats.org/drawingml/2006/main">
              <a:ext uri="{FF2B5EF4-FFF2-40B4-BE49-F238E27FC236}">
                <a16:creationId xmlns:a16="http://schemas.microsoft.com/office/drawing/2014/main" id="{EF5CEA91-0836-4E99-95C1-43A271A11F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906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163ADC-FDBA-49AB-AB53-62FA291044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26D1AD73-F995-4369-A266-8FA41354C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049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Versioned index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CA7F72B-07B6-4BF4-A3F9-5860F8AC7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811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provider · model · dimensions</a:t>
            </a:r>
          </a:p>
        </p:txBody>
      </p:sp>
      <p:sp>
        <p:nvSpPr>
          <p:cNvPr id="7" name="ingestion-2">
            <a:extLst xmlns:a="http://schemas.openxmlformats.org/drawingml/2006/main">
              <a:ext uri="{FF2B5EF4-FFF2-40B4-BE49-F238E27FC236}">
                <a16:creationId xmlns:a16="http://schemas.microsoft.com/office/drawing/2014/main" id="{B39DEECB-E0D1-415A-8F2A-C8075A6D9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8100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8679081-8A68-4B7E-9199-340CF95714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D095E54-44DC-4092-9EB7-0C81E4B477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9243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Pre-filter eligibility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DB65E8E-6BA9-40DB-99F9-46D3397B13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company · period · document</a:t>
            </a:r>
          </a:p>
        </p:txBody>
      </p:sp>
      <p:sp>
        <p:nvSpPr>
          <p:cNvPr id="11" name="ingestion-3">
            <a:extLst xmlns:a="http://schemas.openxmlformats.org/drawingml/2006/main">
              <a:ext uri="{FF2B5EF4-FFF2-40B4-BE49-F238E27FC236}">
                <a16:creationId xmlns:a16="http://schemas.microsoft.com/office/drawing/2014/main" id="{D4342A97-3791-461F-A305-9671DA4948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294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062433"/>
          </a:solidFill>
          <a:ln xmlns:a="http://schemas.openxmlformats.org/drawingml/2006/main" w="9525">
            <a:solidFill>
              <a:srgbClr val="062433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4E49A95-2D88-4387-8BD5-FA749ABD09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03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572D3874-F985-4CD0-BBFF-D59F5B7B3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7437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650" b="1">
                <a:solidFill>
                  <a:srgbClr val="FFFFFF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FFFFFF"/>
                </a:solidFill>
                <a:latin typeface="Calibri"/>
                <a:ea typeface="Calibri"/>
                <a:cs typeface="Calibri"/>
              </a:rPr>
              <a:t>Keyword + dense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599AF29-91DE-47C0-8189-B0778BB527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199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candidate_k · ranked passage IDs</a:t>
            </a:r>
          </a:p>
        </p:txBody>
      </p:sp>
      <p:sp>
        <p:nvSpPr>
          <p:cNvPr id="15" name="ingestion-4">
            <a:extLst xmlns:a="http://schemas.openxmlformats.org/drawingml/2006/main">
              <a:ext uri="{FF2B5EF4-FFF2-40B4-BE49-F238E27FC236}">
                <a16:creationId xmlns:a16="http://schemas.microsoft.com/office/drawing/2014/main" id="{7952DE37-BD86-481C-A575-8709971DD7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488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9525">
            <a:solidFill>
              <a:srgbClr val="E4E7E9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2EC2EC9-18A1-4F72-A64D-AF536DDC8F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04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8540FD5A-1C0F-4BE1-B862-685F20D0F4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631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RRF + rerank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7E52B70-645C-40F7-B0DE-1D1D177875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6393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rank fusion · transparent features</a:t>
            </a:r>
          </a:p>
        </p:txBody>
      </p:sp>
      <p:sp>
        <p:nvSpPr>
          <p:cNvPr id="19" name="ingestion-5">
            <a:extLst xmlns:a="http://schemas.openxmlformats.org/drawingml/2006/main">
              <a:ext uri="{FF2B5EF4-FFF2-40B4-BE49-F238E27FC236}">
                <a16:creationId xmlns:a16="http://schemas.microsoft.com/office/drawing/2014/main" id="{43F7E1B1-E237-4A79-B0C4-38965CF32D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268200" y="3086100"/>
            <a:ext cx="2247900" cy="2266950"/>
          </a:xfrm>
          <a:prstGeom xmlns:a="http://schemas.openxmlformats.org/drawingml/2006/main" prst="roundRect">
            <a:avLst>
              <a:gd name="adj" fmla="val 5085"/>
            </a:avLst>
          </a:prstGeom>
          <a:solidFill xmlns:a="http://schemas.openxmlformats.org/drawingml/2006/main">
            <a:srgbClr val="FFFFFF"/>
          </a:solidFill>
          <a:ln xmlns:a="http://schemas.openxmlformats.org/drawingml/2006/main" w="19050">
            <a:solidFill>
              <a:srgbClr val="F07D0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51764D39-05B0-4F08-BC2B-2221BE2F38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3295650"/>
            <a:ext cx="5143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Autofit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350" b="1">
                <a:solidFill>
                  <a:srgbClr val="00A2EB"/>
                </a:solidFill>
                <a:latin typeface="Calibri"/>
                <a:ea typeface="Calibri"/>
                <a:cs typeface="Calibri"/>
              </a:defRPr>
            </a:pPr>
            <a:r>
              <a:rPr sz="1800" b="1">
                <a:solidFill>
                  <a:srgbClr val="00A2EB"/>
                </a:solidFill>
                <a:latin typeface="Calibri"/>
                <a:ea typeface="Calibri"/>
                <a:cs typeface="Calibri"/>
              </a:rPr>
              <a:t>05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0F4CBB5-9FF7-4C7B-8D8C-5AA3541DD5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382500" y="3752850"/>
            <a:ext cx="2019300" cy="685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95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195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Cited evidence set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8856B515-B8BF-4B9C-8D6B-EC909D2B3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458700" y="4610100"/>
            <a:ext cx="18669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1F40CB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1F40CB"/>
                </a:solidFill>
                <a:latin typeface="Calibri"/>
                <a:ea typeface="Calibri"/>
                <a:cs typeface="Calibri"/>
              </a:rPr>
              <a:t>final_k · provenance intact</a:t>
            </a:r>
          </a:p>
        </p:txBody>
      </p:sp>
      <p:cxnSp>
        <p:nvCxnSpPr>
          <p:cNvPr id="265" name=""/>
          <p:cNvCxnSpPr>
            <a:stCxn xmlns:a="http://schemas.openxmlformats.org/drawingml/2006/main" id="3" idx="3"/>
            <a:endCxn xmlns:a="http://schemas.openxmlformats.org/drawingml/2006/main" id="7" idx="1"/>
          </p:cNvCxnSpPr>
          <p:nvPr/>
        </p:nvCxnSpPr>
        <p:spPr>
          <a:xfrm xmlns:a="http://schemas.openxmlformats.org/drawingml/2006/main">
            <a:off x="32385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266" name=""/>
          <p:cNvCxnSpPr>
            <a:stCxn xmlns:a="http://schemas.openxmlformats.org/drawingml/2006/main" id="7" idx="3"/>
            <a:endCxn xmlns:a="http://schemas.openxmlformats.org/drawingml/2006/main" id="11" idx="1"/>
          </p:cNvCxnSpPr>
          <p:nvPr/>
        </p:nvCxnSpPr>
        <p:spPr>
          <a:xfrm xmlns:a="http://schemas.openxmlformats.org/drawingml/2006/main">
            <a:off x="60579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267" name=""/>
          <p:cNvCxnSpPr>
            <a:stCxn xmlns:a="http://schemas.openxmlformats.org/drawingml/2006/main" id="11" idx="3"/>
            <a:endCxn xmlns:a="http://schemas.openxmlformats.org/drawingml/2006/main" id="15" idx="1"/>
          </p:cNvCxnSpPr>
          <p:nvPr/>
        </p:nvCxnSpPr>
        <p:spPr>
          <a:xfrm xmlns:a="http://schemas.openxmlformats.org/drawingml/2006/main">
            <a:off x="88773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cxnSp>
        <p:nvCxnSpPr>
          <p:cNvPr id="268" name=""/>
          <p:cNvCxnSpPr>
            <a:stCxn xmlns:a="http://schemas.openxmlformats.org/drawingml/2006/main" id="15" idx="3"/>
            <a:endCxn xmlns:a="http://schemas.openxmlformats.org/drawingml/2006/main" id="19" idx="1"/>
          </p:cNvCxnSpPr>
          <p:nvPr/>
        </p:nvCxnSpPr>
        <p:spPr>
          <a:xfrm xmlns:a="http://schemas.openxmlformats.org/drawingml/2006/main">
            <a:off x="11696700" y="4219575"/>
            <a:ext cx="571500" cy="0"/>
          </a:xfrm>
          <a:prstGeom xmlns:a="http://schemas.openxmlformats.org/drawingml/2006/main" prst="straightConnector1">
            <a:avLst/>
          </a:prstGeom>
          <a:ln xmlns:a="http://schemas.openxmlformats.org/drawingml/2006/main" w="28575">
            <a:solidFill>
              <a:srgbClr val="9A9A9F"/>
            </a:solidFill>
            <a:prstDash val="solid"/>
            <a:tailEnd type="triangle" w="med" len="med"/>
          </a:ln>
        </p:spPr>
      </p:cxn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79128475-820B-447C-A724-7D8A31328F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381250" y="6210300"/>
            <a:ext cx="1047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2100" b="1">
                <a:solidFill>
                  <a:srgbClr val="051C2A"/>
                </a:solidFill>
                <a:latin typeface="Calibri"/>
                <a:ea typeface="Calibri"/>
                <a:cs typeface="Calibri"/>
              </a:defRPr>
            </a:pPr>
            <a:r>
              <a:rPr sz="2100" b="1">
                <a:solidFill>
                  <a:srgbClr val="051C2A"/>
                </a:solidFill>
                <a:latin typeface="Calibri"/>
                <a:ea typeface="Calibri"/>
                <a:cs typeface="Calibri"/>
              </a:rPr>
              <a:t>Lesson 07 evaluates each stage and traces the answer path.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685F2AAD-81FC-436A-88F7-89F49C9F16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885950" y="6838950"/>
            <a:ext cx="4476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retrieval recall is measured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CDE04AD7-6CBE-4792-B549-765578FB3E1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01100" y="6838950"/>
            <a:ext cx="4762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ctr">
              <a:lnSpc>
                <a:spcPct val="100000"/>
              </a:lnSpc>
              <a:buNone/>
              <a:defRPr sz="1500" b="0">
                <a:solidFill>
                  <a:srgbClr val="64748B"/>
                </a:solidFill>
                <a:latin typeface="Calibri"/>
                <a:ea typeface="Calibri"/>
                <a:cs typeface="Calibri"/>
              </a:defRPr>
            </a:pPr>
            <a:r>
              <a:rPr sz="1500" b="0">
                <a:solidFill>
                  <a:srgbClr val="64748B"/>
                </a:solidFill>
                <a:latin typeface="Calibri"/>
                <a:ea typeface="Calibri"/>
                <a:cs typeface="Calibri"/>
              </a:rPr>
              <a:t>answer groundedness stays separate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8CBA7AE-993C-4F84-A696-8D1323AC4E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13525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E4E7E9"/>
          </a:solidFill>
          <a:ln xmlns:a="http://schemas.openxmlformats.org/drawingml/2006/main" w="0">
            <a:solidFill>
              <a:srgbClr val="E4E7E9"/>
            </a:solidFill>
            <a:prstDash val="solid"/>
          </a:ln>
        </p:spPr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DE97BF4D-EDBC-4480-A82B-512A72221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7896225"/>
            <a:ext cx="8001000" cy="381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00A2EB"/>
          </a:solidFill>
          <a:ln xmlns:a="http://schemas.openxmlformats.org/drawingml/2006/main" w="0">
            <a:solidFill>
              <a:srgbClr val="00A2EB"/>
            </a:solidFill>
            <a:prstDash val="solid"/>
          </a:ln>
        </p:spPr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49281B64-2F0F-4357-A085-C65451F282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8058150"/>
            <a:ext cx="3714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l">
              <a:lnSpc>
                <a:spcPct val="100000"/>
              </a:lnSpc>
              <a:buNone/>
              <a:defRPr sz="1200" b="0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0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First Finance - Arnaud Demes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EAA325A4-7EC6-42CE-A13A-4B38A32DE7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2192000" y="8058150"/>
            <a:ext cx="18097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HANDOFF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5F7FB65A-4A0D-4595-92F4-FD9B716388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4135100" y="8058150"/>
            <a:ext cx="2667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 wrap="square" lIns="0" tIns="0" rIns="0" bIns="0" anchor="ctr">
            <a:normAutofit fontScale="100000"/>
          </a:bodyPr>
          <a:lstStyle xmlns:a="http://schemas.openxmlformats.org/drawingml/2006/main"/>
          <a:p xmlns:a="http://schemas.openxmlformats.org/drawingml/2006/main">
            <a:pPr algn="r">
              <a:lnSpc>
                <a:spcPct val="100000"/>
              </a:lnSpc>
              <a:buNone/>
              <a:defRPr sz="1200" b="1">
                <a:solidFill>
                  <a:srgbClr val="9A9A9F"/>
                </a:solidFill>
                <a:latin typeface="Calibri"/>
                <a:ea typeface="Calibri"/>
                <a:cs typeface="Calibri"/>
              </a:defRPr>
            </a:pPr>
            <a:r>
              <a:rPr sz="1200" b="1">
                <a:solidFill>
                  <a:srgbClr val="9A9A9F"/>
                </a:solidFill>
                <a:latin typeface="Calibri"/>
                <a:ea typeface="Calibri"/>
                <a:cs typeface="Calibri"/>
              </a:rPr>
              <a:t>07</a:t>
            </a:r>
          </a:p>
        </p:txBody>
      </p:sp>
    </p:spTree>
    <p:extLst>
      <p:ext uri="{BB962C8B-B14F-4D97-AF65-F5344CB8AC3E}">
        <p14:creationId xmlns:p14="http://schemas.microsoft.com/office/powerpoint/2010/main" val="1169510731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2026-08-15T13:28:40.3440000Z</dcterms:created>
  <dcterms:modified xsi:type="dcterms:W3CDTF">2026-08-15T13:28:40.3440000Z</dcterms:modified>
</coreProperties>
</file>