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3eb1b9abaae457f" /><Relationship Type="http://schemas.openxmlformats.org/officeDocument/2006/relationships/extended-properties" Target="/docProps/app.xml" Id="R03d36418be084f91" /><Relationship Type="http://schemas.openxmlformats.org/officeDocument/2006/relationships/officeDocument" Target="/ppt/presentation.xml" Id="Ra61ca8c9d5924aa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f2a6bd326ba4500"/>
  </p:sldMasterIdLst>
  <p:notesMasterIdLst>
    <p:notesMasterId xmlns:r="http://schemas.openxmlformats.org/officeDocument/2006/relationships" r:id="R2d124c29d7c847f7"/>
  </p:notesMasterIdLst>
  <p:sldIdLst>
    <p:sldId xmlns:r="http://schemas.openxmlformats.org/officeDocument/2006/relationships" id="256" r:id="Rb89dd0c19e57470d"/>
    <p:sldId xmlns:r="http://schemas.openxmlformats.org/officeDocument/2006/relationships" id="257" r:id="R2136b62ef76d4267"/>
    <p:sldId xmlns:r="http://schemas.openxmlformats.org/officeDocument/2006/relationships" id="258" r:id="Rc088ebefff85449b"/>
    <p:sldId xmlns:r="http://schemas.openxmlformats.org/officeDocument/2006/relationships" id="259" r:id="R220e4196087a4e81"/>
    <p:sldId xmlns:r="http://schemas.openxmlformats.org/officeDocument/2006/relationships" id="260" r:id="R04b7aede4f354d2c"/>
    <p:sldId xmlns:r="http://schemas.openxmlformats.org/officeDocument/2006/relationships" id="261" r:id="Re353eb7811e940c2"/>
    <p:sldId xmlns:r="http://schemas.openxmlformats.org/officeDocument/2006/relationships" id="262" r:id="Rd10b2f14c8ff49e9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7aa844680984116" /><Relationship Type="http://schemas.openxmlformats.org/officeDocument/2006/relationships/slideMaster" Target="/ppt/slideMasters/slideMaster1.xml" Id="Rff2a6bd326ba4500" /><Relationship Type="http://schemas.openxmlformats.org/officeDocument/2006/relationships/notesMaster" Target="/ppt/notesMasters/notesMaster1.xml" Id="R2d124c29d7c847f7" /><Relationship Type="http://schemas.openxmlformats.org/officeDocument/2006/relationships/presProps" Target="/ppt/presProps.xml" Id="Rd0f179f2141d4907" /><Relationship Type="http://schemas.openxmlformats.org/officeDocument/2006/relationships/tableStyles" Target="/ppt/tableStyles.xml" Id="Rb2cd445c733947ef" /><Relationship Type="http://schemas.openxmlformats.org/officeDocument/2006/relationships/slide" Target="/ppt/slides/slide1.xml" Id="Rb89dd0c19e57470d" /><Relationship Type="http://schemas.openxmlformats.org/officeDocument/2006/relationships/slide" Target="/ppt/slides/slide2.xml" Id="R2136b62ef76d4267" /><Relationship Type="http://schemas.openxmlformats.org/officeDocument/2006/relationships/slide" Target="/ppt/slides/slide3.xml" Id="Rc088ebefff85449b" /><Relationship Type="http://schemas.openxmlformats.org/officeDocument/2006/relationships/slide" Target="/ppt/slides/slide4.xml" Id="R220e4196087a4e81" /><Relationship Type="http://schemas.openxmlformats.org/officeDocument/2006/relationships/slide" Target="/ppt/slides/slide5.xml" Id="R04b7aede4f354d2c" /><Relationship Type="http://schemas.openxmlformats.org/officeDocument/2006/relationships/slide" Target="/ppt/slides/slide6.xml" Id="Re353eb7811e940c2" /><Relationship Type="http://schemas.openxmlformats.org/officeDocument/2006/relationships/slide" Target="/ppt/slides/slide7.xml" Id="Rd10b2f14c8ff49e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a7d52cdcc974b1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9068bc905364949" /><Relationship Type="http://schemas.openxmlformats.org/officeDocument/2006/relationships/notesMaster" Target="/ppt/notesMasters/notesMaster1.xml" Id="R4bcb3d22051a4c2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c53788766e44a60" /><Relationship Type="http://schemas.openxmlformats.org/officeDocument/2006/relationships/notesMaster" Target="/ppt/notesMasters/notesMaster1.xml" Id="R199f447b4397475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58de39e9d2741eb" /><Relationship Type="http://schemas.openxmlformats.org/officeDocument/2006/relationships/notesMaster" Target="/ppt/notesMasters/notesMaster1.xml" Id="R4ef7a8dd5048453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0f27c9176de49bd" /><Relationship Type="http://schemas.openxmlformats.org/officeDocument/2006/relationships/notesMaster" Target="/ppt/notesMasters/notesMaster1.xml" Id="R8969f63f1ed74ee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be8a4e2c73e414c" /><Relationship Type="http://schemas.openxmlformats.org/officeDocument/2006/relationships/notesMaster" Target="/ppt/notesMasters/notesMaster1.xml" Id="R079c1ad0e8014b1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1c2f4aecb154584" /><Relationship Type="http://schemas.openxmlformats.org/officeDocument/2006/relationships/notesMaster" Target="/ppt/notesMasters/notesMaster1.xml" Id="R5584a343a2374d7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e844d11d5b2465d" /><Relationship Type="http://schemas.openxmlformats.org/officeDocument/2006/relationships/notesMaster" Target="/ppt/notesMasters/notesMaster1.xml" Id="Ra31300cee2084bd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Outcome: explain retrieval as a staged, testable system over the trusted Lesson 05 evidence units.</a:t>
            </a:r>
          </a:p>
          <a:p xmlns:a="http://schemas.openxmlformats.org/drawingml/2006/main">
            <a:r>
              <a:t>Use the full 15 minutes for the seven diagrams, then move to the 30-minute executable notebook.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Course-owned diagrams and claims: chapters/06-hybrid-retrieval.md</a:t>
            </a:r>
          </a:p>
          <a:p xmlns:a="http://schemas.openxmlformats.org/drawingml/2006/main">
            <a:r>
              <a:t>- Executable semantics: notebooks/06_hybrid_retrieval.ipynb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For normalized vectors, cosine is the dot product. Use it as a relative ranking signal inside one versioned embedding space.</a:t>
            </a:r>
          </a:p>
          <a:p xmlns:a="http://schemas.openxmlformats.org/drawingml/2006/main">
            <a:r>
              <a:t>The two-dimensional picture is intuition only; the notebook's similarity heatmap uses the full embedding dimensions.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scikit-learn cosine similarity: https://scikit-learn.org/stable/modules/generated/sklearn.metrics.pairwise.cosine_similarity.html</a:t>
            </a:r>
          </a:p>
          <a:p xmlns:a="http://schemas.openxmlformats.org/drawingml/2006/main">
            <a:r>
              <a:t>- Course explanation: chapters/06-hybrid-retrieval.md#cosine-similarity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Keyword retrieval protects exact numbers, tickers, and accounting labels. Dense retrieval protects conceptual matches with limited literal overlap.</a:t>
            </a:r>
          </a:p>
          <a:p xmlns:a="http://schemas.openxmlformats.org/drawingml/2006/main">
            <a:r>
              <a:t>Do not compare TF-IDF cosine and embedding cosine as if they were one calibrated score scale.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Executable comparison: notebooks/06_hybrid_retrieval.ipynb</a:t>
            </a:r>
          </a:p>
          <a:p xmlns:a="http://schemas.openxmlformats.org/drawingml/2006/main">
            <a:r>
              <a:t>- NVIDIA fiscal 2026 Form 10-K: https://www.sec.gov/Archives/edgar/data/1045810/000104581026000021/nvda-20260125.htm</a:t>
            </a:r>
          </a:p>
          <a:p xmlns:a="http://schemas.openxmlformats.org/drawingml/2006/main">
            <a:r>
              <a:t>- Schneider Electric FY2025 results: https://www.se.com/ww/en/assets/564/document/528237/release-fy-results-2025.pdf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Eligibility uses exact company, period, document type, and section values with logical AND before both keyword and dense scoring.</a:t>
            </a:r>
          </a:p>
          <a:p xmlns:a="http://schemas.openxmlformats.org/drawingml/2006/main">
            <a:r>
              <a:t>If no passage is eligible, the production boundary abstains instead of silently broadening the search.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Retrieval filters: src/finai_academy/hybrid_retrieval.py</a:t>
            </a:r>
          </a:p>
          <a:p xmlns:a="http://schemas.openxmlformats.org/drawingml/2006/main">
            <a:r>
              <a:t>- Pipeline abstention and pre-filter order: src/finai_academy/retrieval_pipeline.py</a:t>
            </a:r>
          </a:p>
          <a:p xmlns:a="http://schemas.openxmlformats.org/drawingml/2006/main">
            <a:r>
              <a:t>- Course explanation: chapters/06-hybrid-retrieval.md#pre-filtering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Worked example: B receives 1/(60+2) from keyword and 1/(60+1) from dense, totaling 0.03252. A totals 1/61 + 1/63 = 0.03227.</a:t>
            </a:r>
          </a:p>
          <a:p xmlns:a="http://schemas.openxmlformats.org/drawingml/2006/main">
            <a:r>
              <a:t>RRF combines one-based rank positions because raw keyword and dense scores are not calibrated to each other. Passage IDs deduplicate the channels.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RRF implementation: src/finai_academy/hybrid_retrieval.py</a:t>
            </a:r>
          </a:p>
          <a:p xmlns:a="http://schemas.openxmlformats.org/drawingml/2006/main">
            <a:r>
              <a:t>- Course calculation: notebooks/06_hybrid_retrieval.ipynb, Figure 7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production interface is provider-neutral. The deterministic offline reranker is an illustrative, inspectable policy—not a production cross-encoder.</a:t>
            </a:r>
          </a:p>
          <a:p xmlns:a="http://schemas.openxmlformats.org/drawingml/2006/main">
            <a:r>
              <a:t>Offline feature weights are lexical coverage 0.25, exact numeric coverage 0.45, section overlap 0.10, metadata eligibility 0.10, and normalized fusion signal 0.10. Their sum is a rerank score, not confidence.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Feature definitions and weights: src/finai_academy/reranking.py</a:t>
            </a:r>
          </a:p>
          <a:p xmlns:a="http://schemas.openxmlformats.org/drawingml/2006/main">
            <a:r>
              <a:t>- Candidate and final budgets: src/finai_academy/retrieval_pipeline.py</a:t>
            </a:r>
          </a:p>
          <a:p xmlns:a="http://schemas.openxmlformats.org/drawingml/2006/main">
            <a:r>
              <a:t>- Provider-mode distinction: chapters/06-hybrid-retrieval.md#provider-modes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capstone increment is filtered lexical+dense retrieval, reciprocal-rank fusion, and transparent reranking over a versioned local index.</a:t>
            </a:r>
          </a:p>
          <a:p xmlns:a="http://schemas.openxmlformats.org/drawingml/2006/main">
            <a:r>
              <a:t>Lesson 07 should trace index identity, eligibility, channel ranks, RRF contributions, rerank features, final evidence IDs, and provenance. It evaluates retrieval recall separately from answer groundedness.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Course-owned pipeline and transition: chapters/06-hybrid-retrieval.md</a:t>
            </a:r>
          </a:p>
          <a:p xmlns:a="http://schemas.openxmlformats.org/drawingml/2006/main">
            <a:r>
              <a:t>- Executable stage outputs: notebooks/06_hybrid_retrieval.ipynb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3587069d6c1489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701aaaa481f449c" /><Relationship Type="http://schemas.openxmlformats.org/officeDocument/2006/relationships/slideLayout" Target="/ppt/slideLayouts/slideLayout1.xml" Id="R48334c3f187d4ad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8334c3f187d4ad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9ba3fa2a124059" /><Relationship Type="http://schemas.openxmlformats.org/officeDocument/2006/relationships/notesSlide" Target="/ppt/notesSlides/notesSlide1.xml" Id="R33681eca92c347a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6116ac87a145ea" /><Relationship Type="http://schemas.openxmlformats.org/officeDocument/2006/relationships/notesSlide" Target="/ppt/notesSlides/notesSlide2.xml" Id="Rbefe7c0677d0474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769a6b072f4474" /><Relationship Type="http://schemas.openxmlformats.org/officeDocument/2006/relationships/notesSlide" Target="/ppt/notesSlides/notesSlide3.xml" Id="R224447b715104b7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332da0f5b84f39" /><Relationship Type="http://schemas.openxmlformats.org/officeDocument/2006/relationships/notesSlide" Target="/ppt/notesSlides/notesSlide4.xml" Id="R5a46a83e4c27493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e14bf28bd2439c" /><Relationship Type="http://schemas.openxmlformats.org/officeDocument/2006/relationships/notesSlide" Target="/ppt/notesSlides/notesSlide5.xml" Id="Rdb60c03daa47492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cdcbbbdc174ba2" /><Relationship Type="http://schemas.openxmlformats.org/officeDocument/2006/relationships/notesSlide" Target="/ppt/notesSlides/notesSlide6.xml" Id="R20525f6f2da9434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45b926360546d8" /><Relationship Type="http://schemas.openxmlformats.org/officeDocument/2006/relationships/notesSlide" Target="/ppt/notesSlides/notesSlide7.xml" Id="Rd9e60e50ab0b4fb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1E88F9-4976-411E-8732-D45BE311B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810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C43047-00B1-4B7A-BB36-D272D2C9B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06680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FIRST FINANCE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BB9B00-5773-4D90-9774-8BB7FE352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62200"/>
            <a:ext cx="132969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8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4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Hybrid Retrieval and Reranking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1F96F8-8EA3-4B69-A3AF-EBD5CBCD0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62350"/>
            <a:ext cx="1123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 b="0">
                <a:solidFill>
                  <a:srgbClr val="3F3F42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3F3F42"/>
                </a:solidFill>
                <a:latin typeface="Calibri"/>
                <a:ea typeface="Calibri"/>
                <a:cs typeface="Calibri"/>
              </a:rPr>
              <a:t>Make eligible evidence compete across complementary ranking channels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A6E89B-2708-4600-B820-727EF660D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770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SESSION 06  ·  15 MIN CONCEPTS + 30 MIN NOTEBOOK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3831D6-7D46-4F1A-929F-D2CAD97F1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0675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Financial Analyst Copilot</a:t>
            </a:r>
          </a:p>
        </p:txBody>
      </p:sp>
    </p:spTree>
    <p:extLst>
      <p:ext uri="{BB962C8B-B14F-4D97-AF65-F5344CB8AC3E}">
        <p14:creationId xmlns:p14="http://schemas.microsoft.com/office/powerpoint/2010/main" val="131622913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DB9499D-57E3-4A1D-8EC6-611BB0418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EMBEDDING GEOMETRY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95CF57-625B-488E-BEB2-B69B4A408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Cosine measures alignment—not confidence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B47AA7-B631-41FD-ABBE-E3FFFB37A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384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VECTOR INTUITION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5257D7-8A5E-4ED5-99FB-9BEA2CD5A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429000"/>
            <a:ext cx="1028700" cy="41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0CB"/>
          </a:solidFill>
          <a:ln xmlns:a="http://schemas.openxmlformats.org/drawingml/2006/main" w="0">
            <a:solidFill>
              <a:srgbClr val="1F40C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28125A-6117-4802-BDED-1521C83E6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105150"/>
            <a:ext cx="1028700" cy="5926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0CB"/>
          </a:solidFill>
          <a:ln xmlns:a="http://schemas.openxmlformats.org/drawingml/2006/main" w="0">
            <a:solidFill>
              <a:srgbClr val="1F40C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C50A16-6CE2-41AD-9C68-31BCF4A37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105150"/>
            <a:ext cx="1028700" cy="6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0CB"/>
          </a:solidFill>
          <a:ln xmlns:a="http://schemas.openxmlformats.org/drawingml/2006/main" w="0">
            <a:solidFill>
              <a:srgbClr val="1F40C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9E3D30-9339-457F-B7CD-A0EA27BB0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33375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A8E3BE-28EF-40CE-8891-51278C59B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0767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01DE89-BF1D-4E47-A0E5-E2BD6B90E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0099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BE587B-C753-4E2B-8104-881E1547F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1529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69151E-D420-4D59-85E7-111FD86A4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981450"/>
            <a:ext cx="3562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7D00"/>
          </a:solidFill>
          <a:ln xmlns:a="http://schemas.openxmlformats.org/drawingml/2006/main" w="0">
            <a:solidFill>
              <a:srgbClr val="F07D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6E1099-8F96-4D4A-A076-9A2E90695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43865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angle grows → cosine falls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498DFA-9E2C-4070-94C7-94B630627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4384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COSINE SIMILARITY</a:t>
            </a:r>
          </a:p>
        </p:txBody>
      </p:sp>
      <p:sp>
        <p:nvSpPr>
          <p:cNvPr id="14" name="parent-section">
            <a:extLst xmlns:a="http://schemas.openxmlformats.org/drawingml/2006/main">
              <a:ext uri="{FF2B5EF4-FFF2-40B4-BE49-F238E27FC236}">
                <a16:creationId xmlns:a16="http://schemas.microsoft.com/office/drawing/2014/main" id="{7E782CAC-BF7C-46FC-866C-E3E89506D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009900"/>
            <a:ext cx="27241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DA1344-7C73-4F1F-9D24-59FEB65C1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143250"/>
            <a:ext cx="2266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 · d / (‖q‖ · ‖d‖)</a:t>
            </a:r>
          </a:p>
        </p:txBody>
      </p:sp>
      <p:sp>
        <p:nvSpPr>
          <p:cNvPr id="16" name="child-0">
            <a:extLst xmlns:a="http://schemas.openxmlformats.org/drawingml/2006/main">
              <a:ext uri="{FF2B5EF4-FFF2-40B4-BE49-F238E27FC236}">
                <a16:creationId xmlns:a16="http://schemas.microsoft.com/office/drawing/2014/main" id="{49FF913A-8883-45CD-B244-354955ACD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4476750"/>
            <a:ext cx="12192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2E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3589B9-91C1-4446-A372-5FFFE4BDC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4629150"/>
            <a:ext cx="1028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−1</a:t>
            </a:r>
          </a:p>
        </p:txBody>
      </p:sp>
      <p:sp>
        <p:nvSpPr>
          <p:cNvPr id="18" name="child-1">
            <a:extLst xmlns:a="http://schemas.openxmlformats.org/drawingml/2006/main">
              <a:ext uri="{FF2B5EF4-FFF2-40B4-BE49-F238E27FC236}">
                <a16:creationId xmlns:a16="http://schemas.microsoft.com/office/drawing/2014/main" id="{7ADCF829-81FB-4C43-A5F1-10A73F9F1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476750"/>
            <a:ext cx="12192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2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14D7249-C284-46C6-A639-E3A0E60C6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629150"/>
            <a:ext cx="1028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20" name="child-2">
            <a:extLst xmlns:a="http://schemas.openxmlformats.org/drawingml/2006/main">
              <a:ext uri="{FF2B5EF4-FFF2-40B4-BE49-F238E27FC236}">
                <a16:creationId xmlns:a16="http://schemas.microsoft.com/office/drawing/2014/main" id="{D221F047-9582-4D03-9D8B-65910E5A1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476750"/>
            <a:ext cx="12192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2E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DE71631-E8CD-4C8E-83BE-21A31097C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629150"/>
            <a:ext cx="1028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+1</a:t>
            </a:r>
          </a:p>
        </p:txBody>
      </p:sp>
      <p:cxnSp>
        <p:nvCxnSpPr>
          <p:cNvPr id="230" name=""/>
          <p:cNvCxnSpPr>
            <a:stCxn xmlns:a="http://schemas.openxmlformats.org/drawingml/2006/main" id="14" idx="2"/>
            <a:endCxn xmlns:a="http://schemas.openxmlformats.org/drawingml/2006/main" id="16" idx="0"/>
          </p:cNvCxnSpPr>
          <p:nvPr/>
        </p:nvCxnSpPr>
        <p:spPr>
          <a:xfrm xmlns:a="http://schemas.openxmlformats.org/drawingml/2006/main" flipH="1">
            <a:off x="6400800" y="3714750"/>
            <a:ext cx="1228725" cy="7620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A2EB"/>
            </a:solidFill>
            <a:prstDash val="solid"/>
            <a:tailEnd type="triangle" w="sm" len="sm"/>
          </a:ln>
        </p:spPr>
      </p:cxnSp>
      <p:cxnSp>
        <p:nvCxnSpPr>
          <p:cNvPr id="231" name=""/>
          <p:cNvCxnSpPr>
            <a:stCxn xmlns:a="http://schemas.openxmlformats.org/drawingml/2006/main" id="14" idx="2"/>
            <a:endCxn xmlns:a="http://schemas.openxmlformats.org/drawingml/2006/main" id="18" idx="0"/>
          </p:cNvCxnSpPr>
          <p:nvPr/>
        </p:nvCxnSpPr>
        <p:spPr>
          <a:xfrm xmlns:a="http://schemas.openxmlformats.org/drawingml/2006/main">
            <a:off x="7629525" y="3714750"/>
            <a:ext cx="238125" cy="7620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A2EB"/>
            </a:solidFill>
            <a:prstDash val="solid"/>
            <a:tailEnd type="triangle" w="sm" len="sm"/>
          </a:ln>
        </p:spPr>
      </p:cxnSp>
      <p:cxnSp>
        <p:nvCxnSpPr>
          <p:cNvPr id="232" name=""/>
          <p:cNvCxnSpPr>
            <a:stCxn xmlns:a="http://schemas.openxmlformats.org/drawingml/2006/main" id="14" idx="2"/>
            <a:endCxn xmlns:a="http://schemas.openxmlformats.org/drawingml/2006/main" id="20" idx="0"/>
          </p:cNvCxnSpPr>
          <p:nvPr/>
        </p:nvCxnSpPr>
        <p:spPr>
          <a:xfrm xmlns:a="http://schemas.openxmlformats.org/drawingml/2006/main">
            <a:off x="7629525" y="3714750"/>
            <a:ext cx="1704975" cy="7620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A2EB"/>
            </a:solidFill>
            <a:prstDash val="solid"/>
            <a:tailEnd type="triangle" w="sm" len="sm"/>
          </a:ln>
        </p:spPr>
      </p:cxn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459A2EB-91A2-485C-8769-4414CA087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5524500"/>
            <a:ext cx="4038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opposed · orthogonal · aligned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11A9A77-C203-4FF0-B40D-A9FCCEC00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2438400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INTERPRETATION</a:t>
            </a:r>
          </a:p>
        </p:txBody>
      </p:sp>
      <p:sp>
        <p:nvSpPr>
          <p:cNvPr id="27" name="context-prefix">
            <a:extLst xmlns:a="http://schemas.openxmlformats.org/drawingml/2006/main">
              <a:ext uri="{FF2B5EF4-FFF2-40B4-BE49-F238E27FC236}">
                <a16:creationId xmlns:a16="http://schemas.microsoft.com/office/drawing/2014/main" id="{394DF3A4-55D3-49A5-B189-7898A8E7D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3009900"/>
            <a:ext cx="340995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E8F6F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A481E31-07AB-413F-A9BC-2CCE1BE44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3162300"/>
            <a:ext cx="2990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Relative alignment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340ED50-2261-4CBA-A9F0-AC58EB913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3486150"/>
            <a:ext cx="2990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one embedding space</a:t>
            </a:r>
          </a:p>
        </p:txBody>
      </p:sp>
      <p:sp>
        <p:nvSpPr>
          <p:cNvPr id="30" name="proposition">
            <a:extLst xmlns:a="http://schemas.openxmlformats.org/drawingml/2006/main">
              <a:ext uri="{FF2B5EF4-FFF2-40B4-BE49-F238E27FC236}">
                <a16:creationId xmlns:a16="http://schemas.microsoft.com/office/drawing/2014/main" id="{72273FB0-E051-4A9D-ACF9-E2567C1DB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4343400"/>
            <a:ext cx="340995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9525">
            <a:solidFill>
              <a:srgbClr val="F07D0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2B58602-B779-49B2-B2C2-E7F6692D3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4457700"/>
            <a:ext cx="2952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NOT CONFIDENCE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815A273-EB10-4B84-9D74-5A6A52A52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4800600"/>
            <a:ext cx="2952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not probability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not truth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641F16E-B897-4CFF-BC22-D4ACA3F5D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5772150"/>
            <a:ext cx="3409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22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2D projection is explanatory; retrieval uses the full vector dimensions.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BBEFBEB-C8FB-4ACA-94DB-124FCEC52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6705600"/>
            <a:ext cx="107061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6F55544-8A98-45CD-8540-D0A1E30F9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681990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Compare passages only within one versioned embedding space.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AF8A41E-A99D-409D-84BE-F33131D11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3956031-4C7C-48C0-AB87-5A7D7BA68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13A278E-A894-4D27-A6F3-22DC6B6D4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08798E0-FBD0-46BF-A594-53A0061D6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GEOMETRY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F1CC3F1-A84C-4B1D-A2E0-A25EF0E90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25703527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F521A64-93BB-447D-87E9-41FC1E867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COMPLEMENTARY CHANNELS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793F9E-8AD7-4755-853A-CFF63AEDB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Keyword and dense lists fail differently—and together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4302C1-E6C0-49C0-9FA8-BA7896D6F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3431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KEYWORD · EXACT</a:t>
            </a:r>
          </a:p>
        </p:txBody>
      </p:sp>
      <p:sp>
        <p:nvSpPr>
          <p:cNvPr id="4" name="fixed-one">
            <a:extLst xmlns:a="http://schemas.openxmlformats.org/drawingml/2006/main">
              <a:ext uri="{FF2B5EF4-FFF2-40B4-BE49-F238E27FC236}">
                <a16:creationId xmlns:a16="http://schemas.microsoft.com/office/drawing/2014/main" id="{40C15356-6CC0-4340-AD48-214BA676B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00350"/>
            <a:ext cx="53340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19050">
            <a:solidFill>
              <a:srgbClr val="F07D0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82FFA5-77A1-442E-984F-08CF9D903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952750"/>
            <a:ext cx="48387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051C2A"/>
                </a:solidFill>
                <a:latin typeface="Courier New"/>
                <a:ea typeface="Courier New"/>
                <a:cs typeface="Courier New"/>
              </a:rPr>
              <a:t>R1  SU-TABLE  18.7%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051C2A"/>
                </a:solidFill>
                <a:latin typeface="Courier New"/>
                <a:ea typeface="Courier New"/>
                <a:cs typeface="Courier New"/>
              </a:rPr>
              <a:t>exact literal</a:t>
            </a:r>
          </a:p>
        </p:txBody>
      </p:sp>
      <p:sp>
        <p:nvSpPr>
          <p:cNvPr id="6" name="fixed-two">
            <a:extLst xmlns:a="http://schemas.openxmlformats.org/drawingml/2006/main">
              <a:ext uri="{FF2B5EF4-FFF2-40B4-BE49-F238E27FC236}">
                <a16:creationId xmlns:a16="http://schemas.microsoft.com/office/drawing/2014/main" id="{AD30FCD2-C657-4E45-B1A1-6793E46E7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324350"/>
            <a:ext cx="28575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19050">
            <a:solidFill>
              <a:srgbClr val="F07D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3EC4B2-CAE9-400F-B11D-2D4F3052F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4577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51C2A"/>
                </a:solidFill>
                <a:latin typeface="Courier New"/>
                <a:ea typeface="Courier New"/>
                <a:cs typeface="Courier New"/>
              </a:defRPr>
            </a:pPr>
            <a:r>
              <a:rPr sz="1500" b="1">
                <a:solidFill>
                  <a:srgbClr val="051C2A"/>
                </a:solidFill>
                <a:latin typeface="Courier New"/>
                <a:ea typeface="Courier New"/>
                <a:cs typeface="Courier New"/>
              </a:rPr>
              <a:t>R2  NVDA-TABLE  $193.7bn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846D44-14BC-44D4-9667-69FFDFBE9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276850"/>
            <a:ext cx="5334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TF-IDF cosine score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06CDE7-35E6-4C8C-A738-6BACCF9A4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3431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DENSE · CONCEPTS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2A6E03-2E74-4AA0-BC40-D36976B59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800350"/>
            <a:ext cx="2152650" cy="6096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E8F7E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E18B6A-26EA-404D-8004-B4AEFB1AC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905125"/>
            <a:ext cx="1924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Rank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7E5910-AC18-40D2-B2F3-6FC1F08D1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800350"/>
            <a:ext cx="1962150" cy="6096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E8F7E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4DBD99-75A2-4F76-80D2-886026B31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905125"/>
            <a:ext cx="173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Candidate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461F5A-F082-42F4-BA7B-33237B017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63350" y="2800350"/>
            <a:ext cx="2571750" cy="6096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E8F7E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A70624-C8CA-468D-98D9-378074887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77650" y="2905125"/>
            <a:ext cx="2343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Why it ranks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03A85A-2DFF-4A0D-A0C0-99283CEFD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448050"/>
            <a:ext cx="21526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7FBF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684354-1A30-417B-8AE7-ECA5F6B03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562350"/>
            <a:ext cx="1924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B55295-3DA8-457F-83F0-53BB6A038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3448050"/>
            <a:ext cx="19621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7FBF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A696DF8-2386-42C4-91BD-18AC99A29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562350"/>
            <a:ext cx="1733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649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NVDA-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CONCENTRATION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339A1A9-4564-4056-8CDC-CEDB497A7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63350" y="3448050"/>
            <a:ext cx="25717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7FBF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BC725B4-5DC5-4222-B581-EB84BE90E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77650" y="3562350"/>
            <a:ext cx="2343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concept alignment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D160DDC-C4FB-4932-B81B-093415961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171950"/>
            <a:ext cx="21526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7FBF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28C8390-620E-4337-B177-E20E16662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286250"/>
            <a:ext cx="1924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8123193-7BA4-459F-B618-D3AB37E4E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4171950"/>
            <a:ext cx="19621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7FBF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AA33689-B136-4C82-B577-8954D2056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286250"/>
            <a:ext cx="1733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NVDA-TABLE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F49AE3A-93EC-4D6A-8CF3-2D01BDBDC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63350" y="4171950"/>
            <a:ext cx="25717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7FBF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F772D1E-8248-480D-BA11-3458C9BA2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77650" y="4286250"/>
            <a:ext cx="2343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business semantics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EF86CEA-598B-4254-9CEF-1D77B357B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5124450"/>
            <a:ext cx="6800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Raw embedding cosine similarity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65E3BAB-E11C-4A7E-89F3-AB1868F4F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362200"/>
            <a:ext cx="28575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1233CBA-8C3B-4B18-A5D5-D4F7061FD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153150"/>
            <a:ext cx="428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SCORE TYPES STAY DISTINCT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DEA1FB2-5ABC-4E19-B39E-FBEB026EF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5341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Keyword scale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9EE73CC-AED7-4593-A08D-4913CB1DF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85800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TF-IDF cosine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43BC68A-D5B2-4F89-AC7A-F4A6B1223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65341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Dense scale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D38EEE4-AA29-40C4-BA3C-01E40A9D5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685800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raw cosine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B5D4A6D-C246-49F7-9388-C795B5E0F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65341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Fusion input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2066664-5058-4CD5-A636-49C7B36A9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685800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rank positions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2483989-A3BC-4F4A-A656-ACD3BAC9F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341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Join key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5B3CFBA-FD87-4351-8C2A-CF0B6F60B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85800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passage ID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846780A-5D65-4410-9457-661BBB6C3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C69519E-645C-4800-9FE8-656AB5D56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7032C2C-E113-4AB5-9CC6-D6B41AEDB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3DD0EC2-8E86-44C8-B8C1-3DB1E93C5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CHANNELS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107089F-BB21-465D-B53D-42746B7A7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4944430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53EFE36-F0E5-4A34-9303-2F261E07F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ELIGIBILITY BARRIER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72B6B0-9CAB-42A6-9CDA-FDF3A13DA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Filter first: ineligible passages never enter either top-k</a:t>
            </a:r>
          </a:p>
        </p:txBody>
      </p:sp>
      <p:sp>
        <p:nvSpPr>
          <p:cNvPr id="3" name="canonical-block">
            <a:extLst xmlns:a="http://schemas.openxmlformats.org/drawingml/2006/main">
              <a:ext uri="{FF2B5EF4-FFF2-40B4-BE49-F238E27FC236}">
                <a16:creationId xmlns:a16="http://schemas.microsoft.com/office/drawing/2014/main" id="{02D02DA8-4C0F-400F-BD3D-E5C1B80C7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819400"/>
            <a:ext cx="4610100" cy="3105150"/>
          </a:xfrm>
          <a:prstGeom xmlns:a="http://schemas.openxmlformats.org/drawingml/2006/main" prst="roundRect">
            <a:avLst>
              <a:gd name="adj" fmla="val 3681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094F27-A4E9-43D6-91FC-255B527DE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3124200"/>
            <a:ext cx="3733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5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ELIGIBLE PASSAGES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840549-C1BA-4343-8D7C-0F20981F0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3790950"/>
            <a:ext cx="3733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company AND period AND type AND section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8ED5F6-048D-47C9-84A8-2C0DBB8EF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362450"/>
            <a:ext cx="3695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548304-EC73-4226-BDEE-2B1DF0C78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4591050"/>
            <a:ext cx="35433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Only eligible passages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may be scored</a:t>
            </a:r>
          </a:p>
        </p:txBody>
      </p:sp>
      <p:sp>
        <p:nvSpPr>
          <p:cNvPr id="8" name="left-field-0">
            <a:extLst xmlns:a="http://schemas.openxmlformats.org/drawingml/2006/main">
              <a:ext uri="{FF2B5EF4-FFF2-40B4-BE49-F238E27FC236}">
                <a16:creationId xmlns:a16="http://schemas.microsoft.com/office/drawing/2014/main" id="{720AE8BF-AA92-49DE-8E2A-99C0FB631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724150"/>
            <a:ext cx="32385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BACEB0-7877-4121-958A-EABE32818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819400"/>
            <a:ext cx="2781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COMPANY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77E674-7E6C-4E95-A44F-3D0874CD5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124200"/>
            <a:ext cx="2781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NVIDIA</a:t>
            </a:r>
          </a:p>
        </p:txBody>
      </p:sp>
      <p:sp>
        <p:nvSpPr>
          <p:cNvPr id="11" name="left-field-1">
            <a:extLst xmlns:a="http://schemas.openxmlformats.org/drawingml/2006/main">
              <a:ext uri="{FF2B5EF4-FFF2-40B4-BE49-F238E27FC236}">
                <a16:creationId xmlns:a16="http://schemas.microsoft.com/office/drawing/2014/main" id="{EB85D765-CD85-4A47-9B4D-BE4F254EF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924300"/>
            <a:ext cx="32385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7C1F3D-0AC2-4377-B5F6-24B12E250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019550"/>
            <a:ext cx="2781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PERIOD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F3BE42-D27D-4E49-97D3-2DA03AC89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324350"/>
            <a:ext cx="2781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FY2026</a:t>
            </a:r>
          </a:p>
        </p:txBody>
      </p:sp>
      <p:sp>
        <p:nvSpPr>
          <p:cNvPr id="14" name="left-field-2">
            <a:extLst xmlns:a="http://schemas.openxmlformats.org/drawingml/2006/main">
              <a:ext uri="{FF2B5EF4-FFF2-40B4-BE49-F238E27FC236}">
                <a16:creationId xmlns:a16="http://schemas.microsoft.com/office/drawing/2014/main" id="{D38A806E-0157-47C3-A918-4210A4D05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124450"/>
            <a:ext cx="32385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83342E-199A-44AF-A318-336CAE10A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219700"/>
            <a:ext cx="2781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DOCUMENT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CB5DA57-E61B-4C94-B0C3-378EC5FEE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524500"/>
            <a:ext cx="2781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10-K teaching extract</a:t>
            </a:r>
          </a:p>
        </p:txBody>
      </p:sp>
      <p:sp>
        <p:nvSpPr>
          <p:cNvPr id="17" name="right-field-0">
            <a:extLst xmlns:a="http://schemas.openxmlformats.org/drawingml/2006/main">
              <a:ext uri="{FF2B5EF4-FFF2-40B4-BE49-F238E27FC236}">
                <a16:creationId xmlns:a16="http://schemas.microsoft.com/office/drawing/2014/main" id="{ED066AEE-EA4B-4DB1-B7D7-DA8623309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724150"/>
            <a:ext cx="32385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072D8D-E329-4E1A-A744-1D6F1EA57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2819400"/>
            <a:ext cx="2781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KEYWORD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0576CD-3A76-4FED-92A9-5CC11BA9C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3124200"/>
            <a:ext cx="2781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exact-term candidates</a:t>
            </a:r>
          </a:p>
        </p:txBody>
      </p:sp>
      <p:sp>
        <p:nvSpPr>
          <p:cNvPr id="20" name="right-field-1">
            <a:extLst xmlns:a="http://schemas.openxmlformats.org/drawingml/2006/main">
              <a:ext uri="{FF2B5EF4-FFF2-40B4-BE49-F238E27FC236}">
                <a16:creationId xmlns:a16="http://schemas.microsoft.com/office/drawing/2014/main" id="{13EC72A3-15F5-4C75-A76D-0D6BA5AA2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3924300"/>
            <a:ext cx="32385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7C9EE2B-9704-4AB7-AB65-DBB12C984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4019550"/>
            <a:ext cx="2781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DENSE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4B680EC-1257-4D06-9C48-5CABC3AD6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4324350"/>
            <a:ext cx="2781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semantic candidates</a:t>
            </a:r>
          </a:p>
        </p:txBody>
      </p:sp>
      <p:sp>
        <p:nvSpPr>
          <p:cNvPr id="23" name="right-field-2">
            <a:extLst xmlns:a="http://schemas.openxmlformats.org/drawingml/2006/main">
              <a:ext uri="{FF2B5EF4-FFF2-40B4-BE49-F238E27FC236}">
                <a16:creationId xmlns:a16="http://schemas.microsoft.com/office/drawing/2014/main" id="{A0E0710B-A185-4D6C-B16D-6B16D9A99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5124450"/>
            <a:ext cx="32385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E678660-B347-4DEE-AD4B-E62AD2E01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5219700"/>
            <a:ext cx="2781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ABSTAIN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B137DBE-0373-4B7D-89B2-62CEDDD2A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5524500"/>
            <a:ext cx="2781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no eligible passage</a:t>
            </a:r>
          </a:p>
        </p:txBody>
      </p:sp>
      <p:cxnSp>
        <p:nvCxnSpPr>
          <p:cNvPr id="280" name=""/>
          <p:cNvCxnSpPr>
            <a:stCxn xmlns:a="http://schemas.openxmlformats.org/drawingml/2006/main" id="8" idx="3"/>
            <a:endCxn xmlns:a="http://schemas.openxmlformats.org/drawingml/2006/main" id="3" idx="1"/>
          </p:cNvCxnSpPr>
          <p:nvPr/>
        </p:nvCxnSpPr>
        <p:spPr>
          <a:xfrm xmlns:a="http://schemas.openxmlformats.org/drawingml/2006/main">
            <a:off x="4267200" y="3171825"/>
            <a:ext cx="1047750" cy="1200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281" name=""/>
          <p:cNvCxnSpPr>
            <a:stCxn xmlns:a="http://schemas.openxmlformats.org/drawingml/2006/main" id="11" idx="3"/>
            <a:endCxn xmlns:a="http://schemas.openxmlformats.org/drawingml/2006/main" id="3" idx="1"/>
          </p:cNvCxnSpPr>
          <p:nvPr/>
        </p:nvCxnSpPr>
        <p:spPr>
          <a:xfrm xmlns:a="http://schemas.openxmlformats.org/drawingml/2006/main">
            <a:off x="4267200" y="4371975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282" name=""/>
          <p:cNvCxnSpPr>
            <a:stCxn xmlns:a="http://schemas.openxmlformats.org/drawingml/2006/main" id="14" idx="3"/>
            <a:endCxn xmlns:a="http://schemas.openxmlformats.org/drawingml/2006/main" id="3" idx="1"/>
          </p:cNvCxnSpPr>
          <p:nvPr/>
        </p:nvCxnSpPr>
        <p:spPr>
          <a:xfrm xmlns:a="http://schemas.openxmlformats.org/drawingml/2006/main" flipV="1">
            <a:off x="4267200" y="4371975"/>
            <a:ext cx="1047750" cy="1200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283" name=""/>
          <p:cNvCxnSpPr>
            <a:stCxn xmlns:a="http://schemas.openxmlformats.org/drawingml/2006/main" id="3" idx="3"/>
            <a:endCxn xmlns:a="http://schemas.openxmlformats.org/drawingml/2006/main" id="17" idx="1"/>
          </p:cNvCxnSpPr>
          <p:nvPr/>
        </p:nvCxnSpPr>
        <p:spPr>
          <a:xfrm xmlns:a="http://schemas.openxmlformats.org/drawingml/2006/main" flipV="1">
            <a:off x="9925050" y="3171825"/>
            <a:ext cx="1047750" cy="1200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A9A9F"/>
            </a:solidFill>
            <a:prstDash val="solid"/>
            <a:tailEnd type="triangle" w="sm" len="sm"/>
          </a:ln>
        </p:spPr>
      </p:cxnSp>
      <p:cxnSp>
        <p:nvCxnSpPr>
          <p:cNvPr id="284" name=""/>
          <p:cNvCxnSpPr>
            <a:stCxn xmlns:a="http://schemas.openxmlformats.org/drawingml/2006/main" id="3" idx="3"/>
            <a:endCxn xmlns:a="http://schemas.openxmlformats.org/drawingml/2006/main" id="20" idx="1"/>
          </p:cNvCxnSpPr>
          <p:nvPr/>
        </p:nvCxnSpPr>
        <p:spPr>
          <a:xfrm xmlns:a="http://schemas.openxmlformats.org/drawingml/2006/main">
            <a:off x="9925050" y="4371975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A9A9F"/>
            </a:solidFill>
            <a:prstDash val="solid"/>
            <a:tailEnd type="triangle" w="sm" len="sm"/>
          </a:ln>
        </p:spPr>
      </p:cxnSp>
      <p:cxnSp>
        <p:nvCxnSpPr>
          <p:cNvPr id="285" name=""/>
          <p:cNvCxnSpPr>
            <a:stCxn xmlns:a="http://schemas.openxmlformats.org/drawingml/2006/main" id="3" idx="3"/>
            <a:endCxn xmlns:a="http://schemas.openxmlformats.org/drawingml/2006/main" id="23" idx="1"/>
          </p:cNvCxnSpPr>
          <p:nvPr/>
        </p:nvCxnSpPr>
        <p:spPr>
          <a:xfrm xmlns:a="http://schemas.openxmlformats.org/drawingml/2006/main">
            <a:off x="9925050" y="4371975"/>
            <a:ext cx="1047750" cy="1200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A9A9F"/>
            </a:solidFill>
            <a:prstDash val="solid"/>
            <a:tailEnd type="triangle" w="sm" len="sm"/>
          </a:ln>
        </p:spPr>
      </p:cxn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C75D1AF-F6AB-4A2D-841A-C9B511F5D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6705600"/>
            <a:ext cx="105537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Post-filtering cannot recover eligible evidence omitted from a global top-k.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07CAB67-18B2-45B8-A6D3-DDBE52558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CAE100F-4D6F-45A8-A34A-47F11D773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9579015-04F7-4D6F-9134-8D10D8D76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99C90B6-36DC-4661-AB68-C1D6A4EE7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ELIGIBILITY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3479DD1-2C8A-40B6-A3D0-33950CA55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202416259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F4BAA6-B729-496F-9507-674DB3429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RECIPROCAL-RANK FUSION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6C2DCA-6A55-434D-995F-2D0AB2788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RRF adds rank contributions—not raw channel scores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E8B752-5838-4084-A09E-2C38B9D5B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003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KEYWORD · w=1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A53B89-6D78-4803-9B7F-A0162294F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743200"/>
            <a:ext cx="2381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2FC0D2-12CA-4723-B1F4-C8F21C5F1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838450"/>
            <a:ext cx="219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 · rank 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9AAB83-2BB1-4A7A-84F9-1F2BE14A6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743200"/>
            <a:ext cx="2000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40ED07-2E49-4E7A-9CBF-23CD3B8CF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3845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 · rank 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A5E176-BCBA-4C49-9196-B98EF7C59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743200"/>
            <a:ext cx="16764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62C752-A7F9-4B50-9D20-A71CEAD8F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838450"/>
            <a:ext cx="1485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 · rank 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A9A56C-9DB1-49FF-8E87-2C6B8DB8C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743200"/>
            <a:ext cx="10668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D4F50D-12C3-4331-801A-91C1EC1A4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2838450"/>
            <a:ext cx="876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 · r4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4D2954-A4C1-482E-AAB1-42DAC0BB1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28003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B = .03252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122776-3C69-478E-8B1D-4E859ACC8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26720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DENSE RANKS · w=1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20E4D2-1B72-432A-AD48-61D3EF9BC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210050"/>
            <a:ext cx="3143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9905A1-C4D3-46AB-A516-DCFB88A03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305300"/>
            <a:ext cx="295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 · rank 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2240E6-0102-4064-B038-AB12EDED6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210050"/>
            <a:ext cx="29527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CBA82F-0F85-40C1-9BE1-6E7847AE3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305300"/>
            <a:ext cx="276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 · rank 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D7C7D4-5A09-43DC-B381-56DF305B4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4210050"/>
            <a:ext cx="2000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2F20F1-CF35-4789-AC4A-62229AB1D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30530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 · rank 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8CD3E4-48E0-4421-8A8E-9A03948E1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426720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A = .03227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8DF2BD-542C-4821-AB60-F914C2D7D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340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FUSED · k=60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D1C47B-0B67-4AFB-8BDC-2F9D29D00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676900"/>
            <a:ext cx="33147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E2F7603-BBFF-4854-9F2D-F8FF1E3B1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577215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 · 1/62 + 1/61 = 0.03252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8F6C86-F0E1-4812-B3DD-797EA0ED5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676900"/>
            <a:ext cx="47815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2E8B57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A6A990-C3AB-4ED0-A029-B6138AA54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772150"/>
            <a:ext cx="4591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 · 1/61 + 1/63 = 0.03227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4845B58-81DD-48AA-9B5B-C9CA27F8A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57340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B ranks first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021015-2BDE-427C-B7E6-89D40DC75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819400"/>
            <a:ext cx="28575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1760BB-B653-4A2F-A39B-D370FC39B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838950"/>
            <a:ext cx="131635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9525">
            <a:solidFill>
              <a:srgbClr val="F07D0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FA73608-CD25-41CB-8836-D0C27AC58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6934200"/>
            <a:ext cx="1247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RRF(p) = Σ w / (60 + rank); deduplicate by passage ID; keep every contribution visible.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E0B34D-9DCB-48D8-8070-C30B3364E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FB9970-6C67-40D6-AFF0-F0FE598EF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503E1FB-8ACB-4423-AB2C-92A3E103D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07028D7-2EEC-4312-806B-59F42D9F1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FUSION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334563E-9E00-41F4-886E-137032B6D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92614145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D84E1CF-DA64-4EFC-8528-B207517D3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RERANKING BOUNDARY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EDDB7F-E2AD-4762-B051-D3A0AC293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Retrieve widely, then rerank a smaller eligible set</a:t>
            </a:r>
          </a:p>
        </p:txBody>
      </p:sp>
      <p:sp>
        <p:nvSpPr>
          <p:cNvPr id="3" name="decision-source">
            <a:extLst xmlns:a="http://schemas.openxmlformats.org/drawingml/2006/main">
              <a:ext uri="{FF2B5EF4-FFF2-40B4-BE49-F238E27FC236}">
                <a16:creationId xmlns:a16="http://schemas.microsoft.com/office/drawing/2014/main" id="{F0F1628B-25FC-4A7D-9ACB-11ED41518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90850"/>
            <a:ext cx="272415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CDE4FD-810A-4BB6-A9E2-9D453E2B4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1813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FUSED SET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AA52CC-262C-4723-8C2E-E43262748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657600"/>
            <a:ext cx="2190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30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candidate_k = 4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eligible + deduplicated</a:t>
            </a:r>
          </a:p>
        </p:txBody>
      </p:sp>
      <p:sp>
        <p:nvSpPr>
          <p:cNvPr id="6" name="decision-child">
            <a:extLst xmlns:a="http://schemas.openxmlformats.org/drawingml/2006/main">
              <a:ext uri="{FF2B5EF4-FFF2-40B4-BE49-F238E27FC236}">
                <a16:creationId xmlns:a16="http://schemas.microsoft.com/office/drawing/2014/main" id="{E359D7F5-9555-4867-8587-2F8EC5254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857500"/>
            <a:ext cx="32575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E8F6FB"/>
          </a:solidFill>
          <a:ln xmlns:a="http://schemas.openxmlformats.org/drawingml/2006/main" w="19050">
            <a:solidFill>
              <a:srgbClr val="00A2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C45E62-2BDC-4F11-8E8E-92ACD6B6E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914650"/>
            <a:ext cx="2647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TRANSPARENT RERANK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F2A998-C21C-458F-BEED-486513923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390900"/>
            <a:ext cx="26479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8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lexical coverage=.25</a:t>
            </a:r>
          </a:p>
          <a:p xmlns:a="http://schemas.openxmlformats.org/drawingml/2006/main">
            <a:pPr algn="ctr">
              <a:lnSpc>
                <a:spcPct val="8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numeric coverage=.45</a:t>
            </a:r>
          </a:p>
          <a:p xmlns:a="http://schemas.openxmlformats.org/drawingml/2006/main">
            <a:pPr algn="ctr">
              <a:lnSpc>
                <a:spcPct val="8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section overlap=.10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8A313B-A32E-4318-B50D-32C786561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191000"/>
            <a:ext cx="2647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70000"/>
              </a:lnSpc>
              <a:buNone/>
              <a:defRPr sz="1275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metadata eligibility=.10</a:t>
            </a:r>
          </a:p>
          <a:p xmlns:a="http://schemas.openxmlformats.org/drawingml/2006/main">
            <a:pPr algn="ctr">
              <a:lnSpc>
                <a:spcPct val="70000"/>
              </a:lnSpc>
              <a:buNone/>
              <a:defRPr sz="1275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fusion signal=.10</a:t>
            </a:r>
          </a:p>
        </p:txBody>
      </p:sp>
      <p:sp>
        <p:nvSpPr>
          <p:cNvPr id="10" name="decision-parent">
            <a:extLst xmlns:a="http://schemas.openxmlformats.org/drawingml/2006/main">
              <a:ext uri="{FF2B5EF4-FFF2-40B4-BE49-F238E27FC236}">
                <a16:creationId xmlns:a16="http://schemas.microsoft.com/office/drawing/2014/main" id="{7E8CC043-3F7C-4B5E-B01A-E942C33D8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990850"/>
            <a:ext cx="354330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95FD15-7156-4E52-87B2-404D62606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181350"/>
            <a:ext cx="2933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FINAL EVIDENCE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CEFAC4-B99C-4E5B-B744-4D0EEDB15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638550"/>
            <a:ext cx="29337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final_k = 2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budgeted + cited</a:t>
            </a:r>
          </a:p>
        </p:txBody>
      </p:sp>
      <p:cxnSp>
        <p:nvCxnSpPr>
          <p:cNvPr id="138" name=""/>
          <p:cNvCxnSpPr>
            <a:stCxn xmlns:a="http://schemas.openxmlformats.org/drawingml/2006/main" id="3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752850" y="3771900"/>
            <a:ext cx="1409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07D00"/>
            </a:solidFill>
            <a:prstDash val="solid"/>
            <a:tailEnd type="triangle" w="med" len="med"/>
          </a:ln>
        </p:spPr>
      </p:cxnSp>
      <p:cxnSp>
        <p:nvCxnSpPr>
          <p:cNvPr id="139" name="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 flipV="0">
            <a:off x="8420100" y="3771900"/>
            <a:ext cx="1409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07D00"/>
            </a:solidFill>
            <a:prstDash val="solid"/>
            <a:tailEnd type="triangle" w="med" len="med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1BEF3A-6A25-4B3F-8E60-6108148E5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467350"/>
            <a:ext cx="12039600" cy="1123950"/>
          </a:xfrm>
          <a:prstGeom xmlns:a="http://schemas.openxmlformats.org/drawingml/2006/main" prst="roundRect">
            <a:avLst>
              <a:gd name="adj" fmla="val 84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E4947E-2E2C-4D5A-B088-DFED206E7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6388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HARD BOUNDARY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1A217F-7E45-4462-994A-E1A7947A4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9626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pre-filtered only · no silent broadening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74CAF0-D3F9-408B-B959-2864FA710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5638800"/>
            <a:ext cx="2857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C058E3-0326-4715-852F-1F8B32F61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6388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SCORE SEMANTICS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A9B25E-ADFB-4067-BF4C-46A5AE9FE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96265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972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provider-neutral · offline illustrative · not confidence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AA4B4E-BD27-48A6-A4E1-ACF33C620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708660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DECISION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9B97AA-C4C9-4A8D-997E-C7AD0F311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6991350"/>
            <a:ext cx="11410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Candidate retrieval protects recall; reranking spends the evidence budget deliberately.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A8D079-E333-430B-9198-F3840FF42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B1FA6E-7D19-4BD4-95AB-A7A96F2D9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621D69C-B05C-4F0B-A6BD-0B4E43C7F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4A9C6EC-5AC1-4AD4-9D79-D0462CD01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RERANK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30F561A-2997-41E1-8361-56739584F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66357157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5EAFBC5-0120-406B-9113-A189734D7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CAPSTONE PIPELINE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88E1BA-062C-4D13-89C4-9762E55DD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The capstone now exposes every retrieval decision</a:t>
            </a:r>
          </a:p>
        </p:txBody>
      </p:sp>
      <p:sp>
        <p:nvSpPr>
          <p:cNvPr id="3" name="ingestion-1">
            <a:extLst xmlns:a="http://schemas.openxmlformats.org/drawingml/2006/main">
              <a:ext uri="{FF2B5EF4-FFF2-40B4-BE49-F238E27FC236}">
                <a16:creationId xmlns:a16="http://schemas.microsoft.com/office/drawing/2014/main" id="{EF5CEA91-0836-4E99-95C1-43A271A11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163ADC-FDBA-49AB-AB53-62FA29104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D1AD73-F995-4369-A266-8FA41354C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Versioned index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A7F72B-07B6-4BF4-A3F9-5860F8AC7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provider · model · dimensions</a:t>
            </a:r>
          </a:p>
        </p:txBody>
      </p:sp>
      <p:sp>
        <p:nvSpPr>
          <p:cNvPr id="7" name="ingestion-2">
            <a:extLst xmlns:a="http://schemas.openxmlformats.org/drawingml/2006/main">
              <a:ext uri="{FF2B5EF4-FFF2-40B4-BE49-F238E27FC236}">
                <a16:creationId xmlns:a16="http://schemas.microsoft.com/office/drawing/2014/main" id="{B39DEECB-E0D1-415A-8F2A-C8075A6D9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679081-8A68-4B7E-9199-340CF9571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095E54-44DC-4092-9EB7-0C81E4B47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Pre-filter eligibility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B65E8E-6BA9-40DB-99F9-46D3397B1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company · period · document</a:t>
            </a:r>
          </a:p>
        </p:txBody>
      </p:sp>
      <p:sp>
        <p:nvSpPr>
          <p:cNvPr id="11" name="ingestion-3">
            <a:extLst xmlns:a="http://schemas.openxmlformats.org/drawingml/2006/main">
              <a:ext uri="{FF2B5EF4-FFF2-40B4-BE49-F238E27FC236}">
                <a16:creationId xmlns:a16="http://schemas.microsoft.com/office/drawing/2014/main" id="{D4342A97-3791-461F-A305-9671DA494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E49A95-2D88-4387-8BD5-FA749ABD0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2D3874-F985-4CD0-BBFF-D59F5B7B3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Keyword + dense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99AF29-91DE-47C0-8189-B0778BB52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candidate_k · ranked passage IDs</a:t>
            </a:r>
          </a:p>
        </p:txBody>
      </p:sp>
      <p:sp>
        <p:nvSpPr>
          <p:cNvPr id="15" name="ingestion-4">
            <a:extLst xmlns:a="http://schemas.openxmlformats.org/drawingml/2006/main">
              <a:ext uri="{FF2B5EF4-FFF2-40B4-BE49-F238E27FC236}">
                <a16:creationId xmlns:a16="http://schemas.microsoft.com/office/drawing/2014/main" id="{7952DE37-BD86-481C-A575-8709971DD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EC2EC9-18A1-4F72-A64D-AF536DDC8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40FD5A-1C0F-4BE1-B862-685F20D0F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RRF + rerank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E52B70-645C-40F7-B0DE-1D1D17787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rank fusion · transparent features</a:t>
            </a:r>
          </a:p>
        </p:txBody>
      </p:sp>
      <p:sp>
        <p:nvSpPr>
          <p:cNvPr id="19" name="ingestion-5">
            <a:extLst xmlns:a="http://schemas.openxmlformats.org/drawingml/2006/main">
              <a:ext uri="{FF2B5EF4-FFF2-40B4-BE49-F238E27FC236}">
                <a16:creationId xmlns:a16="http://schemas.microsoft.com/office/drawing/2014/main" id="{43F7E1B1-E237-4A79-B0C4-38965CF32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682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07D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764D39-05B0-4F08-BC2B-2221BE2F3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F4CBB5-9FF7-4C7B-8D8C-5AA3541DD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Cited evidence set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56B515-B8BF-4B9C-8D6B-EC909D2B3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final_k · provenance intact</a:t>
            </a:r>
          </a:p>
        </p:txBody>
      </p:sp>
      <p:cxnSp>
        <p:nvCxnSpPr>
          <p:cNvPr id="239" name=""/>
          <p:cNvCxnSpPr>
            <a:stCxn xmlns:a="http://schemas.openxmlformats.org/drawingml/2006/main" id="3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2385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240" name=""/>
          <p:cNvCxnSpPr>
            <a:stCxn xmlns:a="http://schemas.openxmlformats.org/drawingml/2006/main" id="7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60579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241" name=""/>
          <p:cNvCxnSpPr>
            <a:stCxn xmlns:a="http://schemas.openxmlformats.org/drawingml/2006/main" id="11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88773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242" name=""/>
          <p:cNvCxnSpPr>
            <a:stCxn xmlns:a="http://schemas.openxmlformats.org/drawingml/2006/main" id="15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116967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128475-820B-447C-A724-7D8A31328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621030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Lesson 07 evaluates each stage and traces the answer path.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85F2AAD-81FC-436A-88F7-89F49C9F1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683895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retrieval recall is measured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DE04AD7-6CBE-4792-B549-765578FB3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8389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answer groundedness stays separate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CBA7AE-993C-4F84-A696-8D1323AC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E97BF4D-EDBC-4480-A82B-512A72221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9281B64-2F0F-4357-A085-C65451F28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AA325A4-7EC6-42CE-A13A-4B38A32D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HANDOFF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F7FB65A-4A0D-4595-92F4-FD9B71638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16951073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2026-08-15T12:52:32.8670000Z</dcterms:created>
  <dcterms:modified xsi:type="dcterms:W3CDTF">2026-08-15T12:52:32.8670000Z</dcterms:modified>
</coreProperties>
</file>