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d56e7783454458" /><Relationship Type="http://schemas.openxmlformats.org/officeDocument/2006/relationships/extended-properties" Target="/docProps/app.xml" Id="R7deccbb37dce49b9" /><Relationship Type="http://schemas.openxmlformats.org/officeDocument/2006/relationships/officeDocument" Target="/ppt/presentation.xml" Id="R7b4e710853464f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61c4e0df564bc1"/>
  </p:sldMasterIdLst>
  <p:notesMasterIdLst>
    <p:notesMasterId xmlns:r="http://schemas.openxmlformats.org/officeDocument/2006/relationships" r:id="R1b8669439f7c448b"/>
  </p:notesMasterIdLst>
  <p:sldIdLst>
    <p:sldId xmlns:r="http://schemas.openxmlformats.org/officeDocument/2006/relationships" id="256" r:id="Rcd678ce9c9ae4a78"/>
    <p:sldId xmlns:r="http://schemas.openxmlformats.org/officeDocument/2006/relationships" id="257" r:id="Red4122d8109a4f39"/>
    <p:sldId xmlns:r="http://schemas.openxmlformats.org/officeDocument/2006/relationships" id="258" r:id="R8e396fc52d50486c"/>
    <p:sldId xmlns:r="http://schemas.openxmlformats.org/officeDocument/2006/relationships" id="259" r:id="R56c06d233c98409e"/>
    <p:sldId xmlns:r="http://schemas.openxmlformats.org/officeDocument/2006/relationships" id="260" r:id="R84eeacb1f8e24d5f"/>
    <p:sldId xmlns:r="http://schemas.openxmlformats.org/officeDocument/2006/relationships" id="261" r:id="R8304eb47849b4a84"/>
    <p:sldId xmlns:r="http://schemas.openxmlformats.org/officeDocument/2006/relationships" id="262" r:id="Rb012c6e793c4426c"/>
    <p:sldId xmlns:r="http://schemas.openxmlformats.org/officeDocument/2006/relationships" id="263" r:id="R254f9492dc3f4e9d"/>
    <p:sldId xmlns:r="http://schemas.openxmlformats.org/officeDocument/2006/relationships" id="264" r:id="Rbad87b241dde49ee"/>
    <p:sldId xmlns:r="http://schemas.openxmlformats.org/officeDocument/2006/relationships" id="265" r:id="R9fcf6825514f43ca"/>
    <p:sldId xmlns:r="http://schemas.openxmlformats.org/officeDocument/2006/relationships" id="266" r:id="R008942d5f227475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0d238ecec2422d" /><Relationship Type="http://schemas.openxmlformats.org/officeDocument/2006/relationships/slideMaster" Target="/ppt/slideMasters/slideMaster1.xml" Id="Rf761c4e0df564bc1" /><Relationship Type="http://schemas.openxmlformats.org/officeDocument/2006/relationships/notesMaster" Target="/ppt/notesMasters/notesMaster1.xml" Id="R1b8669439f7c448b" /><Relationship Type="http://schemas.openxmlformats.org/officeDocument/2006/relationships/presProps" Target="/ppt/presProps.xml" Id="R014fb20449884735" /><Relationship Type="http://schemas.openxmlformats.org/officeDocument/2006/relationships/tableStyles" Target="/ppt/tableStyles.xml" Id="R7d5e0f4a796544fc" /><Relationship Type="http://schemas.openxmlformats.org/officeDocument/2006/relationships/slide" Target="/ppt/slides/slide1.xml" Id="Rcd678ce9c9ae4a78" /><Relationship Type="http://schemas.openxmlformats.org/officeDocument/2006/relationships/slide" Target="/ppt/slides/slide2.xml" Id="Red4122d8109a4f39" /><Relationship Type="http://schemas.openxmlformats.org/officeDocument/2006/relationships/slide" Target="/ppt/slides/slide3.xml" Id="R8e396fc52d50486c" /><Relationship Type="http://schemas.openxmlformats.org/officeDocument/2006/relationships/slide" Target="/ppt/slides/slide4.xml" Id="R56c06d233c98409e" /><Relationship Type="http://schemas.openxmlformats.org/officeDocument/2006/relationships/slide" Target="/ppt/slides/slide5.xml" Id="R84eeacb1f8e24d5f" /><Relationship Type="http://schemas.openxmlformats.org/officeDocument/2006/relationships/slide" Target="/ppt/slides/slide6.xml" Id="R8304eb47849b4a84" /><Relationship Type="http://schemas.openxmlformats.org/officeDocument/2006/relationships/slide" Target="/ppt/slides/slide7.xml" Id="Rb012c6e793c4426c" /><Relationship Type="http://schemas.openxmlformats.org/officeDocument/2006/relationships/slide" Target="/ppt/slides/slide8.xml" Id="R254f9492dc3f4e9d" /><Relationship Type="http://schemas.openxmlformats.org/officeDocument/2006/relationships/slide" Target="/ppt/slides/slide9.xml" Id="Rbad87b241dde49ee" /><Relationship Type="http://schemas.openxmlformats.org/officeDocument/2006/relationships/slide" Target="/ppt/slides/slide10.xml" Id="R9fcf6825514f43ca" /><Relationship Type="http://schemas.openxmlformats.org/officeDocument/2006/relationships/slide" Target="/ppt/slides/slide11.xml" Id="R008942d5f22747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9829ab195a47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d5109a8b92463d" /><Relationship Type="http://schemas.openxmlformats.org/officeDocument/2006/relationships/notesMaster" Target="/ppt/notesMasters/notesMaster1.xml" Id="Rad944e2dcadf45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63d12d2d154ebc" /><Relationship Type="http://schemas.openxmlformats.org/officeDocument/2006/relationships/notesMaster" Target="/ppt/notesMasters/notesMaster1.xml" Id="R9f80ff9b381342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d6d3840d474e6e" /><Relationship Type="http://schemas.openxmlformats.org/officeDocument/2006/relationships/notesMaster" Target="/ppt/notesMasters/notesMaster1.xml" Id="Rfd097e26a18846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bfa6ad097940d4" /><Relationship Type="http://schemas.openxmlformats.org/officeDocument/2006/relationships/notesMaster" Target="/ppt/notesMasters/notesMaster1.xml" Id="R67941904795d4e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550dff76774216" /><Relationship Type="http://schemas.openxmlformats.org/officeDocument/2006/relationships/notesMaster" Target="/ppt/notesMasters/notesMaster1.xml" Id="R96eb7367d91642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8d9f7b3b594bf9" /><Relationship Type="http://schemas.openxmlformats.org/officeDocument/2006/relationships/notesMaster" Target="/ppt/notesMasters/notesMaster1.xml" Id="R2f4fc2efc5be48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81b14a8c154fa6" /><Relationship Type="http://schemas.openxmlformats.org/officeDocument/2006/relationships/notesMaster" Target="/ppt/notesMasters/notesMaster1.xml" Id="R3ee4ac4724ab4d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2a34f88b6245d9" /><Relationship Type="http://schemas.openxmlformats.org/officeDocument/2006/relationships/notesMaster" Target="/ppt/notesMasters/notesMaster1.xml" Id="Re6e549890c1640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72adc283334f91" /><Relationship Type="http://schemas.openxmlformats.org/officeDocument/2006/relationships/notesMaster" Target="/ppt/notesMasters/notesMaster1.xml" Id="R0f60746fb84044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abb5a2ceaf4b84" /><Relationship Type="http://schemas.openxmlformats.org/officeDocument/2006/relationships/notesMaster" Target="/ppt/notesMasters/notesMaster1.xml" Id="Rcb43b515fe6248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4f79a97e514a3f" /><Relationship Type="http://schemas.openxmlformats.org/officeDocument/2006/relationships/notesMaster" Target="/ppt/notesMasters/notesMaster1.xml" Id="R1a4837808a0e4c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 builds the provider-neutral hybrid retriever used by Lesson 07.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chapters/06-hybrid-retrieval.md</a:t>
            </a:r>
          </a:p>
          <a:p xmlns:a="http://schemas.openxmlformats.org/drawingml/2006/main">
            <a:r>
              <a:t>- notebooks/06_hybrid_retrieval.ipynb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Cosine similarity is treated as relative vector alignment, not confidence or truth.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notebooks/06_hybrid_retrieval.ipynb, embedding geometry section</a:t>
            </a:r>
          </a:p>
          <a:p xmlns:a="http://schemas.openxmlformats.org/drawingml/2006/main">
            <a:r>
              <a:t>- src/finai_academy/hybrid_retrieval.py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Maintained query: Which NVIDIA business generated $193.7 billion? Filter: company=NVIDIA and period=FY2026. Values below are from the deterministic offline execution of notebooks/06_hybrid_retrieval.ipynb. Keyword rank 1: NVDA-2026-10K-EXCERPT-CONTEXTUAL-003 (TF-IDF cosine 0.591); rank 2: NVDA-2026-10K-EXCERPT-CONTEXTUAL-001 (0.357); rank 3: NVDA-2026-10K-EXCERPT-CONTEXTUAL-002 (0.209); rank 4: NVDA-2026-10K-EXCERPT-CONTEXTUAL-004 (0.118). Dense rank 1: NVDA-2026-10K-EXCERPT-CONTEXTUAL-001 (raw cosine 0.577); rank 2: NVDA-2026-10K-EXCERPT-CONTEXTUAL-002 (0.577); rank 3: NVDA-2026-10K-EXCERPT-CONTEXTUAL-004 (0.447); dense rank 4: NVDA-2026-10K-EXCERPT-CONTEXTUAL-003 (0.408). Visible IDs use the collision-safe NVDA…NNN abbreviation; the full stable manifest IDs appear above. Raw embedding cosine is a ranking signal, not confidence.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Executable maintained run: notebooks/06_hybrid_retrieval.ipynb</a:t>
            </a:r>
          </a:p>
          <a:p xmlns:a="http://schemas.openxmlformats.org/drawingml/2006/main">
            <a:r>
              <a:t>- Course explanation and score contracts: chapters/06-hybrid-retrieval.md</a:t>
            </a:r>
          </a:p>
          <a:p xmlns:a="http://schemas.openxmlformats.org/drawingml/2006/main">
            <a:r>
              <a:t>- NVIDIA fiscal 2026 Form 10-K: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 filters are applied before either ranking channel scores candidates.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src/finai_academy/retrieval_pipeline.py</a:t>
            </a:r>
          </a:p>
          <a:p xmlns:a="http://schemas.openxmlformats.org/drawingml/2006/main">
            <a:r>
              <a:t>- notebooks/06_hybrid_retrieval.ipynb, eligibility gate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Reciprocal-rank fusion combines rank contributions while preserving per-channel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src/finai_academy/hybrid_retrieval.py</a:t>
            </a:r>
          </a:p>
          <a:p xmlns:a="http://schemas.openxmlformats.org/drawingml/2006/main">
            <a:r>
              <a:t>- notebooks/06_hybrid_retrieval.ipynb, RRF section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Reranking spends a smaller evidence budget after broad eligible candidate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src/finai_academy/retrieval_pipeline.py</a:t>
            </a:r>
          </a:p>
          <a:p xmlns:a="http://schemas.openxmlformats.org/drawingml/2006/main">
            <a:r>
              <a:t>- notebooks/06_hybrid_retrieval.ipynb, reranking section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exposes stable index, eligibility, ranking, fusion, reranking and evidence stages.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chapters/06-hybrid-retrieval.md</a:t>
            </a:r>
          </a:p>
          <a:p xmlns:a="http://schemas.openxmlformats.org/drawingml/2006/main">
            <a:r>
              <a:t>- notebooks/06_hybrid_retrieval.ipynb, capstone integration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documents, chunks and embeddings as explicit logical records. The teaching index uses exact local search so students can inspect every row. Production may replace only the storage/query engine with pgvector and an HNSW index while preserving stable IDs, metadata filters and evaluation contracts.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Course Notebook 06 architecture bridge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values are one deterministic offline execution on the instructor machine: eligibility 0.00 ms, keyword 1.04 ms, dense 0.03 ms, fusion 0.01 ms and rerank 0.06 ms. Hardware-dependent timings are observations, not correctness thresholds. Lesson 07 wraps the same stage boundaries as MLflow spans.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Notebook 06 offline execution, Figure 5</a:t>
            </a:r>
          </a:p>
          <a:p xmlns:a="http://schemas.openxmlformats.org/drawingml/2006/main">
            <a:r>
              <a:t>- https://mlflow.org/docs/latest/genai/tracing/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chapters/06-hybrid-retrieval.md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chapters/06-hybrid-retrieval.md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5d0b8541546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c83afd455f4c17" /><Relationship Type="http://schemas.openxmlformats.org/officeDocument/2006/relationships/slideLayout" Target="/ppt/slideLayouts/slideLayout1.xml" Id="R73a7362e0e3a4f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a7362e0e3a4f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60c3b3c7c4d8d" /><Relationship Type="http://schemas.openxmlformats.org/officeDocument/2006/relationships/notesSlide" Target="/ppt/notesSlides/notesSlide1.xml" Id="R7978d30d68b041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f4cddaa5b420e" /><Relationship Type="http://schemas.openxmlformats.org/officeDocument/2006/relationships/notesSlide" Target="/ppt/notesSlides/notesSlide2.xml" Id="Rfd87bdbf8df442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63457a66f4316" /><Relationship Type="http://schemas.openxmlformats.org/officeDocument/2006/relationships/notesSlide" Target="/ppt/notesSlides/notesSlide3.xml" Id="R7eca108354ef4e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e80ac762946ee" /><Relationship Type="http://schemas.openxmlformats.org/officeDocument/2006/relationships/notesSlide" Target="/ppt/notesSlides/notesSlide4.xml" Id="Red0f81d40d4547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a0e6e36dd42e1" /><Relationship Type="http://schemas.openxmlformats.org/officeDocument/2006/relationships/notesSlide" Target="/ppt/notesSlides/notesSlide5.xml" Id="Rb0b4f75743c44d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e979a767948d0" /><Relationship Type="http://schemas.openxmlformats.org/officeDocument/2006/relationships/notesSlide" Target="/ppt/notesSlides/notesSlide6.xml" Id="Ra98652f2708449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cfe02fcd34361" /><Relationship Type="http://schemas.openxmlformats.org/officeDocument/2006/relationships/notesSlide" Target="/ppt/notesSlides/notesSlide7.xml" Id="R70eecc6cec5248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ab9ec40e44d5b" /><Relationship Type="http://schemas.openxmlformats.org/officeDocument/2006/relationships/notesSlide" Target="/ppt/notesSlides/notesSlide8.xml" Id="Ra4a1752867614a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40067c2024a63" /><Relationship Type="http://schemas.openxmlformats.org/officeDocument/2006/relationships/notesSlide" Target="/ppt/notesSlides/notesSlide9.xml" Id="Rffaa796c5c304c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6e1d669d04612" /><Relationship Type="http://schemas.openxmlformats.org/officeDocument/2006/relationships/notesSlide" Target="/ppt/notesSlides/notesSlide10.xml" Id="Rabca6404e70145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94138913e4794" /><Relationship Type="http://schemas.openxmlformats.org/officeDocument/2006/relationships/notesSlide" Target="/ppt/notesSlides/notesSlide11.xml" Id="R5607fa42c04344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 and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Make eligible evidence compete across complementary ranking channels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06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GEOMETRY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Cosine measures alignment—not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VECTOR INTUITION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angle grows → cosine falls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SIMILARITY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 · d / (‖q‖ · ‖d‖)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−1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</a:t>
            </a:r>
          </a:p>
        </p:txBody>
      </p:sp>
      <p:cxnSp>
        <p:nvCxnSpPr>
          <p:cNvPr id="398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399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400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opposed · orthogonal · aligned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INTERPRETATION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Relative alignment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embedding space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577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NOT CONFIDENCE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probability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truth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2D projection is explanatory; retrieval uses the full vector dimensions.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passages only within one versioned embedding space.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MAINTAINED QUERY · OFFLINE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Which NVIDIA business generated $193.7 billion?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TF-IDF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R1  NVDA…003  .591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$193.7bn exact match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R2  NVDA…001  .357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Filter · NVIDIA · FY2026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DENSE · OFFLINE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Rank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Why it ranks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NVDA…001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cosine .577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NVDA…002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cosine .577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Evidence at dense R4 · NVDA…003 · raw cosine .408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SCORE TYPES STAY DISTINCT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Keyword scale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Dense scale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cosine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Fusion 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rank positions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Join key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manifest 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CHANNELS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ELIGIBILITY BARRIER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first: ineligible passages never enter either top-k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ELIGIBLE PASSAGES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company AND period AND type AND 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 eligible passages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be scored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FY2026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10-K teaching extract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exact-term candidates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candidates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ABSTAIN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eligible passage</a:t>
            </a:r>
          </a:p>
        </p:txBody>
      </p:sp>
      <p:cxnSp>
        <p:nvCxnSpPr>
          <p:cNvPr id="497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98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99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00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01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02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Post-filtering cannot recover eligible evidence omitted from a global top-k.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RECIPROCAL-RANK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adds rank contributions—not raw channel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w=1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r4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 = .03252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DENSE RANKS · w=1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 = .03227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FUSED · k=60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1/62 + 1/61 = 0.03252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1/61 + 1/63 = 0.03227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 ranks first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RRF(p) = Σ w / (60 + rank); deduplicate by passage ID; keep every contribution visible.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RERANKING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widely, then rerank a smaller eligible set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FUSED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candidate_k = 4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eligible + deduplicated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TRANSPARENT RERANK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coverage=.25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numeric coverage=.45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section overlap=.10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metadata eligibility=.10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fusion signal=.10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final_k =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budgeted + cited</a:t>
            </a:r>
          </a:p>
        </p:txBody>
      </p:sp>
      <p:cxnSp>
        <p:nvCxnSpPr>
          <p:cNvPr id="23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3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pre-filtered only · no silent broadening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provider-neutral · offline illustrative · not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Candidate retrieval protects recall; reranking spends the evidence budget deliberately.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CAPSTONE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capstone now exposes every retrieval decision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Versioned 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provider · model · dimensions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 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 · document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Keyword + 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candidate_k · ranked passage IDs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+ rerank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 fusion · transparent features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Cited evidence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final_k · provenance intact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evaluates each stage and traces the answer path.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retrieval recall is measured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answer groundedness stays separate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STORAGE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Keep one logical schema when the vector engine changes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 · company · period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ID · page · section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Embeddings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· dimensions · vector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NumPy · exact search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pgvector / HNSW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persistent · approximate search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IDs, filters and evaluation contracts stay unchanged.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prototype · simple + inspectable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production · persistence + scale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STORAGE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MEASUREMENT HANDOFF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Measure each retrieval stage before adding MLflow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0.00 ms · complete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1.04 ms · complete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0.03 ms · complete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0.01 ms · complete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0.06 ms · complete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maps these stage objects to trace spans—no pipeline rewrite.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offline example · timings vary by machine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future spans · inputs · outputs · duration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06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D47DE6EE-65D5-448B-956A-74C2A033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Which two channels does hybrid retrieval combine?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CE8F4525-9216-4D17-8F89-0D8835DA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Keyword and dense     |     B  Cache and memory     |     C  Prompt and agent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E657C5AE-B0C8-4BC7-BD56-671F924C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When should eligibility filters be applied?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2616C7EE-7B5D-4E11-AC93-A5B7DE25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Before ranking     |     B  After the answer     |     C  Never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0617C18F-4AC6-40F1-B874-5E7E07D2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does RRF combine?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0A358EB0-776D-4242-B0D5-52BCB40A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Rank positions     |     B  Raw score scales     |     C  Token counts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06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4E744DFB-D16B-4698-8482-269DEBBB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Keyword and dense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4C627505-0DE7-4285-A451-136E18BF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channels capture exact terms and semantic similarity.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C1127E6C-29CD-48D8-A463-E0780314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Before ranking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23AAFEF-CF39-445A-8601-0E3B6B6D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Ineligible evidence must never enter either candidate list.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FAB43B1E-5538-4DCC-B7C1-BD0CE331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Rank positions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7F729BBD-8D18-4DDB-B872-A273B369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RRF fuses contributions without pretending channel scores share one scale.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2026-08-24T19:24:32.9520000Z</dcterms:created>
  <dcterms:modified xsi:type="dcterms:W3CDTF">2026-08-24T19:24:32.9520000Z</dcterms:modified>
</coreProperties>
</file>