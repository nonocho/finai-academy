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add334e0aa45e9" /><Relationship Type="http://schemas.openxmlformats.org/officeDocument/2006/relationships/extended-properties" Target="/docProps/app.xml" Id="R0a219e9671144b2c" /><Relationship Type="http://schemas.openxmlformats.org/officeDocument/2006/relationships/officeDocument" Target="/ppt/presentation.xml" Id="R503d6866767840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ffad91c86941ed"/>
  </p:sldMasterIdLst>
  <p:notesMasterIdLst>
    <p:notesMasterId xmlns:r="http://schemas.openxmlformats.org/officeDocument/2006/relationships" r:id="Rda639c644672469f"/>
  </p:notesMasterIdLst>
  <p:sldIdLst>
    <p:sldId xmlns:r="http://schemas.openxmlformats.org/officeDocument/2006/relationships" id="256" r:id="R44300816dc0b40e0"/>
    <p:sldId xmlns:r="http://schemas.openxmlformats.org/officeDocument/2006/relationships" id="257" r:id="Raf41ec16d827427c"/>
    <p:sldId xmlns:r="http://schemas.openxmlformats.org/officeDocument/2006/relationships" id="258" r:id="R106309892fed41b3"/>
    <p:sldId xmlns:r="http://schemas.openxmlformats.org/officeDocument/2006/relationships" id="259" r:id="Rc93eba2f62c14934"/>
    <p:sldId xmlns:r="http://schemas.openxmlformats.org/officeDocument/2006/relationships" id="260" r:id="R3f584037283e4f2a"/>
    <p:sldId xmlns:r="http://schemas.openxmlformats.org/officeDocument/2006/relationships" id="261" r:id="Rf3bc47d996b84019"/>
    <p:sldId xmlns:r="http://schemas.openxmlformats.org/officeDocument/2006/relationships" id="262" r:id="Rfb73c04c25f3404e"/>
    <p:sldId xmlns:r="http://schemas.openxmlformats.org/officeDocument/2006/relationships" id="263" r:id="Rd759ec8ce98946d2"/>
    <p:sldId xmlns:r="http://schemas.openxmlformats.org/officeDocument/2006/relationships" id="264" r:id="Rce7b27bfedee459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bf2523769f456a" /><Relationship Type="http://schemas.openxmlformats.org/officeDocument/2006/relationships/slideMaster" Target="/ppt/slideMasters/slideMaster1.xml" Id="R76ffad91c86941ed" /><Relationship Type="http://schemas.openxmlformats.org/officeDocument/2006/relationships/notesMaster" Target="/ppt/notesMasters/notesMaster1.xml" Id="Rda639c644672469f" /><Relationship Type="http://schemas.openxmlformats.org/officeDocument/2006/relationships/presProps" Target="/ppt/presProps.xml" Id="Rf4f93c6cd474473a" /><Relationship Type="http://schemas.openxmlformats.org/officeDocument/2006/relationships/tableStyles" Target="/ppt/tableStyles.xml" Id="R624a745b017d4cd5" /><Relationship Type="http://schemas.openxmlformats.org/officeDocument/2006/relationships/slide" Target="/ppt/slides/slide1.xml" Id="R44300816dc0b40e0" /><Relationship Type="http://schemas.openxmlformats.org/officeDocument/2006/relationships/slide" Target="/ppt/slides/slide2.xml" Id="Raf41ec16d827427c" /><Relationship Type="http://schemas.openxmlformats.org/officeDocument/2006/relationships/slide" Target="/ppt/slides/slide3.xml" Id="R106309892fed41b3" /><Relationship Type="http://schemas.openxmlformats.org/officeDocument/2006/relationships/slide" Target="/ppt/slides/slide4.xml" Id="Rc93eba2f62c14934" /><Relationship Type="http://schemas.openxmlformats.org/officeDocument/2006/relationships/slide" Target="/ppt/slides/slide5.xml" Id="R3f584037283e4f2a" /><Relationship Type="http://schemas.openxmlformats.org/officeDocument/2006/relationships/slide" Target="/ppt/slides/slide6.xml" Id="Rf3bc47d996b84019" /><Relationship Type="http://schemas.openxmlformats.org/officeDocument/2006/relationships/slide" Target="/ppt/slides/slide7.xml" Id="Rfb73c04c25f3404e" /><Relationship Type="http://schemas.openxmlformats.org/officeDocument/2006/relationships/slide" Target="/ppt/slides/slide8.xml" Id="Rd759ec8ce98946d2" /><Relationship Type="http://schemas.openxmlformats.org/officeDocument/2006/relationships/slide" Target="/ppt/slides/slide9.xml" Id="Rce7b27bfedee45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05cfd7395e4b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176bd118944da4" /><Relationship Type="http://schemas.openxmlformats.org/officeDocument/2006/relationships/notesMaster" Target="/ppt/notesMasters/notesMaster1.xml" Id="Rd139c9fc034043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681b940e874a1c" /><Relationship Type="http://schemas.openxmlformats.org/officeDocument/2006/relationships/notesMaster" Target="/ppt/notesMasters/notesMaster1.xml" Id="R0c80d7a4311c45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c65ed7fc90401d" /><Relationship Type="http://schemas.openxmlformats.org/officeDocument/2006/relationships/notesMaster" Target="/ppt/notesMasters/notesMaster1.xml" Id="Rcb3c06d8eaa845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fd590ea4d24d88" /><Relationship Type="http://schemas.openxmlformats.org/officeDocument/2006/relationships/notesMaster" Target="/ppt/notesMasters/notesMaster1.xml" Id="R5939c0c0e0564b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31841326c24e54" /><Relationship Type="http://schemas.openxmlformats.org/officeDocument/2006/relationships/notesMaster" Target="/ppt/notesMasters/notesMaster1.xml" Id="Rf973804510c44f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2e28c40c904aea" /><Relationship Type="http://schemas.openxmlformats.org/officeDocument/2006/relationships/notesMaster" Target="/ppt/notesMasters/notesMaster1.xml" Id="Ra83ec471b54c4d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85a7f31b9a4c76" /><Relationship Type="http://schemas.openxmlformats.org/officeDocument/2006/relationships/notesMaster" Target="/ppt/notesMasters/notesMaster1.xml" Id="R11ddce5509b945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a489fb902745b0" /><Relationship Type="http://schemas.openxmlformats.org/officeDocument/2006/relationships/notesMaster" Target="/ppt/notesMasters/notesMaster1.xml" Id="Re5abebff99a842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e7d319a6914ab3" /><Relationship Type="http://schemas.openxmlformats.org/officeDocument/2006/relationships/notesMaster" Target="/ppt/notesMasters/notesMaster1.xml" Id="Rf72adffc4ad84b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Outcome: explain retrieval as a staged, testable system over the trusted Lesson 05 evidence units.</a:t>
            </a:r>
          </a:p>
          <a:p xmlns:a="http://schemas.openxmlformats.org/drawingml/2006/main">
            <a:r>
              <a:t>Use the full 15 minutes for the seven diagrams, then move to the 30-minute executable notebook.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Course-owned diagrams and claims: chapters/06-hybrid-retrieval.md</a:t>
            </a:r>
          </a:p>
          <a:p xmlns:a="http://schemas.openxmlformats.org/drawingml/2006/main">
            <a:r>
              <a:t>- Executable semantics: notebooks/06_hybrid_retrieval.ipynb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normalized vectors, cosine is the dot product. Use it as a relative ranking signal inside one versioned embedding space.</a:t>
            </a:r>
          </a:p>
          <a:p xmlns:a="http://schemas.openxmlformats.org/drawingml/2006/main">
            <a:r>
              <a:t>The two-dimensional picture is intuition only; the notebook's similarity heatmap uses the full embedding dimensions.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scikit-learn cosine similarity: https://scikit-learn.org/stable/modules/generated/sklearn.metrics.pairwise.cosine_similarity.html</a:t>
            </a:r>
          </a:p>
          <a:p xmlns:a="http://schemas.openxmlformats.org/drawingml/2006/main">
            <a:r>
              <a:t>- Course explanation: chapters/06-hybrid-retrieval.md#cosine-similarity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Maintained query: Which NVIDIA business generated $193.7 billion?</a:t>
            </a:r>
          </a:p>
          <a:p xmlns:a="http://schemas.openxmlformats.org/drawingml/2006/main">
            <a:r>
              <a:t>Filter: company=NVIDIA and period=FY2026. Values below are from the deterministic offline execution of notebooks/06_hybrid_retrieval.ipynb.</a:t>
            </a:r>
          </a:p>
          <a:p xmlns:a="http://schemas.openxmlformats.org/drawingml/2006/main">
            <a:r>
              <a:t>Keyword rank 1: NVDA-2026-10K-EXCERPT-CONTEXTUAL-003 (TF-IDF cosine 0.591); rank 2: NVDA-2026-10K-EXCERPT-CONTEXTUAL-001 (0.357); rank 3: NVDA-2026-10K-EXCERPT-CONTEXTUAL-002 (0.209); rank 4: NVDA-2026-10K-EXCERPT-CONTEXTUAL-004 (0.118).</a:t>
            </a:r>
          </a:p>
          <a:p xmlns:a="http://schemas.openxmlformats.org/drawingml/2006/main">
            <a:r>
              <a:t>Dense rank 1: NVDA-2026-10K-EXCERPT-CONTEXTUAL-001 (raw cosine 0.577); rank 2: NVDA-2026-10K-EXCERPT-CONTEXTUAL-002 (0.577); rank 3: NVDA-2026-10K-EXCERPT-CONTEXTUAL-004 (0.447); dense rank 4: NVDA-2026-10K-EXCERPT-CONTEXTUAL-003 (0.408).</a:t>
            </a:r>
          </a:p>
          <a:p xmlns:a="http://schemas.openxmlformats.org/drawingml/2006/main">
            <a:r>
              <a:t>Visible IDs use the collision-safe NVDA…NNN abbreviation; the full stable manifest IDs appear above. Raw embedding cosine is a ranking signal, not confidence.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Executable maintained run: notebooks/06_hybrid_retrieval.ipynb</a:t>
            </a:r>
          </a:p>
          <a:p xmlns:a="http://schemas.openxmlformats.org/drawingml/2006/main">
            <a:r>
              <a:t>- Course explanation and score contracts: chapters/06-hybrid-retrieval.md</a:t>
            </a:r>
          </a:p>
          <a:p xmlns:a="http://schemas.openxmlformats.org/drawingml/2006/main">
            <a:r>
              <a:t>- NVIDIA fiscal 2026 Form 10-K: https://www.sec.gov/Archives/edgar/data/1045810/000104581026000021/nvda-20260125.htm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Eligibility uses exact company, period, document type, and section values with logical AND before both keyword and dense scoring.</a:t>
            </a:r>
          </a:p>
          <a:p xmlns:a="http://schemas.openxmlformats.org/drawingml/2006/main">
            <a:r>
              <a:t>If no passage is eligible, the production boundary abstains instead of silently broadening the search.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Retrieval filters: src/finai_academy/hybrid_retrieval.py</a:t>
            </a:r>
          </a:p>
          <a:p xmlns:a="http://schemas.openxmlformats.org/drawingml/2006/main">
            <a:r>
              <a:t>- Pipeline abstention and pre-filter order: src/finai_academy/retrieval_pipeline.py</a:t>
            </a:r>
          </a:p>
          <a:p xmlns:a="http://schemas.openxmlformats.org/drawingml/2006/main">
            <a:r>
              <a:t>- Course explanation: chapters/06-hybrid-retrieval.md#pre-filtering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example: B receives 1/(60+2) from keyword and 1/(60+1) from dense, totaling 0.03252. A totals 1/61 + 1/63 = 0.03227.</a:t>
            </a:r>
          </a:p>
          <a:p xmlns:a="http://schemas.openxmlformats.org/drawingml/2006/main">
            <a:r>
              <a:t>RRF combines one-based rank positions because raw keyword and dense scores are not calibrated to each other. Passage IDs deduplicate the channels.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RRF implementation: src/finai_academy/hybrid_retrieval.py</a:t>
            </a:r>
          </a:p>
          <a:p xmlns:a="http://schemas.openxmlformats.org/drawingml/2006/main">
            <a:r>
              <a:t>- Course calculation: notebooks/06_hybrid_retrieval.ipynb, Figure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production interface is provider-neutral. The deterministic offline reranker is an illustrative, inspectable policy—not a production cross-encoder.</a:t>
            </a:r>
          </a:p>
          <a:p xmlns:a="http://schemas.openxmlformats.org/drawingml/2006/main">
            <a:r>
              <a:t>Offline feature weights are lexical coverage 0.25, exact numeric coverage 0.45, section overlap 0.10, metadata eligibility 0.10, and normalized fusion signal 0.10. Their sum is a rerank score, not confidence.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Feature definitions and weights: src/finai_academy/reranking.py</a:t>
            </a:r>
          </a:p>
          <a:p xmlns:a="http://schemas.openxmlformats.org/drawingml/2006/main">
            <a:r>
              <a:t>- Candidate and final budgets: src/finai_academy/retrieval_pipeline.py</a:t>
            </a:r>
          </a:p>
          <a:p xmlns:a="http://schemas.openxmlformats.org/drawingml/2006/main">
            <a:r>
              <a:t>- Provider-mode distinction: chapters/06-hybrid-retrieval.md#provider-modes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capstone increment is filtered lexical+dense retrieval, reciprocal-rank fusion, and transparent reranking over a versioned local index.</a:t>
            </a:r>
          </a:p>
          <a:p xmlns:a="http://schemas.openxmlformats.org/drawingml/2006/main">
            <a:r>
              <a:t>Lesson 07 should trace index identity, eligibility, channel ranks, RRF contributions, rerank features, final evidence IDs, and provenance. It evaluates retrieval recall separately from answer groundedness.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Course-owned pipeline and transition: chapters/06-hybrid-retrieval.md</a:t>
            </a:r>
          </a:p>
          <a:p xmlns:a="http://schemas.openxmlformats.org/drawingml/2006/main">
            <a:r>
              <a:t>- Executable stage outputs: notebooks/06_hybrid_retrieval.ipynb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documents, chunks and embeddings as explicit logical records. The teaching index uses exact local search so students can inspect every row. Production may replace only the storage/query engine with pgvector and an HNSW index while preserving stable IDs, metadata filters and evaluation contracts.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Course Notebook 06 architecture bridge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values are one deterministic offline execution on the instructor machine: eligibility 0.00 ms, keyword 1.04 ms, dense 0.03 ms, fusion 0.01 ms and rerank 0.06 ms. Hardware-dependent timings are observations, not correctness thresholds. Lesson 07 wraps the same stage boundaries as MLflow spans.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Notebook 06 offline execution, Figure 5</a:t>
            </a:r>
          </a:p>
          <a:p xmlns:a="http://schemas.openxmlformats.org/drawingml/2006/main">
            <a:r>
              <a:t>- https://mlflow.org/docs/latest/genai/tracing/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8b0e6ab774c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8fed5873444ca0" /><Relationship Type="http://schemas.openxmlformats.org/officeDocument/2006/relationships/slideLayout" Target="/ppt/slideLayouts/slideLayout1.xml" Id="Rbbba126d082d45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ba126d082d45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415c9bd964a7b" /><Relationship Type="http://schemas.openxmlformats.org/officeDocument/2006/relationships/notesSlide" Target="/ppt/notesSlides/notesSlide1.xml" Id="R3ee3c7b6632d41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5ee75634849a7" /><Relationship Type="http://schemas.openxmlformats.org/officeDocument/2006/relationships/notesSlide" Target="/ppt/notesSlides/notesSlide2.xml" Id="R1114d3f870e846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53157333b44e6" /><Relationship Type="http://schemas.openxmlformats.org/officeDocument/2006/relationships/notesSlide" Target="/ppt/notesSlides/notesSlide3.xml" Id="R11674c8eda374a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a80b9a16f493f" /><Relationship Type="http://schemas.openxmlformats.org/officeDocument/2006/relationships/notesSlide" Target="/ppt/notesSlides/notesSlide4.xml" Id="Rb7c479a0e7ac4b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359acd72747e4" /><Relationship Type="http://schemas.openxmlformats.org/officeDocument/2006/relationships/notesSlide" Target="/ppt/notesSlides/notesSlide5.xml" Id="R98ef9994de104e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f615551a647d7" /><Relationship Type="http://schemas.openxmlformats.org/officeDocument/2006/relationships/notesSlide" Target="/ppt/notesSlides/notesSlide6.xml" Id="Rdf5dd3a0dba94b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2828c32c14809" /><Relationship Type="http://schemas.openxmlformats.org/officeDocument/2006/relationships/notesSlide" Target="/ppt/notesSlides/notesSlide7.xml" Id="R1211230d126340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fa3d638114032" /><Relationship Type="http://schemas.openxmlformats.org/officeDocument/2006/relationships/notesSlide" Target="/ppt/notesSlides/notesSlide8.xml" Id="Re9b184dce6f042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4f766e08f45e3" /><Relationship Type="http://schemas.openxmlformats.org/officeDocument/2006/relationships/notesSlide" Target="/ppt/notesSlides/notesSlide9.xml" Id="Rb4693ebd48cd4b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Hybrid Retrieval and Reranking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Make eligible evidence compete across complementary ranking channels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SESSION 06  ·  15 MIN CONCEPTS + 30 MIN 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Financial Analyst Copilot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B9499D-57E3-4A1D-8EC6-611BB041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EMBEDDING GEOMETRY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5CF57-625B-488E-BEB2-B69B4A40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Cosine measures alignment—not confidence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47AA7-B631-41FD-ABBE-E3FFFB3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VECTOR INTUITION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257D7-8A5E-4ED5-99FB-9BEA2CD5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1028700" cy="4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0CB"/>
          </a:solidFill>
          <a:ln xmlns:a="http://schemas.openxmlformats.org/drawingml/2006/main" w="0">
            <a:solidFill>
              <a:srgbClr val="1F40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8125A-6117-4802-BDED-1521C83E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05150"/>
            <a:ext cx="1028700" cy="59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0CB"/>
          </a:solidFill>
          <a:ln xmlns:a="http://schemas.openxmlformats.org/drawingml/2006/main" w="0">
            <a:solidFill>
              <a:srgbClr val="1F40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50A16-6CE2-41AD-9C68-31BCF4A3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05150"/>
            <a:ext cx="10287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0CB"/>
          </a:solidFill>
          <a:ln xmlns:a="http://schemas.openxmlformats.org/drawingml/2006/main" w="0">
            <a:solidFill>
              <a:srgbClr val="1F4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E3D30-9339-457F-B7CD-A0EA27BB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8E3BE-28EF-40CE-8891-51278C59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76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1DE89-BF1D-4E47-A0E5-E2BD6B90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E587B-C753-4E2B-8104-881E1547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9151E-D420-4D59-85E7-111FD86A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3562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D00"/>
          </a:solidFill>
          <a:ln xmlns:a="http://schemas.openxmlformats.org/drawingml/2006/main" w="0">
            <a:solidFill>
              <a:srgbClr val="F07D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E1099-8F96-4D4A-A076-9A2E9069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38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angle grows → cosine falls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98DFA-9E2C-4070-94C7-94B63062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COSINE SIMILARITY</a:t>
            </a:r>
          </a:p>
        </p:txBody>
      </p:sp>
      <p:sp>
        <p:nvSpPr>
          <p:cNvPr id="14" name="parent-section">
            <a:extLst xmlns:a="http://schemas.openxmlformats.org/drawingml/2006/main">
              <a:ext uri="{FF2B5EF4-FFF2-40B4-BE49-F238E27FC236}">
                <a16:creationId xmlns:a16="http://schemas.microsoft.com/office/drawing/2014/main" id="{7E782CAC-BF7C-46FC-866C-E3E89506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9900"/>
            <a:ext cx="27241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A1344-7C73-4F1F-9D24-59FEB65C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 · d / (‖q‖ · ‖d‖)</a:t>
            </a:r>
          </a:p>
        </p:txBody>
      </p:sp>
      <p:sp>
        <p:nvSpPr>
          <p:cNvPr id="16" name="child-0">
            <a:extLst xmlns:a="http://schemas.openxmlformats.org/drawingml/2006/main">
              <a:ext uri="{FF2B5EF4-FFF2-40B4-BE49-F238E27FC236}">
                <a16:creationId xmlns:a16="http://schemas.microsoft.com/office/drawing/2014/main" id="{49FF913A-8883-45CD-B244-354955AC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76750"/>
            <a:ext cx="1219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2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589B9-91C1-4446-A372-5FFFE4BD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291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−1</a:t>
            </a:r>
          </a:p>
        </p:txBody>
      </p:sp>
      <p:sp>
        <p:nvSpPr>
          <p:cNvPr id="18" name="child-1">
            <a:extLst xmlns:a="http://schemas.openxmlformats.org/drawingml/2006/main">
              <a:ext uri="{FF2B5EF4-FFF2-40B4-BE49-F238E27FC236}">
                <a16:creationId xmlns:a16="http://schemas.microsoft.com/office/drawing/2014/main" id="{7ADCF829-81FB-4C43-A5F1-10A73F9F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76750"/>
            <a:ext cx="1219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2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D7249-C284-46C6-A639-E3A0E60C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291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20" name="child-2">
            <a:extLst xmlns:a="http://schemas.openxmlformats.org/drawingml/2006/main">
              <a:ext uri="{FF2B5EF4-FFF2-40B4-BE49-F238E27FC236}">
                <a16:creationId xmlns:a16="http://schemas.microsoft.com/office/drawing/2014/main" id="{D221F047-9582-4D03-9D8B-65910E5A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76750"/>
            <a:ext cx="1219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2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71631-E8CD-4C8E-83BE-21A31097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291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+1</a:t>
            </a:r>
          </a:p>
        </p:txBody>
      </p:sp>
      <p:cxnSp>
        <p:nvCxnSpPr>
          <p:cNvPr id="302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6400800" y="3714750"/>
            <a:ext cx="122872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2EB"/>
            </a:solidFill>
            <a:prstDash val="solid"/>
            <a:tailEnd type="triangle" w="sm" len="sm"/>
          </a:ln>
        </p:spPr>
      </p:cxnSp>
      <p:cxnSp>
        <p:nvCxnSpPr>
          <p:cNvPr id="303" name=""/>
          <p:cNvCxnSpPr>
            <a:stCxn xmlns:a="http://schemas.openxmlformats.org/drawingml/2006/main" id="1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7629525" y="3714750"/>
            <a:ext cx="23812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2EB"/>
            </a:solidFill>
            <a:prstDash val="solid"/>
            <a:tailEnd type="triangle" w="sm" len="sm"/>
          </a:ln>
        </p:spPr>
      </p:cxnSp>
      <p:cxnSp>
        <p:nvCxnSpPr>
          <p:cNvPr id="304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7629525" y="3714750"/>
            <a:ext cx="170497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2EB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59A2EB-91A2-485C-8769-4414CA08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24500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opposed · orthogonal · aligned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1A9A77-C203-4FF0-B40D-A9FCCEC0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4384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INTERPRETATION</a:t>
            </a:r>
          </a:p>
        </p:txBody>
      </p:sp>
      <p:sp>
        <p:nvSpPr>
          <p:cNvPr id="27" name="context-prefix">
            <a:extLst xmlns:a="http://schemas.openxmlformats.org/drawingml/2006/main">
              <a:ext uri="{FF2B5EF4-FFF2-40B4-BE49-F238E27FC236}">
                <a16:creationId xmlns:a16="http://schemas.microsoft.com/office/drawing/2014/main" id="{394DF3A4-55D3-49A5-B189-7898A8E7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009900"/>
            <a:ext cx="34099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481E31-07AB-413F-A9BC-2CCE1BE4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1623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Relative alignment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40ED50-2261-4CBA-A9F0-AC58EB91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861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one embedding space</a:t>
            </a:r>
          </a:p>
        </p:txBody>
      </p:sp>
      <p:sp>
        <p:nvSpPr>
          <p:cNvPr id="30" name="proposition">
            <a:extLst xmlns:a="http://schemas.openxmlformats.org/drawingml/2006/main">
              <a:ext uri="{FF2B5EF4-FFF2-40B4-BE49-F238E27FC236}">
                <a16:creationId xmlns:a16="http://schemas.microsoft.com/office/drawing/2014/main" id="{72273FB0-E051-4A9D-ACF9-E2567C1D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343400"/>
            <a:ext cx="34099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B58602-B779-49B2-B2C2-E7F6692D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577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NOT CONFIDENCE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15A273-EB10-4B84-9D74-5A6A52A5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006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not probability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not truth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41F16E-B897-4CFF-BC22-D4ACA3F5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7721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2D projection is explanatory; retrieval uses the full vector dimensions.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BEFBEB-C8FB-4ACA-94DB-124FCEC5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705600"/>
            <a:ext cx="107061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F55544-8A98-45CD-8540-D0A1E30F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8199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Compare passages only within one versioned embedding space.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F8A41E-A99D-409D-84BE-F33131D1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956031-4C7C-48C0-AB87-5A7D7BA6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3A278E-A894-4D27-A6F3-22DC6B6D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8798E0-FBD0-46BF-A594-53A0061D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1CC3F1-A84C-4B1D-A2E0-A25EF0E9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70352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521A64-93BB-447D-87E9-41FC1E8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MAINTAINED QUERY · OFFLINE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93F9E-8AD7-4755-853A-CFF63AED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Which NVIDIA business generated $193.7 billion?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302C1-E6C0-49C0-9FA8-BA7896D6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KEYWORD · TF-IDF</a:t>
            </a:r>
          </a:p>
        </p:txBody>
      </p:sp>
      <p:sp>
        <p:nvSpPr>
          <p:cNvPr id="4" name="fixed-one">
            <a:extLst xmlns:a="http://schemas.openxmlformats.org/drawingml/2006/main">
              <a:ext uri="{FF2B5EF4-FFF2-40B4-BE49-F238E27FC236}">
                <a16:creationId xmlns:a16="http://schemas.microsoft.com/office/drawing/2014/main" id="{40C15356-6CC0-4340-AD48-214BA676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533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2FFA5-77A1-442E-984F-08CF9D90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52750"/>
            <a:ext cx="4838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051C2A"/>
                </a:solidFill>
                <a:latin typeface="Courier New"/>
                <a:ea typeface="Courier New"/>
                <a:cs typeface="Courier New"/>
              </a:rPr>
              <a:t>R1  NVDA…003  .591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051C2A"/>
                </a:solidFill>
                <a:latin typeface="Courier New"/>
                <a:ea typeface="Courier New"/>
                <a:cs typeface="Courier New"/>
              </a:rPr>
              <a:t>$193.7bn exact match</a:t>
            </a:r>
          </a:p>
        </p:txBody>
      </p:sp>
      <p:sp>
        <p:nvSpPr>
          <p:cNvPr id="6" name="fixed-two">
            <a:extLst xmlns:a="http://schemas.openxmlformats.org/drawingml/2006/main">
              <a:ext uri="{FF2B5EF4-FFF2-40B4-BE49-F238E27FC236}">
                <a16:creationId xmlns:a16="http://schemas.microsoft.com/office/drawing/2014/main" id="{AD30FCD2-C657-4E45-B1A1-6793E46E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2857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EC4B2-CAE9-400F-B11D-2D4F3052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577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051C2A"/>
                </a:solidFill>
                <a:latin typeface="Courier New"/>
                <a:ea typeface="Courier New"/>
                <a:cs typeface="Courier New"/>
              </a:rPr>
              <a:t>R2  NVDA…001  .357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46D44-14BC-44D4-9667-69FFDFBE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Filter · NVIDIA · FY2026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6CDE7-35E6-4C8C-A738-6BACCF9A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DENSE · OFFLINE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A6E03-2E74-4AA0-BC40-D36976B5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21526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18B6A-26EA-404D-8004-B4AEFB1A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05125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Rank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E5910-AC18-40D2-B2F3-6FC1F08D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00350"/>
            <a:ext cx="19621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DBD99-75A2-4F76-80D2-886026B3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0512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Candidate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61F5A-F082-42F4-BA7B-33237B01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800350"/>
            <a:ext cx="25717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70624-C8CA-468D-98D9-37807488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290512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Why it ranks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3A85A-2DFF-4A0D-A0C0-99283CEF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21526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84354-1A30-417B-8AE7-ECA5F6B0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55295-3DA8-457F-83F0-53BB6A03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48050"/>
            <a:ext cx="19621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96DF8-2386-42C4-91BD-18AC99A2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62350"/>
            <a:ext cx="173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NVDA…001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39A1A9-4564-4056-8CDC-CEDB497A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448050"/>
            <a:ext cx="2571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725B4-5DC5-4222-B581-EB84BE90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5623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raw cosine .577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60DDC-C4FB-4932-B81B-09341596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21526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C8390-620E-4337-B177-E20E1666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8625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123193-7BA4-459F-B618-D3AB37E4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71950"/>
            <a:ext cx="19621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A33689-B136-4C82-B577-8954D205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86250"/>
            <a:ext cx="173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NVDA…002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9AE3A-93EC-4D6A-8CF3-2D01BDBD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171950"/>
            <a:ext cx="2571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772D1E-8248-480D-BA11-3458C9BA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42862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raw cosine .577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86CEA-598B-4254-9CEF-1D77B357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680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Evidence at dense R4 · NVDA…003 · raw cosine .408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5E3BAB-E11C-4A7E-89F3-AB1868F4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2857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233CBA-8C3B-4B18-A5D5-D4F7061F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531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SCORE TYPES STAY DISTINCT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EA1FB2-5ABC-4E19-B39E-FBEB026E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53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Keyword scale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EE73CC-AED7-4593-A08D-4913CB1D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TF-IDF cosine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3BC68A-D5B2-4F89-AC7A-F4A6B122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53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Dense scale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38EEE4-AA29-40C4-BA3C-01E40A9D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858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raw cosine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5D4A6D-C246-49F7-9388-C795B5E0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3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Fusion input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066664-5058-4CD5-A636-49C7B36A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858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rank positions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483989-A3BC-4F4A-A656-ACD3BAC9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Join key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B3CFBA-FD87-4351-8C2A-CF0B6F60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858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manifest ID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46780A-5D65-4410-9457-661BBB6C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69519E-645C-4800-9FE8-656AB5D5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032C2C-E113-4AB5-9CC6-D6B41AED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DD0EC2-8E86-44C8-B8C1-3DB1E93C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CHANNELS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07089F-BB21-465D-B53D-42746B7A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9444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3EFE36-F0E5-4A34-9303-2F261E07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ELIGIBILITY BARRIER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2B6B0-9CAB-42A6-9CDA-FDF3A13D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Filter first: ineligible passages never enter either top-k</a:t>
            </a:r>
          </a:p>
        </p:txBody>
      </p:sp>
      <p:sp>
        <p:nvSpPr>
          <p:cNvPr id="3" name="canonical-block">
            <a:extLst xmlns:a="http://schemas.openxmlformats.org/drawingml/2006/main">
              <a:ext uri="{FF2B5EF4-FFF2-40B4-BE49-F238E27FC236}">
                <a16:creationId xmlns:a16="http://schemas.microsoft.com/office/drawing/2014/main" id="{02D02DA8-4C0F-400F-BD3D-E5C1B80C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19400"/>
            <a:ext cx="46101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94F27-A4E9-43D6-91FC-255B527D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24200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ELIGIBLE PASSAGES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40549-C1BA-4343-8D7C-0F20981F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909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company AND period AND type AND 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ED5F6-048D-47C9-84A8-2C0DBB8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362450"/>
            <a:ext cx="369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48304-EC73-4226-BDEE-2B1DF0C7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91050"/>
            <a:ext cx="354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Only eligible passages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be scored</a:t>
            </a:r>
          </a:p>
        </p:txBody>
      </p:sp>
      <p:sp>
        <p:nvSpPr>
          <p:cNvPr id="8" name="left-field-0">
            <a:extLst xmlns:a="http://schemas.openxmlformats.org/drawingml/2006/main">
              <a:ext uri="{FF2B5EF4-FFF2-40B4-BE49-F238E27FC236}">
                <a16:creationId xmlns:a16="http://schemas.microsoft.com/office/drawing/2014/main" id="{720AE8BF-AA92-49DE-8E2A-99C0FB63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ACEB0-7877-4121-958A-EABE3281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194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COMPANY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7E674-7E6C-4E95-A44F-3D0874CD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NVIDIA</a:t>
            </a:r>
          </a:p>
        </p:txBody>
      </p:sp>
      <p:sp>
        <p:nvSpPr>
          <p:cNvPr id="11" name="left-field-1">
            <a:extLst xmlns:a="http://schemas.openxmlformats.org/drawingml/2006/main">
              <a:ext uri="{FF2B5EF4-FFF2-40B4-BE49-F238E27FC236}">
                <a16:creationId xmlns:a16="http://schemas.microsoft.com/office/drawing/2014/main" id="{EB85D765-CD85-4A47-9B4D-BE4F254E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C1F3D-0AC2-4377-B5F6-24B12E25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195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PERIOD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3BE42-D27D-4E49-97D3-2DA03AC8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FY2026</a:t>
            </a:r>
          </a:p>
        </p:txBody>
      </p:sp>
      <p:sp>
        <p:nvSpPr>
          <p:cNvPr id="14" name="left-field-2">
            <a:extLst xmlns:a="http://schemas.openxmlformats.org/drawingml/2006/main">
              <a:ext uri="{FF2B5EF4-FFF2-40B4-BE49-F238E27FC236}">
                <a16:creationId xmlns:a16="http://schemas.microsoft.com/office/drawing/2014/main" id="{D38A806E-0157-47C3-A918-4210A4D0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24450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3342E-199A-44AF-A318-336CAE10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DOCUMENT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5DA57-E61B-4C94-B0C3-378EC5FE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10-K teaching extract</a:t>
            </a:r>
          </a:p>
        </p:txBody>
      </p:sp>
      <p:sp>
        <p:nvSpPr>
          <p:cNvPr id="17" name="right-field-0">
            <a:extLst xmlns:a="http://schemas.openxmlformats.org/drawingml/2006/main">
              <a:ext uri="{FF2B5EF4-FFF2-40B4-BE49-F238E27FC236}">
                <a16:creationId xmlns:a16="http://schemas.microsoft.com/office/drawing/2014/main" id="{ED066AEE-EA4B-4DB1-B7D7-DA862330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24150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72D8D-E329-4E1A-A744-1D6F1EA5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8194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KEYWORD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576CD-3A76-4FED-92A9-5CC11BA9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1242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exact-term candidates</a:t>
            </a:r>
          </a:p>
        </p:txBody>
      </p:sp>
      <p:sp>
        <p:nvSpPr>
          <p:cNvPr id="20" name="right-field-1">
            <a:extLst xmlns:a="http://schemas.openxmlformats.org/drawingml/2006/main">
              <a:ext uri="{FF2B5EF4-FFF2-40B4-BE49-F238E27FC236}">
                <a16:creationId xmlns:a16="http://schemas.microsoft.com/office/drawing/2014/main" id="{13EC72A3-15F5-4C75-A76D-0D6BA5AA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924300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9EE2B-9704-4AB7-AB65-DBB12C98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0195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DENSE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B680EC-1257-4D06-9C48-5CABC3AD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3243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semantic candidates</a:t>
            </a:r>
          </a:p>
        </p:txBody>
      </p:sp>
      <p:sp>
        <p:nvSpPr>
          <p:cNvPr id="23" name="right-field-2">
            <a:extLst xmlns:a="http://schemas.openxmlformats.org/drawingml/2006/main">
              <a:ext uri="{FF2B5EF4-FFF2-40B4-BE49-F238E27FC236}">
                <a16:creationId xmlns:a16="http://schemas.microsoft.com/office/drawing/2014/main" id="{A0E0710B-A185-4D6C-B16D-6B16D9A9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124450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678660-B347-4DEE-AD4B-E62AD2E0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2197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ABSTAIN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137DBE-0373-4B7D-89B2-62CEDDD2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245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no eligible passage</a:t>
            </a:r>
          </a:p>
        </p:txBody>
      </p:sp>
      <p:cxnSp>
        <p:nvCxnSpPr>
          <p:cNvPr id="373" name=""/>
          <p:cNvCxnSpPr>
            <a:stCxn xmlns:a="http://schemas.openxmlformats.org/drawingml/2006/main" id="8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267200" y="3171825"/>
            <a:ext cx="104775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74" name=""/>
          <p:cNvCxnSpPr>
            <a:stCxn xmlns:a="http://schemas.openxmlformats.org/drawingml/2006/main" id="11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267200" y="43719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75" name=""/>
          <p:cNvCxnSpPr>
            <a:stCxn xmlns:a="http://schemas.openxmlformats.org/drawingml/2006/main" id="14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V="1">
            <a:off x="4267200" y="4371975"/>
            <a:ext cx="104775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76" name=""/>
          <p:cNvCxnSpPr>
            <a:stCxn xmlns:a="http://schemas.openxmlformats.org/drawingml/2006/main" id="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9925050" y="3171825"/>
            <a:ext cx="104775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sm" len="sm"/>
          </a:ln>
        </p:spPr>
      </p:cxnSp>
      <p:cxnSp>
        <p:nvCxnSpPr>
          <p:cNvPr id="377" name=""/>
          <p:cNvCxnSpPr>
            <a:stCxn xmlns:a="http://schemas.openxmlformats.org/drawingml/2006/main" id="3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925050" y="43719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sm" len="sm"/>
          </a:ln>
        </p:spPr>
      </p:cxnSp>
      <p:cxnSp>
        <p:nvCxnSpPr>
          <p:cNvPr id="378" name=""/>
          <p:cNvCxnSpPr>
            <a:stCxn xmlns:a="http://schemas.openxmlformats.org/drawingml/2006/main" id="3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925050" y="4371975"/>
            <a:ext cx="104775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75D1AF-F6AB-4A2D-841A-C9B511F5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705600"/>
            <a:ext cx="1055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Post-filtering cannot recover eligible evidence omitted from a global top-k.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7CAB67-18B2-45B8-A6D3-DDBE5255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AE100F-4D6F-45A8-A34A-47F11D77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579015-04F7-4D6F-9134-8D10D8D7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9C90B6-36DC-4661-AB68-C1D6A4EE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ELIGIBILITY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479DD1-2C8A-40B6-A3D0-33950CA5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241625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RECIPROCAL-RANK FUSION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RRF adds rank contributions—not raw channel scores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8B752-5838-4084-A09E-2C38B9D5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KEYWORD · w=1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53B89-6D78-4803-9B7F-A0162294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381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FC0D2-12CA-4723-B1F4-C8F21C5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· rank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AAB83-2BB1-4A7A-84F9-1F2BE14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0ED07-2E49-4E7A-9CBF-23CD3B8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 · rank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5E176-BCBA-4C49-9196-B98EF7C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1676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2C752-A7F9-4B50-9D20-A71CEAD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 · rank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9A56C-9DB1-49FF-8E87-2C6B8DB8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3200"/>
            <a:ext cx="10668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4F50D-12C3-4331-801A-91C1EC1A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 · r4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D2954-A4C1-482E-AAB1-42DAC0B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00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B = .03252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22776-3C69-478E-8B1D-4E859ACC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DENSE RANKS · w=1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0E4D2-1B72-432A-AD48-61D3EF9B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3143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905A1-C4D3-46AB-A516-DCFB88A0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 · rank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240E6-0102-4064-B038-AB12EDED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2952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BA82F-0F85-40C1-9BE1-6E7847A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 · rank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7C7D4-5A09-43DC-B381-56DF305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1005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F20F1-CF35-4789-AC4A-62229AB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05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· rank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CD3E4-48E0-4421-8A8E-9A03948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2672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A = .03227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DF2BD-542C-4821-AB60-F914C2D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FUSED · k=60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1C47B-0B67-4AFB-8BDC-2F9D29D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33147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F7603-BBFF-4854-9F2D-F8FF1E3B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72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 · 1/62 + 1/61 = 0.03252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F6C86-F0E1-4812-B3DD-797EA0ED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76900"/>
            <a:ext cx="47815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6A990-C3AB-4ED0-A029-B6138AA5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7215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· 1/61 + 1/63 = 0.03227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45B58-81DD-48AA-9B5B-C9CA27F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734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B ranks first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21015-2BDE-427C-B7E6-89D40DC7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285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RRF(p) = Σ w / (60 + rank); deduplicate by passage ID; keep every contribution visible.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FUSION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4E1CF-DA64-4EFC-8528-B207517D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RERANKING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DB7F-E2AD-4762-B051-D3A0AC2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Retrieve widely, then rerank a smaller eligible set</a:t>
            </a:r>
          </a:p>
        </p:txBody>
      </p:sp>
      <p:sp>
        <p:nvSpPr>
          <p:cNvPr id="3" name="decision-source">
            <a:extLst xmlns:a="http://schemas.openxmlformats.org/drawingml/2006/main">
              <a:ext uri="{FF2B5EF4-FFF2-40B4-BE49-F238E27FC236}">
                <a16:creationId xmlns:a16="http://schemas.microsoft.com/office/drawing/2014/main" id="{F0F1628B-25FC-4A7D-9ACB-11ED415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2724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DE4FD-810A-4BB6-A9E2-9D453E2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FUSED 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A52CC-262C-4723-8C2E-E432627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candidate_k = 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eligible + deduplicated</a:t>
            </a:r>
          </a:p>
        </p:txBody>
      </p:sp>
      <p:sp>
        <p:nvSpPr>
          <p:cNvPr id="6" name="decision-child">
            <a:extLst xmlns:a="http://schemas.openxmlformats.org/drawingml/2006/main">
              <a:ext uri="{FF2B5EF4-FFF2-40B4-BE49-F238E27FC236}">
                <a16:creationId xmlns:a16="http://schemas.microsoft.com/office/drawing/2014/main" id="{E359D7F5-9555-4867-8587-2F8EC525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32575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19050">
            <a:solidFill>
              <a:srgbClr val="00A2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45E62-2BDC-4F11-8E8E-92ACD6B6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TRANSPARENT RERANK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2A998-C21C-458F-BEED-48651392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2647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lexical coverage=.25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numeric coverage=.45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section overlap=.10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A313B-A32E-4318-B50D-32C78656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9100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0000"/>
              </a:lnSpc>
              <a:buNone/>
              <a:defRPr sz="1275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metadata eligibility=.10</a:t>
            </a:r>
          </a:p>
          <a:p xmlns:a="http://schemas.openxmlformats.org/drawingml/2006/main">
            <a:pPr algn="ctr">
              <a:lnSpc>
                <a:spcPct val="70000"/>
              </a:lnSpc>
              <a:buNone/>
              <a:defRPr sz="1275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fusion signal=.10</a:t>
            </a:r>
          </a:p>
        </p:txBody>
      </p:sp>
      <p:sp>
        <p:nvSpPr>
          <p:cNvPr id="10" name="decision-parent">
            <a:extLst xmlns:a="http://schemas.openxmlformats.org/drawingml/2006/main">
              <a:ext uri="{FF2B5EF4-FFF2-40B4-BE49-F238E27FC236}">
                <a16:creationId xmlns:a16="http://schemas.microsoft.com/office/drawing/2014/main" id="{7E8CC043-3F7C-4B5E-B01A-E942C33D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3543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5FD15-7156-4E52-87B2-404D6260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81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FINAL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EFAC4-B99C-4E5B-B744-4D0EEDB1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3855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final_k = 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budgeted + cited</a:t>
            </a:r>
          </a:p>
        </p:txBody>
      </p:sp>
      <p:cxnSp>
        <p:nvCxnSpPr>
          <p:cNvPr id="18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5285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cxnSp>
        <p:nvCxnSpPr>
          <p:cNvPr id="18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0">
            <a:off x="842010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BEF3A-6A25-4B3F-8E60-6108148E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67350"/>
            <a:ext cx="120396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4947E-2E2C-4D5A-B088-DFED206E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638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HARD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A217F-7E45-4462-994A-E1A7947A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62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pre-filtered only · no silent broadening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4CAF0-D3F9-408B-B959-2864FA7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388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058E3-0326-4715-852F-1F8B32F6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38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SCORE SEMANTICS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9B25E-ADFB-4067-BF4C-46A5AE9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962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7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provider-neutral · offline illustrative · not confidence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A4B4E-BD27-48A6-A4E1-ACF33C62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86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B97AA-C4C9-4A8D-997E-C7AD0F31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991350"/>
            <a:ext cx="1141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Candidate retrieval protects recall; reranking spends the evidence budget deliberately.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8D079-E333-430B-9198-F3840FF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1FA6E-7D19-4BD4-95AB-A7A96F2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1D69C-B05C-4F0B-A6BD-0B4E43C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9C6EC-5AC1-4AD4-9D79-D0462CD0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RERANK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F561A-2997-41E1-8361-56739584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635715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CAPSTONE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The capstone now exposes every retrieval decision</a:t>
            </a:r>
          </a:p>
        </p:txBody>
      </p:sp>
      <p:sp>
        <p:nvSpPr>
          <p:cNvPr id="3" name="ingestion-1">
            <a:extLst xmlns:a="http://schemas.openxmlformats.org/drawingml/2006/main">
              <a:ext uri="{FF2B5EF4-FFF2-40B4-BE49-F238E27FC236}">
                <a16:creationId xmlns:a16="http://schemas.microsoft.com/office/drawing/2014/main" id="{EF5CEA91-0836-4E99-95C1-43A271A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3ADC-FDBA-49AB-AB53-62FA291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1AD73-F995-4369-A266-8FA4135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Versioned index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F72B-07B6-4BF4-A3F9-5860F8A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provider · model · dimensions</a:t>
            </a:r>
          </a:p>
        </p:txBody>
      </p:sp>
      <p:sp>
        <p:nvSpPr>
          <p:cNvPr id="7" name="ingestion-2">
            <a:extLst xmlns:a="http://schemas.openxmlformats.org/drawingml/2006/main">
              <a:ext uri="{FF2B5EF4-FFF2-40B4-BE49-F238E27FC236}">
                <a16:creationId xmlns:a16="http://schemas.microsoft.com/office/drawing/2014/main" id="{B39DEECB-E0D1-415A-8F2A-C8075A6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9081-8A68-4B7E-9199-340CF95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95E54-44DC-4092-9EB7-0C81E4B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Pre-filter eligibility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65E8E-6BA9-40DB-99F9-46D3397B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company · period · document</a:t>
            </a:r>
          </a:p>
        </p:txBody>
      </p:sp>
      <p:sp>
        <p:nvSpPr>
          <p:cNvPr id="11" name="ingestion-3">
            <a:extLst xmlns:a="http://schemas.openxmlformats.org/drawingml/2006/main">
              <a:ext uri="{FF2B5EF4-FFF2-40B4-BE49-F238E27FC236}">
                <a16:creationId xmlns:a16="http://schemas.microsoft.com/office/drawing/2014/main" id="{D4342A97-3791-461F-A305-9671DA4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49A95-2D88-4387-8BD5-FA749AB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3874-F985-4CD0-BBFF-D59F5B7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Keyword + dense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AF29-91DE-47C0-8189-B0778BB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candidate_k · ranked passage IDs</a:t>
            </a:r>
          </a:p>
        </p:txBody>
      </p:sp>
      <p:sp>
        <p:nvSpPr>
          <p:cNvPr id="15" name="ingestion-4">
            <a:extLst xmlns:a="http://schemas.openxmlformats.org/drawingml/2006/main">
              <a:ext uri="{FF2B5EF4-FFF2-40B4-BE49-F238E27FC236}">
                <a16:creationId xmlns:a16="http://schemas.microsoft.com/office/drawing/2014/main" id="{7952DE37-BD86-481C-A575-8709971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C2EC9-18A1-4F72-A64D-AF536DD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FD5A-1C0F-4BE1-B862-685F20D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RRF + rerank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52B70-645C-40F7-B0DE-1D1D17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rank fusion · transparent features</a:t>
            </a:r>
          </a:p>
        </p:txBody>
      </p:sp>
      <p:sp>
        <p:nvSpPr>
          <p:cNvPr id="19" name="ingestion-5">
            <a:extLst xmlns:a="http://schemas.openxmlformats.org/drawingml/2006/main">
              <a:ext uri="{FF2B5EF4-FFF2-40B4-BE49-F238E27FC236}">
                <a16:creationId xmlns:a16="http://schemas.microsoft.com/office/drawing/2014/main" id="{43F7E1B1-E237-4A79-B0C4-38965CF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64D39-05B0-4F08-BC2B-2221BE2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CBB5-9FF7-4C7B-8D8C-5AA354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Cited evidence 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6B515-B8BF-4B9C-8D6B-EC909D2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final_k · provenance intact</a:t>
            </a:r>
          </a:p>
        </p:txBody>
      </p:sp>
      <p:cxnSp>
        <p:nvCxnSpPr>
          <p:cNvPr id="317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1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579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1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773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2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6967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Lesson 07 evaluates each stage and traces the answer path.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retrieval recall is measured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answer groundedness stays separate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HANDOFF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STORAGE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Keep one logical schema when the vector engine changes</a:t>
            </a:r>
          </a:p>
        </p:txBody>
      </p:sp>
      <p:sp>
        <p:nvSpPr>
          <p:cNvPr id="3" name="ingestion-1">
            <a:extLst xmlns:a="http://schemas.openxmlformats.org/drawingml/2006/main">
              <a:ext uri="{FF2B5EF4-FFF2-40B4-BE49-F238E27FC236}">
                <a16:creationId xmlns:a16="http://schemas.microsoft.com/office/drawing/2014/main" id="{EF5CEA91-0836-4E99-95C1-43A271A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3ADC-FDBA-49AB-AB53-62FA291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1AD73-F995-4369-A266-8FA4135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F72B-07B6-4BF4-A3F9-5860F8A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source · company · period</a:t>
            </a:r>
          </a:p>
        </p:txBody>
      </p:sp>
      <p:sp>
        <p:nvSpPr>
          <p:cNvPr id="7" name="ingestion-2">
            <a:extLst xmlns:a="http://schemas.openxmlformats.org/drawingml/2006/main">
              <a:ext uri="{FF2B5EF4-FFF2-40B4-BE49-F238E27FC236}">
                <a16:creationId xmlns:a16="http://schemas.microsoft.com/office/drawing/2014/main" id="{B39DEECB-E0D1-415A-8F2A-C8075A6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9081-8A68-4B7E-9199-340CF95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95E54-44DC-4092-9EB7-0C81E4B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Chunks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65E8E-6BA9-40DB-99F9-46D3397B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stable ID · page · section</a:t>
            </a:r>
          </a:p>
        </p:txBody>
      </p:sp>
      <p:sp>
        <p:nvSpPr>
          <p:cNvPr id="11" name="ingestion-3">
            <a:extLst xmlns:a="http://schemas.openxmlformats.org/drawingml/2006/main">
              <a:ext uri="{FF2B5EF4-FFF2-40B4-BE49-F238E27FC236}">
                <a16:creationId xmlns:a16="http://schemas.microsoft.com/office/drawing/2014/main" id="{D4342A97-3791-461F-A305-9671DA4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49A95-2D88-4387-8BD5-FA749AB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3874-F985-4CD0-BBFF-D59F5B7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Embeddings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AF29-91DE-47C0-8189-B0778BB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model · dimensions · vector</a:t>
            </a:r>
          </a:p>
        </p:txBody>
      </p:sp>
      <p:sp>
        <p:nvSpPr>
          <p:cNvPr id="15" name="ingestion-4">
            <a:extLst xmlns:a="http://schemas.openxmlformats.org/drawingml/2006/main">
              <a:ext uri="{FF2B5EF4-FFF2-40B4-BE49-F238E27FC236}">
                <a16:creationId xmlns:a16="http://schemas.microsoft.com/office/drawing/2014/main" id="{7952DE37-BD86-481C-A575-8709971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C2EC9-18A1-4F72-A64D-AF536DD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FD5A-1C0F-4BE1-B862-685F20D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Local 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52B70-645C-40F7-B0DE-1D1D17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NumPy · exact search</a:t>
            </a:r>
          </a:p>
        </p:txBody>
      </p:sp>
      <p:sp>
        <p:nvSpPr>
          <p:cNvPr id="19" name="ingestion-5">
            <a:extLst xmlns:a="http://schemas.openxmlformats.org/drawingml/2006/main">
              <a:ext uri="{FF2B5EF4-FFF2-40B4-BE49-F238E27FC236}">
                <a16:creationId xmlns:a16="http://schemas.microsoft.com/office/drawing/2014/main" id="{43F7E1B1-E237-4A79-B0C4-38965CF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64D39-05B0-4F08-BC2B-2221BE2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CBB5-9FF7-4C7B-8D8C-5AA354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pgvector / HNSW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6B515-B8BF-4B9C-8D6B-EC909D2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persistent · approximate search</a:t>
            </a:r>
          </a:p>
        </p:txBody>
      </p:sp>
      <p:cxnSp>
        <p:nvCxnSpPr>
          <p:cNvPr id="317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1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579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1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773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2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6967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IDs, filters and evaluation contracts stay unchanged.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prototype · simple + inspectable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production · persistence + scale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STORAGE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MEASUREMENT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Measure each retrieval stage before adding MLflow</a:t>
            </a:r>
          </a:p>
        </p:txBody>
      </p:sp>
      <p:sp>
        <p:nvSpPr>
          <p:cNvPr id="3" name="ingestion-1">
            <a:extLst xmlns:a="http://schemas.openxmlformats.org/drawingml/2006/main">
              <a:ext uri="{FF2B5EF4-FFF2-40B4-BE49-F238E27FC236}">
                <a16:creationId xmlns:a16="http://schemas.microsoft.com/office/drawing/2014/main" id="{EF5CEA91-0836-4E99-95C1-43A271A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3ADC-FDBA-49AB-AB53-62FA291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1AD73-F995-4369-A266-8FA4135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Eligibility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F72B-07B6-4BF4-A3F9-5860F8A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0.00 ms · complete</a:t>
            </a:r>
          </a:p>
        </p:txBody>
      </p:sp>
      <p:sp>
        <p:nvSpPr>
          <p:cNvPr id="7" name="ingestion-2">
            <a:extLst xmlns:a="http://schemas.openxmlformats.org/drawingml/2006/main">
              <a:ext uri="{FF2B5EF4-FFF2-40B4-BE49-F238E27FC236}">
                <a16:creationId xmlns:a16="http://schemas.microsoft.com/office/drawing/2014/main" id="{B39DEECB-E0D1-415A-8F2A-C8075A6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9081-8A68-4B7E-9199-340CF95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95E54-44DC-4092-9EB7-0C81E4B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Keyword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65E8E-6BA9-40DB-99F9-46D3397B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1.04 ms · complete</a:t>
            </a:r>
          </a:p>
        </p:txBody>
      </p:sp>
      <p:sp>
        <p:nvSpPr>
          <p:cNvPr id="11" name="ingestion-3">
            <a:extLst xmlns:a="http://schemas.openxmlformats.org/drawingml/2006/main">
              <a:ext uri="{FF2B5EF4-FFF2-40B4-BE49-F238E27FC236}">
                <a16:creationId xmlns:a16="http://schemas.microsoft.com/office/drawing/2014/main" id="{D4342A97-3791-461F-A305-9671DA4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49A95-2D88-4387-8BD5-FA749AB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3874-F985-4CD0-BBFF-D59F5B7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AF29-91DE-47C0-8189-B0778BB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0.03 ms · complete</a:t>
            </a:r>
          </a:p>
        </p:txBody>
      </p:sp>
      <p:sp>
        <p:nvSpPr>
          <p:cNvPr id="15" name="ingestion-4">
            <a:extLst xmlns:a="http://schemas.openxmlformats.org/drawingml/2006/main">
              <a:ext uri="{FF2B5EF4-FFF2-40B4-BE49-F238E27FC236}">
                <a16:creationId xmlns:a16="http://schemas.microsoft.com/office/drawing/2014/main" id="{7952DE37-BD86-481C-A575-8709971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C2EC9-18A1-4F72-A64D-AF536DD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FD5A-1C0F-4BE1-B862-685F20D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52B70-645C-40F7-B0DE-1D1D17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0.01 ms · complete</a:t>
            </a:r>
          </a:p>
        </p:txBody>
      </p:sp>
      <p:sp>
        <p:nvSpPr>
          <p:cNvPr id="19" name="ingestion-5">
            <a:extLst xmlns:a="http://schemas.openxmlformats.org/drawingml/2006/main">
              <a:ext uri="{FF2B5EF4-FFF2-40B4-BE49-F238E27FC236}">
                <a16:creationId xmlns:a16="http://schemas.microsoft.com/office/drawing/2014/main" id="{43F7E1B1-E237-4A79-B0C4-38965CF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64D39-05B0-4F08-BC2B-2221BE2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CBB5-9FF7-4C7B-8D8C-5AA354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Rerank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6B515-B8BF-4B9C-8D6B-EC909D2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0.06 ms · complete</a:t>
            </a:r>
          </a:p>
        </p:txBody>
      </p:sp>
      <p:cxnSp>
        <p:nvCxnSpPr>
          <p:cNvPr id="317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1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579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1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773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32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6967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Lesson 07 maps these stage objects to trace spans—no pipeline rewrite.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offline example · timings vary by machine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future spans · inputs · outputs · duration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OBSERVE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2026-08-16T07:22:36.1830000Z</dcterms:created>
  <dcterms:modified xsi:type="dcterms:W3CDTF">2026-08-16T07:22:36.1830000Z</dcterms:modified>
</coreProperties>
</file>