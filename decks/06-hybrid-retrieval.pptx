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f94ee107694185" /><Relationship Type="http://schemas.openxmlformats.org/officeDocument/2006/relationships/extended-properties" Target="/docProps/app.xml" Id="Rf6b04aa1952f434c" /><Relationship Type="http://schemas.openxmlformats.org/officeDocument/2006/relationships/officeDocument" Target="/ppt/presentation.xml" Id="R6e0dac35679b41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3590ff5edd4568"/>
  </p:sldMasterIdLst>
  <p:notesMasterIdLst>
    <p:notesMasterId xmlns:r="http://schemas.openxmlformats.org/officeDocument/2006/relationships" r:id="R3229cb831de24874"/>
  </p:notesMasterIdLst>
  <p:sldIdLst>
    <p:sldId xmlns:r="http://schemas.openxmlformats.org/officeDocument/2006/relationships" id="256" r:id="Ra17d1ba37f8349c9"/>
    <p:sldId xmlns:r="http://schemas.openxmlformats.org/officeDocument/2006/relationships" id="257" r:id="R77e5b8d4e9fc4269"/>
    <p:sldId xmlns:r="http://schemas.openxmlformats.org/officeDocument/2006/relationships" id="258" r:id="R87965c9f0fd74b91"/>
    <p:sldId xmlns:r="http://schemas.openxmlformats.org/officeDocument/2006/relationships" id="259" r:id="Rf390063c12ca482e"/>
    <p:sldId xmlns:r="http://schemas.openxmlformats.org/officeDocument/2006/relationships" id="260" r:id="R4032437350f54019"/>
    <p:sldId xmlns:r="http://schemas.openxmlformats.org/officeDocument/2006/relationships" id="261" r:id="Ra66a7cae931a408d"/>
    <p:sldId xmlns:r="http://schemas.openxmlformats.org/officeDocument/2006/relationships" id="262" r:id="Rca7c2c90f2e0491d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28c42eacb04b03" /><Relationship Type="http://schemas.openxmlformats.org/officeDocument/2006/relationships/slideMaster" Target="/ppt/slideMasters/slideMaster1.xml" Id="R7a3590ff5edd4568" /><Relationship Type="http://schemas.openxmlformats.org/officeDocument/2006/relationships/notesMaster" Target="/ppt/notesMasters/notesMaster1.xml" Id="R3229cb831de24874" /><Relationship Type="http://schemas.openxmlformats.org/officeDocument/2006/relationships/presProps" Target="/ppt/presProps.xml" Id="R46836d48c6124b15" /><Relationship Type="http://schemas.openxmlformats.org/officeDocument/2006/relationships/tableStyles" Target="/ppt/tableStyles.xml" Id="Rc8ba230645824d65" /><Relationship Type="http://schemas.openxmlformats.org/officeDocument/2006/relationships/slide" Target="/ppt/slides/slide1.xml" Id="Ra17d1ba37f8349c9" /><Relationship Type="http://schemas.openxmlformats.org/officeDocument/2006/relationships/slide" Target="/ppt/slides/slide2.xml" Id="R77e5b8d4e9fc4269" /><Relationship Type="http://schemas.openxmlformats.org/officeDocument/2006/relationships/slide" Target="/ppt/slides/slide3.xml" Id="R87965c9f0fd74b91" /><Relationship Type="http://schemas.openxmlformats.org/officeDocument/2006/relationships/slide" Target="/ppt/slides/slide4.xml" Id="Rf390063c12ca482e" /><Relationship Type="http://schemas.openxmlformats.org/officeDocument/2006/relationships/slide" Target="/ppt/slides/slide5.xml" Id="R4032437350f54019" /><Relationship Type="http://schemas.openxmlformats.org/officeDocument/2006/relationships/slide" Target="/ppt/slides/slide6.xml" Id="Ra66a7cae931a408d" /><Relationship Type="http://schemas.openxmlformats.org/officeDocument/2006/relationships/slide" Target="/ppt/slides/slide7.xml" Id="Rca7c2c90f2e0491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2f693004e140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31963f7e9f4fa8" /><Relationship Type="http://schemas.openxmlformats.org/officeDocument/2006/relationships/notesMaster" Target="/ppt/notesMasters/notesMaster1.xml" Id="Re6a776d7571649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3ebafa849e43a6" /><Relationship Type="http://schemas.openxmlformats.org/officeDocument/2006/relationships/notesMaster" Target="/ppt/notesMasters/notesMaster1.xml" Id="Rb6fcaefa41bf44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7ce3b915e442c7" /><Relationship Type="http://schemas.openxmlformats.org/officeDocument/2006/relationships/notesMaster" Target="/ppt/notesMasters/notesMaster1.xml" Id="R2f293aa6bf2043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cca11b4d574155" /><Relationship Type="http://schemas.openxmlformats.org/officeDocument/2006/relationships/notesMaster" Target="/ppt/notesMasters/notesMaster1.xml" Id="Rd02dd508d64f43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be8d3f15ac4ae8" /><Relationship Type="http://schemas.openxmlformats.org/officeDocument/2006/relationships/notesMaster" Target="/ppt/notesMasters/notesMaster1.xml" Id="R385e885d87b04a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644fdf1c22405d" /><Relationship Type="http://schemas.openxmlformats.org/officeDocument/2006/relationships/notesMaster" Target="/ppt/notesMasters/notesMaster1.xml" Id="Rab032762825e44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a3a81eb27b4dc0" /><Relationship Type="http://schemas.openxmlformats.org/officeDocument/2006/relationships/notesMaster" Target="/ppt/notesMasters/notesMaster1.xml" Id="R09e0a08321fe43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Outcome: explain retrieval as a staged, testable system over the trusted Lesson 05 evidence units.</a:t>
            </a:r>
          </a:p>
          <a:p xmlns:a="http://schemas.openxmlformats.org/drawingml/2006/main">
            <a:r>
              <a:t>Use the full 15 minutes for the seven diagrams, then move to the 30-minute executable notebook.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diagrams and claims: chapters/06-hybrid-retrieval.md</a:t>
            </a:r>
          </a:p>
          <a:p xmlns:a="http://schemas.openxmlformats.org/drawingml/2006/main">
            <a:r>
              <a:t>- Executable semantics: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normalized vectors, cosine is the dot product. Use it as a relative ranking signal inside one versioned embedding space.</a:t>
            </a:r>
          </a:p>
          <a:p xmlns:a="http://schemas.openxmlformats.org/drawingml/2006/main">
            <a:r>
              <a:t>The two-dimensional picture is intuition only; the notebook's similarity heatmap uses the full embedding dimensions.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scikit-learn cosine similarity: https://scikit-learn.org/stable/modules/generated/sklearn.metrics.pairwise.cosine_similarity.html</a:t>
            </a:r>
          </a:p>
          <a:p xmlns:a="http://schemas.openxmlformats.org/drawingml/2006/main">
            <a:r>
              <a:t>- Course explanation: chapters/06-hybrid-retrieval.md#cosine-similarity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Keyword retrieval protects exact numbers, tickers, and accounting labels. Dense retrieval protects conceptual matches with limited literal overlap.</a:t>
            </a:r>
          </a:p>
          <a:p xmlns:a="http://schemas.openxmlformats.org/drawingml/2006/main">
            <a:r>
              <a:t>Do not compare TF-IDF cosine and embedding cosine as if they were one calibrated score scale.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Executable comparison: notebooks/06_hybrid_retrieval.ipynb</a:t>
            </a:r>
          </a:p>
          <a:p xmlns:a="http://schemas.openxmlformats.org/drawingml/2006/main">
            <a:r>
              <a:t>- NVIDIA fiscal 2026 Form 10-K: https://www.sec.gov/Archives/edgar/data/1045810/000104581026000021/nvda-20260125.htm</a:t>
            </a:r>
          </a:p>
          <a:p xmlns:a="http://schemas.openxmlformats.org/drawingml/2006/main">
            <a:r>
              <a:t>- Schneider Electric FY2025 results: https://www.se.com/ww/en/assets/564/document/528237/release-fy-results-2025.pdf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 uses exact company, period, document type, and section values with logical AND before both keyword and dense scoring.</a:t>
            </a:r>
          </a:p>
          <a:p xmlns:a="http://schemas.openxmlformats.org/drawingml/2006/main">
            <a:r>
              <a:t>If no passage is eligible, the production boundary abstains instead of silently broadening the search.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Retrieval filters: src/finai_academy/hybrid_retrieval.py</a:t>
            </a:r>
          </a:p>
          <a:p xmlns:a="http://schemas.openxmlformats.org/drawingml/2006/main">
            <a:r>
              <a:t>- Pipeline abstention and pre-filter order: src/finai_academy/retrieval_pipeline.py</a:t>
            </a:r>
          </a:p>
          <a:p xmlns:a="http://schemas.openxmlformats.org/drawingml/2006/main">
            <a:r>
              <a:t>- Course explanation: chapters/06-hybrid-retrieval.md#pre-filtering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example: B receives 1/(60+2) from keyword and 1/(60+1) from dense, totaling 0.03252. A totals 1/61 + 1/63 = 0.03227.</a:t>
            </a:r>
          </a:p>
          <a:p xmlns:a="http://schemas.openxmlformats.org/drawingml/2006/main">
            <a:r>
              <a:t>RRF combines one-based rank positions because raw keyword and dense scores are not calibrated to each other. Passage IDs deduplicate the channels.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RRF implementation: src/finai_academy/hybrid_retrieval.py</a:t>
            </a:r>
          </a:p>
          <a:p xmlns:a="http://schemas.openxmlformats.org/drawingml/2006/main">
            <a:r>
              <a:t>- Course calculation: notebooks/06_hybrid_retrieval.ipynb, Figure 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production interface is provider-neutral. The deterministic offline reranker is an illustrative, inspectable policy—not a production cross-encoder.</a:t>
            </a:r>
          </a:p>
          <a:p xmlns:a="http://schemas.openxmlformats.org/drawingml/2006/main">
            <a:r>
              <a:t>Offline feature weights are lexical coverage 0.25, exact numeric coverage 0.45, section overlap 0.10, metadata eligibility 0.10, and normalized fusion signal 0.10. Their sum is a rerank score, not confidence.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Feature definitions and weights: src/finai_academy/reranking.py</a:t>
            </a:r>
          </a:p>
          <a:p xmlns:a="http://schemas.openxmlformats.org/drawingml/2006/main">
            <a:r>
              <a:t>- Candidate and final budgets: src/finai_academy/retrieval_pipeline.py</a:t>
            </a:r>
          </a:p>
          <a:p xmlns:a="http://schemas.openxmlformats.org/drawingml/2006/main">
            <a:r>
              <a:t>- Provider-mode distinction: chapters/06-hybrid-retrieval.md#provider-modes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increment is filtered lexical+dense retrieval, reciprocal-rank fusion, and transparent reranking over a versioned local index.</a:t>
            </a:r>
          </a:p>
          <a:p xmlns:a="http://schemas.openxmlformats.org/drawingml/2006/main">
            <a:r>
              <a:t>Lesson 07 should trace index identity, eligibility, channel ranks, RRF contributions, rerank features, final evidence IDs, and provenance. It evaluates retrieval recall separately from answer groundedness.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pipeline and transition: chapters/06-hybrid-retrieval.md</a:t>
            </a:r>
          </a:p>
          <a:p xmlns:a="http://schemas.openxmlformats.org/drawingml/2006/main">
            <a:r>
              <a:t>- Executable stage outputs: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f566a9bd141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c8959d17554a03" /><Relationship Type="http://schemas.openxmlformats.org/officeDocument/2006/relationships/slideLayout" Target="/ppt/slideLayouts/slideLayout1.xml" Id="Rb3aa1bdeb21b43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aa1bdeb21b43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13c41bd29481d" /><Relationship Type="http://schemas.openxmlformats.org/officeDocument/2006/relationships/notesSlide" Target="/ppt/notesSlides/notesSlide1.xml" Id="Rba0d748e754946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58452d64b425c" /><Relationship Type="http://schemas.openxmlformats.org/officeDocument/2006/relationships/notesSlide" Target="/ppt/notesSlides/notesSlide2.xml" Id="Rba42f4dbde4d41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a898a002547cc" /><Relationship Type="http://schemas.openxmlformats.org/officeDocument/2006/relationships/notesSlide" Target="/ppt/notesSlides/notesSlide3.xml" Id="R555ff472b08f43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8d793328c49a4" /><Relationship Type="http://schemas.openxmlformats.org/officeDocument/2006/relationships/notesSlide" Target="/ppt/notesSlides/notesSlide4.xml" Id="R55375c99e2c44f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89b225c5d4c4d" /><Relationship Type="http://schemas.openxmlformats.org/officeDocument/2006/relationships/notesSlide" Target="/ppt/notesSlides/notesSlide5.xml" Id="Rf9a9ab481c8648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fb1e801ae4411" /><Relationship Type="http://schemas.openxmlformats.org/officeDocument/2006/relationships/notesSlide" Target="/ppt/notesSlides/notesSlide6.xml" Id="R175b2ff25dd44e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08846e811461e" /><Relationship Type="http://schemas.openxmlformats.org/officeDocument/2006/relationships/notesSlide" Target="/ppt/notesSlides/notesSlide7.xml" Id="R63b8ab3f096f40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and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Make eligible evidence compete across complementary ranking channels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 measures alignment—not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VECTOR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angle grows → cosine falls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SIMILARITY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 · d / (‖q‖ · ‖d‖)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−1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</a:t>
            </a:r>
          </a:p>
        </p:txBody>
      </p:sp>
      <p:cxnSp>
        <p:nvCxnSpPr>
          <p:cNvPr id="110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opposed · orthogonal · aligned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INTERPRETATION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Relative alignment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embedding space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767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NOT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probability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truth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2D projection is explanatory; retrieval uses the full vector dimensions.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passages only within one versioned embedding space.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COMPLEMENTARY CHANNELS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Keyword and dense lists fail differently—and 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EXACT TERMS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R1  SU-MARGIN  18.7%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exact literal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R2  NVDA-TABLE  $193.7bn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DENSE · CONCEPTS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Why it ranks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9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CONCENTRATION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concept alignment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NVDA-TABLE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business semantics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embedding cosine similarity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SCORE TYPES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Keyword scale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Dense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cosine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Fusion 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rank positions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Join key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passage 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ELIGIBILITY BARRIER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top-k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384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exact-term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38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387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125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6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7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8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RANKS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exact-term order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semantic order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widely, then rerank a smaller eligible set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CANDIDATES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8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264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2647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Five normalized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features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67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0.25 · 0.45 · 0.10 · 0.10 · 0.10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3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68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 RULE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Candidate retrieval protects recall; reranking spends the evidence budget deliberately.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CAPSTONE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capstone now exposes every retrieval decision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Versioned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provider · model · dimensions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document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Keyword +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candidate_k · ranked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transparent features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Cited evidence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final_k · provenance intact</a:t>
            </a:r>
          </a:p>
        </p:txBody>
      </p:sp>
      <p:cxnSp>
        <p:nvCxnSpPr>
          <p:cNvPr id="109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0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1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12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evaluates each stage and traces the answer path.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recall is measured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groundedness stays separate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2026-08-15T12:32:01.1210000Z</dcterms:created>
  <dcterms:modified xsi:type="dcterms:W3CDTF">2026-08-15T12:32:01.1210000Z</dcterms:modified>
</coreProperties>
</file>