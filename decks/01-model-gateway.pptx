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a43971c0ef412b" /><Relationship Type="http://schemas.openxmlformats.org/officeDocument/2006/relationships/extended-properties" Target="/docProps/app.xml" Id="R51965b88f45b4102" /><Relationship Type="http://schemas.openxmlformats.org/officeDocument/2006/relationships/officeDocument" Target="/ppt/presentation.xml" Id="R380664872ae445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e34e7b368c488f"/>
  </p:sldMasterIdLst>
  <p:notesMasterIdLst>
    <p:notesMasterId xmlns:r="http://schemas.openxmlformats.org/officeDocument/2006/relationships" r:id="Rd6648327a55b4ea5"/>
  </p:notesMasterIdLst>
  <p:sldIdLst>
    <p:sldId xmlns:r="http://schemas.openxmlformats.org/officeDocument/2006/relationships" id="256" r:id="R2f29c20f8b69456e"/>
    <p:sldId xmlns:r="http://schemas.openxmlformats.org/officeDocument/2006/relationships" id="257" r:id="R8fd13cd03d4d4af8"/>
    <p:sldId xmlns:r="http://schemas.openxmlformats.org/officeDocument/2006/relationships" id="258" r:id="Rb53e804ead6f4b1e"/>
    <p:sldId xmlns:r="http://schemas.openxmlformats.org/officeDocument/2006/relationships" id="259" r:id="Rc786dfdc97184574"/>
    <p:sldId xmlns:r="http://schemas.openxmlformats.org/officeDocument/2006/relationships" id="260" r:id="R0b2adc85bd0340a1"/>
    <p:sldId xmlns:r="http://schemas.openxmlformats.org/officeDocument/2006/relationships" id="261" r:id="Rf0449dc3f22c43b7"/>
    <p:sldId xmlns:r="http://schemas.openxmlformats.org/officeDocument/2006/relationships" id="262" r:id="R92251e9c5c304fff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7eedd0aac84076" /><Relationship Type="http://schemas.openxmlformats.org/officeDocument/2006/relationships/slideMaster" Target="/ppt/slideMasters/slideMaster1.xml" Id="R54e34e7b368c488f" /><Relationship Type="http://schemas.openxmlformats.org/officeDocument/2006/relationships/notesMaster" Target="/ppt/notesMasters/notesMaster1.xml" Id="Rd6648327a55b4ea5" /><Relationship Type="http://schemas.openxmlformats.org/officeDocument/2006/relationships/presProps" Target="/ppt/presProps.xml" Id="R41cb29150d8745bd" /><Relationship Type="http://schemas.openxmlformats.org/officeDocument/2006/relationships/tableStyles" Target="/ppt/tableStyles.xml" Id="Rde6e3d81276c421f" /><Relationship Type="http://schemas.openxmlformats.org/officeDocument/2006/relationships/slide" Target="/ppt/slides/slide1.xml" Id="R2f29c20f8b69456e" /><Relationship Type="http://schemas.openxmlformats.org/officeDocument/2006/relationships/slide" Target="/ppt/slides/slide2.xml" Id="R8fd13cd03d4d4af8" /><Relationship Type="http://schemas.openxmlformats.org/officeDocument/2006/relationships/slide" Target="/ppt/slides/slide3.xml" Id="Rb53e804ead6f4b1e" /><Relationship Type="http://schemas.openxmlformats.org/officeDocument/2006/relationships/slide" Target="/ppt/slides/slide4.xml" Id="Rc786dfdc97184574" /><Relationship Type="http://schemas.openxmlformats.org/officeDocument/2006/relationships/slide" Target="/ppt/slides/slide5.xml" Id="R0b2adc85bd0340a1" /><Relationship Type="http://schemas.openxmlformats.org/officeDocument/2006/relationships/slide" Target="/ppt/slides/slide6.xml" Id="Rf0449dc3f22c43b7" /><Relationship Type="http://schemas.openxmlformats.org/officeDocument/2006/relationships/slide" Target="/ppt/slides/slide7.xml" Id="R92251e9c5c304ff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8ce4f6d0b84b9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8b7dc34a7d64a36" /><Relationship Type="http://schemas.openxmlformats.org/officeDocument/2006/relationships/notesMaster" Target="/ppt/notesMasters/notesMaster1.xml" Id="R60f4041e69cf42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655899c4224e5f" /><Relationship Type="http://schemas.openxmlformats.org/officeDocument/2006/relationships/notesMaster" Target="/ppt/notesMasters/notesMaster1.xml" Id="R753a51c90d1d40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4e1c4a3f8654fda" /><Relationship Type="http://schemas.openxmlformats.org/officeDocument/2006/relationships/notesMaster" Target="/ppt/notesMasters/notesMaster1.xml" Id="Rb041269092bb459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72ab7f915b48eb" /><Relationship Type="http://schemas.openxmlformats.org/officeDocument/2006/relationships/notesMaster" Target="/ppt/notesMasters/notesMaster1.xml" Id="Racfe135272864e6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299cb3d47964201" /><Relationship Type="http://schemas.openxmlformats.org/officeDocument/2006/relationships/notesMaster" Target="/ppt/notesMasters/notesMaster1.xml" Id="R9cdae11b7bab4ce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e93d0bf8174449" /><Relationship Type="http://schemas.openxmlformats.org/officeDocument/2006/relationships/notesMaster" Target="/ppt/notesMasters/notesMaster1.xml" Id="Rb0395cb532694da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ea26a608c014a44" /><Relationship Type="http://schemas.openxmlformats.org/officeDocument/2006/relationships/notesMaster" Target="/ppt/notesMasters/notesMaster1.xml" Id="R79af6a94a4e149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outcome: one measured application boundary supports local Ollama and hosted OpenAI models.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https://developers.openai.com/api/docs/models</a:t>
            </a:r>
          </a:p>
          <a:p xmlns:a="http://schemas.openxmlformats.org/drawingml/2006/main">
            <a:r>
              <a:t>- https://docs.ollama.com/api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Configuration selects the provider adapter; application code consumes one normalized response record.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https://developers.openai.com/api/docs/models</a:t>
            </a:r>
          </a:p>
          <a:p xmlns:a="http://schemas.openxmlformats.org/drawingml/2006/main">
            <a:r>
              <a:t>- https://docs.ollama.com/api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stable system instructions from the current question and evidence. These roles remain inspectable and versionable.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Latency and available token counts are application data. Streaming improves delivery latency but does not add evidence or factual quality.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https://developers.openai.com/api/docs/guides/streaming-responses</a:t>
            </a:r>
          </a:p>
          <a:p xmlns:a="http://schemas.openxmlformats.org/drawingml/2006/main">
            <a:r>
              <a:t>- https://docs.ollama.com/api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Let the technically successful call fail as analysis. Ask students to name the five missing contract elements before revealing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values are paraphrased from NVIDIA's fiscal 2026 Form 10-K. The evidence supports reported observations, not valuation or a recommendation.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four transparent checks, then move into the notebook. The remaining course path adds structured outputs, context, RAG, evaluation, agents and MCP.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4ebab1d9d2437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1376d354d3f4f0b" /><Relationship Type="http://schemas.openxmlformats.org/officeDocument/2006/relationships/slideLayout" Target="/ppt/slideLayouts/slideLayout1.xml" Id="R95270bb7b21a453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270bb7b21a453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b4c0ea912a4784" /><Relationship Type="http://schemas.openxmlformats.org/officeDocument/2006/relationships/notesSlide" Target="/ppt/notesSlides/notesSlide1.xml" Id="R24a209afcb0443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1b8f64c6194f70" /><Relationship Type="http://schemas.openxmlformats.org/officeDocument/2006/relationships/notesSlide" Target="/ppt/notesSlides/notesSlide2.xml" Id="R47a587309d154bb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1ae100f13345e7" /><Relationship Type="http://schemas.openxmlformats.org/officeDocument/2006/relationships/notesSlide" Target="/ppt/notesSlides/notesSlide3.xml" Id="R133232f8e94040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aef8eb37c74961" /><Relationship Type="http://schemas.openxmlformats.org/officeDocument/2006/relationships/notesSlide" Target="/ppt/notesSlides/notesSlide4.xml" Id="Rf8c92ae4bdb042a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57197847c45ca" /><Relationship Type="http://schemas.openxmlformats.org/officeDocument/2006/relationships/notesSlide" Target="/ppt/notesSlides/notesSlide5.xml" Id="R04851df8d0a74f3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5719024a7e4f84" /><Relationship Type="http://schemas.openxmlformats.org/officeDocument/2006/relationships/notesSlide" Target="/ppt/notesSlides/notesSlide6.xml" Id="Rdace2ecf4644474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79521854de46df" /><Relationship Type="http://schemas.openxmlformats.org/officeDocument/2006/relationships/notesSlide" Target="/ppt/notesSlides/notesSlide7.xml" Id="R37bd4939c9f9477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AC7A-C390-4918-960F-B031B7C9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82EC5-19B2-4E56-87B3-7ADF11B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04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B1E4B-A80D-4DD8-B9C5-6F19ACF9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933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Model Gateway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E63A-968D-469D-97F9-C2D3B82A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240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One interface for local and hosted models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333EC-2C9C-4877-BD13-41F8B87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10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01  ·  09:30–10:00  ·  10 MIN CONCEPTS + 20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3877F-F854-40AF-9C55-8A4B72F8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1628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Analyst Copilot</a:t>
            </a:r>
          </a:p>
        </p:txBody>
      </p:sp>
    </p:spTree>
    <p:extLst>
      <p:ext uri="{BB962C8B-B14F-4D97-AF65-F5344CB8AC3E}">
        <p14:creationId xmlns:p14="http://schemas.microsoft.com/office/powerpoint/2010/main" val="7675025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FE622-5DC1-48D4-9C03-4885EC6C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324F57-6BCA-4E03-A88B-6655F725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boundary keeps application code stable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75077E-2BA2-4D49-9FA0-3C0BB445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623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Configuration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9D7F4C-3745-47C4-B657-8DC95CD6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576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provider · model · endpoint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84776-8416-45A0-AD08-92C3786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2766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34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0B3F70-5AEC-4B8E-99F8-68D861B2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62250"/>
            <a:ext cx="3714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1410E-C82D-40B9-919F-3188A39B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43250"/>
            <a:ext cx="280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MODEL GATEWAY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827B01-F8B1-43B2-A1DD-78B1B1E4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14750"/>
            <a:ext cx="2800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invoke(messages)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F73C19-5622-4DF9-9D1C-FAD948BF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766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34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756397-FF53-42BA-8D93-F9D50CF6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781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OLLAMA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5B0151-A132-4173-A1C4-8F9B569D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00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local · private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31D8AA-C5F7-45EA-8249-C0FE0629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714750"/>
            <a:ext cx="238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84D04A-595A-4A10-B69B-3FBF80F9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0005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OPENAI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10D8BC-6C55-4CC4-9710-E682C884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4196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hosted · metered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992DE2-DBDA-4301-8DC8-9279D495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19750"/>
            <a:ext cx="1329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E04DE3-A748-46D1-80BD-4FF702D1C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0388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NORMALISED OUTPUT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98884D-F1F0-4F39-971A-9EEBC152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953125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provider  ·  model  ·  response  ·  latency  ·  tokens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8E2BDC-8EFB-46D2-9F43-DF5F5651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6705600"/>
            <a:ext cx="876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Provider selection changes through configuration—not notebook logic.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3216C8-4273-465E-8AAA-7F81F6BD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ACED58-8E88-4E45-BBE1-234F2479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5FEDB8-E30E-496F-8612-2FECE0C1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A99E8C-5D07-4E5E-982C-7D356519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ARCHITECTURE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B80793-ED5A-4395-A2C9-BD38721F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535097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5AB1E4-42AC-4F38-9832-61AB9F79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MESSAGE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87317-1AE5-4283-B66E-4DB26DCD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Messages make the model call inspectable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5C689-54CE-4FC2-A8FF-E88EDD6E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5474F-D624-489B-92E8-BD4182BD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Stable role, boundaries and evidence rules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A7CE9-8603-4733-86A0-82043036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08B5E-14CF-4E16-BADC-18EA4B9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HUMAN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4DF7E-874E-4566-BFD4-563B7D2D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625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Current question and supplied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0359C-EF48-41D4-A6E9-00E41CF1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78105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2E685-CEFF-4453-8C95-28578E2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051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messages = [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A30A9-E2C4-4827-8E19-657027C5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147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0A2EB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00A2EB"/>
                </a:solidFill>
                <a:latin typeface="Consolas"/>
                <a:ea typeface="Consolas"/>
                <a:cs typeface="Consolas"/>
              </a:rPr>
              <a:t>  ("system", stable_instructions),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31728-B735-42CB-93A0-1EC165D1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24350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("human", question_and_evidence),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C876-E68B-49CA-BC42-27F65639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339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656D8-F2F5-4064-95D9-4ECB8677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762625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Explicit roles are easier to test, version and trace.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BA0A2-12FF-4F25-862C-AE57B222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D8D42-E860-4B95-87E4-3C7FF1FC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224F1-4BCA-4A2F-84C4-3FDCAE79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4E057-3E14-470C-8862-AC0BFD9D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MESSAGES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DE638-85F0-4B8A-A0CD-DDDC9FD4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723630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FE622-5DC1-48D4-9C03-4885EC6C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MEASUREMENT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324F57-6BCA-4E03-A88B-6655F725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Measure the run; stream the delivery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75077E-2BA2-4D49-9FA0-3C0BB445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623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ModelRun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9D7F4C-3745-47C4-B657-8DC95CD6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576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provider · model · latency · tokens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84776-8416-45A0-AD08-92C3786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2766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34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0B3F70-5AEC-4B8E-99F8-68D861B2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62250"/>
            <a:ext cx="3714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1410E-C82D-40B9-919F-3188A39B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43250"/>
            <a:ext cx="280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GATEWAY RECORD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827B01-F8B1-43B2-A1DD-78B1B1E4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14750"/>
            <a:ext cx="2800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typed measurement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F73C19-5622-4DF9-9D1C-FAD948BF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766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34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756397-FF53-42BA-8D93-F9D50CF6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781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TOKENS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5B0151-A132-4173-A1C4-8F9B569D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00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available or None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31D8AA-C5F7-45EA-8249-C0FE0629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714750"/>
            <a:ext cx="238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84D04A-595A-4A10-B69B-3FBF80F9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0005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STREAMING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10D8BC-6C55-4CC4-9710-E682C884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4196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partial delivery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992DE2-DBDA-4301-8DC8-9279D495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19750"/>
            <a:ext cx="1329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E04DE3-A748-46D1-80BD-4FF702D1C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0388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ENGINEERING RULE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98884D-F1F0-4F39-971A-9EEBC152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953125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Missing metadata stays None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8E2BDC-8EFB-46D2-9F43-DF5F5651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6705600"/>
            <a:ext cx="876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Streaming changes delivery—not factual quality.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3216C8-4273-465E-8AAA-7F81F6BD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ACED58-8E88-4E45-BBE1-234F2479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5FEDB8-E30E-496F-8612-2FECE0C1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A99E8C-5D07-4E5E-982C-7D356519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OBSERVABILITY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B80793-ED5A-4395-A2C9-BD38721F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535097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0BC54A-1309-460D-AD2B-0F18507E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FAILURE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B95A1-7E53-412C-8974-DFB6A8DF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successful API call can still fail as analysis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C2FBE-FCE9-4D4C-9DBD-D89790B0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181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“What is happening with AI demand?”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60789-BA8D-4377-A318-F3BEDA9C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52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2BA03-1788-4BE1-A884-B111371C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92F82-4B68-493F-A374-EE0CF32C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Company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641AFC-2FEB-434F-ADB4-9127D780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EEE86-8AD2-4FC0-A0CA-3F399245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Period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A9F77B-9D95-469A-B256-2B019874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0B1BF-7CCF-4161-9AFF-CC9F8DCA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Source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8CF07A-926D-46C1-84B0-CB0E949F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E6400-99FC-4D00-A8CB-D89D7FA7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Evidence rule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04CD7E-4803-4104-8338-9D962B7E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270AE8-D659-434A-B5EA-AB73577F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Output contract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780C9E-1A2E-4219-955F-7ED3FB5C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496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larger model cannot recover a missing application contract reliably.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DF59FE-4FEE-42DE-92D0-4AA13823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D1BFF5-CF10-414F-A9A1-5F4FE7F2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A777C2-72B8-4165-974F-061823F0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6DE7B0-9049-4B6C-8B3A-B01028AA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FAILURE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657728-BC95-4348-AF6C-34919712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106566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EB10B4-0FED-42C3-8AA0-5BAB4CEF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NVIDIA FISCAL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BB064-4AE8-44EA-963D-8F76C6A2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Real evidence makes the question answerable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A505F-3B0C-49A0-98CF-6D6175D6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0"/>
            <a:ext cx="4381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$215.9bn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41D26-D959-489A-A086-84E33038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Revenue · +65% year on year  [F1]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22A8F-16AD-44AB-BA1E-BB7C095B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241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C6626-7591-4116-BDA4-36A1BF72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5750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$193.7bn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A65EC-CF94-4DE7-B420-D90CF126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052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Data Center · +68% year on year  [F2]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E439B-7E83-494E-A3B5-46C4B699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[F3]  Gaming revenue: $16.0bn · +41%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113A5-935F-4D64-84B0-5B781937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666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[F4]  Gross margin decreased; H20-related charge: $4.5bn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22730-1A2F-437A-8161-C3EA5A7E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343650"/>
            <a:ext cx="1181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evidence supports growth and segment-scale observations—not valuation or a price target.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99A9B-F12A-48FE-953D-620804A3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4C9EE8-1362-49E4-BFD2-8CCFD9A2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206614-6877-4386-9D02-F474A613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1FCDDD-754E-4B46-A9F3-09ADE649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3E1F1-C1E6-4C5D-B5BB-8ED1767C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780342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VERIFICATION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4/4 check separates execution from basic grounding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Company and reporting period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Two+ metrics; no new numbers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At least two evidence citations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explicit limitation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COURSE PATH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Notebook 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Measure → ground → verify
then structured output → RAG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Next: structured output → context → RAG → evaluation → agents → MCP.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NOTEBOOK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2026-08-16T05:52:50.7380000Z</dcterms:created>
  <dcterms:modified xsi:type="dcterms:W3CDTF">2026-08-16T05:52:50.7380000Z</dcterms:modified>
</coreProperties>
</file>