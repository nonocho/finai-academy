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fe718d7618d42cb" /><Relationship Type="http://schemas.openxmlformats.org/officeDocument/2006/relationships/extended-properties" Target="/docProps/app.xml" Id="Rfdb16cbba32c49c0" /><Relationship Type="http://schemas.openxmlformats.org/officeDocument/2006/relationships/officeDocument" Target="/ppt/presentation.xml" Id="R63d153c58893443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1683231b11e4910"/>
  </p:sldMasterIdLst>
  <p:notesMasterIdLst>
    <p:notesMasterId xmlns:r="http://schemas.openxmlformats.org/officeDocument/2006/relationships" r:id="Rde1b12a7805044a1"/>
  </p:notesMasterIdLst>
  <p:sldIdLst>
    <p:sldId xmlns:r="http://schemas.openxmlformats.org/officeDocument/2006/relationships" id="256" r:id="Rce3885c9e95d48f9"/>
    <p:sldId xmlns:r="http://schemas.openxmlformats.org/officeDocument/2006/relationships" id="257" r:id="R47cdc41766a84a13"/>
    <p:sldId xmlns:r="http://schemas.openxmlformats.org/officeDocument/2006/relationships" id="258" r:id="R3081b99bd24646c6"/>
    <p:sldId xmlns:r="http://schemas.openxmlformats.org/officeDocument/2006/relationships" id="259" r:id="R2b0bd4dff12b452b"/>
    <p:sldId xmlns:r="http://schemas.openxmlformats.org/officeDocument/2006/relationships" id="260" r:id="R3b71dcb289014f65"/>
    <p:sldId xmlns:r="http://schemas.openxmlformats.org/officeDocument/2006/relationships" id="261" r:id="R8f4c3062c45a4ae4"/>
    <p:sldId xmlns:r="http://schemas.openxmlformats.org/officeDocument/2006/relationships" id="262" r:id="R0801619bc42041a5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fd80a9fa3d44bc1" /><Relationship Type="http://schemas.openxmlformats.org/officeDocument/2006/relationships/slideMaster" Target="/ppt/slideMasters/slideMaster1.xml" Id="R41683231b11e4910" /><Relationship Type="http://schemas.openxmlformats.org/officeDocument/2006/relationships/notesMaster" Target="/ppt/notesMasters/notesMaster1.xml" Id="Rde1b12a7805044a1" /><Relationship Type="http://schemas.openxmlformats.org/officeDocument/2006/relationships/presProps" Target="/ppt/presProps.xml" Id="R1f70ab7c1e2c4b92" /><Relationship Type="http://schemas.openxmlformats.org/officeDocument/2006/relationships/tableStyles" Target="/ppt/tableStyles.xml" Id="Rff159bb53a3b4d5b" /><Relationship Type="http://schemas.openxmlformats.org/officeDocument/2006/relationships/slide" Target="/ppt/slides/slide1.xml" Id="Rce3885c9e95d48f9" /><Relationship Type="http://schemas.openxmlformats.org/officeDocument/2006/relationships/slide" Target="/ppt/slides/slide2.xml" Id="R47cdc41766a84a13" /><Relationship Type="http://schemas.openxmlformats.org/officeDocument/2006/relationships/slide" Target="/ppt/slides/slide3.xml" Id="R3081b99bd24646c6" /><Relationship Type="http://schemas.openxmlformats.org/officeDocument/2006/relationships/slide" Target="/ppt/slides/slide4.xml" Id="R2b0bd4dff12b452b" /><Relationship Type="http://schemas.openxmlformats.org/officeDocument/2006/relationships/slide" Target="/ppt/slides/slide5.xml" Id="R3b71dcb289014f65" /><Relationship Type="http://schemas.openxmlformats.org/officeDocument/2006/relationships/slide" Target="/ppt/slides/slide6.xml" Id="R8f4c3062c45a4ae4" /><Relationship Type="http://schemas.openxmlformats.org/officeDocument/2006/relationships/slide" Target="/ppt/slides/slide7.xml" Id="R0801619bc42041a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8b5860022124f1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0cf22605daa4d30" /><Relationship Type="http://schemas.openxmlformats.org/officeDocument/2006/relationships/notesMaster" Target="/ppt/notesMasters/notesMaster1.xml" Id="R15a3bcd7acee4af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696dc2c062848fd" /><Relationship Type="http://schemas.openxmlformats.org/officeDocument/2006/relationships/notesMaster" Target="/ppt/notesMasters/notesMaster1.xml" Id="R483b0b63dc834de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ccce9bcf0ca4199" /><Relationship Type="http://schemas.openxmlformats.org/officeDocument/2006/relationships/notesMaster" Target="/ppt/notesMasters/notesMaster1.xml" Id="R41a23f5689bd43b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e22e40103764aa9" /><Relationship Type="http://schemas.openxmlformats.org/officeDocument/2006/relationships/notesMaster" Target="/ppt/notesMasters/notesMaster1.xml" Id="R613e898a25ce4ff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ac2aec75037461b" /><Relationship Type="http://schemas.openxmlformats.org/officeDocument/2006/relationships/notesMaster" Target="/ppt/notesMasters/notesMaster1.xml" Id="R4f9166780a6e438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1c8dc38dfea4a19" /><Relationship Type="http://schemas.openxmlformats.org/officeDocument/2006/relationships/notesMaster" Target="/ppt/notesMasters/notesMaster1.xml" Id="R9be5c88536864b1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aef083f74714777" /><Relationship Type="http://schemas.openxmlformats.org/officeDocument/2006/relationships/notesMaster" Target="/ppt/notesMasters/notesMaster1.xml" Id="Rac66083565bc4a5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the outcome: one measured application boundary supports local Ollama and hosted OpenAI models.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https://developers.openai.com/api/docs/models</a:t>
            </a:r>
          </a:p>
          <a:p xmlns:a="http://schemas.openxmlformats.org/drawingml/2006/main">
            <a:r>
              <a:t>- https://docs.ollama.com/api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right. Configuration selects the provider adapter; application code consumes one normalized response record.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https://developers.openai.com/api/docs/models</a:t>
            </a:r>
          </a:p>
          <a:p xmlns:a="http://schemas.openxmlformats.org/drawingml/2006/main">
            <a:r>
              <a:t>- https://docs.ollama.com/api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Separate stable system instructions from the current question and evidence. These roles remain inspectable and versionable.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https://developers.openai.com/api/docs/guides/prompt-engineering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Latency and available token counts are application data. Streaming improves delivery latency but does not add evidence or factual quality.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https://developers.openai.com/api/docs/guides/streaming-responses</a:t>
            </a:r>
          </a:p>
          <a:p xmlns:a="http://schemas.openxmlformats.org/drawingml/2006/main">
            <a:r>
              <a:t>- https://docs.ollama.com/api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Let the technically successful call fail as analysis. Ask students to name the five missing contract elements before revealing them.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https://developers.openai.com/api/docs/guides/prompt-engineering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values are paraphrased from NVIDIA's fiscal 2026 Form 10-K. The evidence supports reported observations, not valuation or a recommendation.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https://www.sec.gov/Archives/edgar/data/1045810/000104581026000021/nvda-20260125.htm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four transparent checks, then move into the notebook. The remaining course path adds structured outputs, context, RAG, evaluation, agents and MCP.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https://developers.openai.com/api/docs/guides/prompt-engineering</a:t>
            </a:r>
          </a:p>
          <a:p xmlns:a="http://schemas.openxmlformats.org/drawingml/2006/main">
            <a:r>
              <a:t>- https://www.sec.gov/Archives/edgar/data/1045810/000104581026000021/nvda-20260125.htm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17c06d47aa417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721cb2de50f4d06" /><Relationship Type="http://schemas.openxmlformats.org/officeDocument/2006/relationships/slideLayout" Target="/ppt/slideLayouts/slideLayout1.xml" Id="R0efea88707184c9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efea88707184c9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e57a01ba6a49bf" /><Relationship Type="http://schemas.openxmlformats.org/officeDocument/2006/relationships/notesSlide" Target="/ppt/notesSlides/notesSlide1.xml" Id="R81dd7f5c50c44fd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137697847c42a3" /><Relationship Type="http://schemas.openxmlformats.org/officeDocument/2006/relationships/notesSlide" Target="/ppt/notesSlides/notesSlide2.xml" Id="Rd4449d2e62d4410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03508f191f48a0" /><Relationship Type="http://schemas.openxmlformats.org/officeDocument/2006/relationships/notesSlide" Target="/ppt/notesSlides/notesSlide3.xml" Id="R9bcb36da4fd2439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ae0ff23292412c" /><Relationship Type="http://schemas.openxmlformats.org/officeDocument/2006/relationships/notesSlide" Target="/ppt/notesSlides/notesSlide4.xml" Id="Ra5c3ab6ee424410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b3a9bcff59492e" /><Relationship Type="http://schemas.openxmlformats.org/officeDocument/2006/relationships/notesSlide" Target="/ppt/notesSlides/notesSlide5.xml" Id="Rd9107dfd1b514cb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0de4e1eeef431d" /><Relationship Type="http://schemas.openxmlformats.org/officeDocument/2006/relationships/notesSlide" Target="/ppt/notesSlides/notesSlide6.xml" Id="R9a4bb0167a1e4ef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06995531104a2d" /><Relationship Type="http://schemas.openxmlformats.org/officeDocument/2006/relationships/notesSlide" Target="/ppt/notesSlides/notesSlide7.xml" Id="R56a8055055fc4da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91AC7A-C390-4918-960F-B031B7C93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81050"/>
            <a:ext cx="1257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9525">
            <a:solidFill>
              <a:srgbClr val="00A2E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682EC5-19B2-4E56-87B3-7ADF11BC6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0490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FIRST FINANCE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8B1E4B-A80D-4DD8-B9C5-6F19ACF9B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00300"/>
            <a:ext cx="9334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49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49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Model Gateway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83E63A-968D-469D-97F9-C2D3B82A7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385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2400">
                <a:solidFill>
                  <a:srgbClr val="373738"/>
                </a:solidFill>
                <a:latin typeface="Calibri"/>
                <a:ea typeface="Calibri"/>
                <a:cs typeface="Calibri"/>
              </a:defRPr>
            </a:pPr>
            <a:r>
              <a:rPr sz="2400">
                <a:solidFill>
                  <a:srgbClr val="373738"/>
                </a:solidFill>
                <a:latin typeface="Calibri"/>
                <a:ea typeface="Calibri"/>
                <a:cs typeface="Calibri"/>
              </a:rPr>
              <a:t>One interface for local and hosted models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1333EC-2C9C-4877-BD13-41F8B87FC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6103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SESSION 01  ·  09:30–10:00  ·  10 MIN CONCEPTS + 20 MIN NOTEBOOK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C3877F-F854-40AF-9C55-8A4B72F80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162800"/>
            <a:ext cx="514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First Finance - Arnaud Demes</a:t>
            </a:r>
          </a:p>
        </p:txBody>
      </p:sp>
    </p:spTree>
    <p:extLst>
      <p:ext uri="{BB962C8B-B14F-4D97-AF65-F5344CB8AC3E}">
        <p14:creationId xmlns:p14="http://schemas.microsoft.com/office/powerpoint/2010/main" val="7675025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3FE622-5DC1-48D4-9C03-4885EC6CC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324F57-6BCA-4E03-A88B-6655F725D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3239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One boundary keeps application code stable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75077E-2BA2-4D49-9FA0-3C0BB445B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623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373738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373738"/>
                </a:solidFill>
                <a:latin typeface="Calibri"/>
                <a:ea typeface="Calibri"/>
                <a:cs typeface="Calibri"/>
              </a:rPr>
              <a:t>Configuration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9D7F4C-3745-47C4-B657-8DC95CD6D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576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9E9FA2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9E9FA2"/>
                </a:solidFill>
                <a:latin typeface="Calibri"/>
                <a:ea typeface="Calibri"/>
                <a:cs typeface="Calibri"/>
              </a:rPr>
              <a:t>provider · model · endpoint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C84776-8416-45A0-AD08-92C3786E3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276600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3450" b="1">
                <a:solidFill>
                  <a:srgbClr val="F07D00"/>
                </a:solidFill>
                <a:latin typeface="Calibri"/>
                <a:ea typeface="Calibri"/>
                <a:cs typeface="Calibri"/>
              </a:defRPr>
            </a:pPr>
            <a:r>
              <a:rPr sz="3450" b="1">
                <a:solidFill>
                  <a:srgbClr val="F07D00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0B3F70-5AEC-4B8E-99F8-68D861B20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62250"/>
            <a:ext cx="3714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51C2A"/>
          </a:solidFill>
          <a:ln xmlns:a="http://schemas.openxmlformats.org/drawingml/2006/main" w="9525">
            <a:solidFill>
              <a:srgbClr val="051C2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01410E-C82D-40B9-919F-3188A39B8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43250"/>
            <a:ext cx="2800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MODEL GATEWAY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827B01-F8B1-43B2-A1DD-78B1B1E4A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714750"/>
            <a:ext cx="2800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2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invoke(messages)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F73C19-5622-4DF9-9D1C-FAD948BF7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76600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3450" b="1">
                <a:solidFill>
                  <a:srgbClr val="F07D00"/>
                </a:solidFill>
                <a:latin typeface="Calibri"/>
                <a:ea typeface="Calibri"/>
                <a:cs typeface="Calibri"/>
              </a:defRPr>
            </a:pPr>
            <a:r>
              <a:rPr sz="3450" b="1">
                <a:solidFill>
                  <a:srgbClr val="F07D00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756397-FF53-42BA-8D93-F9D50CF6C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7813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OLLAMA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5B0151-A132-4173-A1C4-8F9B569D7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2004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373738"/>
                </a:solidFill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373738"/>
                </a:solidFill>
                <a:latin typeface="Calibri"/>
                <a:ea typeface="Calibri"/>
                <a:cs typeface="Calibri"/>
              </a:rPr>
              <a:t>local · private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31D8AA-C5F7-45EA-8249-C0FE06295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71475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8"/>
          </a:solidFill>
          <a:ln xmlns:a="http://schemas.openxmlformats.org/drawingml/2006/main" w="9525">
            <a:solidFill>
              <a:srgbClr val="E4E6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84D04A-595A-4A10-B69B-3FBF80F9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0005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OPENAI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10D8BC-6C55-4CC4-9710-E682C8849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4196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373738"/>
                </a:solidFill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373738"/>
                </a:solidFill>
                <a:latin typeface="Calibri"/>
                <a:ea typeface="Calibri"/>
                <a:cs typeface="Calibri"/>
              </a:rPr>
              <a:t>hosted · metered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992DE2-DBDA-4301-8DC8-9279D4957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619750"/>
            <a:ext cx="13296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8"/>
          </a:solidFill>
          <a:ln xmlns:a="http://schemas.openxmlformats.org/drawingml/2006/main" w="9525">
            <a:solidFill>
              <a:srgbClr val="E4E6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E04DE3-A748-46D1-80BD-4FF702D1C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0388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NORMALISED OUTPUT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98884D-F1F0-4F39-971A-9EEBC152E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953125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provider  ·  model  ·  response  ·  latency  ·  tokens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8E2BDC-8EFB-46D2-9F43-DF5F5651B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6705600"/>
            <a:ext cx="876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725">
                <a:solidFill>
                  <a:srgbClr val="373738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373738"/>
                </a:solidFill>
                <a:latin typeface="Calibri"/>
                <a:ea typeface="Calibri"/>
                <a:cs typeface="Calibri"/>
              </a:rPr>
              <a:t>Provider selection changes through configuration—not notebook logic.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3216C8-4273-465E-8AAA-7F81F6BD4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905750"/>
            <a:ext cx="1352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8"/>
          </a:solidFill>
          <a:ln xmlns:a="http://schemas.openxmlformats.org/drawingml/2006/main" w="9525">
            <a:solidFill>
              <a:srgbClr val="E4E6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ACED58-8E88-4E45-BBE1-234F24797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905750"/>
            <a:ext cx="800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9525">
            <a:solidFill>
              <a:srgbClr val="00A2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5FEDB8-E30E-496F-8612-2FECE0C1E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534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9E9FA2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9E9FA2"/>
                </a:solidFill>
                <a:latin typeface="Calibri"/>
                <a:ea typeface="Calibri"/>
                <a:cs typeface="Calibri"/>
              </a:rPr>
              <a:t>First Finance - Arnaud Demes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A99E8C-5D07-4E5E-982C-7D3565196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81534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9E9FA2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E9FA2"/>
                </a:solidFill>
                <a:latin typeface="Calibri"/>
                <a:ea typeface="Calibri"/>
                <a:cs typeface="Calibri"/>
              </a:rPr>
              <a:t>ARCHITECTURE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B80793-ED5A-4395-A2C9-BD38721FD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153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9E9FA2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E9FA2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535097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5AB1E4-42AC-4F38-9832-61AB9F79D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MESSAGE CONTRACT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C87317-1AE5-4283-B66E-4DB26DCD0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3239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Messages make the model call inspectable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25C689-54CE-4FC2-A8FF-E88EDD6E7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765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35474F-D624-489B-92E8-BD4182BDB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52800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Stable role, boundaries and evidence rules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6A7CE9-8603-4733-86A0-820430368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24350"/>
            <a:ext cx="409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8"/>
          </a:solidFill>
          <a:ln xmlns:a="http://schemas.openxmlformats.org/drawingml/2006/main" w="9525">
            <a:solidFill>
              <a:srgbClr val="E4E6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208B5E-14CF-4E16-BADC-18EA4B95A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863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HUMAN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24DF7E-874E-4566-BFD4-563B7D2DC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62550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Current question and supplied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B0359C-EF48-41D4-A6E9-00E41CF10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67000"/>
            <a:ext cx="781050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051C2A"/>
          </a:solidFill>
          <a:ln xmlns:a="http://schemas.openxmlformats.org/drawingml/2006/main" w="9525">
            <a:solidFill>
              <a:srgbClr val="051C2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A2E685-CEFF-4453-8C95-28578E2DE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105150"/>
            <a:ext cx="647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messages = [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1A30A9-E2C4-4827-8E19-657027C5A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714750"/>
            <a:ext cx="647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00A2EB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00A2EB"/>
                </a:solidFill>
                <a:latin typeface="Consolas"/>
                <a:ea typeface="Consolas"/>
                <a:cs typeface="Consolas"/>
              </a:rPr>
              <a:t>  ("system", stable_instructions),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231728-B735-42CB-93A0-1EC165D1B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324350"/>
            <a:ext cx="676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("human", question_and_evidence),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03C876-E68B-49CA-BC42-27F65639A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933950"/>
            <a:ext cx="647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8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F656D8-F2F5-4064-95D9-4ECB8677B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762625"/>
            <a:ext cx="628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9E9FA2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9E9FA2"/>
                </a:solidFill>
                <a:latin typeface="Calibri"/>
                <a:ea typeface="Calibri"/>
                <a:cs typeface="Calibri"/>
              </a:rPr>
              <a:t>Explicit roles are easier to test, version and trace.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ABA0A2-12FF-4F25-862C-AE57B2222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905750"/>
            <a:ext cx="1352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8"/>
          </a:solidFill>
          <a:ln xmlns:a="http://schemas.openxmlformats.org/drawingml/2006/main" w="9525">
            <a:solidFill>
              <a:srgbClr val="E4E6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BD8D42-E860-4B95-87E4-3C7FF1FC9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905750"/>
            <a:ext cx="800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9525">
            <a:solidFill>
              <a:srgbClr val="00A2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D224F1-4BCA-4A2F-84C4-3FDCAE79E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534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9E9FA2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9E9FA2"/>
                </a:solidFill>
                <a:latin typeface="Calibri"/>
                <a:ea typeface="Calibri"/>
                <a:cs typeface="Calibri"/>
              </a:rPr>
              <a:t>First Finance - Arnaud Demes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54E057-3E14-470C-8862-AC0BFD9D5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81534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9E9FA2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E9FA2"/>
                </a:solidFill>
                <a:latin typeface="Calibri"/>
                <a:ea typeface="Calibri"/>
                <a:cs typeface="Calibri"/>
              </a:rPr>
              <a:t>MESSAGES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ADE638-85F0-4B8A-A0CD-DDDC9FD42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153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9E9FA2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E9FA2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723630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3FE622-5DC1-48D4-9C03-4885EC6CC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MEASUREMENT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324F57-6BCA-4E03-A88B-6655F725D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3239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Measure the run; stream the delivery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75077E-2BA2-4D49-9FA0-3C0BB445B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623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373738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373738"/>
                </a:solidFill>
                <a:latin typeface="Calibri"/>
                <a:ea typeface="Calibri"/>
                <a:cs typeface="Calibri"/>
              </a:rPr>
              <a:t>ModelRun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9D7F4C-3745-47C4-B657-8DC95CD6D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576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9E9FA2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9E9FA2"/>
                </a:solidFill>
                <a:latin typeface="Calibri"/>
                <a:ea typeface="Calibri"/>
                <a:cs typeface="Calibri"/>
              </a:rPr>
              <a:t>provider · model · latency · tokens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C84776-8416-45A0-AD08-92C3786E3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276600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3450" b="1">
                <a:solidFill>
                  <a:srgbClr val="F07D00"/>
                </a:solidFill>
                <a:latin typeface="Calibri"/>
                <a:ea typeface="Calibri"/>
                <a:cs typeface="Calibri"/>
              </a:defRPr>
            </a:pPr>
            <a:r>
              <a:rPr sz="3450" b="1">
                <a:solidFill>
                  <a:srgbClr val="F07D00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0B3F70-5AEC-4B8E-99F8-68D861B20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62250"/>
            <a:ext cx="3714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51C2A"/>
          </a:solidFill>
          <a:ln xmlns:a="http://schemas.openxmlformats.org/drawingml/2006/main" w="9525">
            <a:solidFill>
              <a:srgbClr val="051C2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01410E-C82D-40B9-919F-3188A39B8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43250"/>
            <a:ext cx="2800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GATEWAY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827B01-F8B1-43B2-A1DD-78B1B1E4A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714750"/>
            <a:ext cx="2800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2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typed measurement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F73C19-5622-4DF9-9D1C-FAD948BF7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76600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3450" b="1">
                <a:solidFill>
                  <a:srgbClr val="F07D00"/>
                </a:solidFill>
                <a:latin typeface="Calibri"/>
                <a:ea typeface="Calibri"/>
                <a:cs typeface="Calibri"/>
              </a:defRPr>
            </a:pPr>
            <a:r>
              <a:rPr sz="3450" b="1">
                <a:solidFill>
                  <a:srgbClr val="F07D00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756397-FF53-42BA-8D93-F9D50CF6C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7813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TOKENS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5B0151-A132-4173-A1C4-8F9B569D7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2004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373738"/>
                </a:solidFill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373738"/>
                </a:solidFill>
                <a:latin typeface="Calibri"/>
                <a:ea typeface="Calibri"/>
                <a:cs typeface="Calibri"/>
              </a:rPr>
              <a:t>available or None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31D8AA-C5F7-45EA-8249-C0FE06295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71475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8"/>
          </a:solidFill>
          <a:ln xmlns:a="http://schemas.openxmlformats.org/drawingml/2006/main" w="9525">
            <a:solidFill>
              <a:srgbClr val="E4E6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84D04A-595A-4A10-B69B-3FBF80F9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0005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STREAMING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10D8BC-6C55-4CC4-9710-E682C8849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4196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373738"/>
                </a:solidFill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373738"/>
                </a:solidFill>
                <a:latin typeface="Calibri"/>
                <a:ea typeface="Calibri"/>
                <a:cs typeface="Calibri"/>
              </a:rPr>
              <a:t>partial delivery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992DE2-DBDA-4301-8DC8-9279D4957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619750"/>
            <a:ext cx="13296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8"/>
          </a:solidFill>
          <a:ln xmlns:a="http://schemas.openxmlformats.org/drawingml/2006/main" w="9525">
            <a:solidFill>
              <a:srgbClr val="E4E6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E04DE3-A748-46D1-80BD-4FF702D1C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0388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ENGINEERING RULE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98884D-F1F0-4F39-971A-9EEBC152E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953125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Missing metadata stays None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8E2BDC-8EFB-46D2-9F43-DF5F5651B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6705600"/>
            <a:ext cx="876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725">
                <a:solidFill>
                  <a:srgbClr val="373738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373738"/>
                </a:solidFill>
                <a:latin typeface="Calibri"/>
                <a:ea typeface="Calibri"/>
                <a:cs typeface="Calibri"/>
              </a:rPr>
              <a:t>Streaming changes delivery—not factual quality.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3216C8-4273-465E-8AAA-7F81F6BD4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905750"/>
            <a:ext cx="1352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8"/>
          </a:solidFill>
          <a:ln xmlns:a="http://schemas.openxmlformats.org/drawingml/2006/main" w="9525">
            <a:solidFill>
              <a:srgbClr val="E4E6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ACED58-8E88-4E45-BBE1-234F24797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905750"/>
            <a:ext cx="800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9525">
            <a:solidFill>
              <a:srgbClr val="00A2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5FEDB8-E30E-496F-8612-2FECE0C1E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534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9E9FA2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9E9FA2"/>
                </a:solidFill>
                <a:latin typeface="Calibri"/>
                <a:ea typeface="Calibri"/>
                <a:cs typeface="Calibri"/>
              </a:rPr>
              <a:t>First Finance - Arnaud Demes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A99E8C-5D07-4E5E-982C-7D3565196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81534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9E9FA2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E9FA2"/>
                </a:solidFill>
                <a:latin typeface="Calibri"/>
                <a:ea typeface="Calibri"/>
                <a:cs typeface="Calibri"/>
              </a:rPr>
              <a:t>OBSERVABILITY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B80793-ED5A-4395-A2C9-BD38721FD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153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9E9FA2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E9FA2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535097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0BC54A-1309-460D-AD2B-0F18507EB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FAILURE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2B95A1-7E53-412C-8974-DFB6A8DFF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3239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A successful API call can still fail as analysis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1C2FBE-FCE9-4D4C-9DBD-D89790B01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57500"/>
            <a:ext cx="11811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F07D00"/>
                </a:solidFill>
                <a:latin typeface="Calibri"/>
                <a:ea typeface="Calibri"/>
                <a:cs typeface="Calibri"/>
              </a:defRPr>
            </a:pPr>
            <a:r>
              <a:rPr sz="2850" b="1">
                <a:solidFill>
                  <a:srgbClr val="F07D00"/>
                </a:solidFill>
                <a:latin typeface="Calibri"/>
                <a:ea typeface="Calibri"/>
                <a:cs typeface="Calibri"/>
              </a:rPr>
              <a:t>“What is happening with AI demand?”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F60789-BA8D-4377-A318-F3BEDA9C6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52875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8"/>
          </a:solidFill>
          <a:ln xmlns:a="http://schemas.openxmlformats.org/drawingml/2006/main" w="9525">
            <a:solidFill>
              <a:srgbClr val="E4E6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32BA03-1788-4BE1-A884-B111371C7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4820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07D00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07D00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D92F82-4B68-493F-A374-EE0CF32C7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43500"/>
            <a:ext cx="2266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Company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641AFC-2FEB-434F-ADB4-9127D7801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64820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07D00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07D00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0EEE86-8AD2-4FC0-A0CA-3F3992455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143500"/>
            <a:ext cx="2266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Period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A9F77B-9D95-469A-B256-2B019874F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64820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07D00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07D00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20B1BF-7CCF-4161-9AFF-CC9F8DCA9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143500"/>
            <a:ext cx="2266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Source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8CF07A-926D-46C1-84B0-CB0E949F4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64820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07D00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07D00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8E6400-99FC-4D00-A8CB-D89D7FA7E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143500"/>
            <a:ext cx="2266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Evidence rule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04CD7E-4803-4104-8338-9D962B7E6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464820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07D00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07D00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270AE8-D659-434A-B5EA-AB73577F8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5143500"/>
            <a:ext cx="2266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Output contract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780C9E-1A2E-4219-955F-7ED3FB5CD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4960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A larger model cannot recover a missing application contract reliably.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DF59FE-4FEE-42DE-92D0-4AA138236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905750"/>
            <a:ext cx="1352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8"/>
          </a:solidFill>
          <a:ln xmlns:a="http://schemas.openxmlformats.org/drawingml/2006/main" w="9525">
            <a:solidFill>
              <a:srgbClr val="E4E6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D1BFF5-CF10-414F-A9A1-5F4FE7F25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905750"/>
            <a:ext cx="800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9525">
            <a:solidFill>
              <a:srgbClr val="00A2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A777C2-72B8-4165-974F-061823F01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534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9E9FA2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9E9FA2"/>
                </a:solidFill>
                <a:latin typeface="Calibri"/>
                <a:ea typeface="Calibri"/>
                <a:cs typeface="Calibri"/>
              </a:rPr>
              <a:t>First Finance - Arnaud Demes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6DE7B0-9049-4B6C-8B3A-B01028AA5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81534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9E9FA2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E9FA2"/>
                </a:solidFill>
                <a:latin typeface="Calibri"/>
                <a:ea typeface="Calibri"/>
                <a:cs typeface="Calibri"/>
              </a:rPr>
              <a:t>FAILURE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657728-BC95-4348-AF6C-34919712C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153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9E9FA2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E9FA2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106566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EB10B4-0FED-42C3-8AA0-5BAB4CEF9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NVIDIA FISCAL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5BB064-4AE8-44EA-963D-8F76C6A28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3239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Real evidence makes the question answerable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CA505F-3B0C-49A0-98CF-6D6175D62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0"/>
            <a:ext cx="4381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435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435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$215.9bn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D41D26-D959-489A-A086-84E330386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052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373738"/>
                </a:solidFill>
                <a:latin typeface="Calibri"/>
                <a:ea typeface="Calibri"/>
                <a:cs typeface="Calibri"/>
              </a:defRPr>
            </a:pPr>
            <a:r>
              <a:rPr sz="1650">
                <a:solidFill>
                  <a:srgbClr val="373738"/>
                </a:solidFill>
                <a:latin typeface="Calibri"/>
                <a:ea typeface="Calibri"/>
                <a:cs typeface="Calibri"/>
              </a:rPr>
              <a:t>Revenue · +65% year on year  [F1]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522A8F-16AD-44AB-BA1E-BB7C095B3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24150"/>
            <a:ext cx="19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8"/>
          </a:solidFill>
          <a:ln xmlns:a="http://schemas.openxmlformats.org/drawingml/2006/main" w="9525">
            <a:solidFill>
              <a:srgbClr val="E4E6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7C6626-7591-4116-BDA4-36A1BF728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57500"/>
            <a:ext cx="495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4350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435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$193.7bn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3A65EC-CF94-4DE7-B420-D90CF126D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05250"/>
            <a:ext cx="552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373738"/>
                </a:solidFill>
                <a:latin typeface="Calibri"/>
                <a:ea typeface="Calibri"/>
                <a:cs typeface="Calibri"/>
              </a:defRPr>
            </a:pPr>
            <a:r>
              <a:rPr sz="1650">
                <a:solidFill>
                  <a:srgbClr val="373738"/>
                </a:solidFill>
                <a:latin typeface="Calibri"/>
                <a:ea typeface="Calibri"/>
                <a:cs typeface="Calibri"/>
              </a:rPr>
              <a:t>Data Center · +68% year on year  [F2]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8E439B-7E83-494E-A3B5-46C4B6992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[F3]  Gaming revenue: $16.0bn · +41%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B113A5-935F-4D64-84B0-5B781937E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53000"/>
            <a:ext cx="666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F07D00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07D00"/>
                </a:solidFill>
                <a:latin typeface="Calibri"/>
                <a:ea typeface="Calibri"/>
                <a:cs typeface="Calibri"/>
              </a:rPr>
              <a:t>[F4]  Gross margin decreased; H20-related charge: $4.5bn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422730-1A2F-437A-8161-C3EA5A7E3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343650"/>
            <a:ext cx="1181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The evidence supports growth and segment-scale observations—not valuation or a price target.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A99A9B-F12A-48FE-953D-620804A38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905750"/>
            <a:ext cx="1352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8"/>
          </a:solidFill>
          <a:ln xmlns:a="http://schemas.openxmlformats.org/drawingml/2006/main" w="9525">
            <a:solidFill>
              <a:srgbClr val="E4E6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4C9EE8-1362-49E4-BFD2-8CCFD9A29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905750"/>
            <a:ext cx="800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9525">
            <a:solidFill>
              <a:srgbClr val="00A2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206614-6877-4386-9D02-F474A613C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534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9E9FA2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9E9FA2"/>
                </a:solidFill>
                <a:latin typeface="Calibri"/>
                <a:ea typeface="Calibri"/>
                <a:cs typeface="Calibri"/>
              </a:rPr>
              <a:t>First Finance - Arnaud Demes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1FCDDD-754E-4B46-A9F3-09ADE649C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81534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9E9FA2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E9FA2"/>
                </a:solidFill>
                <a:latin typeface="Calibri"/>
                <a:ea typeface="Calibri"/>
                <a:cs typeface="Calibri"/>
              </a:rPr>
              <a:t>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F3E1F1-C1E6-4C5D-B5BB-8ED1767C9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153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9E9FA2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E9FA2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780342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C48A24-E18F-4399-84FF-49EC1D75E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VERIFICATION CONTRACT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74DED0-BD05-4639-BE3C-BD8A49B9E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3239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36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A 4/4 check separates execution from basic grounding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10C483-A890-47EA-A072-5D9086A14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5750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4E515B-5F3B-40A3-8912-9F85F0FE7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81940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Company and reporting period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CF432C-0929-4FB7-9EB4-33A2C51C4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5750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PASS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9A1F7B-8EE0-471C-AA17-75A56716B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409950"/>
            <a:ext cx="752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8"/>
          </a:solidFill>
          <a:ln xmlns:a="http://schemas.openxmlformats.org/drawingml/2006/main" w="9525">
            <a:solidFill>
              <a:srgbClr val="E4E6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F63C6A-1C80-47E2-9174-F44504BE7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9570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21B42D-9ED7-495A-B9A4-706CAD687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65760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Two+ metrics; no new numbers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79279A-F56C-43A4-BB61-5DBED2EC9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9570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PASS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DD85C8-4C83-4C3E-8F6A-367A43180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248150"/>
            <a:ext cx="752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8"/>
          </a:solidFill>
          <a:ln xmlns:a="http://schemas.openxmlformats.org/drawingml/2006/main" w="9525">
            <a:solidFill>
              <a:srgbClr val="E4E6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A488D8-189E-4BB9-9C55-CA27344D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3390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62B6DC-830C-4BC9-8851-A3888182A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49580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At least two evidence citations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B92F15-B968-44A2-AC9F-1F44F75B8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3390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PASS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9FCC08-CC44-427D-9C16-AD71F4A0F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086350"/>
            <a:ext cx="752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8"/>
          </a:solidFill>
          <a:ln xmlns:a="http://schemas.openxmlformats.org/drawingml/2006/main" w="9525">
            <a:solidFill>
              <a:srgbClr val="E4E6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219D6C-4B5E-42DF-9DFC-40856CEAE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372100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CA7A6E-EE89-4E7C-A0E4-A0D3E684A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33400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51C2A"/>
                </a:solidFill>
                <a:latin typeface="Calibri"/>
                <a:ea typeface="Calibri"/>
                <a:cs typeface="Calibri"/>
              </a:defRPr>
            </a:pPr>
            <a:r>
              <a:rPr sz="2100" b="1">
                <a:solidFill>
                  <a:srgbClr val="051C2A"/>
                </a:solidFill>
                <a:latin typeface="Calibri"/>
                <a:ea typeface="Calibri"/>
                <a:cs typeface="Calibri"/>
              </a:rPr>
              <a:t>One explicit limitation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9232DB-9ADA-4EC0-9488-23F6FAAFF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37210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F40CB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F40CB"/>
                </a:solidFill>
                <a:latin typeface="Calibri"/>
                <a:ea typeface="Calibri"/>
                <a:cs typeface="Calibri"/>
              </a:rPr>
              <a:t>PASS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F021EC-EF4B-4696-AC90-EE4C0AB71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924550"/>
            <a:ext cx="752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8"/>
          </a:solidFill>
          <a:ln xmlns:a="http://schemas.openxmlformats.org/drawingml/2006/main" w="9525">
            <a:solidFill>
              <a:srgbClr val="E4E6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510A64-1653-4D80-B5B0-A343D07C1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914650"/>
            <a:ext cx="333375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051C2A"/>
          </a:solidFill>
          <a:ln xmlns:a="http://schemas.openxmlformats.org/drawingml/2006/main" w="9525">
            <a:solidFill>
              <a:srgbClr val="051C2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E24CC2-8886-4470-A433-8B2BDCC9A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0A2EB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00A2EB"/>
                </a:solidFill>
                <a:latin typeface="Calibri"/>
                <a:ea typeface="Calibri"/>
                <a:cs typeface="Calibri"/>
              </a:rPr>
              <a:t>COURSE PATH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710502-B50A-464D-8CBF-05C06A018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386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Notebook 01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057516-ABAC-4FB1-A462-D76649ACD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953000"/>
            <a:ext cx="238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65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6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Measure → ground → verify
then structured output → RAG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74979B-71B7-425A-85CB-FF6AD6AC5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66675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373738"/>
                </a:solidFill>
                <a:latin typeface="Calibri"/>
                <a:ea typeface="Calibri"/>
                <a:cs typeface="Calibri"/>
              </a:defRPr>
            </a:pPr>
            <a:r>
              <a:rPr sz="1650">
                <a:solidFill>
                  <a:srgbClr val="373738"/>
                </a:solidFill>
                <a:latin typeface="Calibri"/>
                <a:ea typeface="Calibri"/>
                <a:cs typeface="Calibri"/>
              </a:rPr>
              <a:t>Next: structured output → context → RAG → evaluation → agents → MCP.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353963-99F6-474D-AE9E-6D102866C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905750"/>
            <a:ext cx="1352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8"/>
          </a:solidFill>
          <a:ln xmlns:a="http://schemas.openxmlformats.org/drawingml/2006/main" w="9525">
            <a:solidFill>
              <a:srgbClr val="E4E6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58137A-5475-4121-BA20-053FF731F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905750"/>
            <a:ext cx="800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2EB"/>
          </a:solidFill>
          <a:ln xmlns:a="http://schemas.openxmlformats.org/drawingml/2006/main" w="9525">
            <a:solidFill>
              <a:srgbClr val="00A2E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26838F-9E9E-49AC-8F5A-4888689CD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534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9E9FA2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9E9FA2"/>
                </a:solidFill>
                <a:latin typeface="Calibri"/>
                <a:ea typeface="Calibri"/>
                <a:cs typeface="Calibri"/>
              </a:rPr>
              <a:t>First Finance - Arnaud Demes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2728AD-6B3E-41C8-9959-16F490654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81534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9E9FA2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E9FA2"/>
                </a:solidFill>
                <a:latin typeface="Calibri"/>
                <a:ea typeface="Calibri"/>
                <a:cs typeface="Calibri"/>
              </a:rPr>
              <a:t>NOTEBOOK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00A979-B0DA-491D-BECE-B4073BB3C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8153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9E9FA2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9E9FA2"/>
                </a:solidFill>
                <a:latin typeface="Calibri"/>
                <a:ea typeface="Calibri"/>
                <a:cs typeface="Calibr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234532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2026-08-16T08:19:48.2190000Z</dcterms:created>
  <dcterms:modified xsi:type="dcterms:W3CDTF">2026-08-16T08:19:48.2190000Z</dcterms:modified>
</coreProperties>
</file>