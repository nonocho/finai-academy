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1fc8b462d654be1" /><Relationship Type="http://schemas.openxmlformats.org/officeDocument/2006/relationships/extended-properties" Target="/docProps/app.xml" Id="R03d4de7b9c7a4095" /><Relationship Type="http://schemas.openxmlformats.org/officeDocument/2006/relationships/officeDocument" Target="/ppt/presentation.xml" Id="R4a8417245149434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83fc1213a0540e2"/>
  </p:sldMasterIdLst>
  <p:notesMasterIdLst>
    <p:notesMasterId xmlns:r="http://schemas.openxmlformats.org/officeDocument/2006/relationships" r:id="R1c3ba36c2fd84ae5"/>
  </p:notesMasterIdLst>
  <p:sldIdLst>
    <p:sldId xmlns:r="http://schemas.openxmlformats.org/officeDocument/2006/relationships" id="256" r:id="R7bb525e60f544fed"/>
    <p:sldId xmlns:r="http://schemas.openxmlformats.org/officeDocument/2006/relationships" id="257" r:id="R3158a0ec0f4d42cd"/>
    <p:sldId xmlns:r="http://schemas.openxmlformats.org/officeDocument/2006/relationships" id="258" r:id="R80aca650182045fb"/>
    <p:sldId xmlns:r="http://schemas.openxmlformats.org/officeDocument/2006/relationships" id="259" r:id="R61ac169da0894bff"/>
    <p:sldId xmlns:r="http://schemas.openxmlformats.org/officeDocument/2006/relationships" id="260" r:id="Read6a753a9fa43c5"/>
    <p:sldId xmlns:r="http://schemas.openxmlformats.org/officeDocument/2006/relationships" id="261" r:id="Rd0f2ee56f32f4aa1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6541a63415b4108" /><Relationship Type="http://schemas.openxmlformats.org/officeDocument/2006/relationships/slideMaster" Target="/ppt/slideMasters/slideMaster1.xml" Id="Rd83fc1213a0540e2" /><Relationship Type="http://schemas.openxmlformats.org/officeDocument/2006/relationships/notesMaster" Target="/ppt/notesMasters/notesMaster1.xml" Id="R1c3ba36c2fd84ae5" /><Relationship Type="http://schemas.openxmlformats.org/officeDocument/2006/relationships/presProps" Target="/ppt/presProps.xml" Id="Rfdfaa99ac48c417c" /><Relationship Type="http://schemas.openxmlformats.org/officeDocument/2006/relationships/tableStyles" Target="/ppt/tableStyles.xml" Id="R4fc01c0b202b4e10" /><Relationship Type="http://schemas.openxmlformats.org/officeDocument/2006/relationships/slide" Target="/ppt/slides/slide1.xml" Id="R7bb525e60f544fed" /><Relationship Type="http://schemas.openxmlformats.org/officeDocument/2006/relationships/slide" Target="/ppt/slides/slide2.xml" Id="R3158a0ec0f4d42cd" /><Relationship Type="http://schemas.openxmlformats.org/officeDocument/2006/relationships/slide" Target="/ppt/slides/slide3.xml" Id="R80aca650182045fb" /><Relationship Type="http://schemas.openxmlformats.org/officeDocument/2006/relationships/slide" Target="/ppt/slides/slide4.xml" Id="R61ac169da0894bff" /><Relationship Type="http://schemas.openxmlformats.org/officeDocument/2006/relationships/slide" Target="/ppt/slides/slide5.xml" Id="Read6a753a9fa43c5" /><Relationship Type="http://schemas.openxmlformats.org/officeDocument/2006/relationships/slide" Target="/ppt/slides/slide6.xml" Id="Rd0f2ee56f32f4aa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472bac1c111470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c2386c7e80a4262" /><Relationship Type="http://schemas.openxmlformats.org/officeDocument/2006/relationships/notesMaster" Target="/ppt/notesMasters/notesMaster1.xml" Id="Rbd54f4f0514c439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ac5f282e63c49fe" /><Relationship Type="http://schemas.openxmlformats.org/officeDocument/2006/relationships/notesMaster" Target="/ppt/notesMasters/notesMaster1.xml" Id="R9876eb163e414ac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3e5211449e748a5" /><Relationship Type="http://schemas.openxmlformats.org/officeDocument/2006/relationships/notesMaster" Target="/ppt/notesMasters/notesMaster1.xml" Id="Rb13aedfc8d30477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f4c52efaecb47ad" /><Relationship Type="http://schemas.openxmlformats.org/officeDocument/2006/relationships/notesMaster" Target="/ppt/notesMasters/notesMaster1.xml" Id="R9bb9884babfd454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6383876a22749d7" /><Relationship Type="http://schemas.openxmlformats.org/officeDocument/2006/relationships/notesMaster" Target="/ppt/notesMasters/notesMaster1.xml" Id="Rd3d3eabd9439464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1d278a5909e44ab" /><Relationship Type="http://schemas.openxmlformats.org/officeDocument/2006/relationships/notesMaster" Target="/ppt/notesMasters/notesMaster1.xml" Id="R665b8587fec0463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 minute.</a:t>
            </a:r>
          </a:p>
          <a:p xmlns:a="http://schemas.openxmlformats.org/drawingml/2006/main">
            <a:r>
              <a:t>State the engineering outcome: the same lesson code must run with Ollama or OpenAI.</a:t>
            </a:r>
          </a:p>
          <a:p xmlns:a="http://schemas.openxmlformats.org/drawingml/2006/main">
            <a:r>
              <a:t>Do not begin with provider setup details; begin with the application boundary.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2 minutes.</a:t>
            </a:r>
          </a:p>
          <a:p xmlns:a="http://schemas.openxmlformats.org/drawingml/2006/main">
            <a:r>
              <a:t>Walk left to right. Settings choose an adapter; the notebook calls one internal method.</a:t>
            </a:r>
          </a:p>
          <a:p xmlns:a="http://schemas.openxmlformats.org/drawingml/2006/main">
            <a:r>
              <a:t>Point out that the normalised metadata becomes the tracing boundary in later lessons.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https://developers.openai.com/api/docs/models/all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90 seconds.</a:t>
            </a:r>
          </a:p>
          <a:p xmlns:a="http://schemas.openxmlformats.org/drawingml/2006/main">
            <a:r>
              <a:t>Contrast an ordered message list with one opaque concatenated string.</a:t>
            </a:r>
          </a:p>
          <a:p xmlns:a="http://schemas.openxmlformats.org/drawingml/2006/main">
            <a:r>
              <a:t>Keep tool messages and conversation state for later lessons.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90 seconds.</a:t>
            </a:r>
          </a:p>
          <a:p xmlns:a="http://schemas.openxmlformats.org/drawingml/2006/main">
            <a:r>
              <a:t>Ask the class whether the provider call can succeed technically. Answer: yes.</a:t>
            </a:r>
          </a:p>
          <a:p xmlns:a="http://schemas.openxmlformats.org/drawingml/2006/main">
            <a:r>
              <a:t>Then reveal why the result is not a professional analyst output.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2 minutes.</a:t>
            </a:r>
          </a:p>
          <a:p xmlns:a="http://schemas.openxmlformats.org/drawingml/2006/main">
            <a:r>
              <a:t>These are paraphrased facts from the official filing, not model-generated estimates.</a:t>
            </a:r>
          </a:p>
          <a:p xmlns:a="http://schemas.openxmlformats.org/drawingml/2006/main">
            <a:r>
              <a:t>Explain the fact identifiers. The notebook will require citations such as [F1].</a:t>
            </a:r>
          </a:p>
          <a:p xmlns:a="http://schemas.openxmlformats.org/drawingml/2006/main">
            <a:r>
              <a:t>Ask what the card cannot establish: valuation, price target, future guidance or investment recommendation.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https://www.sec.gov/Archives/edgar/data/1045810/000104581026000021/nvda-20260125.htm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2 minutes including transition.</a:t>
            </a:r>
          </a:p>
          <a:p xmlns:a="http://schemas.openxmlformats.org/drawingml/2006/main">
            <a:r>
              <a:t>Read the four observable checks, then move immediately into the notebook.</a:t>
            </a:r>
          </a:p>
          <a:p xmlns:a="http://schemas.openxmlformats.org/drawingml/2006/main">
            <a:r>
              <a:t>Student target: complete both model calls, obtain 4/4, and record the provider comparison.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b262046596433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656ef604ef64ef4" /><Relationship Type="http://schemas.openxmlformats.org/officeDocument/2006/relationships/slideLayout" Target="/ppt/slideLayouts/slideLayout1.xml" Id="R8dceb5d839d9473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dceb5d839d9473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a24bde574445f9" /><Relationship Type="http://schemas.openxmlformats.org/officeDocument/2006/relationships/notesSlide" Target="/ppt/notesSlides/notesSlide1.xml" Id="R273780292271410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cb9f02cc3b4385" /><Relationship Type="http://schemas.openxmlformats.org/officeDocument/2006/relationships/notesSlide" Target="/ppt/notesSlides/notesSlide2.xml" Id="Rd94b94b9985848f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5b4e4c394545c4" /><Relationship Type="http://schemas.openxmlformats.org/officeDocument/2006/relationships/notesSlide" Target="/ppt/notesSlides/notesSlide3.xml" Id="Rc352fb0621924ea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675dec5ab540db" /><Relationship Type="http://schemas.openxmlformats.org/officeDocument/2006/relationships/notesSlide" Target="/ppt/notesSlides/notesSlide4.xml" Id="R1b32eabaa4ef43f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87a46cfd944a72" /><Relationship Type="http://schemas.openxmlformats.org/officeDocument/2006/relationships/notesSlide" Target="/ppt/notesSlides/notesSlide5.xml" Id="R88cb7d9e2f81419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9687a7638743c7" /><Relationship Type="http://schemas.openxmlformats.org/officeDocument/2006/relationships/notesSlide" Target="/ppt/notesSlides/notesSlide6.xml" Id="Rd6038ff8481a4e7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91AC7A-C390-4918-960F-B031B7C93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682EC5-19B2-4E56-87B3-7ADF11BC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0490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8B1E4B-A80D-4DD8-B9C5-6F19ACF9B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0300"/>
            <a:ext cx="9334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4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Model Gateway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83E63A-968D-469D-97F9-C2D3B82A7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385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240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One interface for local and hosted models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1333EC-2C9C-4877-BD13-41F8B87FC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103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SESSION 01  ·  09:30–10:00  ·  10 MIN CONCEPTS + 20 MIN NOTEBOOK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C3877F-F854-40AF-9C55-8A4B72F80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162800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Financial Analyst Copilot</a:t>
            </a:r>
          </a:p>
        </p:txBody>
      </p:sp>
    </p:spTree>
    <p:extLst>
      <p:ext uri="{BB962C8B-B14F-4D97-AF65-F5344CB8AC3E}">
        <p14:creationId xmlns:p14="http://schemas.microsoft.com/office/powerpoint/2010/main" val="76750256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3FE622-5DC1-48D4-9C03-4885EC6CC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324F57-6BCA-4E03-A88B-6655F725D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One boundary keeps application code stable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75077E-2BA2-4D49-9FA0-3C0BB445B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6230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Configuration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9D7F4C-3745-47C4-B657-8DC95CD6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576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provider · model · endpoint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C84776-8416-45A0-AD08-92C3786E3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276600"/>
            <a:ext cx="85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34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0B3F70-5AEC-4B8E-99F8-68D861B2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62250"/>
            <a:ext cx="3714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01410E-C82D-40B9-919F-3188A39B8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143250"/>
            <a:ext cx="2800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MODEL GATEWAY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827B01-F8B1-43B2-A1DD-78B1B1E4A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714750"/>
            <a:ext cx="2800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invoke(messages)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F73C19-5622-4DF9-9D1C-FAD948BF7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276600"/>
            <a:ext cx="85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34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756397-FF53-42BA-8D93-F9D50CF6C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7813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OLLAMA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5B0151-A132-4173-A1C4-8F9B569D7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004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425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local · private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31D8AA-C5F7-45EA-8249-C0FE06295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714750"/>
            <a:ext cx="238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84D04A-595A-4A10-B69B-3FBF80F91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0005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OPENAI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10D8BC-6C55-4CC4-9710-E682C8849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4196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425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hosted · metered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992DE2-DBDA-4301-8DC8-9279D4957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619750"/>
            <a:ext cx="1329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E04DE3-A748-46D1-80BD-4FF702D1C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60388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NORMALISED OUTPUT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98884D-F1F0-4F39-971A-9EEBC152E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5953125"/>
            <a:ext cx="809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provider  ·  model  ·  response text  ·  latency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8E2BDC-8EFB-46D2-9F43-DF5F5651B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6705600"/>
            <a:ext cx="876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Provider selection changes through configuration—not notebook logic.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3216C8-4273-465E-8AAA-7F81F6BD4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ACED58-8E88-4E45-BBE1-234F24797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5FEDB8-E30E-496F-8612-2FECE0C1E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A99E8C-5D07-4E5E-982C-7D3565196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ARCHITECTURE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B80793-ED5A-4395-A2C9-BD38721FD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55350977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5AB1E4-42AC-4F38-9832-61AB9F79D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MESSAGE CONTRACT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C87317-1AE5-4283-B66E-4DB26DCD0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Messages make the model call inspectable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25C689-54CE-4FC2-A8FF-E88EDD6E7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765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SYSTEM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35474F-D624-489B-92E8-BD4182BDB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5280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Stable role, boundaries and evidence rules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6A7CE9-8603-4733-86A0-820430368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24350"/>
            <a:ext cx="4095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208B5E-14CF-4E16-BADC-18EA4B95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863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HUMAN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24DF7E-874E-4566-BFD4-563B7D2D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6255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Current question and supplied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B0359C-EF48-41D4-A6E9-00E41CF10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67000"/>
            <a:ext cx="781050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A2E685-CEFF-4453-8C95-28578E2D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1051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messages = [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1A30A9-E2C4-4827-8E19-657027C5A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7147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0A2EB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00A2EB"/>
                </a:solidFill>
                <a:latin typeface="Consolas"/>
                <a:ea typeface="Consolas"/>
                <a:cs typeface="Consolas"/>
              </a:rPr>
              <a:t>  ("system", stable_instructions),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231728-B735-42CB-93A0-1EC165D1B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324350"/>
            <a:ext cx="676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("human", question_and_evidence),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03C876-E68B-49CA-BC42-27F65639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9339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F656D8-F2F5-4064-95D9-4ECB8677B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762625"/>
            <a:ext cx="628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Explicit roles are easier to test, version and trace.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ABA0A2-12FF-4F25-862C-AE57B2222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BD8D42-E860-4B95-87E4-3C7FF1FC9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D224F1-4BCA-4A2F-84C4-3FDCAE79E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54E057-3E14-470C-8862-AC0BFD9D5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MESSAGES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ADE638-85F0-4B8A-A0CD-DDDC9FD42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77236307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0BC54A-1309-460D-AD2B-0F18507EB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FAILURE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2B95A1-7E53-412C-8974-DFB6A8DFF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successful API call can still fail as analysis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1C2FBE-FCE9-4D4C-9DBD-D89790B0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1811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“What is happening with AI demand?”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F60789-BA8D-4377-A318-F3BEDA9C6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52875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32BA03-1788-4BE1-A884-B111371C7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D92F82-4B68-493F-A374-EE0CF32C7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Company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641AFC-2FEB-434F-ADB4-9127D7801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0EEE86-8AD2-4FC0-A0CA-3F3992455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Period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A9F77B-9D95-469A-B256-2B019874F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20B1BF-7CCF-4161-9AFF-CC9F8DCA9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Source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8CF07A-926D-46C1-84B0-CB0E949F4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8E6400-99FC-4D00-A8CB-D89D7FA7E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Evidence rule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04CD7E-4803-4104-8338-9D962B7E6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270AE8-D659-434A-B5EA-AB73577F8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Output contract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780C9E-1A2E-4219-955F-7ED3FB5CD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64960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larger model cannot recover a missing application contract reliably.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DF59FE-4FEE-42DE-92D0-4AA138236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D1BFF5-CF10-414F-A9A1-5F4FE7F25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A777C2-72B8-4165-974F-061823F01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6DE7B0-9049-4B6C-8B3A-B01028AA5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FAILURE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657728-BC95-4348-AF6C-34919712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51065668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EB10B4-0FED-42C3-8AA0-5BAB4CEF9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NVIDIA FISCAL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5BB064-4AE8-44EA-963D-8F76C6A2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Real evidence makes the question answerable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CA505F-3B0C-49A0-98CF-6D6175D62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0"/>
            <a:ext cx="4381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3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$215.9bn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D41D26-D959-489A-A086-84E330386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052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Revenue · +65% year on year  [F1]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522A8F-16AD-44AB-BA1E-BB7C095B3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24150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7C6626-7591-4116-BDA4-36A1BF728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857500"/>
            <a:ext cx="495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4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$193.7bn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3A65EC-CF94-4DE7-B420-D90CF126D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905250"/>
            <a:ext cx="552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Data Center · +68% year on year  [F2]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8E439B-7E83-494E-A3B5-46C4B699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953000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[F3]  Gaming revenue: $16.0bn · +41%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B113A5-935F-4D64-84B0-5B781937E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953000"/>
            <a:ext cx="666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[F4]  Gross margin decreased; H20-related charge: $4.5bn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422730-1A2F-437A-8161-C3EA5A7E3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6343650"/>
            <a:ext cx="1181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evidence supports growth and segment-scale observations—not valuation or a price target.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A99A9B-F12A-48FE-953D-620804A3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4C9EE8-1362-49E4-BFD2-8CCFD9A29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206614-6877-4386-9D02-F474A613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1FCDDD-754E-4B46-A9F3-09ADE649C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F3E1F1-C1E6-4C5D-B5BB-8ED1767C9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7803423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C48A24-E18F-4399-84FF-49EC1D75E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VERIFICATION CONTRACT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74DED0-BD05-4639-BE3C-BD8A49B9E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4/4 check separates execution from basic grounding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10C483-A890-47EA-A072-5D9086A14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575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4E515B-5F3B-40A3-8912-9F85F0FE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8194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Company and reporting period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CF432C-0929-4FB7-9EB4-33A2C51C4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PASS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9A1F7B-8EE0-471C-AA17-75A56716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099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F63C6A-1C80-47E2-9174-F44504BE7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957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21B42D-9ED7-495A-B9A4-706CAD68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6576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Two+ metrics; no new numbers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79279A-F56C-43A4-BB61-5DBED2EC9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957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PASS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DD85C8-4C83-4C3E-8F6A-367A43180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2481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A488D8-189E-4BB9-9C55-CA27344D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339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62B6DC-830C-4BC9-8851-A3888182A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958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At least two evidence citations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B92F15-B968-44A2-AC9F-1F44F75B8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PASS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9FCC08-CC44-427D-9C16-AD71F4A0F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0863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219D6C-4B5E-42DF-9DFC-40856CEAE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3721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CA7A6E-EE89-4E7C-A0E4-A0D3E684A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3340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One explicit limitation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9232DB-9ADA-4EC0-9488-23F6FAAFF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3721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PASS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F021EC-EF4B-4696-AC90-EE4C0AB7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9245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510A64-1653-4D80-B5B0-A343D07C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914650"/>
            <a:ext cx="3333750" cy="3238500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E24CC2-8886-4470-A433-8B2BDCC9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NOW RUN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710502-B50A-464D-8CBF-05C06A01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386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Notebook 01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057516-ABAC-4FB1-A462-D76649ACD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95300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Fail → ground → score → switch provider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74979B-71B7-425A-85CB-FF6AD6AC5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666750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A 4/4 score is a teaching checkpoint—not an investment-quality certification.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353963-99F6-474D-AE9E-6D102866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58137A-5475-4121-BA20-053FF731F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26838F-9E9E-49AC-8F5A-4888689CD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2728AD-6B3E-41C8-9959-16F490654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NOTEBOOK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00A979-B0DA-491D-BECE-B4073BB3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2345329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2026-08-15T07:51:28.8930000Z</dcterms:created>
  <dcterms:modified xsi:type="dcterms:W3CDTF">2026-08-15T07:51:28.8930000Z</dcterms:modified>
</coreProperties>
</file>