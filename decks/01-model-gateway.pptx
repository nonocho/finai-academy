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49a21c177141c5" /><Relationship Type="http://schemas.openxmlformats.org/officeDocument/2006/relationships/extended-properties" Target="/docProps/app.xml" Id="Rb9029286fc9b447c" /><Relationship Type="http://schemas.openxmlformats.org/officeDocument/2006/relationships/officeDocument" Target="/ppt/presentation.xml" Id="R00bbc991e0c04c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5299b88d0b4a32"/>
  </p:sldMasterIdLst>
  <p:notesMasterIdLst>
    <p:notesMasterId xmlns:r="http://schemas.openxmlformats.org/officeDocument/2006/relationships" r:id="Radd8d74647a84749"/>
  </p:notesMasterIdLst>
  <p:sldIdLst>
    <p:sldId xmlns:r="http://schemas.openxmlformats.org/officeDocument/2006/relationships" id="256" r:id="R4cbeb26f2551405f"/>
    <p:sldId xmlns:r="http://schemas.openxmlformats.org/officeDocument/2006/relationships" id="257" r:id="Raee99a0e2e3b483f"/>
    <p:sldId xmlns:r="http://schemas.openxmlformats.org/officeDocument/2006/relationships" id="258" r:id="R1250c2dd5e8044bd"/>
    <p:sldId xmlns:r="http://schemas.openxmlformats.org/officeDocument/2006/relationships" id="259" r:id="R9e04f31113d44498"/>
    <p:sldId xmlns:r="http://schemas.openxmlformats.org/officeDocument/2006/relationships" id="260" r:id="Ra4370ee11d7243ef"/>
    <p:sldId xmlns:r="http://schemas.openxmlformats.org/officeDocument/2006/relationships" id="261" r:id="R395e5219f8a243ff"/>
    <p:sldId xmlns:r="http://schemas.openxmlformats.org/officeDocument/2006/relationships" id="262" r:id="Rdce63b6550454ffb"/>
    <p:sldId xmlns:r="http://schemas.openxmlformats.org/officeDocument/2006/relationships" id="263" r:id="R8524d7dca7fd4e23"/>
    <p:sldId xmlns:r="http://schemas.openxmlformats.org/officeDocument/2006/relationships" id="264" r:id="R481e38d6a3154084"/>
    <p:sldId xmlns:r="http://schemas.openxmlformats.org/officeDocument/2006/relationships" id="265" r:id="R1c7d1287972c4e97"/>
    <p:sldId xmlns:r="http://schemas.openxmlformats.org/officeDocument/2006/relationships" id="266" r:id="R1ce1a934356348b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9405c8dc0e487c" /><Relationship Type="http://schemas.openxmlformats.org/officeDocument/2006/relationships/slideMaster" Target="/ppt/slideMasters/slideMaster1.xml" Id="R815299b88d0b4a32" /><Relationship Type="http://schemas.openxmlformats.org/officeDocument/2006/relationships/notesMaster" Target="/ppt/notesMasters/notesMaster1.xml" Id="Radd8d74647a84749" /><Relationship Type="http://schemas.openxmlformats.org/officeDocument/2006/relationships/presProps" Target="/ppt/presProps.xml" Id="Rb61ad26e147f4e10" /><Relationship Type="http://schemas.openxmlformats.org/officeDocument/2006/relationships/tableStyles" Target="/ppt/tableStyles.xml" Id="Rbdcf6e5a29774bfa" /><Relationship Type="http://schemas.openxmlformats.org/officeDocument/2006/relationships/slide" Target="/ppt/slides/slide1.xml" Id="R4cbeb26f2551405f" /><Relationship Type="http://schemas.openxmlformats.org/officeDocument/2006/relationships/slide" Target="/ppt/slides/slide2.xml" Id="Raee99a0e2e3b483f" /><Relationship Type="http://schemas.openxmlformats.org/officeDocument/2006/relationships/slide" Target="/ppt/slides/slide3.xml" Id="R1250c2dd5e8044bd" /><Relationship Type="http://schemas.openxmlformats.org/officeDocument/2006/relationships/slide" Target="/ppt/slides/slide4.xml" Id="R9e04f31113d44498" /><Relationship Type="http://schemas.openxmlformats.org/officeDocument/2006/relationships/slide" Target="/ppt/slides/slide5.xml" Id="Ra4370ee11d7243ef" /><Relationship Type="http://schemas.openxmlformats.org/officeDocument/2006/relationships/slide" Target="/ppt/slides/slide6.xml" Id="R395e5219f8a243ff" /><Relationship Type="http://schemas.openxmlformats.org/officeDocument/2006/relationships/slide" Target="/ppt/slides/slide7.xml" Id="Rdce63b6550454ffb" /><Relationship Type="http://schemas.openxmlformats.org/officeDocument/2006/relationships/slide" Target="/ppt/slides/slide8.xml" Id="R8524d7dca7fd4e23" /><Relationship Type="http://schemas.openxmlformats.org/officeDocument/2006/relationships/slide" Target="/ppt/slides/slide9.xml" Id="R481e38d6a3154084" /><Relationship Type="http://schemas.openxmlformats.org/officeDocument/2006/relationships/slide" Target="/ppt/slides/slide10.xml" Id="R1c7d1287972c4e97" /><Relationship Type="http://schemas.openxmlformats.org/officeDocument/2006/relationships/slide" Target="/ppt/slides/slide11.xml" Id="R1ce1a934356348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de3fbf58ee4d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aff86914a64d69" /><Relationship Type="http://schemas.openxmlformats.org/officeDocument/2006/relationships/notesMaster" Target="/ppt/notesMasters/notesMaster1.xml" Id="R2826d9ef0edf4a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baadb679f045c2" /><Relationship Type="http://schemas.openxmlformats.org/officeDocument/2006/relationships/notesMaster" Target="/ppt/notesMasters/notesMaster1.xml" Id="R895f9b124d0943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2aa8971417471d" /><Relationship Type="http://schemas.openxmlformats.org/officeDocument/2006/relationships/notesMaster" Target="/ppt/notesMasters/notesMaster1.xml" Id="R3ebff814e7064b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275744d0f0487c" /><Relationship Type="http://schemas.openxmlformats.org/officeDocument/2006/relationships/notesMaster" Target="/ppt/notesMasters/notesMaster1.xml" Id="R5e9da8aaa1bb4e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ba0503db184802" /><Relationship Type="http://schemas.openxmlformats.org/officeDocument/2006/relationships/notesMaster" Target="/ppt/notesMasters/notesMaster1.xml" Id="R83e1db0b85294d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617bd3de334395" /><Relationship Type="http://schemas.openxmlformats.org/officeDocument/2006/relationships/notesMaster" Target="/ppt/notesMasters/notesMaster1.xml" Id="Rada20b7c869246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5790880820475a" /><Relationship Type="http://schemas.openxmlformats.org/officeDocument/2006/relationships/notesMaster" Target="/ppt/notesMasters/notesMaster1.xml" Id="Rbf0945ca321043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c78388129c4c3c" /><Relationship Type="http://schemas.openxmlformats.org/officeDocument/2006/relationships/notesMaster" Target="/ppt/notesMasters/notesMaster1.xml" Id="R7e79079d085742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a3ba8f21e84e66" /><Relationship Type="http://schemas.openxmlformats.org/officeDocument/2006/relationships/notesMaster" Target="/ppt/notesMasters/notesMaster1.xml" Id="R98640d3398394a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ade9ca293d49c8" /><Relationship Type="http://schemas.openxmlformats.org/officeDocument/2006/relationships/notesMaster" Target="/ppt/notesMasters/notesMaster1.xml" Id="R016a0655ebe140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7b6f9204484c6c" /><Relationship Type="http://schemas.openxmlformats.org/officeDocument/2006/relationships/notesMaster" Target="/ppt/notesMasters/notesMaster1.xml" Id="Redf19417e05641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outcome: one measured application boundary supports local Ollama and hosted OpenAI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Configuration selects the provider adapter; application code consumes one normalized response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https://artificialanalysis.ai/models (accessed 2026-08-25)</a:t>
            </a:r>
          </a:p>
          <a:p xmlns:a="http://schemas.openxmlformats.org/drawingml/2006/main">
            <a:r>
              <a:t>- https://developers.openai.com/api/docs/models/gpt-5.6-luna (accessed 2026-08-25)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Public benchmarks are a selection aid, not a substitute for task-specific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https://artificialanalysis.ai/downloads/state-of-ai/2025/2025-Year-End-Artificial-Analysis-State-of-AI-Highlights-Report.pdf (page 16, accessed 2026-08-25)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is Artificial Analysis's Intelligence vs. Cost to Run Intelligence Index (Pareto Frontiers). Use it to explain why a gateway should make model choice configurable and measurable. Public benchmarks define a shortlist; quality, latency, and cost still need validation on the learner's own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stable system instructions from the current question and evidence. These roles remain inspectable and versionable.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https://developers.openai.com/api/docs/models/gpt-5.6-luna (accessed 2026-08-25)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Observed course run from notebooks/01_model_gateway.ipynb on 2026-08-25. First call: 3,892 ms, 32 input tokens, 167 output tokens. Grounded call: 3,729 ms. These values are a run receipt, not a benchmark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Let the technically successful call fail as analysis. Ask students to name the five missing contract elements before revealing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 (accessed 2026-08-25)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notebook uses a manually curated evidence card derived from this filing. It does not download or parse the filing. Lesson 03 introduces document loading; later retrieval lessons automate evidence selection.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four checks are intentionally simple and inspectable: company/period, at least two metrics with no new numbers, at least two citations, and one explicit limitation. This is a Lesson 1 learning contract, not a production evaluation suite.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chapters/01-model-gateway.md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chapters/01-model-gateway.md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d30b6b0e4749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a85aa2830a4ceb" /><Relationship Type="http://schemas.openxmlformats.org/officeDocument/2006/relationships/slideLayout" Target="/ppt/slideLayouts/slideLayout1.xml" Id="Rbb774dd4099d44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774dd4099d44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78bf48f9a54fbb" /><Relationship Type="http://schemas.openxmlformats.org/officeDocument/2006/relationships/notesSlide" Target="/ppt/notesSlides/notesSlide1.xml" Id="R843f518a01df41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de3f2ce094842" /><Relationship Type="http://schemas.openxmlformats.org/officeDocument/2006/relationships/notesSlide" Target="/ppt/notesSlides/notesSlide2.xml" Id="R4790c7a2643143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43806b5064d4e" /><Relationship Type="http://schemas.openxmlformats.org/officeDocument/2006/relationships/image" Target="/ppt/media/image.jpeg" Id="Rbd2cf6d3f3864f60" /><Relationship Type="http://schemas.openxmlformats.org/officeDocument/2006/relationships/notesSlide" Target="/ppt/notesSlides/notesSlide3.xml" Id="Rd7a81e55928146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250f698e942d9" /><Relationship Type="http://schemas.openxmlformats.org/officeDocument/2006/relationships/image" Target="/ppt/media/image.png" Id="Rb802c347404b4a23" /><Relationship Type="http://schemas.openxmlformats.org/officeDocument/2006/relationships/notesSlide" Target="/ppt/notesSlides/notesSlide4.xml" Id="Rc8b7041affce47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a5b00ebb24795" /><Relationship Type="http://schemas.openxmlformats.org/officeDocument/2006/relationships/notesSlide" Target="/ppt/notesSlides/notesSlide5.xml" Id="R7d58b670cee949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323d0dd414184" /><Relationship Type="http://schemas.openxmlformats.org/officeDocument/2006/relationships/notesSlide" Target="/ppt/notesSlides/notesSlide6.xml" Id="R0cd034eb404445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38a7c53694aa5" /><Relationship Type="http://schemas.openxmlformats.org/officeDocument/2006/relationships/notesSlide" Target="/ppt/notesSlides/notesSlide7.xml" Id="R904837adcbfb44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fbc31737643f7" /><Relationship Type="http://schemas.openxmlformats.org/officeDocument/2006/relationships/image" Target="/ppt/media/image2.jpeg" Id="R7c1fb74a72d64918" /><Relationship Type="http://schemas.openxmlformats.org/officeDocument/2006/relationships/notesSlide" Target="/ppt/notesSlides/notesSlide8.xml" Id="Ra532a5ce67af4d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1c4cce1c245ae" /><Relationship Type="http://schemas.openxmlformats.org/officeDocument/2006/relationships/notesSlide" Target="/ppt/notesSlides/notesSlide9.xml" Id="R741bb88e11d64b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066322abf4f45" /><Relationship Type="http://schemas.openxmlformats.org/officeDocument/2006/relationships/notesSlide" Target="/ppt/notesSlides/notesSlide10.xml" Id="Rbc64c5b6881941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30b9a95394ef6" /><Relationship Type="http://schemas.openxmlformats.org/officeDocument/2006/relationships/notesSlide" Target="/ppt/notesSlides/notesSlide11.xml" Id="R75c54241f8764d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interface for AI models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Switch between local and hosted models without rewriting finance logic.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01  ·  09:30–10:00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A GATEWAY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gateway isolates every provider change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Choose a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endpoint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ONE INTERFACE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invoke(messages)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OLLAMA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local · private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hosted · metered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SAME RESPONSE FIELDS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  ·  model  ·  response  ·  latency  ·  tokens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Switch providers in configuration; the notebook keeps one stable call.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CHOOSING A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Choose models on quality, speed, latency and cost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4 signals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909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quality · output speed · latency · price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Use one gateway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Run every candidate through the same application interface.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1341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Public benchmarks create the shortlist; your task picks the winner.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858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572250"/>
            <a:ext cx="678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Source: Artificial Analysis model comparison · accessed 25 Aug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BENCHMARK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cf6d3f3864f60"/>
          <a:stretch xmlns:a="http://schemas.openxmlformats.org/drawingml/2006/main"/>
        </p:blipFill>
        <p:spPr>
          <a:xfrm xmlns:a="http://schemas.openxmlformats.org/drawingml/2006/main">
            <a:off x="7264400" y="2724150"/>
            <a:ext cx="6502400" cy="3657600"/>
          </a:xfrm>
          <a:prstGeom xmlns:a="http://schemas.openxmlformats.org/drawingml/2006/main" prst="roundRect">
            <a:avLst>
              <a:gd name="adj" fmla="val 3125"/>
            </a:avLst>
          </a:prstGeom>
        </p:spPr>
      </p:pic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COST TREND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Better AI models are becoming cheaper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1323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The same spend buys more intelligence—and the frontier keeps moving.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858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572375"/>
            <a:ext cx="1329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Source: Artificial Analysis State of AI · 2025 Year-End · p.16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MARKET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2c347404b4a23"/>
          <a:srcRect xmlns:a="http://schemas.openxmlformats.org/drawingml/2006/main" l="0" t="13304" r="0" b="133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19250" y="2476500"/>
            <a:ext cx="12001500" cy="4953000"/>
          </a:xfrm>
          <a:prstGeom xmlns:a="http://schemas.openxmlformats.org/drawingml/2006/main" prst="roundRect">
            <a:avLst>
              <a:gd name="adj" fmla="val 2308"/>
            </a:avLst>
          </a:prstGeom>
        </p:spPr>
      </p:pic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MESSAGE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Separate stable rules from each user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RULES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Role · boundaries · evidence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THIS REQUEST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 · company · period ·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messages = [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("system", stable_instructions),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("human", question_and_evidence),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Clear roles make every call easier to test, version and trace.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LIVE LUNA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live Luna call was fast—and fully grounded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gpt-5.6-luna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OpenAI · course gateway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3,892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first-answer 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199 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32 input · 167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3,729 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grounded-answer 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GROUNDING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4/4 evidence checks passed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Observed 25 Aug 2026 · one run, not a general speed benchmark.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LIVE RUN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WHAT BREAKS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vague question produces unusable finance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“What is happening with AI demand?”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Output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model can reliably supply requirements the application never defined.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This lesson uses a small, visible SEC evidence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78130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$215.9bn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Revenue · +65% year on year [F1]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4795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38650"/>
            <a:ext cx="3714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$193.7bn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295900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Data Center · +68% year on year [F2]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0198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$16.0bn Gaming · +41% [F3]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5722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H20-related charge: $4.5bn [F4]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800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We curate four facts here; students learn document loading in Lesson 03.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fb74a72d64918"/>
          <a:stretch xmlns:a="http://schemas.openxmlformats.org/drawingml/2006/main"/>
        </p:blipFill>
        <p:spPr>
          <a:xfrm xmlns:a="http://schemas.openxmlformats.org/drawingml/2006/main">
            <a:off x="1670050" y="2647950"/>
            <a:ext cx="6604000" cy="371475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notebook passes only when the answer is grounded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and reporting period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Two+ metrics; no new numbers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At least two evidence citations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explicit limitation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LIVE 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gpt-5.6-luna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4/4 grounding</a:t>
            </a:r>
          </a:p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invented numbers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Today: evidence checks. Later: document retrieval and stronger evaluation.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01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978B3153-5795-42DC-8F43-92017E25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Which component hides provider-specific details?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8C82FFED-AAD5-46E1-B8A1-DE96978D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Prompt     |     B  Model gateway     |     C  Vector database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04A6BCD9-146A-498F-8ABA-21C97E34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does streaming mainly change?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3FE8F5DC-6EBC-49A4-87F8-1BB09EAC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Delivery     |     B  Grounding     |     C  Factual quality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01A332D2-FD44-44AA-8DB4-875ACE1E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should the gateway record when token metadata is missing?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C270705C-CBF2-49FA-A949-07B07719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Zero     |     B  None     |     C  An estimate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01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3204DA93-A6A4-440A-8B66-1D43E067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B. Model gateway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1AE726AF-4E9A-4C19-BF3B-6A6049C8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It keeps provider changes behind one stable application interface.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5CF84115-5676-4FDB-8457-A8680B20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Delivery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0A11BD1-E2FB-4B9E-9E45-B60ED36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Streaming changes when output appears, not whether the answer is grounded.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555D52B7-D7E5-4BB9-8818-7ED7557C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B. None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0196E178-EF1C-4FC5-852F-64D157DA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Missing metadata stays unknown instead of becoming an invented number.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2026-08-25T18:51:23.8730000Z</dcterms:created>
  <dcterms:modified xsi:type="dcterms:W3CDTF">2026-08-25T18:51:23.8730000Z</dcterms:modified>
</coreProperties>
</file>