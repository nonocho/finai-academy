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adeb48ceb245ac" /><Relationship Type="http://schemas.openxmlformats.org/officeDocument/2006/relationships/extended-properties" Target="/docProps/app.xml" Id="R285ee558b0394c56" /><Relationship Type="http://schemas.openxmlformats.org/officeDocument/2006/relationships/officeDocument" Target="/ppt/presentation.xml" Id="R6f940b35a3c046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3bad4bcf34f08"/>
  </p:sldMasterIdLst>
  <p:notesMasterIdLst>
    <p:notesMasterId xmlns:r="http://schemas.openxmlformats.org/officeDocument/2006/relationships" r:id="Rb110ad1f852649a7"/>
  </p:notesMasterIdLst>
  <p:sldIdLst>
    <p:sldId xmlns:r="http://schemas.openxmlformats.org/officeDocument/2006/relationships" id="256" r:id="R899d839288844ae3"/>
    <p:sldId xmlns:r="http://schemas.openxmlformats.org/officeDocument/2006/relationships" id="257" r:id="Re927bb5cf5b4406d"/>
    <p:sldId xmlns:r="http://schemas.openxmlformats.org/officeDocument/2006/relationships" id="258" r:id="R8ac1586793184d2f"/>
    <p:sldId xmlns:r="http://schemas.openxmlformats.org/officeDocument/2006/relationships" id="259" r:id="R1669c8c491924dbf"/>
    <p:sldId xmlns:r="http://schemas.openxmlformats.org/officeDocument/2006/relationships" id="260" r:id="R338253958c0d4727"/>
    <p:sldId xmlns:r="http://schemas.openxmlformats.org/officeDocument/2006/relationships" id="261" r:id="R627aac51696f4085"/>
    <p:sldId xmlns:r="http://schemas.openxmlformats.org/officeDocument/2006/relationships" id="262" r:id="R63f7819e6ec74912"/>
    <p:sldId xmlns:r="http://schemas.openxmlformats.org/officeDocument/2006/relationships" id="263" r:id="R511292342a934017"/>
    <p:sldId xmlns:r="http://schemas.openxmlformats.org/officeDocument/2006/relationships" id="264" r:id="Rd5e8ed9136594aaf"/>
    <p:sldId xmlns:r="http://schemas.openxmlformats.org/officeDocument/2006/relationships" id="265" r:id="R798828c26f09490e"/>
    <p:sldId xmlns:r="http://schemas.openxmlformats.org/officeDocument/2006/relationships" id="266" r:id="Re1259c57beab4b2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fd3cefebdd48fc" /><Relationship Type="http://schemas.openxmlformats.org/officeDocument/2006/relationships/slideMaster" Target="/ppt/slideMasters/slideMaster1.xml" Id="R3443bad4bcf34f08" /><Relationship Type="http://schemas.openxmlformats.org/officeDocument/2006/relationships/notesMaster" Target="/ppt/notesMasters/notesMaster1.xml" Id="Rb110ad1f852649a7" /><Relationship Type="http://schemas.openxmlformats.org/officeDocument/2006/relationships/presProps" Target="/ppt/presProps.xml" Id="Rf8dca9da2d1b4757" /><Relationship Type="http://schemas.openxmlformats.org/officeDocument/2006/relationships/tableStyles" Target="/ppt/tableStyles.xml" Id="R0236d481668a4046" /><Relationship Type="http://schemas.openxmlformats.org/officeDocument/2006/relationships/slide" Target="/ppt/slides/slide1.xml" Id="R899d839288844ae3" /><Relationship Type="http://schemas.openxmlformats.org/officeDocument/2006/relationships/slide" Target="/ppt/slides/slide2.xml" Id="Re927bb5cf5b4406d" /><Relationship Type="http://schemas.openxmlformats.org/officeDocument/2006/relationships/slide" Target="/ppt/slides/slide3.xml" Id="R8ac1586793184d2f" /><Relationship Type="http://schemas.openxmlformats.org/officeDocument/2006/relationships/slide" Target="/ppt/slides/slide4.xml" Id="R1669c8c491924dbf" /><Relationship Type="http://schemas.openxmlformats.org/officeDocument/2006/relationships/slide" Target="/ppt/slides/slide5.xml" Id="R338253958c0d4727" /><Relationship Type="http://schemas.openxmlformats.org/officeDocument/2006/relationships/slide" Target="/ppt/slides/slide6.xml" Id="R627aac51696f4085" /><Relationship Type="http://schemas.openxmlformats.org/officeDocument/2006/relationships/slide" Target="/ppt/slides/slide7.xml" Id="R63f7819e6ec74912" /><Relationship Type="http://schemas.openxmlformats.org/officeDocument/2006/relationships/slide" Target="/ppt/slides/slide8.xml" Id="R511292342a934017" /><Relationship Type="http://schemas.openxmlformats.org/officeDocument/2006/relationships/slide" Target="/ppt/slides/slide9.xml" Id="Rd5e8ed9136594aaf" /><Relationship Type="http://schemas.openxmlformats.org/officeDocument/2006/relationships/slide" Target="/ppt/slides/slide10.xml" Id="R798828c26f09490e" /><Relationship Type="http://schemas.openxmlformats.org/officeDocument/2006/relationships/slide" Target="/ppt/slides/slide11.xml" Id="Re1259c57beab4b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224818d8cd44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fd1616e3ee462c" /><Relationship Type="http://schemas.openxmlformats.org/officeDocument/2006/relationships/notesMaster" Target="/ppt/notesMasters/notesMaster1.xml" Id="Rd90c3a7f663347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7df17bf78746a0" /><Relationship Type="http://schemas.openxmlformats.org/officeDocument/2006/relationships/notesMaster" Target="/ppt/notesMasters/notesMaster1.xml" Id="R8caf3b9dfe9149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7f53300d314ea1" /><Relationship Type="http://schemas.openxmlformats.org/officeDocument/2006/relationships/notesMaster" Target="/ppt/notesMasters/notesMaster1.xml" Id="R2a735144893e45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4f2e7f7f354ce8" /><Relationship Type="http://schemas.openxmlformats.org/officeDocument/2006/relationships/notesMaster" Target="/ppt/notesMasters/notesMaster1.xml" Id="Rd671bc03b7c241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334a14332040ee" /><Relationship Type="http://schemas.openxmlformats.org/officeDocument/2006/relationships/notesMaster" Target="/ppt/notesMasters/notesMaster1.xml" Id="R9938f72a918d44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a114fdf454516" /><Relationship Type="http://schemas.openxmlformats.org/officeDocument/2006/relationships/notesMaster" Target="/ppt/notesMasters/notesMaster1.xml" Id="R3f6c87ab1bf945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f72e47ebd4998" /><Relationship Type="http://schemas.openxmlformats.org/officeDocument/2006/relationships/notesMaster" Target="/ppt/notesMasters/notesMaster1.xml" Id="R9c7b3f13c8fe4f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ccc51c0ab14ec2" /><Relationship Type="http://schemas.openxmlformats.org/officeDocument/2006/relationships/notesMaster" Target="/ppt/notesMasters/notesMaster1.xml" Id="Rf2ec2a975ce2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3169e6d41e4550" /><Relationship Type="http://schemas.openxmlformats.org/officeDocument/2006/relationships/notesMaster" Target="/ppt/notesMasters/notesMaster1.xml" Id="R228f9ee91b474e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aea6c82a864df8" /><Relationship Type="http://schemas.openxmlformats.org/officeDocument/2006/relationships/notesMaster" Target="/ppt/notesMasters/notesMaster1.xml" Id="Rc08af5836fb845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8de061764d4c22" /><Relationship Type="http://schemas.openxmlformats.org/officeDocument/2006/relationships/notesMaster" Target="/ppt/notesMasters/notesMaster1.xml" Id="R47374979f2e24a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assets/lesson-11/anthropic-autonomous-agent.png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https://openai.github.io/openai-agents-python/visualization/</a:t>
            </a:r>
          </a:p>
          <a:p xmlns:a="http://schemas.openxmlformats.org/drawingml/2006/main">
            <a:r>
              <a:t>assets/lesson-11/openai-agent-graph.png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notebooks/11_plan_and_execute_analyst.ipynb</a:t>
            </a:r>
          </a:p>
          <a:p xmlns:a="http://schemas.openxmlformats.org/drawingml/2006/main">
            <a:r>
              <a:t>assets/lesson-11/approved-plan.png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https://modelcontextprotocol.io/specification/2025-06-18/server/tools</a:t>
            </a:r>
          </a:p>
          <a:p xmlns:a="http://schemas.openxmlformats.org/drawingml/2006/main">
            <a:r>
              <a:t>src/finai_academy/planning_mcp_executor.py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notebooks/11_plan_and_execute_analyst.ipynb</a:t>
            </a:r>
          </a:p>
          <a:p xmlns:a="http://schemas.openxmlformats.org/drawingml/2006/main">
            <a:r>
              <a:t>src/finai_academy/plan_execute_graph.py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notebooks/11_plan_and_execute_analyst.ipynb</a:t>
            </a:r>
          </a:p>
          <a:p xmlns:a="http://schemas.openxmlformats.org/drawingml/2006/main">
            <a:r>
              <a:t>assets/lesson-11/replan-trace.png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notebooks/11_plan_and_execute_analyst.ipynb</a:t>
            </a:r>
          </a:p>
          <a:p xmlns:a="http://schemas.openxmlformats.org/drawingml/2006/main">
            <a:r>
              <a:t>assets/lesson-11/evidence-gate.png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chapters/11-plan-and-execute-analyst.md</a:t>
            </a:r>
          </a:p>
          <a:p xmlns:a="http://schemas.openxmlformats.org/drawingml/2006/main">
            <a:r>
              <a:t>assets/lesson-05/schneider-fy2025-results.pdf</a:t>
            </a:r>
          </a:p>
          <a:p xmlns:a="http://schemas.openxmlformats.org/drawingml/2006/main">
            <a:r>
              <a:t>assets/course-data/mcp/lesson10_evidence_catalog_v1.json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Check the three core decisions before the lesson closes.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for one letter per question.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chapters/11-plan-and-execute-analyst.md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Correct the quiz and restate the practical rule behind each answer.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learners to explain each rule in their own words.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chapters/11-plan-and-execute-analyst.md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20b782d4e43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8876e34704dd6" /><Relationship Type="http://schemas.openxmlformats.org/officeDocument/2006/relationships/slideLayout" Target="/ppt/slideLayouts/slideLayout1.xml" Id="Rd8dca1bfc6f542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ca1bfc6f542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933f9d9e249d0" /><Relationship Type="http://schemas.openxmlformats.org/officeDocument/2006/relationships/notesSlide" Target="/ppt/notesSlides/notesSlide1.xml" Id="R4db02a945e834b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e27f20cf0427c" /><Relationship Type="http://schemas.openxmlformats.org/officeDocument/2006/relationships/image" Target="/ppt/media/image.png" Id="R27d8d6c6086147c7" /><Relationship Type="http://schemas.openxmlformats.org/officeDocument/2006/relationships/notesSlide" Target="/ppt/notesSlides/notesSlide2.xml" Id="Ra8d8a51efdd64f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c3fc6dd3c4cd5" /><Relationship Type="http://schemas.openxmlformats.org/officeDocument/2006/relationships/image" Target="/ppt/media/image2.png" Id="R1269196c4c854953" /><Relationship Type="http://schemas.openxmlformats.org/officeDocument/2006/relationships/image" Target="/ppt/media/image3.png" Id="R22931a513cf9402d" /><Relationship Type="http://schemas.openxmlformats.org/officeDocument/2006/relationships/image" Target="/ppt/media/image.svg" Id="R5bbc22e6532d4fa0" /><Relationship Type="http://schemas.openxmlformats.org/officeDocument/2006/relationships/notesSlide" Target="/ppt/notesSlides/notesSlide3.xml" Id="Rce891cc0f355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2ceb6ab614884" /><Relationship Type="http://schemas.openxmlformats.org/officeDocument/2006/relationships/image" Target="/ppt/media/image4.png" Id="Rebffe6cf799b4c79" /><Relationship Type="http://schemas.openxmlformats.org/officeDocument/2006/relationships/image" Target="/ppt/media/image5.png" Id="R499095909d064669" /><Relationship Type="http://schemas.openxmlformats.org/officeDocument/2006/relationships/image" Target="/ppt/media/image2.svg" Id="Rb195423fe2104b30" /><Relationship Type="http://schemas.openxmlformats.org/officeDocument/2006/relationships/notesSlide" Target="/ppt/notesSlides/notesSlide4.xml" Id="Rdf895ae0cb6e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b295de69648bf" /><Relationship Type="http://schemas.openxmlformats.org/officeDocument/2006/relationships/notesSlide" Target="/ppt/notesSlides/notesSlide5.xml" Id="R0702e1405be944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af28711534476" /><Relationship Type="http://schemas.openxmlformats.org/officeDocument/2006/relationships/image" Target="/ppt/media/image6.png" Id="R83462e72fa074c33" /><Relationship Type="http://schemas.openxmlformats.org/officeDocument/2006/relationships/image" Target="/ppt/media/image3.svg" Id="R721b1793897647e0" /><Relationship Type="http://schemas.openxmlformats.org/officeDocument/2006/relationships/image" Target="/ppt/media/image7.png" Id="R35b4351e5f324890" /><Relationship Type="http://schemas.openxmlformats.org/officeDocument/2006/relationships/image" Target="/ppt/media/image4.svg" Id="R4a8b8bf0328f491e" /><Relationship Type="http://schemas.openxmlformats.org/officeDocument/2006/relationships/notesSlide" Target="/ppt/notesSlides/notesSlide6.xml" Id="R31daeff28ae04e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82810d0f24d08" /><Relationship Type="http://schemas.openxmlformats.org/officeDocument/2006/relationships/image" Target="/ppt/media/image8.png" Id="R1228b6ff52334732" /><Relationship Type="http://schemas.openxmlformats.org/officeDocument/2006/relationships/notesSlide" Target="/ppt/notesSlides/notesSlide7.xml" Id="R160a0d725da8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4957185824afc" /><Relationship Type="http://schemas.openxmlformats.org/officeDocument/2006/relationships/image" Target="/ppt/media/image9.png" Id="Ra964458da1154e85" /><Relationship Type="http://schemas.openxmlformats.org/officeDocument/2006/relationships/image" Target="/ppt/media/image10.png" Id="Rf885173b2c6a4e5a" /><Relationship Type="http://schemas.openxmlformats.org/officeDocument/2006/relationships/image" Target="/ppt/media/image5.svg" Id="Rc0ccea789e8d42b9" /><Relationship Type="http://schemas.openxmlformats.org/officeDocument/2006/relationships/notesSlide" Target="/ppt/notesSlides/notesSlide8.xml" Id="Rc6ef125ea1314f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f458a4b534a5b" /><Relationship Type="http://schemas.openxmlformats.org/officeDocument/2006/relationships/image" Target="/ppt/media/image11.png" Id="R1746c5a4705346b8" /><Relationship Type="http://schemas.openxmlformats.org/officeDocument/2006/relationships/image" Target="/ppt/media/image12.png" Id="R5906bb2909fe432a" /><Relationship Type="http://schemas.openxmlformats.org/officeDocument/2006/relationships/image" Target="/ppt/media/image6.svg" Id="R22fd3b0b9b974494" /><Relationship Type="http://schemas.openxmlformats.org/officeDocument/2006/relationships/notesSlide" Target="/ppt/notesSlides/notesSlide9.xml" Id="R16710148eab247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1dd8f8f3a46b8" /><Relationship Type="http://schemas.openxmlformats.org/officeDocument/2006/relationships/notesSlide" Target="/ppt/notesSlides/notesSlide10.xml" Id="Rba24e017239948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1d7a7b6d46fd" /><Relationship Type="http://schemas.openxmlformats.org/officeDocument/2006/relationships/notesSlide" Target="/ppt/notesSlides/notesSlide11.xml" Id="Rafdaf4d2d16c49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Plan-and-Execute Financial Analyst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Approve the strategy before the first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NVIDIA + SCHNEIDER ELECTRIC  ·  PLAN  ·  EXECUTE  · 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WHY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mission, several evidence gaps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Planning earns its cost when the evidence path is uncertain.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0044D-88CB-4A2D-A533-F88C2AA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00"/>
                </a:solidFill>
              </a:defRPr>
            </a:pPr>
            <a:r>
              <a:rPr sz="1200" b="1">
                <a:solidFill>
                  <a:srgbClr val="F47C00"/>
                </a:solidFill>
              </a:rPr>
              <a:t>MISSION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2A71E0-913E-44E4-97EC-8824457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1C2A"/>
                </a:solidFill>
              </a:defRPr>
            </a:pPr>
            <a:r>
              <a:rPr sz="2250" b="1">
                <a:solidFill>
                  <a:srgbClr val="051C2A"/>
                </a:solidFill>
              </a:rPr>
              <a:t>Compare two companies with valuation and operating evidence.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9A5CD3-AA19-4AF1-A426-C76C47E9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D8"/>
          </a:solidFill>
          <a:ln xmlns:a="http://schemas.openxmlformats.org/drawingml/2006/main" w="0">
            <a:solidFill>
              <a:srgbClr val="2447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95A7D0-A57F-4702-82CF-51D4B36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Valuation metric for both companies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6DA0BF-8322-4685-AAA2-7E44C409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E8"/>
          </a:solidFill>
          <a:ln xmlns:a="http://schemas.openxmlformats.org/drawingml/2006/main" w="0">
            <a:solidFill>
              <a:srgbClr val="00A6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81B952-E5FF-40DA-9E8E-6CE3A30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Operating evidence from documents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BF7C5-6004-492F-9424-87B0B02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solidFill>
              <a:srgbClr val="F47C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AB2F8E-7B90-4EC1-AA64-C6B9AD39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721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A source for every factual claim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8d6c6086147c7"/>
          <a:stretch xmlns:a="http://schemas.openxmlformats.org/drawingml/2006/main"/>
        </p:blipFill>
        <p:spPr>
          <a:xfrm xmlns:a="http://schemas.openxmlformats.org/drawingml/2006/main">
            <a:off x="6286500" y="2612115"/>
            <a:ext cx="7810500" cy="325302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BC5DF0-DE8A-41BD-A707-F531E54D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05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291A6"/>
                </a:solidFill>
              </a:defRPr>
            </a:pPr>
            <a:r>
              <a:rPr sz="1350" b="0">
                <a:solidFill>
                  <a:srgbClr val="8291A6"/>
                </a:solidFill>
              </a:rPr>
              <a:t>The plan coordinates several evidence needs before the loop begins.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HOST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graph shows connections, not authorization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The model proposes a path. The host decides whether it may run.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13CE7-49A3-4F65-B95F-A826AEF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7239000" cy="3905250"/>
          </a:xfrm>
          <a:prstGeom xmlns:a="http://schemas.openxmlformats.org/drawingml/2006/main" prst="roundRect">
            <a:avLst>
              <a:gd name="adj" fmla="val 292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9196c4c854953"/>
          <a:stretch xmlns:a="http://schemas.openxmlformats.org/drawingml/2006/main"/>
        </p:blipFill>
        <p:spPr>
          <a:xfrm xmlns:a="http://schemas.openxmlformats.org/drawingml/2006/main">
            <a:off x="1377036" y="2667000"/>
            <a:ext cx="6532803" cy="33337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D112BA-CA64-4D7E-9E7C-D68F3A7D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91A6"/>
                </a:solidFill>
              </a:defRPr>
            </a:pPr>
            <a:r>
              <a:rPr sz="1200" b="1">
                <a:solidFill>
                  <a:srgbClr val="8291A6"/>
                </a:solidFill>
              </a:rPr>
              <a:t>Example agent graph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31a513cf9402d">
            <a:extLst>
              <a:ext uri="{96DAC541-7B7A-43D3-8B79-37D633B846F1}">
                <asvg:svgBlip xmlns:asvg="http://schemas.microsoft.com/office/drawing/2016/SVG/main" r:embed="R5bbc22e6532d4f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58250" y="2457450"/>
            <a:ext cx="5334000" cy="39052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35D18B-EA31-4478-818C-B58992F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E8"/>
                </a:solidFill>
              </a:defRPr>
            </a:pPr>
            <a:r>
              <a:rPr sz="1350" b="1">
                <a:solidFill>
                  <a:srgbClr val="00A6E8"/>
                </a:solidFill>
              </a:rPr>
              <a:t>HOST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9AE8F-32CD-4A68-A66F-87AFE331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solidFill>
              <a:srgbClr val="F47C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58AFCA-246B-4F79-98C8-B80E5F20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813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5C725-D4D6-4AA4-8D40-7A2E596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147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Validate the typed 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3730A4-038F-4058-B4DF-CE3B3FBB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52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solidFill>
              <a:srgbClr val="F47C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F6914C-2C60-45E7-8FB8-FE876D98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005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2FB1E9-D0DE-42F8-B4FA-7F74413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3385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Enforce a six-step budget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11ED40-2182-4C22-BED7-BE9C9C8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solidFill>
              <a:srgbClr val="F47C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D9D79-C869-411D-82C1-92172E14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196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9D8C99-AE6A-4D76-BD34-AD853347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530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Permit read-only MCP tools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781BC8-0645-462C-801A-A4B1CF9E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91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solidFill>
              <a:srgbClr val="F47C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511C07-6319-43BF-B421-F590496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388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0E7EC9-3B53-4F8E-88AC-ED81FCD6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77215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Gate the final evidence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APPROVED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plan is visible before any tool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Approval happens before attempt 1.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4AF13-5BDD-4431-98FC-D69D68F2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981075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fe6cf799b4c79"/>
          <a:stretch xmlns:a="http://schemas.openxmlformats.org/drawingml/2006/main"/>
        </p:blipFill>
        <p:spPr>
          <a:xfrm xmlns:a="http://schemas.openxmlformats.org/drawingml/2006/main">
            <a:off x="1200150" y="2796468"/>
            <a:ext cx="9477375" cy="326531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095909d064669">
            <a:extLst>
              <a:ext uri="{96DAC541-7B7A-43D3-8B79-37D633B846F1}">
                <asvg:svgBlip xmlns:asvg="http://schemas.microsoft.com/office/drawing/2016/SVG/main" r:embed="Rb195423fe2104b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2476500"/>
            <a:ext cx="2857500" cy="38100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34C65-D813-412D-90D6-C1890B21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7813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A6E8"/>
                </a:solidFill>
              </a:defRPr>
            </a:pPr>
            <a:r>
              <a:rPr sz="1425" b="1">
                <a:solidFill>
                  <a:srgbClr val="00A6E8"/>
                </a:solidFill>
              </a:rPr>
              <a:t>APPROVE ONLY IF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67249C-8C04-43E7-902C-16E86AD7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D362A5-19AB-4133-837F-05F9D1C1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71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FEFFE8-DA77-443F-B966-35963365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5052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Schema valid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40D678-F990-4E34-B38E-54EEC0D0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43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D1F8EB-732D-4224-8220-F39E605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910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5D0D5F-AC27-4A5D-8BD6-25E99469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3243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Tool permitted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B1BC7A-C0FF-48A9-AFB9-8F74993D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62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450BA9-2737-4FA0-8E32-B5705FFF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10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725245-E9C2-45E9-ABE7-0360018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1435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Budget respected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MCP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MCP discovery narrows the agent's choices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Discovery offers capabilities. Host policy turns them into permission.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runtime offer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host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MCP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5339A6-5D70-4BB7-A123-DE2C39ED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E8"/>
                </a:solidFill>
              </a:defRPr>
            </a:pPr>
            <a:r>
              <a:rPr sz="1350" b="1">
                <a:solidFill>
                  <a:srgbClr val="00A6E8"/>
                </a:solidFill>
              </a:rPr>
              <a:t>DISCOVERED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E978E-4714-4144-A8E5-FA44DEB3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431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291A6"/>
                </a:solidFill>
              </a:defRPr>
            </a:pPr>
            <a:r>
              <a:rPr sz="2250" b="1">
                <a:solidFill>
                  <a:srgbClr val="8291A6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AD37EF-D7DF-4EC3-92C6-22EFE842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7D8"/>
                </a:solidFill>
              </a:defRPr>
            </a:pPr>
            <a:r>
              <a:rPr sz="1350" b="1">
                <a:solidFill>
                  <a:srgbClr val="2447D8"/>
                </a:solidFill>
              </a:rPr>
              <a:t>ALLOWLISTED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E7469E-1758-4814-93E6-71E66D81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291A6"/>
                </a:solidFill>
              </a:defRPr>
            </a:pPr>
            <a:r>
              <a:rPr sz="2250" b="1">
                <a:solidFill>
                  <a:srgbClr val="8291A6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83630E-DFA3-4160-8A5B-46F3DE63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7C00"/>
                </a:solidFill>
              </a:defRPr>
            </a:pPr>
            <a:r>
              <a:rPr sz="1350" b="1">
                <a:solidFill>
                  <a:srgbClr val="F47C00"/>
                </a:solidFill>
              </a:rPr>
              <a:t>ARGUMENTS VALIDATED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4E09CC-8F5C-4D86-BA8E-2DBEDAE1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5810250" cy="2571750"/>
          </a:xfrm>
          <a:prstGeom xmlns:a="http://schemas.openxmlformats.org/drawingml/2006/main" prst="roundRect">
            <a:avLst>
              <a:gd name="adj" fmla="val 444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447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B5A4C0-37EA-4A8C-997F-871F7096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D8"/>
          </a:solidFill>
          <a:ln xmlns:a="http://schemas.openxmlformats.org/drawingml/2006/main" w="0">
            <a:solidFill>
              <a:srgbClr val="2447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0D7537-915F-46D3-94AF-F51384DD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47D8"/>
                </a:solidFill>
              </a:defRPr>
            </a:pPr>
            <a:r>
              <a:rPr sz="1875" b="1">
                <a:solidFill>
                  <a:srgbClr val="2447D8"/>
                </a:solidFill>
              </a:rPr>
              <a:t>get_company_metric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A79027-EB19-4ABE-B590-1138273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ticker: str  ·  metric: str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C72A5C-E3FC-42B7-AFAA-7FE9AC3C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291A6"/>
                </a:solidFill>
              </a:defRPr>
            </a:pPr>
            <a:r>
              <a:rPr sz="1350" b="0">
                <a:solidFill>
                  <a:srgbClr val="8291A6"/>
                </a:solidFill>
              </a:rPr>
              <a:t>Returns value, date and source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E3C116-DFDB-4B5C-B86C-F2C2FF5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5810250" cy="2571750"/>
          </a:xfrm>
          <a:prstGeom xmlns:a="http://schemas.openxmlformats.org/drawingml/2006/main" prst="roundRect">
            <a:avLst>
              <a:gd name="adj" fmla="val 444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E9EECE-F98E-443B-9232-FCE04ED3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852C09-6F29-4A8C-A624-BF0F3A5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57"/>
                </a:solidFill>
              </a:defRPr>
            </a:pPr>
            <a:r>
              <a:rPr sz="1875" b="1">
                <a:solidFill>
                  <a:srgbClr val="2E8B57"/>
                </a:solidFill>
              </a:rPr>
              <a:t>search_financial_documents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E4C1F0-F6BD-4F36-A229-3CA958D2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company: str  ·  query: str  ·  top_k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678D3B-DE04-4C5D-92C2-F10F3EE3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863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291A6"/>
                </a:solidFill>
              </a:defRPr>
            </a:pPr>
            <a:r>
              <a:rPr sz="1350" b="0">
                <a:solidFill>
                  <a:srgbClr val="8291A6"/>
                </a:solidFill>
              </a:rPr>
              <a:t>Returns evidence IDs and source references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TYPED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typed failure becomes part of the 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failure remains visible, so the strategy change is auditable.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retryable: false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one replan maximum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62e72fa074c33">
            <a:extLst>
              <a:ext uri="{96DAC541-7B7A-43D3-8B79-37D633B846F1}">
                <asvg:svgBlip xmlns:asvg="http://schemas.microsoft.com/office/drawing/2016/SVG/main" r:embed="R721b1793897647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571750"/>
            <a:ext cx="7239000" cy="32385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561575-7D4D-44F7-A796-B515578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E8"/>
                </a:solidFill>
              </a:defRPr>
            </a:pPr>
            <a:r>
              <a:rPr sz="1200" b="1">
                <a:solidFill>
                  <a:srgbClr val="00A6E8"/>
                </a:solidFill>
              </a:rPr>
              <a:t>ATTEMPT 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7CE46-CE1D-496D-B766-1396D7A4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get_company_metric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92AB6A-474C-467C-9116-99248BB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ticker        NVDA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metric        Revenue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status        error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error_code    unsupported_metric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retryable     false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4351e5f324890">
            <a:extLst>
              <a:ext uri="{96DAC541-7B7A-43D3-8B79-37D633B846F1}">
                <asvg:svgBlip xmlns:asvg="http://schemas.microsoft.com/office/drawing/2016/SVG/main" r:embed="R4a8b8bf0328f49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0" y="27241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35C03A-9E45-461B-AC9D-CEF2D083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RETAIN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8928B0-8C74-4C1A-B5C7-A7875AC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14325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Do not hide it</a:t>
            </a:r>
          </a:p>
          <a:p xmlns:a="http://schemas.openxmlformats.org/drawingml/2006/main">
            <a:pPr algn="l"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Do not retry it unchanged</a:t>
            </a:r>
          </a:p>
          <a:p xmlns:a="http://schemas.openxmlformats.org/drawingml/2006/main">
            <a:pPr algn="l"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Do not rewrite history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TAIL REVISION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failed metric changes the remaining strategy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Steps 1-2 stay. Step 3 remains. Step 4 is superseded. Steps 5-6 replace the tail.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REPLAN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5EFB5-2445-4088-A123-4E3E777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316355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8b6ff52334732"/>
          <a:stretch xmlns:a="http://schemas.openxmlformats.org/drawingml/2006/main"/>
        </p:blipFill>
        <p:spPr>
          <a:xfrm xmlns:a="http://schemas.openxmlformats.org/drawingml/2006/main">
            <a:off x="2989118" y="2571750"/>
            <a:ext cx="9242714" cy="34290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2B50A8-DBED-4E9C-80A5-52969FDD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8B57"/>
                </a:solidFill>
              </a:defRPr>
            </a:pPr>
            <a:r>
              <a:rPr sz="1200" b="1">
                <a:solidFill>
                  <a:srgbClr val="2E8B57"/>
                </a:solidFill>
              </a:rPr>
              <a:t>KEEP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41A1C2-8EC6-499C-811A-6F98E681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0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7C00"/>
                </a:solidFill>
              </a:defRPr>
            </a:pPr>
            <a:r>
              <a:rPr sz="1200" b="1">
                <a:solidFill>
                  <a:srgbClr val="F47C00"/>
                </a:solidFill>
              </a:rPr>
              <a:t>RETAIN + SUPERSEDE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0F9DFC-3B27-4157-81FE-9090ED0E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7D8"/>
                </a:solidFill>
              </a:defRPr>
            </a:pPr>
            <a:r>
              <a:rPr sz="1200" b="1">
                <a:solidFill>
                  <a:srgbClr val="2447D8"/>
                </a:solidFill>
              </a:rPr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EVIDENCE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evidence gate blocks fluent incompleteness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fluent report with one missing evidence cell still fails.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B10404-23D6-453A-A375-59FCBE49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752475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458da1154e85"/>
          <a:stretch xmlns:a="http://schemas.openxmlformats.org/drawingml/2006/main"/>
        </p:blipFill>
        <p:spPr>
          <a:xfrm xmlns:a="http://schemas.openxmlformats.org/drawingml/2006/main">
            <a:off x="1363663" y="2571750"/>
            <a:ext cx="6845300" cy="3667125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5173b2c6a4e5a">
            <a:extLst>
              <a:ext uri="{96DAC541-7B7A-43D3-8B79-37D633B846F1}">
                <asvg:svgBlip xmlns:asvg="http://schemas.microsoft.com/office/drawing/2016/SVG/main" r:embed="Rc0ccea789e8d42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0" y="2476500"/>
            <a:ext cx="5143500" cy="38100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10334A-9BD0-4633-9A83-0E016E45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6E8"/>
                </a:solidFill>
              </a:defRPr>
            </a:pPr>
            <a:r>
              <a:rPr sz="1500" b="1">
                <a:solidFill>
                  <a:srgbClr val="00A6E8"/>
                </a:solidFill>
              </a:rPr>
              <a:t>WRITE ONLY IF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F52605-AE29-4514-950B-44495B67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29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C84D5C-CE28-41C0-9082-24DAFB2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766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0D1C6A-C0A0-4DE9-AC44-7701054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NVIDIA metric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B7FD6E-2812-4D84-BAD2-8EAA7FD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48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8B92C9-1FF4-48D9-995C-670B977A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957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F566E0-7E32-49E7-BABE-3BD60219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2910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NVIDIA document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137D46-F30B-40B1-8A30-765868E8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67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9EEAB2-188F-44F4-A020-0483F115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149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B60128-FF25-4152-9A03-E2ED0702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48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Schneider metric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8BBA3D-5E1C-4D72-8250-8337801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88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2A9B21-EEDD-40FA-A64E-BF0693D4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9340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12D7C6-8EFC-4CBE-9A73-D82050F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86740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Schneider document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12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Every claim must point back to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LESSON 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Score the path and the answer separately.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1F645-02D1-4F77-8B14-E691B464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57150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6c5a4705346b8"/>
          <a:stretch xmlns:a="http://schemas.openxmlformats.org/drawingml/2006/main"/>
        </p:blipFill>
        <p:spPr>
          <a:xfrm xmlns:a="http://schemas.openxmlformats.org/drawingml/2006/main">
            <a:off x="1238250" y="3155016"/>
            <a:ext cx="5295900" cy="1557618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F74F2-E132-4902-879B-CE89A30E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8B57"/>
                </a:solidFill>
              </a:defRPr>
            </a:pPr>
            <a:r>
              <a:rPr sz="1200" b="1">
                <a:solidFill>
                  <a:srgbClr val="2E8B57"/>
                </a:solidFill>
              </a:rPr>
              <a:t>OFFICIAL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DCA551-4AD9-49CC-81A2-8E15EA28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Schneider Electric FY2025 results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C62B02-C143-468C-B80D-5D9A2560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47C00"/>
                </a:solidFill>
              </a:defRPr>
            </a:pPr>
            <a:r>
              <a:rPr sz="3600" b="1">
                <a:solidFill>
                  <a:srgbClr val="F47C00"/>
                </a:solidFill>
              </a:rPr>
              <a:t>→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6bb2909fe432a">
            <a:extLst>
              <a:ext uri="{96DAC541-7B7A-43D3-8B79-37D633B846F1}">
                <asvg:svgBlip xmlns:asvg="http://schemas.microsoft.com/office/drawing/2016/SVG/main" r:embed="R22fd3b0b9b9744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0" y="2400300"/>
            <a:ext cx="6286500" cy="40005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3D7771-3E3A-401A-9F9F-E69F926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24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E8"/>
                </a:solidFill>
              </a:defRPr>
            </a:pPr>
            <a:r>
              <a:rPr sz="1200" b="1">
                <a:solidFill>
                  <a:srgbClr val="00A6E8"/>
                </a:solidFill>
              </a:rPr>
              <a:t>EVIDENCE 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37E2D5-558A-4215-917E-034179D1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SU-FY2025-ENERGY-MANAGEMENT-001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4D36B3-4BE1-4DB6-8D51-74C9BD8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solidFill>
              <a:srgbClr val="F47C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14C65A-19A2-4389-AFBC-B98B1BA0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00"/>
                </a:solidFill>
              </a:defRPr>
            </a:pPr>
            <a:r>
              <a:rPr sz="1200" b="1">
                <a:solidFill>
                  <a:srgbClr val="F47C00"/>
                </a:solidFill>
              </a:rPr>
              <a:t>CITED FACT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C552C9-C596-49BF-98F7-EC8D7B77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005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Schneider Electric reported FY2025 revenue of EUR 40.2 billion and an adjusted EBITA margin of 18.7%.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17737F-E50A-4DF3-9F2C-40F9C4E1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72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A6E8"/>
                </a:solidFill>
              </a:defRPr>
            </a:pPr>
            <a:r>
              <a:rPr sz="1200" b="0">
                <a:solidFill>
                  <a:srgbClr val="00A6E8"/>
                </a:solidFill>
              </a:rPr>
              <a:t>source + evidence ID + claim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Quick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Choose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11  ·  3 QUESTIONS  ·  3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question-1">
            <a:extLst xmlns:a="http://schemas.openxmlformats.org/drawingml/2006/main">
              <a:ext uri="{FF2B5EF4-FFF2-40B4-BE49-F238E27FC236}">
                <a16:creationId xmlns:a16="http://schemas.microsoft.com/office/drawing/2014/main" id="{77F0EC34-AA33-40C2-8164-0555C5F3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1. Who validates a plan before execution?</a:t>
            </a:r>
          </a:p>
        </p:txBody>
      </p:sp>
      <p:sp>
        <p:nvSpPr>
          <p:cNvPr id="9" name="quiz-options-1">
            <a:extLst xmlns:a="http://schemas.openxmlformats.org/drawingml/2006/main">
              <a:ext uri="{FF2B5EF4-FFF2-40B4-BE49-F238E27FC236}">
                <a16:creationId xmlns:a16="http://schemas.microsoft.com/office/drawing/2014/main" id="{0BE768D1-23DC-4021-A1FE-6E73B2E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Host     |     B  Model alone     |     C  PDF parser</a:t>
            </a:r>
          </a:p>
        </p:txBody>
      </p:sp>
      <p:sp>
        <p:nvSpPr>
          <p:cNvPr id="10" name="quiz-question-2">
            <a:extLst xmlns:a="http://schemas.openxmlformats.org/drawingml/2006/main">
              <a:ext uri="{FF2B5EF4-FFF2-40B4-BE49-F238E27FC236}">
                <a16:creationId xmlns:a16="http://schemas.microsoft.com/office/drawing/2014/main" id="{A4EE4E53-37FC-4F8F-84B3-59B29C3C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2. What does a replan replace?</a:t>
            </a:r>
          </a:p>
        </p:txBody>
      </p:sp>
      <p:sp>
        <p:nvSpPr>
          <p:cNvPr id="11" name="quiz-options-2">
            <a:extLst xmlns:a="http://schemas.openxmlformats.org/drawingml/2006/main">
              <a:ext uri="{FF2B5EF4-FFF2-40B4-BE49-F238E27FC236}">
                <a16:creationId xmlns:a16="http://schemas.microsoft.com/office/drawing/2014/main" id="{D0FB229F-0DB1-445C-82B9-5370C29C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Unfinished work     |     B  Successful evidence     |     C  The company universe</a:t>
            </a:r>
          </a:p>
        </p:txBody>
      </p:sp>
      <p:sp>
        <p:nvSpPr>
          <p:cNvPr id="12" name="quiz-question-3">
            <a:extLst xmlns:a="http://schemas.openxmlformats.org/drawingml/2006/main">
              <a:ext uri="{FF2B5EF4-FFF2-40B4-BE49-F238E27FC236}">
                <a16:creationId xmlns:a16="http://schemas.microsoft.com/office/drawing/2014/main" id="{B8CC499B-7F3B-4743-BDAB-4AE948E0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3. What blocks an incomplete briefing?</a:t>
            </a:r>
          </a:p>
        </p:txBody>
      </p:sp>
      <p:sp>
        <p:nvSpPr>
          <p:cNvPr id="13" name="quiz-options-3">
            <a:extLst xmlns:a="http://schemas.openxmlformats.org/drawingml/2006/main">
              <a:ext uri="{FF2B5EF4-FFF2-40B4-BE49-F238E27FC236}">
                <a16:creationId xmlns:a16="http://schemas.microsoft.com/office/drawing/2014/main" id="{8B86D18C-DF69-4FFC-A15B-F6E4800D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Evidence gate     |     B  Streaming     |     C  A chart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Check the idea, not only the letter.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11  · 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answer-1">
            <a:extLst xmlns:a="http://schemas.openxmlformats.org/drawingml/2006/main">
              <a:ext uri="{FF2B5EF4-FFF2-40B4-BE49-F238E27FC236}">
                <a16:creationId xmlns:a16="http://schemas.microsoft.com/office/drawing/2014/main" id="{033085FB-166D-4EDF-AA5C-17DC19E2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1. A. Host</a:t>
            </a:r>
          </a:p>
        </p:txBody>
      </p:sp>
      <p:sp>
        <p:nvSpPr>
          <p:cNvPr id="9" name="quiz-explanation-1">
            <a:extLst xmlns:a="http://schemas.openxmlformats.org/drawingml/2006/main">
              <a:ext uri="{FF2B5EF4-FFF2-40B4-BE49-F238E27FC236}">
                <a16:creationId xmlns:a16="http://schemas.microsoft.com/office/drawing/2014/main" id="{0D6CB6C4-0DCC-49FB-BE83-2D92D68B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planner proposes steps; application policy checks them.</a:t>
            </a:r>
          </a:p>
        </p:txBody>
      </p:sp>
      <p:sp>
        <p:nvSpPr>
          <p:cNvPr id="10" name="quiz-answer-2">
            <a:extLst xmlns:a="http://schemas.openxmlformats.org/drawingml/2006/main">
              <a:ext uri="{FF2B5EF4-FFF2-40B4-BE49-F238E27FC236}">
                <a16:creationId xmlns:a16="http://schemas.microsoft.com/office/drawing/2014/main" id="{364F8D8C-928A-4978-8524-E44A3A09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2. A. Unfinished work</a:t>
            </a:r>
          </a:p>
        </p:txBody>
      </p:sp>
      <p:sp>
        <p:nvSpPr>
          <p:cNvPr id="11" name="quiz-explanation-2">
            <a:extLst xmlns:a="http://schemas.openxmlformats.org/drawingml/2006/main">
              <a:ext uri="{FF2B5EF4-FFF2-40B4-BE49-F238E27FC236}">
                <a16:creationId xmlns:a16="http://schemas.microsoft.com/office/drawing/2014/main" id="{24D34374-F5D1-43F4-99D0-C77E1619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Successful observations stay immutable while the remaining tail changes.</a:t>
            </a:r>
          </a:p>
        </p:txBody>
      </p:sp>
      <p:sp>
        <p:nvSpPr>
          <p:cNvPr id="12" name="quiz-answer-3">
            <a:extLst xmlns:a="http://schemas.openxmlformats.org/drawingml/2006/main">
              <a:ext uri="{FF2B5EF4-FFF2-40B4-BE49-F238E27FC236}">
                <a16:creationId xmlns:a16="http://schemas.microsoft.com/office/drawing/2014/main" id="{D97CF4E1-75DC-4257-8878-2CBA2CF2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3. A. Evidence gate</a:t>
            </a:r>
          </a:p>
        </p:txBody>
      </p:sp>
      <p:sp>
        <p:nvSpPr>
          <p:cNvPr id="13" name="quiz-explanation-3">
            <a:extLst xmlns:a="http://schemas.openxmlformats.org/drawingml/2006/main">
              <a:ext uri="{FF2B5EF4-FFF2-40B4-BE49-F238E27FC236}">
                <a16:creationId xmlns:a16="http://schemas.microsoft.com/office/drawing/2014/main" id="{07C5CC59-830D-4B8E-8719-C6CF6EAA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report stops if either company lacks required evidence.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2026-08-26T11:43:27.7280000Z</dcterms:created>
  <dcterms:modified xsi:type="dcterms:W3CDTF">2026-08-26T11:43:27.7280000Z</dcterms:modified>
</coreProperties>
</file>