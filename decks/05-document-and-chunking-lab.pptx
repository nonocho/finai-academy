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eeba26ba734f56" /><Relationship Type="http://schemas.openxmlformats.org/officeDocument/2006/relationships/extended-properties" Target="/docProps/app.xml" Id="Rab0a7817d9d4475f" /><Relationship Type="http://schemas.openxmlformats.org/officeDocument/2006/relationships/officeDocument" Target="/ppt/presentation.xml" Id="R175d6d2ea8cd4a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0cbbad6929948f2"/>
  </p:sldMasterIdLst>
  <p:notesMasterIdLst>
    <p:notesMasterId xmlns:r="http://schemas.openxmlformats.org/officeDocument/2006/relationships" r:id="R8924fa58b7c24f24"/>
  </p:notesMasterIdLst>
  <p:sldIdLst>
    <p:sldId xmlns:r="http://schemas.openxmlformats.org/officeDocument/2006/relationships" id="256" r:id="Rd305875f89f34583"/>
    <p:sldId xmlns:r="http://schemas.openxmlformats.org/officeDocument/2006/relationships" id="257" r:id="R7b467bf831674bc9"/>
    <p:sldId xmlns:r="http://schemas.openxmlformats.org/officeDocument/2006/relationships" id="258" r:id="R34c11be655fe4aae"/>
    <p:sldId xmlns:r="http://schemas.openxmlformats.org/officeDocument/2006/relationships" id="259" r:id="R74ea21b8bceb4d9c"/>
    <p:sldId xmlns:r="http://schemas.openxmlformats.org/officeDocument/2006/relationships" id="260" r:id="R62fc7705625247ff"/>
    <p:sldId xmlns:r="http://schemas.openxmlformats.org/officeDocument/2006/relationships" id="261" r:id="R6aef0c7c67004e30"/>
    <p:sldId xmlns:r="http://schemas.openxmlformats.org/officeDocument/2006/relationships" id="262" r:id="R86096fac6f824221"/>
    <p:sldId xmlns:r="http://schemas.openxmlformats.org/officeDocument/2006/relationships" id="263" r:id="Re155b4e23b884325"/>
    <p:sldId xmlns:r="http://schemas.openxmlformats.org/officeDocument/2006/relationships" id="264" r:id="R543d218000d243bd"/>
    <p:sldId xmlns:r="http://schemas.openxmlformats.org/officeDocument/2006/relationships" id="265" r:id="R8f9ec9676bfd4323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5d3f28ab234691" /><Relationship Type="http://schemas.openxmlformats.org/officeDocument/2006/relationships/slideMaster" Target="/ppt/slideMasters/slideMaster1.xml" Id="R50cbbad6929948f2" /><Relationship Type="http://schemas.openxmlformats.org/officeDocument/2006/relationships/notesMaster" Target="/ppt/notesMasters/notesMaster1.xml" Id="R8924fa58b7c24f24" /><Relationship Type="http://schemas.openxmlformats.org/officeDocument/2006/relationships/presProps" Target="/ppt/presProps.xml" Id="R68e2a9af9a164070" /><Relationship Type="http://schemas.openxmlformats.org/officeDocument/2006/relationships/tableStyles" Target="/ppt/tableStyles.xml" Id="R4ff4aa8f58674e43" /><Relationship Type="http://schemas.openxmlformats.org/officeDocument/2006/relationships/slide" Target="/ppt/slides/slide1.xml" Id="Rd305875f89f34583" /><Relationship Type="http://schemas.openxmlformats.org/officeDocument/2006/relationships/slide" Target="/ppt/slides/slide2.xml" Id="R7b467bf831674bc9" /><Relationship Type="http://schemas.openxmlformats.org/officeDocument/2006/relationships/slide" Target="/ppt/slides/slide3.xml" Id="R34c11be655fe4aae" /><Relationship Type="http://schemas.openxmlformats.org/officeDocument/2006/relationships/slide" Target="/ppt/slides/slide4.xml" Id="R74ea21b8bceb4d9c" /><Relationship Type="http://schemas.openxmlformats.org/officeDocument/2006/relationships/slide" Target="/ppt/slides/slide5.xml" Id="R62fc7705625247ff" /><Relationship Type="http://schemas.openxmlformats.org/officeDocument/2006/relationships/slide" Target="/ppt/slides/slide6.xml" Id="R6aef0c7c67004e30" /><Relationship Type="http://schemas.openxmlformats.org/officeDocument/2006/relationships/slide" Target="/ppt/slides/slide7.xml" Id="R86096fac6f824221" /><Relationship Type="http://schemas.openxmlformats.org/officeDocument/2006/relationships/slide" Target="/ppt/slides/slide8.xml" Id="Re155b4e23b884325" /><Relationship Type="http://schemas.openxmlformats.org/officeDocument/2006/relationships/slide" Target="/ppt/slides/slide9.xml" Id="R543d218000d243bd" /><Relationship Type="http://schemas.openxmlformats.org/officeDocument/2006/relationships/slide" Target="/ppt/slides/slide10.xml" Id="R8f9ec9676bfd43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0f75b3b7984d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fcaae8fe154276" /><Relationship Type="http://schemas.openxmlformats.org/officeDocument/2006/relationships/notesMaster" Target="/ppt/notesMasters/notesMaster1.xml" Id="R864779c2f4a143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b4dabb272443f1" /><Relationship Type="http://schemas.openxmlformats.org/officeDocument/2006/relationships/notesMaster" Target="/ppt/notesMasters/notesMaster1.xml" Id="Rc683446fae5a4a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d6a0443c234777" /><Relationship Type="http://schemas.openxmlformats.org/officeDocument/2006/relationships/notesMaster" Target="/ppt/notesMasters/notesMaster1.xml" Id="R5f41e456920a4b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d4565b124f43cc" /><Relationship Type="http://schemas.openxmlformats.org/officeDocument/2006/relationships/notesMaster" Target="/ppt/notesMasters/notesMaster1.xml" Id="Rba51521786ca4a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84929dc6624a2e" /><Relationship Type="http://schemas.openxmlformats.org/officeDocument/2006/relationships/notesMaster" Target="/ppt/notesMasters/notesMaster1.xml" Id="R40a492e8974c4c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fd70fed67f4c40" /><Relationship Type="http://schemas.openxmlformats.org/officeDocument/2006/relationships/notesMaster" Target="/ppt/notesMasters/notesMaster1.xml" Id="R27225ac9ffa743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b6a2ea825ae426d" /><Relationship Type="http://schemas.openxmlformats.org/officeDocument/2006/relationships/notesMaster" Target="/ppt/notesMasters/notesMaster1.xml" Id="R41c6c42934fd43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9409003020490f" /><Relationship Type="http://schemas.openxmlformats.org/officeDocument/2006/relationships/notesMaster" Target="/ppt/notesMasters/notesMaster1.xml" Id="Rbeb05dbb7f684c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bc594a1e4549ba" /><Relationship Type="http://schemas.openxmlformats.org/officeDocument/2006/relationships/notesMaster" Target="/ppt/notesMasters/notesMaster1.xml" Id="Rb6b28f397b8a4c2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576d0e54e5431c" /><Relationship Type="http://schemas.openxmlformats.org/officeDocument/2006/relationships/notesMaster" Target="/ppt/notesMasters/notesMaster1.xml" Id="R4f8e87a45d1441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Resume with the hidden assumption from Lesson 04: the passages had already been prepared.</a:t>
            </a:r>
          </a:p>
          <a:p xmlns:a="http://schemas.openxmlformats.org/drawingml/2006/main">
            <a:r>
              <a:t>This session builds the missing document-engineering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diagram and copy.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real Schneider Electric FY2025 table to show that visual clarity is not the same as machine-readable structure.</a:t>
            </a:r>
          </a:p>
          <a:p xmlns:a="http://schemas.openxmlformats.org/drawingml/2006/main">
            <a:r>
              <a:t>The default pdfplumber detector identifies geometry, but the returned 9 × 15 matrix contains blank separator cells and ambiguous headers. The learning objective is to validate the schema before trusting extracted numbers.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https://www.se.com/ww/en/assets/564/document/528237/release-fy-results-2025.pdf (official Schneider Electric FY2025 results; table image on slide)</a:t>
            </a:r>
          </a:p>
          <a:p xmlns:a="http://schemas.openxmlformats.org/drawingml/2006/main">
            <a:r>
              <a:t>- https://github.com/jsvine/pdfplumber (official pdfplumber documentation; extraction behavior described on slide)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red and blue overlay is generated by pdfplumber's tablefinder debug view on the same official Schneider Electric table used on slide 2.</a:t>
            </a:r>
          </a:p>
          <a:p xmlns:a="http://schemas.openxmlformats.org/drawingml/2006/main">
            <a:r>
              <a:t>Teach the baseline first: inspect geometry, validate headers/row widths/units, and only then create a DocumentBlock. If the quality gate fails, tune pdfplumber settings or escalate to an optional heavier parser such as Docling, OCR, or a vision-language model.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https://github.com/jsvine/pdfplumber (official pdfplumber documentation; tablefinder debug overlay)</a:t>
            </a:r>
          </a:p>
          <a:p xmlns:a="http://schemas.openxmlformats.org/drawingml/2006/main">
            <a:r>
              <a:t>- https://github.com/docling-project/docling/blob/main/docs/getting_started/installation.md (official Docling installation guide; optional escalation path)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executed Figure 3 from the Lesson 05 notebook. The left side shows the linear text returned from the PDF teaching extract; the right side shows the normalized table block with row/column relationships and provenance.</a:t>
            </a:r>
          </a:p>
          <a:p xmlns:a="http://schemas.openxmlformats.org/drawingml/2006/main">
            <a:r>
              <a:t>Ask learners to identify what becomes machine-checkable on the right: headers, rows, units, page, source ID and block ID.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notebooks/05_document_and_chunking_lab.ipynb (executed offline Figure 3)</a:t>
            </a:r>
          </a:p>
          <a:p xmlns:a="http://schemas.openxmlformats.org/drawingml/2006/main">
            <a:r>
              <a:t>- https://www.se.com/ww/en/assets/564/document/528237/release-fy-results-2025.pdf (official Schneider Electric FY2025 results underlying the teaching extract)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executed Figure 11 from the Lesson 05 notebook. The fixed 90-character window cuts the word Gaming and separates the final cells; the structure-aware strategy keeps the complete table atomic.</a:t>
            </a:r>
          </a:p>
          <a:p xmlns:a="http://schemas.openxmlformats.org/drawingml/2006/main">
            <a:r>
              <a:t>The point is diagnostic: retrieval can still find USD 16.0 billion, but the selected fragment no longer proves that the value belongs to Gaming or that 41% is its year-on-year growth.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notebooks/05_document_and_chunking_lab.ipynb (executed offline Figure 11)</a:t>
            </a:r>
          </a:p>
          <a:p xmlns:a="http://schemas.openxmlformats.org/drawingml/2006/main">
            <a:r>
              <a:t>- https://www.sec.gov/Archives/edgar/data/1045810/000104581026000029/nvda-20260125.htm (official NVIDIA fiscal 2026 Form 10-K underlying the teaching extract)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three decisions. Embedding model plus threshold creates semantic boundaries. Parent-child links separate matching from reading. Contextual enrichment is one bounded JSON transformation, not agentic chunking; generated context augments immutable raw_text. The 1.37x token ratio is the deterministic Notebook 05 offline measurement.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https://platform.openai.com/docs/guides/embeddings</a:t>
            </a:r>
          </a:p>
          <a:p xmlns:a="http://schemas.openxmlformats.org/drawingml/2006/main">
            <a:r>
              <a:t>- https://docs.ollama.com/capabilities/embeddings</a:t>
            </a:r>
          </a:p>
          <a:p xmlns:a="http://schemas.openxmlformats.org/drawingml/2006/main">
            <a:r>
              <a:t>- Course Notebook 05 offline execution, contextual-chunks-v1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parser recovered the table correctly; the fixed chunker broke the relationship.</a:t>
            </a:r>
          </a:p>
          <a:p xmlns:a="http://schemas.openxmlformats.org/drawingml/2006/main">
            <a:r>
              <a:t>Do not change the model or retriever before repairing the evidence unit.</a:t>
            </a:r>
          </a:p>
          <a:p xmlns:a="http://schemas.openxmlformats.org/drawingml/2006/main">
            <a:r>
              <a:t>The metrics are generated by Notebook 05 over four maintained fixture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structure-aware chunks as the filing baseline. Add semantic boundaries or hierarchy when matching is weak; add LLM contextual enrichment only when passages remain ambiguous and measured retrieval improves enough to justify tokens, latency and transformation risk.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decision matrix</a:t>
            </a:r>
          </a:p>
          <a:p xmlns:a="http://schemas.openxmlformats.org/drawingml/2006/main">
            <a:r>
              <a:t>- Course Notebook 05 offline execution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Check the three core decisions before the lesson closes.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for one letter per question.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chapters/05-document-and-chunking-lab.md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Correct the quiz and restate the practical rule behind each answer.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learners to explain each rule in their own words.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chapters/05-document-and-chunking-lab.md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5339b1def744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1f72bf70864871" /><Relationship Type="http://schemas.openxmlformats.org/officeDocument/2006/relationships/slideLayout" Target="/ppt/slideLayouts/slideLayout1.xml" Id="Rdd6281e67fac41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6281e67fac41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6137c7007d4cc0" /><Relationship Type="http://schemas.openxmlformats.org/officeDocument/2006/relationships/notesSlide" Target="/ppt/notesSlides/notesSlide1.xml" Id="R122fdd6e5bf949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1a4898eac479a" /><Relationship Type="http://schemas.openxmlformats.org/officeDocument/2006/relationships/image" Target="/ppt/media/image.png" Id="Rbdc0edfa33194915" /><Relationship Type="http://schemas.openxmlformats.org/officeDocument/2006/relationships/notesSlide" Target="/ppt/notesSlides/notesSlide2.xml" Id="R9ff807ac868144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75b492c2514266" /><Relationship Type="http://schemas.openxmlformats.org/officeDocument/2006/relationships/image" Target="/ppt/media/image2.png" Id="Rb628d102e8464268" /><Relationship Type="http://schemas.openxmlformats.org/officeDocument/2006/relationships/notesSlide" Target="/ppt/notesSlides/notesSlide3.xml" Id="Reb11b614a1c244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1c8329e084951" /><Relationship Type="http://schemas.openxmlformats.org/officeDocument/2006/relationships/image" Target="/ppt/media/image3.png" Id="Rf0ed14b8d7104f66" /><Relationship Type="http://schemas.openxmlformats.org/officeDocument/2006/relationships/notesSlide" Target="/ppt/notesSlides/notesSlide4.xml" Id="Rf58e919e7d96401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c785c0f192489f" /><Relationship Type="http://schemas.openxmlformats.org/officeDocument/2006/relationships/image" Target="/ppt/media/image4.png" Id="R054d5eb5608a4cd0" /><Relationship Type="http://schemas.openxmlformats.org/officeDocument/2006/relationships/notesSlide" Target="/ppt/notesSlides/notesSlide5.xml" Id="R222d8fdaf4c44b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99ac8fe1a4954" /><Relationship Type="http://schemas.openxmlformats.org/officeDocument/2006/relationships/notesSlide" Target="/ppt/notesSlides/notesSlide6.xml" Id="R2e8689597f9d4c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f9243d37724770" /><Relationship Type="http://schemas.openxmlformats.org/officeDocument/2006/relationships/notesSlide" Target="/ppt/notesSlides/notesSlide7.xml" Id="R5f68d54315b648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01a55df41a476f" /><Relationship Type="http://schemas.openxmlformats.org/officeDocument/2006/relationships/notesSlide" Target="/ppt/notesSlides/notesSlide8.xml" Id="Rec94452d0ac24f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66baf62e7419e" /><Relationship Type="http://schemas.openxmlformats.org/officeDocument/2006/relationships/notesSlide" Target="/ppt/notesSlides/notesSlide9.xml" Id="Rd90921a808f944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683366b8594a62" /><Relationship Type="http://schemas.openxmlformats.org/officeDocument/2006/relationships/notesSlide" Target="/ppt/notesSlides/notesSlide10.xml" Id="R00a0b36b409e44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Documents and Chunking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Preserve financial structure before retrieval begins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05  ·  13:30–15:00  ·  20 MIN CONCEPTS + 70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CBCA988-6C06-40A1-95B7-5433476E5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REAL DOCUMENT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220EF-F793-4885-9AB8-00A0F9EA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467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financial table can look obvious—and still extract ambiguously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00753-F858-4C36-BFB0-3B1A4C12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OFFICIAL TABLE</a:t>
            </a:r>
          </a:p>
        </p:txBody>
      </p:sp>
      <p:sp>
        <p:nvSpPr>
          <p:cNvPr id="4" name="visual-table">
            <a:extLst xmlns:a="http://schemas.openxmlformats.org/drawingml/2006/main">
              <a:ext uri="{FF2B5EF4-FFF2-40B4-BE49-F238E27FC236}">
                <a16:creationId xmlns:a16="http://schemas.microsoft.com/office/drawing/2014/main" id="{576683D8-E775-42D1-AF4F-2E325721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81300"/>
            <a:ext cx="581025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32E82F-D354-4D7C-A51F-92A2FFCB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241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DEFAULT PDFPLUMBER OUTPUT</a:t>
            </a:r>
          </a:p>
        </p:txBody>
      </p:sp>
      <p:sp>
        <p:nvSpPr>
          <p:cNvPr id="30" name="linear-extraction">
            <a:extLst xmlns:a="http://schemas.openxmlformats.org/drawingml/2006/main">
              <a:ext uri="{FF2B5EF4-FFF2-40B4-BE49-F238E27FC236}">
                <a16:creationId xmlns:a16="http://schemas.microsoft.com/office/drawing/2014/main" id="{75B44080-439E-4C1F-A927-6A91849F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81300"/>
            <a:ext cx="619125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7DDF09-1C11-42D5-A08A-DD90C590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861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9A9A9F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9A9A9F"/>
                </a:solidFill>
                <a:latin typeface="Courier New"/>
                <a:ea typeface="Courier New"/>
                <a:cs typeface="Courier New"/>
              </a:rPr>
              <a:t>DEFAULT: 9 rows × 15 columns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BC6E23-1957-45C2-BA6E-182A43E6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957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Header: Key figures | ∅ | ∅ | 2024 FY | 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FF888A-B6BD-4B0D-B35F-4BA13A75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053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Revenue: ∅ | 38,153 | ∅ | 40,152 | …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F68206-AE2E-4173-851F-1D227300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9149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Result: visually plausible, structurally ambiguous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466999-AD2B-49AF-92B7-D9F10BF0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562600"/>
            <a:ext cx="53911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BB5EBA-22FE-4A53-8C95-1FBCD1E4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6197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Geometry is detected; schema still needs validation.</a:t>
            </a:r>
          </a:p>
        </p:txBody>
      </p:sp>
      <p:cxnSp>
        <p:nvCxnSpPr>
          <p:cNvPr id="345" name=""/>
          <p:cNvCxnSpPr>
            <a:stCxn xmlns:a="http://schemas.openxmlformats.org/drawingml/2006/main" id="4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838950" y="4476750"/>
            <a:ext cx="10858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E4703D-968A-4547-808B-57EAE1A7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6743700"/>
            <a:ext cx="981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table is evidence only after headers, rows, units and provenance pass.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6BDCF8-E19E-4D00-B4A6-FD186D59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68A547-99A7-4B66-B03E-114ACDE61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33FA4D-F333-4493-8FD8-2DCBFF53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A43FBC-B53A-499B-B471-A27C41B2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23C330-5541-469E-92DE-FFB55F91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pic>
        <p:nvPicPr>
          <p:cNvPr id="3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c0edfa33194915"/>
          <a:stretch xmlns:a="http://schemas.openxmlformats.org/drawingml/2006/main"/>
        </p:blipFill>
        <p:spPr>
          <a:xfrm xmlns:a="http://schemas.openxmlformats.org/drawingml/2006/main">
            <a:off x="1162050" y="3404347"/>
            <a:ext cx="5543550" cy="1630456"/>
          </a:xfrm>
          <a:prstGeom xmlns:a="http://schemas.openxmlformats.org/drawingml/2006/main" prst="rect">
            <a:avLst/>
          </a:prstGeom>
        </p:spPr>
      </p:pic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E0AA8396-F9FE-4C7D-873C-1D8FAF45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00700"/>
            <a:ext cx="5391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i="1">
                <a:solidFill>
                  <a:srgbClr val="607085"/>
                </a:solidFill>
              </a:defRPr>
            </a:pPr>
            <a:r>
              <a:rPr sz="975" i="1">
                <a:solidFill>
                  <a:srgbClr val="607085"/>
                </a:solidFill>
              </a:rPr>
              <a:t>Official Schneider Electric FY2025 results · page 1</a:t>
            </a:r>
          </a:p>
        </p:txBody>
      </p:sp>
    </p:spTree>
    <p:extLst>
      <p:ext uri="{BB962C8B-B14F-4D97-AF65-F5344CB8AC3E}">
        <p14:creationId xmlns:p14="http://schemas.microsoft.com/office/powerpoint/2010/main" val="7684575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TABLE QUALITY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Table detection is not evidence until the schema passes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Default extraction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lines · coordinates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Validate schema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headers · row widths · units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Optional parser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Docling · OCR · VLM</a:t>
            </a:r>
          </a:p>
        </p:txBody>
      </p:sp>
      <p:cxnSp>
        <p:nvCxnSpPr>
          <p:cNvPr id="266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Pass → create DocumentBlock. Fail → tune pdfplumber or escalate.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Baseline runs everywhere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Docling remains optional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QUALITY GATE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pic>
        <p:nvPicPr>
          <p:cNvPr id="2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28d102e8464268"/>
          <a:stretch xmlns:a="http://schemas.openxmlformats.org/drawingml/2006/main"/>
        </p:blipFill>
        <p:spPr>
          <a:xfrm xmlns:a="http://schemas.openxmlformats.org/drawingml/2006/main">
            <a:off x="3810000" y="3474384"/>
            <a:ext cx="5067300" cy="1490382"/>
          </a:xfrm>
          <a:prstGeom xmlns:a="http://schemas.openxmlformats.org/drawingml/2006/main" prst="roundRect">
            <a:avLst>
              <a:gd name="adj" fmla="val 3361"/>
            </a:avLst>
          </a:prstGeom>
        </p:spPr>
      </p:pic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CE842334-AF45-4583-9770-10890959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162425"/>
            <a:ext cx="5715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C974AEA8-A57C-49CF-B24A-A3C3DBB3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162425"/>
            <a:ext cx="5715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3EFE36-F0E5-4A34-9303-2F261E07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PARSING QUALITY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2B6B0-9CAB-42A6-9CDA-FDF3A13D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74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Good parsing preserves relationships; bad parsing leaves a text dump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75D1AF-F6AB-4A2D-841A-C9B511F5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705600"/>
            <a:ext cx="1055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Trust the parse only when rows, units, page and source IDs survive together.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7CAB67-18B2-45B8-A6D3-DDBE5255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AE100F-4D6F-45A8-A34A-47F11D77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579015-04F7-4D6F-9134-8D10D8D7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9C90B6-36DC-4661-AB68-C1D6A4EE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PROVENANCE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479DD1-2C8A-40B6-A3D0-33950CA5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d14b8d7104f66"/>
          <a:stretch xmlns:a="http://schemas.openxmlformats.org/drawingml/2006/main"/>
        </p:blipFill>
        <p:spPr>
          <a:xfrm xmlns:a="http://schemas.openxmlformats.org/drawingml/2006/main">
            <a:off x="1178260" y="2266950"/>
            <a:ext cx="12883480" cy="42481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1625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CHUNK INTEGRITY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number is unsafe when its row or header is missing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chunk may retrieve the right number and still destroy the financial relationship.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BOUNDARIES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d5eb5608a4cd0"/>
          <a:stretch xmlns:a="http://schemas.openxmlformats.org/drawingml/2006/main"/>
        </p:blipFill>
        <p:spPr>
          <a:xfrm xmlns:a="http://schemas.openxmlformats.org/drawingml/2006/main">
            <a:off x="1427871" y="2247900"/>
            <a:ext cx="12384258" cy="4343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9499D-57E3-4A1D-8EC6-611BB04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SEMANTIC + CONTEXTUAL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5CF57-625B-488E-BEB2-B69B4A40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68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Embedding boundaries, hierarchy and context solve different failures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47AA7-B631-41FD-ABBE-E3FFFB3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EMBEDDING BOUNDARY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257D7-8A5E-4ED5-99FB-9BEA2CD5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1028700" cy="41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8125A-6117-4802-BDED-1521C83E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05150"/>
            <a:ext cx="1028700" cy="59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50A16-6CE2-41AD-9C68-31BCF4A3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05150"/>
            <a:ext cx="10287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E3D30-9339-457F-B7CD-A0EA27BB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8E3BE-28EF-40CE-8891-51278C59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76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1DE89-BF1D-4E47-A0E5-E2BD6B90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E587B-C753-4E2B-8104-881E1547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52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69151E-D420-4D59-85E7-111FD86A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81450"/>
            <a:ext cx="3562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E1099-8F96-4D4A-A076-9A2E9069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386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model + threshold → boundary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98DFA-9E2C-4070-94C7-94B63062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38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PARENT–CHILD</a:t>
            </a:r>
          </a:p>
        </p:txBody>
      </p:sp>
      <p:sp>
        <p:nvSpPr>
          <p:cNvPr id="14" name="parent-section">
            <a:extLst xmlns:a="http://schemas.openxmlformats.org/drawingml/2006/main">
              <a:ext uri="{FF2B5EF4-FFF2-40B4-BE49-F238E27FC236}">
                <a16:creationId xmlns:a16="http://schemas.microsoft.com/office/drawing/2014/main" id="{7E782CAC-BF7C-46FC-866C-E3E89506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09900"/>
            <a:ext cx="27241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A1344-7C73-4F1F-9D24-59FEB65C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PARENT SECTION</a:t>
            </a:r>
          </a:p>
        </p:txBody>
      </p:sp>
      <p:sp>
        <p:nvSpPr>
          <p:cNvPr id="16" name="child-0">
            <a:extLst xmlns:a="http://schemas.openxmlformats.org/drawingml/2006/main">
              <a:ext uri="{FF2B5EF4-FFF2-40B4-BE49-F238E27FC236}">
                <a16:creationId xmlns:a16="http://schemas.microsoft.com/office/drawing/2014/main" id="{49FF913A-8883-45CD-B244-354955AC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589B9-91C1-4446-A372-5FFFE4BD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CHILD 1</a:t>
            </a:r>
          </a:p>
        </p:txBody>
      </p:sp>
      <p:sp>
        <p:nvSpPr>
          <p:cNvPr id="18" name="child-1">
            <a:extLst xmlns:a="http://schemas.openxmlformats.org/drawingml/2006/main">
              <a:ext uri="{FF2B5EF4-FFF2-40B4-BE49-F238E27FC236}">
                <a16:creationId xmlns:a16="http://schemas.microsoft.com/office/drawing/2014/main" id="{7ADCF829-81FB-4C43-A5F1-10A73F9F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D7249-C284-46C6-A639-E3A0E60C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CHILD 2</a:t>
            </a:r>
          </a:p>
        </p:txBody>
      </p:sp>
      <p:sp>
        <p:nvSpPr>
          <p:cNvPr id="20" name="child-2">
            <a:extLst xmlns:a="http://schemas.openxmlformats.org/drawingml/2006/main">
              <a:ext uri="{FF2B5EF4-FFF2-40B4-BE49-F238E27FC236}">
                <a16:creationId xmlns:a16="http://schemas.microsoft.com/office/drawing/2014/main" id="{D221F047-9582-4D03-9D8B-65910E5A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71631-E8CD-4C8E-83BE-21A31097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CHILD 3</a:t>
            </a:r>
          </a:p>
        </p:txBody>
      </p:sp>
      <p:cxnSp>
        <p:nvCxnSpPr>
          <p:cNvPr id="278" name=""/>
          <p:cNvCxnSpPr>
            <a:stCxn xmlns:a="http://schemas.openxmlformats.org/drawingml/2006/main" id="14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6400800" y="3714750"/>
            <a:ext cx="12287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279" name=""/>
          <p:cNvCxnSpPr>
            <a:stCxn xmlns:a="http://schemas.openxmlformats.org/drawingml/2006/main" id="14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7629525" y="3714750"/>
            <a:ext cx="2381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280" name=""/>
          <p:cNvCxnSpPr>
            <a:stCxn xmlns:a="http://schemas.openxmlformats.org/drawingml/2006/main" id="14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7629525" y="3714750"/>
            <a:ext cx="170497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59A2EB-91A2-485C-8769-4414CA08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24500"/>
            <a:ext cx="403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retrieve small · expand verified parent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A9A77-C203-4FF0-B40D-A9FCCEC0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4384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RAW + GENERATED CONTEXT</a:t>
            </a:r>
          </a:p>
        </p:txBody>
      </p:sp>
      <p:sp>
        <p:nvSpPr>
          <p:cNvPr id="27" name="context-prefix">
            <a:extLst xmlns:a="http://schemas.openxmlformats.org/drawingml/2006/main">
              <a:ext uri="{FF2B5EF4-FFF2-40B4-BE49-F238E27FC236}">
                <a16:creationId xmlns:a16="http://schemas.microsoft.com/office/drawing/2014/main" id="{394DF3A4-55D3-49A5-B189-7898A8E7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009900"/>
            <a:ext cx="34099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481E31-07AB-413F-A9BC-2CCE1BE4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16230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RAW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40ED50-2261-4CBA-A9F0-AC58EB91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4861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NVIDIA FY2026 · stable source text</a:t>
            </a:r>
          </a:p>
        </p:txBody>
      </p:sp>
      <p:sp>
        <p:nvSpPr>
          <p:cNvPr id="30" name="proposition">
            <a:extLst xmlns:a="http://schemas.openxmlformats.org/drawingml/2006/main">
              <a:ext uri="{FF2B5EF4-FFF2-40B4-BE49-F238E27FC236}">
                <a16:creationId xmlns:a16="http://schemas.microsoft.com/office/drawing/2014/main" id="{72273FB0-E051-4A9D-ACF9-E2567C1D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343400"/>
            <a:ext cx="34099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B58602-B779-49B2-B2C2-E7F6692D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GENERATED CONTEXT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15A273-EB10-4B84-9D74-5A6A52A5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0060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Fiscal 2026 revenue context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 raw evidence at retrieval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41F16E-B897-4CFF-BC22-D4ACA3F5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772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offline: 1.37× tokens · latency · retrieval gain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BEFBEB-C8FB-4ACA-94DB-124FCEC5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705600"/>
            <a:ext cx="107061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F55544-8A98-45CD-8540-D0A1E30F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8199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Generated context augments raw_text; preserve IDs, pages and provenance.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F8A41E-A99D-409D-84BE-F33131D1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956031-4C7C-48C0-AB87-5A7D7BA6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3A278E-A894-4D27-A6F3-22DC6B6D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8798E0-FBD0-46BF-A594-53A0061D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STRATEGIES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1CC3F1-A84C-4B1D-A2E0-A25EF0E9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570352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retrievable number can still be analytically unsafe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302C1-E6C0-49C0-9FA8-BA7896D6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FIXED WINDOWS</a:t>
            </a:r>
          </a:p>
        </p:txBody>
      </p:sp>
      <p:sp>
        <p:nvSpPr>
          <p:cNvPr id="4" name="fixed-one">
            <a:extLst xmlns:a="http://schemas.openxmlformats.org/drawingml/2006/main">
              <a:ext uri="{FF2B5EF4-FFF2-40B4-BE49-F238E27FC236}">
                <a16:creationId xmlns:a16="http://schemas.microsoft.com/office/drawing/2014/main" id="{40C15356-6CC0-4340-AD48-214BA676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2FFA5-77A1-442E-984F-08CF9D90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4838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F1  Business | Revenue | Growth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Data Center | USD 193.7bn | 68%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Gaming | USD 16.0</a:t>
            </a:r>
          </a:p>
        </p:txBody>
      </p:sp>
      <p:sp>
        <p:nvSpPr>
          <p:cNvPr id="6" name="fixed-two">
            <a:extLst xmlns:a="http://schemas.openxmlformats.org/drawingml/2006/main">
              <a:ext uri="{FF2B5EF4-FFF2-40B4-BE49-F238E27FC236}">
                <a16:creationId xmlns:a16="http://schemas.microsoft.com/office/drawing/2014/main" id="{AD30FCD2-C657-4E45-B1A1-6793E46E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285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EC4B2-CAE9-400F-B11D-2D4F3052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F2  bn | 41%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46D44-14BC-44D4-9667-69FFDFBE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4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Boundary separates Gaming value from its complete row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6CDE7-35E6-4C8C-A738-6BACCF9A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STRUCTURE-AWARE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A6E03-2E74-4AA0-BC40-D36976B5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00350"/>
            <a:ext cx="21526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18B6A-26EA-404D-8004-B4AEFB1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051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Business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E5910-AC18-40D2-B2F3-6FC1F08D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800350"/>
            <a:ext cx="19621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DBD99-75A2-4F76-80D2-886026B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Revenue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61F5A-F082-42F4-BA7B-33237B01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2800350"/>
            <a:ext cx="25717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70624-C8CA-468D-98D9-37807488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9051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Year-on-year growth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3A85A-2DFF-4A0D-A0C0-99283CEF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4354-1A30-417B-8AE7-ECA5F6B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Data Center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55295-3DA8-457F-83F0-53BB6A03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480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96DF8-2386-42C4-91BD-18AC99A2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USD 193.7bn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9A1A9-4564-4056-8CDC-CEDB497A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4480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725B4-5DC5-4222-B581-EB84BE9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35623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68%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160DDC-C4FB-4932-B81B-09341596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C8390-620E-4337-B177-E20E166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862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Gaming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123193-7BA4-459F-B618-D3AB37E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719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A33689-B136-4C82-B577-8954D205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2862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USD 16.0bn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9AE3A-93EC-4D6A-8CF3-2D01BDB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1719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772D1E-8248-480D-BA11-3458C9BA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42862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41%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F86CEA-598B-4254-9CEF-1D77B357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680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One chunk · complete row/column relationship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5E3BAB-E11C-4A7E-89F3-AB1868F4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62200"/>
            <a:ext cx="2857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33CBA-8C3B-4B18-A5D5-D4F7061F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531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MEASURED ON THE NOTEBOOK FIXTURES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EA1FB2-5ABC-4E19-B39E-FBEB026E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Fixed table integrity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E73CC-AED7-4593-A08D-4913CB1D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BC68A-D5B2-4F89-AC7A-F4A6B122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Structured table integrity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38EEE4-AA29-40C4-BA3C-01E40A9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100%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5D4A6D-C246-49F7-9388-C795B5E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Fixed retrieval@2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066664-5058-4CD5-A636-49C7B36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75%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483989-A3BC-4F4A-A656-ACD3BAC9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Structured retrieval@2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3CFBA-FD87-4351-8C2A-CF0B6F6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100%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STRATEGY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8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Escalate chunking complexity only when evaluation justifies it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STRUCTURE-AWARE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7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tables + headings intact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default for filings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67050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SEMANTIC + HIERARCHICAL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486150"/>
            <a:ext cx="264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5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embedding boundary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 verified parent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6720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when matching is weak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LLM CONTEXTUAL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generated context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+ immutable raw_text</a:t>
            </a:r>
          </a:p>
        </p:txBody>
      </p:sp>
      <p:cxnSp>
        <p:nvCxnSpPr>
          <p:cNvPr id="16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167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NON-NEGOTIABLE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table integrity · provenance · stable IDs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MEASURE BEFORE ADDING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tokens · latency · recall · transformation risk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2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NEXT · LESSON 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Keep the chunks; improve candidate retrieval with embeddings, filters, fusion and reranking.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Choose one answer for each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05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CCF312FD-5D18-44FB-9239-E2804709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What should be checked before choosing chunks?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91C20658-E792-40FF-9A7B-FCC6BB31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Extraction quality     |     B  Agent retries     |     C  Model price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0E005EFD-4F28-450F-B187-742C4EB1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What must survive every document transformation?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D38B3ADE-4F6A-422E-A583-4D1F01F6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Provenance     |     B  Font colour     |     C  Chat history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C164F298-52DA-4C17-9E6C-5BE6F419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What do hierarchical chunks separate?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DF1DAFEC-C8CC-4C9F-967F-28860A39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Retrieval and reading context     |     B  Users and roles     |     C  Models and APIs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Check the idea, not only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05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DCC03A50-B4E0-4A33-8660-4303A3EB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A. Extraction quality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2E4A872E-CE1D-4F25-8FD3-C85259AC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Bad reading order or lost tables cannot be repaired by better chunk sizes.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8E7C3092-6CBB-4D43-838A-C4FBEE8C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A. Provenance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80F9E211-E235-4B33-89A3-60C3B361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Stable IDs, pages and sources keep evidence traceable.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A55EF1BA-75A5-46E9-87A8-5B9962F0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A. Retrieval and reading context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478F71FA-44B6-4830-BC4D-2D20DBDD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Small children retrieve precisely while parents restore context.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2026-08-26T06:56:07.9210000Z</dcterms:created>
  <dcterms:modified xsi:type="dcterms:W3CDTF">2026-08-26T06:56:07.9210000Z</dcterms:modified>
</coreProperties>
</file>