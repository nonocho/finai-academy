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529c19396b4136" /><Relationship Type="http://schemas.openxmlformats.org/officeDocument/2006/relationships/extended-properties" Target="/docProps/app.xml" Id="Ree2f2da5c05c484f" /><Relationship Type="http://schemas.openxmlformats.org/officeDocument/2006/relationships/officeDocument" Target="/ppt/presentation.xml" Id="R881d5f9fcf5c4b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3188a10c3f45e5"/>
  </p:sldMasterIdLst>
  <p:notesMasterIdLst>
    <p:notesMasterId xmlns:r="http://schemas.openxmlformats.org/officeDocument/2006/relationships" r:id="R90dc52d0142249a2"/>
  </p:notesMasterIdLst>
  <p:sldIdLst>
    <p:sldId xmlns:r="http://schemas.openxmlformats.org/officeDocument/2006/relationships" id="256" r:id="Ra13827ad11da4756"/>
    <p:sldId xmlns:r="http://schemas.openxmlformats.org/officeDocument/2006/relationships" id="257" r:id="Rbd951f9f63b94cd4"/>
    <p:sldId xmlns:r="http://schemas.openxmlformats.org/officeDocument/2006/relationships" id="258" r:id="Rbf91311626d04046"/>
    <p:sldId xmlns:r="http://schemas.openxmlformats.org/officeDocument/2006/relationships" id="259" r:id="R4c9a9809383d4509"/>
    <p:sldId xmlns:r="http://schemas.openxmlformats.org/officeDocument/2006/relationships" id="260" r:id="R0f400eb853004e3c"/>
    <p:sldId xmlns:r="http://schemas.openxmlformats.org/officeDocument/2006/relationships" id="261" r:id="R34c98fd363664357"/>
    <p:sldId xmlns:r="http://schemas.openxmlformats.org/officeDocument/2006/relationships" id="262" r:id="R41e35d85fb9a4daf"/>
    <p:sldId xmlns:r="http://schemas.openxmlformats.org/officeDocument/2006/relationships" id="263" r:id="R6eb4d29fc4f2417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4dced6468f4454" /><Relationship Type="http://schemas.openxmlformats.org/officeDocument/2006/relationships/slideMaster" Target="/ppt/slideMasters/slideMaster1.xml" Id="R213188a10c3f45e5" /><Relationship Type="http://schemas.openxmlformats.org/officeDocument/2006/relationships/notesMaster" Target="/ppt/notesMasters/notesMaster1.xml" Id="R90dc52d0142249a2" /><Relationship Type="http://schemas.openxmlformats.org/officeDocument/2006/relationships/presProps" Target="/ppt/presProps.xml" Id="Rb1b7fcd7b6eb4952" /><Relationship Type="http://schemas.openxmlformats.org/officeDocument/2006/relationships/tableStyles" Target="/ppt/tableStyles.xml" Id="R8b5d699ea7914e97" /><Relationship Type="http://schemas.openxmlformats.org/officeDocument/2006/relationships/slide" Target="/ppt/slides/slide1.xml" Id="Ra13827ad11da4756" /><Relationship Type="http://schemas.openxmlformats.org/officeDocument/2006/relationships/slide" Target="/ppt/slides/slide2.xml" Id="Rbd951f9f63b94cd4" /><Relationship Type="http://schemas.openxmlformats.org/officeDocument/2006/relationships/slide" Target="/ppt/slides/slide3.xml" Id="Rbf91311626d04046" /><Relationship Type="http://schemas.openxmlformats.org/officeDocument/2006/relationships/slide" Target="/ppt/slides/slide4.xml" Id="R4c9a9809383d4509" /><Relationship Type="http://schemas.openxmlformats.org/officeDocument/2006/relationships/slide" Target="/ppt/slides/slide5.xml" Id="R0f400eb853004e3c" /><Relationship Type="http://schemas.openxmlformats.org/officeDocument/2006/relationships/slide" Target="/ppt/slides/slide6.xml" Id="R34c98fd363664357" /><Relationship Type="http://schemas.openxmlformats.org/officeDocument/2006/relationships/slide" Target="/ppt/slides/slide7.xml" Id="R41e35d85fb9a4daf" /><Relationship Type="http://schemas.openxmlformats.org/officeDocument/2006/relationships/slide" Target="/ppt/slides/slide8.xml" Id="R6eb4d29fc4f241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d918d43e144d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df9e9475994e52" /><Relationship Type="http://schemas.openxmlformats.org/officeDocument/2006/relationships/notesMaster" Target="/ppt/notesMasters/notesMaster1.xml" Id="R39755cced81640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0478e3a6cf4599" /><Relationship Type="http://schemas.openxmlformats.org/officeDocument/2006/relationships/notesMaster" Target="/ppt/notesMasters/notesMaster1.xml" Id="Rdaa9a2be213b49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96e0fb41d74c23" /><Relationship Type="http://schemas.openxmlformats.org/officeDocument/2006/relationships/notesMaster" Target="/ppt/notesMasters/notesMaster1.xml" Id="Ra460aa8334e641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d013a47ef04460" /><Relationship Type="http://schemas.openxmlformats.org/officeDocument/2006/relationships/notesMaster" Target="/ppt/notesMasters/notesMaster1.xml" Id="Rf88e12c3172341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9c8728629e4fe2" /><Relationship Type="http://schemas.openxmlformats.org/officeDocument/2006/relationships/notesMaster" Target="/ppt/notesMasters/notesMaster1.xml" Id="R1825cd7fa2b746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492a9489f84a2f" /><Relationship Type="http://schemas.openxmlformats.org/officeDocument/2006/relationships/notesMaster" Target="/ppt/notesMasters/notesMaster1.xml" Id="R4ae47c3b9f444b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8f1157f6ad45a3" /><Relationship Type="http://schemas.openxmlformats.org/officeDocument/2006/relationships/notesMaster" Target="/ppt/notesMasters/notesMaster1.xml" Id="Rd86dc886da7c4c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0f6404f88b4fd0" /><Relationship Type="http://schemas.openxmlformats.org/officeDocument/2006/relationships/notesMaster" Target="/ppt/notesMasters/notesMaster1.xml" Id="R15af9110f9474b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Resume with the hidden assumption from Lesson 04: the passages had already been prepared.</a:t>
            </a:r>
          </a:p>
          <a:p xmlns:a="http://schemas.openxmlformats.org/drawingml/2006/main">
            <a:r>
              <a:t>This session builds the missing document-engineering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table to show that EUR 40.2bn depends on row and column context.</a:t>
            </a:r>
          </a:p>
          <a:p xmlns:a="http://schemas.openxmlformats.org/drawingml/2006/main">
            <a:r>
              <a:t>The compact Schneider fixture is machine-generated and parsed with pdfplumber.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https://www.se.com/ww/en/assets/564/document/528237/release-fy-results-2025.pdf</a:t>
            </a:r>
          </a:p>
          <a:p xmlns:a="http://schemas.openxmlformats.org/drawingml/2006/main">
            <a:r>
              <a:t>- https://github.com/jsvine/pdfplumber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five stages as a parser-quality ladder: source bytes, text extraction, layout recovery, canonical blocks, then a quality gate. Chunking starts only after the evidence unit is trustworthy.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https://github.com/jsvine/pdfplumber</a:t>
            </a:r>
          </a:p>
          <a:p xmlns:a="http://schemas.openxmlformats.org/drawingml/2006/main">
            <a:r>
              <a:t>- https://www.crummy.com/software/BeautifulSoup/bs4/doc/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around the block from source identity to structure and content.</a:t>
            </a:r>
          </a:p>
          <a:p xmlns:a="http://schemas.openxmlformats.org/drawingml/2006/main">
            <a:r>
              <a:t>Page and section metadata are created during parsing, not after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https://www.se.com/ww/en/assets/564/document/528237/release-fy-results-2025.pdf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learners to predict which fixed window separates the final Gaming cells.</a:t>
            </a:r>
          </a:p>
          <a:p xmlns:a="http://schemas.openxmlformats.org/drawingml/2006/main">
            <a:r>
              <a:t>Recursive splitting improves natural text boundaries but does not inherently understand tables.</a:t>
            </a:r>
          </a:p>
          <a:p xmlns:a="http://schemas.openxmlformats.org/drawingml/2006/main">
            <a:r>
              <a:t>Structure-aware chunking keeps parsed tables atomic.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three decisions. Embedding model plus threshold creates semantic boundaries. Parent-child links separate matching from reading. Contextual enrichment is one bounded JSON transformation, not agentic chunking; generated context augments immutable raw_text. The 1.37x token ratio is the deterministic Notebook 05 offline measurement.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https://platform.openai.com/docs/guides/embeddings</a:t>
            </a:r>
          </a:p>
          <a:p xmlns:a="http://schemas.openxmlformats.org/drawingml/2006/main">
            <a:r>
              <a:t>- https://docs.ollama.com/capabilities/embeddings</a:t>
            </a:r>
          </a:p>
          <a:p xmlns:a="http://schemas.openxmlformats.org/drawingml/2006/main">
            <a:r>
              <a:t>- Course Notebook 05 offline execution, contextual-chunks-v1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parser recovered the table correctly; the fixed chunker broke the relationship.</a:t>
            </a:r>
          </a:p>
          <a:p xmlns:a="http://schemas.openxmlformats.org/drawingml/2006/main">
            <a:r>
              <a:t>Do not change the model or retriever before repairing the evidence unit.</a:t>
            </a:r>
          </a:p>
          <a:p xmlns:a="http://schemas.openxmlformats.org/drawingml/2006/main">
            <a:r>
              <a:t>The metrics are generated by Notebook 05 over four maintained fixture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structure-aware chunks as the filing baseline. Add semantic boundaries or hierarchy when matching is weak; add LLM contextual enrichment only when passages remain ambiguous and measured retrieval improves enough to justify tokens, latency and transformation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decision matrix</a:t>
            </a:r>
          </a:p>
          <a:p xmlns:a="http://schemas.openxmlformats.org/drawingml/2006/main">
            <a:r>
              <a:t>- Course Notebook 05 offline execution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111ff96e8641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bcbca9a0bc4f36" /><Relationship Type="http://schemas.openxmlformats.org/officeDocument/2006/relationships/slideLayout" Target="/ppt/slideLayouts/slideLayout1.xml" Id="R390c388439d140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0c388439d140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7ee5443e94890" /><Relationship Type="http://schemas.openxmlformats.org/officeDocument/2006/relationships/notesSlide" Target="/ppt/notesSlides/notesSlide1.xml" Id="R38c47d9ebcfa4f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4991f78d24fce" /><Relationship Type="http://schemas.openxmlformats.org/officeDocument/2006/relationships/notesSlide" Target="/ppt/notesSlides/notesSlide2.xml" Id="Rbeab22a34ffa42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d7f9788d94c68" /><Relationship Type="http://schemas.openxmlformats.org/officeDocument/2006/relationships/notesSlide" Target="/ppt/notesSlides/notesSlide3.xml" Id="Rc0e8012da90d44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ecd4460a44c7a" /><Relationship Type="http://schemas.openxmlformats.org/officeDocument/2006/relationships/notesSlide" Target="/ppt/notesSlides/notesSlide4.xml" Id="Rcd41da1c32c44f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d2c54b1a04883" /><Relationship Type="http://schemas.openxmlformats.org/officeDocument/2006/relationships/notesSlide" Target="/ppt/notesSlides/notesSlide5.xml" Id="Rd0005119c16f43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cf2cf25b841b5" /><Relationship Type="http://schemas.openxmlformats.org/officeDocument/2006/relationships/notesSlide" Target="/ppt/notesSlides/notesSlide6.xml" Id="R79e223508a524c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6f77591b24682" /><Relationship Type="http://schemas.openxmlformats.org/officeDocument/2006/relationships/notesSlide" Target="/ppt/notesSlides/notesSlide7.xml" Id="R5dc4b49410004e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cd36f1f304d2c" /><Relationship Type="http://schemas.openxmlformats.org/officeDocument/2006/relationships/notesSlide" Target="/ppt/notesSlides/notesSlide8.xml" Id="R901e0c50c6d84e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Documents and Chunking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Preserve financial structure before retrieval begins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05  ·  13:30–15:00  ·  20 MIN CONCEPTS + 70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BCA988-6C06-40A1-95B7-5433476E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 REALITY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220EF-F793-4885-9AB8-00A0F9EA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meaning is visual; extraction is often linear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00753-F858-4C36-BFB0-3B1A4C12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VISIBLE REPORT</a:t>
            </a:r>
          </a:p>
        </p:txBody>
      </p:sp>
      <p:sp>
        <p:nvSpPr>
          <p:cNvPr id="4" name="visual-table">
            <a:extLst xmlns:a="http://schemas.openxmlformats.org/drawingml/2006/main">
              <a:ext uri="{FF2B5EF4-FFF2-40B4-BE49-F238E27FC236}">
                <a16:creationId xmlns:a16="http://schemas.microsoft.com/office/drawing/2014/main" id="{576683D8-E775-42D1-AF4F-2E325721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5810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2ADA4-F920-4232-9DA2-D9793FAD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86100"/>
            <a:ext cx="20002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F9963-0F9F-4886-AB57-EF4C2E67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7D9C1E-00D7-4159-B73B-01D34D7F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86100"/>
            <a:ext cx="14668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DFBB9-A001-4B0E-AA71-86682FCE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8135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21544-212A-4A0D-B9F7-FCC0D1BF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86100"/>
            <a:ext cx="16954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AB4578-E8A6-43AE-A2C2-CEA0324C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81350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04ECC-09F8-456C-879E-7691A5B3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338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DF2230-F0C0-4DBC-BB47-7BADFC8C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385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54DA14-31F7-4D96-B8DD-9152DF44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338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4648FD-7DFC-4761-A04A-3AC1852B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385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EUR 40.2bn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1CF715-7C9A-4BB8-BE5A-15D7CE05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338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6DE64-6FD8-4C5C-BD04-C629704B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8385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+8.9%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FD23F7-5A32-49C6-A602-C4B97B29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196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34CF0D-0658-422B-8F55-E98FD0DD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243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Energy Management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35550F-4912-4A3E-9B6B-EEFB53BC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196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145470-037A-4684-9A06-4900C017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243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n/a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25294A-6942-4B54-BB28-F9F69395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4196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A1BB70-EBAC-4335-A161-4048795C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243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126131-F324-4F38-9DC5-28160EE0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05400"/>
            <a:ext cx="20002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1E636A-B914-45BB-B915-95E27AB8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10175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Adjusted EBITA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C2AAD8-6A48-44A3-AC4D-F49A66D8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05400"/>
            <a:ext cx="14668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4B5C18-A48F-4308-B6AF-C5700495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210175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EUR 7.5bn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1C5F41-C037-43ED-84EF-03C95B70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105400"/>
            <a:ext cx="169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AFBF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7AA279-8140-4E49-8397-71EAC9AB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21017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18.7% margin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32E82F-D354-4D7C-A51F-92A2FFCB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241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LINEAR EXTRACTION</a:t>
            </a:r>
          </a:p>
        </p:txBody>
      </p:sp>
      <p:sp>
        <p:nvSpPr>
          <p:cNvPr id="30" name="linear-extraction">
            <a:extLst xmlns:a="http://schemas.openxmlformats.org/drawingml/2006/main">
              <a:ext uri="{FF2B5EF4-FFF2-40B4-BE49-F238E27FC236}">
                <a16:creationId xmlns:a16="http://schemas.microsoft.com/office/drawing/2014/main" id="{75B44080-439E-4C1F-A927-6A91849F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81300"/>
            <a:ext cx="6191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7DDF09-1C11-42D5-A08A-DD90C590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861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9A9A9F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9A9A9F"/>
                </a:solidFill>
                <a:latin typeface="Courier New"/>
                <a:ea typeface="Courier New"/>
                <a:cs typeface="Courier New"/>
              </a:rPr>
              <a:t>01   Metric  FY2025  Change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C6E23-1957-45C2-BA6E-182A43E6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957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02   Revenue  EUR 40.2bn  +8.9%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FF888A-B6BD-4B0D-B35F-4BA13A75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053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03   Energy Management  n/a  +10%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F68206-AE2E-4173-851F-1D227300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9149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04   Adjusted EBITA  EUR 7.5bn  18.7% margin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466999-AD2B-49AF-92B7-D9F10BF0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562600"/>
            <a:ext cx="53911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BB5EBA-22FE-4A53-8C95-1FBCD1E4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6197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Reading order alone does not encode row/column meaning.</a:t>
            </a:r>
          </a:p>
        </p:txBody>
      </p:sp>
      <p:cxnSp>
        <p:nvCxnSpPr>
          <p:cNvPr id="191" name=""/>
          <p:cNvCxnSpPr>
            <a:stCxn xmlns:a="http://schemas.openxmlformats.org/drawingml/2006/main" id="4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838950" y="4476750"/>
            <a:ext cx="10858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E4703D-968A-4547-808B-57EAE1A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674370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number is safe evidence only when its label, period, unit and source survive.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6BDCF8-E19E-4D00-B4A6-FD186D59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68A547-99A7-4B66-B03E-114ACDE6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33FA4D-F333-4493-8FD8-2DCBFF53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A43FBC-B53A-499B-B471-A27C41B2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23C330-5541-469E-92DE-FFB55F91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684575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PARSER LADDER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Verify extraction quality before choosing chunk boundaries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HTML · PDF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Text extraction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characters · words · lines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Layout recovery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tables · headings · order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DocumentBlock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text · structure · provenance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Quality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visual checks · integrity</a:t>
            </a:r>
          </a:p>
        </p:txBody>
      </p:sp>
      <p:cxnSp>
        <p:nvCxnSpPr>
          <p:cNvPr id="13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3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3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3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Chunking begins only after extraction, layout and provenance pass.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Extraction recovers document signals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Quality gate protects evidence units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PIPELINE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CANONICAL BLOCK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Provenance must survive every transformation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DocumentBlock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SU-2025-FY-EXCERPT-B004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TABLE · PAGE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 | FY2025 | Change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384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 · document · URL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38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LOCATION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ordinal · page · section path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387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heading · paragraph · table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384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normalized text · table rows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38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FY2025 · language · units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387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IDENTITY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stable source + block IDs</a:t>
            </a:r>
          </a:p>
        </p:txBody>
      </p:sp>
      <p:cxnSp>
        <p:nvCxnSpPr>
          <p:cNvPr id="156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57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58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59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60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61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If provenance is absent here, citations and metadata filters cannot recover it safely later.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PROVENANCE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CORE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same evidence changes shape under each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FIXED · 90 chars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Heading + revenue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Center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Gaming | USD 16.0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bn | 41%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can split anywhere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RECURSIVE · 180 chars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Revenue sentence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Center sentence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Gaming row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prefers text boundaries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Revenue paragraph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COMPLETE TABLE · headers + rows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9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protects document meaning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 size is an optimization parameter. Table and provenance integrity are constraints.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BOUNDARIES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SEMANTIC + CONTEXTUAL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6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 boundaries, hierarchy and context solve different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EMBEDDING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+ threshold → 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PARENT–CHILD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PARENT SECTION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2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CHILD 3</a:t>
            </a:r>
          </a:p>
        </p:txBody>
      </p:sp>
      <p:cxnSp>
        <p:nvCxnSpPr>
          <p:cNvPr id="134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135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136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small · expand verified parent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RAW + GENERATED CONTEXT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RAW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 FY2026 · stable source text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GENERATED CONTEXT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Fiscal 2026 revenue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 raw evidence at retrieval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offline: 1.37× tokens · latency · retrieval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Generated context augments raw_text; preserve IDs, pages and provenance.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STRATEGIES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retrievable number can still be analytically unsafe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FIXED WINDOWS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F1  Business | Revenue | Growth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Data Center | USD 193.7bn | 68%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Gaming | USD 16.0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F2  bn | 41%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4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Boundary separates Gaming value from its complete row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Business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Year-on-year growth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 Center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193.7bn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68%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Gaming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USD 16.0bn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41%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One chunk · complete row/column relationship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MEASURED ON THE NOTEBOOK FIXTURES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Fixed table integrity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Structured table integrity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Fixed retrieval@2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75%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Structured retrieval@2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STRATEGY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8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Escalate chunking complexity only when evaluation justifies it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STRUCTURE-AWARE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7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tables + headings intact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default for filings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67050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SEMANTIC + HIERARCHICAL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486150"/>
            <a:ext cx="264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5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 boundary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 verified parent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67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when matching is weak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LLM CONTEXTUAL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generated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immutable raw_text</a:t>
            </a:r>
          </a:p>
        </p:txBody>
      </p:sp>
      <p:cxnSp>
        <p:nvCxnSpPr>
          <p:cNvPr id="82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83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NON-NEGOTIABLE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table integrity · provenance · stable 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MEASURE BEFORE ADDING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tokens · latency · recall · transformation risk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2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NEXT · LESSON 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Keep the chunks; improve candidate retrieval with embeddings, filters, fusion and reranking.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2026-08-16T08:19:49.2230000Z</dcterms:created>
  <dcterms:modified xsi:type="dcterms:W3CDTF">2026-08-16T08:19:49.2230000Z</dcterms:modified>
</coreProperties>
</file>