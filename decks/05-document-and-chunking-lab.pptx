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7c4399a4aa4217" /><Relationship Type="http://schemas.openxmlformats.org/officeDocument/2006/relationships/extended-properties" Target="/docProps/app.xml" Id="R2ab9b573a4b14b6c" /><Relationship Type="http://schemas.openxmlformats.org/officeDocument/2006/relationships/officeDocument" Target="/ppt/presentation.xml" Id="Re9ea5b76dfbb4c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df414d6cd94959"/>
  </p:sldMasterIdLst>
  <p:notesMasterIdLst>
    <p:notesMasterId xmlns:r="http://schemas.openxmlformats.org/officeDocument/2006/relationships" r:id="Re5c21e1998f94f17"/>
  </p:notesMasterIdLst>
  <p:sldIdLst>
    <p:sldId xmlns:r="http://schemas.openxmlformats.org/officeDocument/2006/relationships" id="256" r:id="R6f8288c3715744ec"/>
    <p:sldId xmlns:r="http://schemas.openxmlformats.org/officeDocument/2006/relationships" id="257" r:id="R92fa83841cb54286"/>
    <p:sldId xmlns:r="http://schemas.openxmlformats.org/officeDocument/2006/relationships" id="258" r:id="Rcb380a960478469f"/>
    <p:sldId xmlns:r="http://schemas.openxmlformats.org/officeDocument/2006/relationships" id="259" r:id="Rf5557cb082484401"/>
    <p:sldId xmlns:r="http://schemas.openxmlformats.org/officeDocument/2006/relationships" id="260" r:id="R0d78293708484ef7"/>
    <p:sldId xmlns:r="http://schemas.openxmlformats.org/officeDocument/2006/relationships" id="261" r:id="R64b5fbbed1f94184"/>
    <p:sldId xmlns:r="http://schemas.openxmlformats.org/officeDocument/2006/relationships" id="262" r:id="Rc367652ed26d42e8"/>
    <p:sldId xmlns:r="http://schemas.openxmlformats.org/officeDocument/2006/relationships" id="263" r:id="Rd03abfd28ab94cc5"/>
    <p:sldId xmlns:r="http://schemas.openxmlformats.org/officeDocument/2006/relationships" id="264" r:id="R4371685353c84940"/>
    <p:sldId xmlns:r="http://schemas.openxmlformats.org/officeDocument/2006/relationships" id="265" r:id="Raa296bcd3abf496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c6dcd561f1401f" /><Relationship Type="http://schemas.openxmlformats.org/officeDocument/2006/relationships/slideMaster" Target="/ppt/slideMasters/slideMaster1.xml" Id="Rd5df414d6cd94959" /><Relationship Type="http://schemas.openxmlformats.org/officeDocument/2006/relationships/notesMaster" Target="/ppt/notesMasters/notesMaster1.xml" Id="Re5c21e1998f94f17" /><Relationship Type="http://schemas.openxmlformats.org/officeDocument/2006/relationships/presProps" Target="/ppt/presProps.xml" Id="R57b1cf197d0945cf" /><Relationship Type="http://schemas.openxmlformats.org/officeDocument/2006/relationships/tableStyles" Target="/ppt/tableStyles.xml" Id="R103b02f2dd604628" /><Relationship Type="http://schemas.openxmlformats.org/officeDocument/2006/relationships/slide" Target="/ppt/slides/slide1.xml" Id="R6f8288c3715744ec" /><Relationship Type="http://schemas.openxmlformats.org/officeDocument/2006/relationships/slide" Target="/ppt/slides/slide2.xml" Id="R92fa83841cb54286" /><Relationship Type="http://schemas.openxmlformats.org/officeDocument/2006/relationships/slide" Target="/ppt/slides/slide3.xml" Id="Rcb380a960478469f" /><Relationship Type="http://schemas.openxmlformats.org/officeDocument/2006/relationships/slide" Target="/ppt/slides/slide4.xml" Id="Rf5557cb082484401" /><Relationship Type="http://schemas.openxmlformats.org/officeDocument/2006/relationships/slide" Target="/ppt/slides/slide5.xml" Id="R0d78293708484ef7" /><Relationship Type="http://schemas.openxmlformats.org/officeDocument/2006/relationships/slide" Target="/ppt/slides/slide6.xml" Id="R64b5fbbed1f94184" /><Relationship Type="http://schemas.openxmlformats.org/officeDocument/2006/relationships/slide" Target="/ppt/slides/slide7.xml" Id="Rc367652ed26d42e8" /><Relationship Type="http://schemas.openxmlformats.org/officeDocument/2006/relationships/slide" Target="/ppt/slides/slide8.xml" Id="Rd03abfd28ab94cc5" /><Relationship Type="http://schemas.openxmlformats.org/officeDocument/2006/relationships/slide" Target="/ppt/slides/slide9.xml" Id="R4371685353c84940" /><Relationship Type="http://schemas.openxmlformats.org/officeDocument/2006/relationships/slide" Target="/ppt/slides/slide10.xml" Id="Raa296bcd3abf49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893cd612c047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8aab1a57814dd9" /><Relationship Type="http://schemas.openxmlformats.org/officeDocument/2006/relationships/notesMaster" Target="/ppt/notesMasters/notesMaster1.xml" Id="R9805d2089f3a43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aa1369f2c640f8" /><Relationship Type="http://schemas.openxmlformats.org/officeDocument/2006/relationships/notesMaster" Target="/ppt/notesMasters/notesMaster1.xml" Id="R97a043110e8945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582169a4cf426d" /><Relationship Type="http://schemas.openxmlformats.org/officeDocument/2006/relationships/notesMaster" Target="/ppt/notesMasters/notesMaster1.xml" Id="Rc9b3ca4c04a240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d196c1397f49ae" /><Relationship Type="http://schemas.openxmlformats.org/officeDocument/2006/relationships/notesMaster" Target="/ppt/notesMasters/notesMaster1.xml" Id="Ra5d1689732a74b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85084c047549be" /><Relationship Type="http://schemas.openxmlformats.org/officeDocument/2006/relationships/notesMaster" Target="/ppt/notesMasters/notesMaster1.xml" Id="Rc6b1967a637342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3712a292cb4883" /><Relationship Type="http://schemas.openxmlformats.org/officeDocument/2006/relationships/notesMaster" Target="/ppt/notesMasters/notesMaster1.xml" Id="R468a4be7c47d4d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0adfc95d634749" /><Relationship Type="http://schemas.openxmlformats.org/officeDocument/2006/relationships/notesMaster" Target="/ppt/notesMasters/notesMaster1.xml" Id="Rc8804cbaf3414e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01fa8d363874fae" /><Relationship Type="http://schemas.openxmlformats.org/officeDocument/2006/relationships/notesMaster" Target="/ppt/notesMasters/notesMaster1.xml" Id="R3401e4f2becd42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c8ff6a7e044f31" /><Relationship Type="http://schemas.openxmlformats.org/officeDocument/2006/relationships/notesMaster" Target="/ppt/notesMasters/notesMaster1.xml" Id="Rfd965e3c40e646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931cb94e4d45e1" /><Relationship Type="http://schemas.openxmlformats.org/officeDocument/2006/relationships/notesMaster" Target="/ppt/notesMasters/notesMaster1.xml" Id="R06b31e48f22e43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Resume with the hidden assumption from Lesson 04: the passages had already been prepared.</a:t>
            </a:r>
          </a:p>
          <a:p xmlns:a="http://schemas.openxmlformats.org/drawingml/2006/main">
            <a:r>
              <a:t>This session builds the missing document-engineering layer.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Course-owned diagram and copy.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table to show that EUR 40.2bn depends on row and column context.</a:t>
            </a:r>
          </a:p>
          <a:p xmlns:a="http://schemas.openxmlformats.org/drawingml/2006/main">
            <a:r>
              <a:t>The compact Schneider fixture is machine-generated and parsed with pdfplumber.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https://www.se.com/ww/en/assets/564/document/528237/release-fy-results-2025.pdf</a:t>
            </a:r>
          </a:p>
          <a:p xmlns:a="http://schemas.openxmlformats.org/drawingml/2006/main">
            <a:r>
              <a:t>- https://github.com/jsvine/pdfplumber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five stages as a parser-quality ladder: source bytes, text extraction, layout recovery, canonical blocks, then a quality gate. Chunking starts only after the evidence unit is trustworthy.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https://github.com/jsvine/pdfplumber</a:t>
            </a:r>
          </a:p>
          <a:p xmlns:a="http://schemas.openxmlformats.org/drawingml/2006/main">
            <a:r>
              <a:t>- https://www.crummy.com/software/BeautifulSoup/bs4/doc/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around the block from source identity to structure and content.</a:t>
            </a:r>
          </a:p>
          <a:p xmlns:a="http://schemas.openxmlformats.org/drawingml/2006/main">
            <a:r>
              <a:t>Page and section metadata are created during parsing, not after retrieval.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https://www.se.com/ww/en/assets/564/document/528237/release-fy-results-2025.pdf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learners to predict which fixed window separates the final Gaming cells.</a:t>
            </a:r>
          </a:p>
          <a:p xmlns:a="http://schemas.openxmlformats.org/drawingml/2006/main">
            <a:r>
              <a:t>Recursive splitting improves natural text boundaries but does not inherently understand tables.</a:t>
            </a:r>
          </a:p>
          <a:p xmlns:a="http://schemas.openxmlformats.org/drawingml/2006/main">
            <a:r>
              <a:t>Structure-aware chunking keeps parsed tables atomic.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https://www.sec.gov/Archives/edgar/data/1045810/000104581026000021/nvda-20260125.htm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three decisions. Embedding model plus threshold creates semantic boundaries. Parent-child links separate matching from reading. Contextual enrichment is one bounded JSON transformation, not agentic chunking; generated context augments immutable raw_text. The 1.37x token ratio is the deterministic Notebook 05 offline measurement.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https://platform.openai.com/docs/guides/embeddings</a:t>
            </a:r>
          </a:p>
          <a:p xmlns:a="http://schemas.openxmlformats.org/drawingml/2006/main">
            <a:r>
              <a:t>- https://docs.ollama.com/capabilities/embeddings</a:t>
            </a:r>
          </a:p>
          <a:p xmlns:a="http://schemas.openxmlformats.org/drawingml/2006/main">
            <a:r>
              <a:t>- Course Notebook 05 offline execution, contextual-chunks-v1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parser recovered the table correctly; the fixed chunker broke the relationship.</a:t>
            </a:r>
          </a:p>
          <a:p xmlns:a="http://schemas.openxmlformats.org/drawingml/2006/main">
            <a:r>
              <a:t>Do not change the model or retriever before repairing the evidence unit.</a:t>
            </a:r>
          </a:p>
          <a:p xmlns:a="http://schemas.openxmlformats.org/drawingml/2006/main">
            <a:r>
              <a:t>The metrics are generated by Notebook 05 over four maintained fixture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https://www.sec.gov/Archives/edgar/data/1045810/000104581026000021/nvda-20260125.htm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structure-aware chunks as the filing baseline. Add semantic boundaries or hierarchy when matching is weak; add LLM contextual enrichment only when passages remain ambiguous and measured retrieval improves enough to justify tokens, latency and transformation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Course-owned decision matrix</a:t>
            </a:r>
          </a:p>
          <a:p xmlns:a="http://schemas.openxmlformats.org/drawingml/2006/main">
            <a:r>
              <a:t>- Course Notebook 05 offline execution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Instructor purpose: Check the three core decisions before the lesson closes.</a:t>
            </a:r>
          </a:p>
          <a:p xmlns:a="http://schemas.openxmlformats.org/drawingml/2006/main">
            <a:r>
              <a:t>Planned timing: 3 minutes.</a:t>
            </a:r>
          </a:p>
          <a:p xmlns:a="http://schemas.openxmlformats.org/drawingml/2006/main">
            <a:r>
              <a:t>Facilitation: ask for one letter per question.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chapters/05-document-and-chunking-lab.md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Instructor purpose: Correct the quiz and restate the practical rule behind each answer.</a:t>
            </a:r>
          </a:p>
          <a:p xmlns:a="http://schemas.openxmlformats.org/drawingml/2006/main">
            <a:r>
              <a:t>Planned timing: 3 minutes.</a:t>
            </a:r>
          </a:p>
          <a:p xmlns:a="http://schemas.openxmlformats.org/drawingml/2006/main">
            <a:r>
              <a:t>Facilitation: ask learners to explain each rule in their own words.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chapters/05-document-and-chunking-lab.md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ffd4fcb9f546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945572c10c467c" /><Relationship Type="http://schemas.openxmlformats.org/officeDocument/2006/relationships/slideLayout" Target="/ppt/slideLayouts/slideLayout1.xml" Id="R449ddde6f24041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9ddde6f24041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f02e56f224bda" /><Relationship Type="http://schemas.openxmlformats.org/officeDocument/2006/relationships/notesSlide" Target="/ppt/notesSlides/notesSlide1.xml" Id="R613351a790324a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47ac42b184e1d" /><Relationship Type="http://schemas.openxmlformats.org/officeDocument/2006/relationships/notesSlide" Target="/ppt/notesSlides/notesSlide2.xml" Id="Re3d9963c9b704c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5c430234748ac" /><Relationship Type="http://schemas.openxmlformats.org/officeDocument/2006/relationships/notesSlide" Target="/ppt/notesSlides/notesSlide3.xml" Id="R24933f3d48b54f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cad601f324dac" /><Relationship Type="http://schemas.openxmlformats.org/officeDocument/2006/relationships/notesSlide" Target="/ppt/notesSlides/notesSlide4.xml" Id="R6c8da057be5c47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fa92b38eb4860" /><Relationship Type="http://schemas.openxmlformats.org/officeDocument/2006/relationships/notesSlide" Target="/ppt/notesSlides/notesSlide5.xml" Id="Rb18813489ffd40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266b3d1a24c38" /><Relationship Type="http://schemas.openxmlformats.org/officeDocument/2006/relationships/notesSlide" Target="/ppt/notesSlides/notesSlide6.xml" Id="Rb91177f31ab74d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1b720b86a24026" /><Relationship Type="http://schemas.openxmlformats.org/officeDocument/2006/relationships/notesSlide" Target="/ppt/notesSlides/notesSlide7.xml" Id="R2788e64e50f84c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8e513305a426d" /><Relationship Type="http://schemas.openxmlformats.org/officeDocument/2006/relationships/notesSlide" Target="/ppt/notesSlides/notesSlide8.xml" Id="R45710bcef4fe45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99e387c8e4759" /><Relationship Type="http://schemas.openxmlformats.org/officeDocument/2006/relationships/notesSlide" Target="/ppt/notesSlides/notesSlide9.xml" Id="R9afc52af488e4cd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e8b508c3a43cb" /><Relationship Type="http://schemas.openxmlformats.org/officeDocument/2006/relationships/notesSlide" Target="/ppt/notesSlides/notesSlide10.xml" Id="R0bf5b5f729b749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E88F9-4976-411E-8732-D45BE311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10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43047-00B1-4B7A-BB36-D272D2C9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66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FIRST FINANCE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B9B00-5773-4D90-9774-8BB7FE35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3296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Financial Documents and Chunking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F96F8-8EA3-4B69-A3AF-EBD5CBCD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3F3F4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F3F42"/>
                </a:solidFill>
                <a:latin typeface="Calibri"/>
                <a:ea typeface="Calibri"/>
                <a:cs typeface="Calibri"/>
              </a:rPr>
              <a:t>Preserve financial structure before retrieval begins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6E89B-2708-4600-B820-727EF660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77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SESSION 05  ·  13:30–15:00  ·  20 MIN CONCEPTS + 70 MIN NOTEBOOK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831D6-7D46-4F1A-929F-D2CAD97F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67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</p:spTree>
    <p:extLst>
      <p:ext uri="{BB962C8B-B14F-4D97-AF65-F5344CB8AC3E}">
        <p14:creationId xmlns:p14="http://schemas.microsoft.com/office/powerpoint/2010/main" val="13162291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BCA988-6C06-40A1-95B7-5433476E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DOCUMENT REALITY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220EF-F793-4885-9AB8-00A0F9EA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Financial meaning is visual; extraction is often linear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00753-F858-4C36-BFB0-3B1A4C12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VISIBLE REPORT</a:t>
            </a:r>
          </a:p>
        </p:txBody>
      </p:sp>
      <p:sp>
        <p:nvSpPr>
          <p:cNvPr id="4" name="visual-table">
            <a:extLst xmlns:a="http://schemas.openxmlformats.org/drawingml/2006/main">
              <a:ext uri="{FF2B5EF4-FFF2-40B4-BE49-F238E27FC236}">
                <a16:creationId xmlns:a16="http://schemas.microsoft.com/office/drawing/2014/main" id="{576683D8-E775-42D1-AF4F-2E325721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581025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2ADA4-F920-4232-9DA2-D9793FAD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86100"/>
            <a:ext cx="200025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8F6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F9963-0F9F-4886-AB57-EF4C2E67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813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Metric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D9C1E-00D7-4159-B73B-01D34D7F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86100"/>
            <a:ext cx="146685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8F6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7DFBB9-A001-4B0E-AA71-86682FCE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8135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FY2025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D21544-212A-4A0D-B9F7-FCC0D1BF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86100"/>
            <a:ext cx="169545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8F6F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B4578-E8A6-43AE-A2C2-CEA0324C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8135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D04ECC-09F8-456C-879E-7691A5B3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33800"/>
            <a:ext cx="2000250" cy="6286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F2230-F0C0-4DBC-BB47-7BADFC8C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3857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Revenue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54DA14-31F7-4D96-B8DD-9152DF44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733800"/>
            <a:ext cx="1466850" cy="6286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4648FD-7DFC-4761-A04A-3AC1852B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38575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EUR 40.2bn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1CF715-7C9A-4BB8-BE5A-15D7CE05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33800"/>
            <a:ext cx="1695450" cy="6286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86DE64-6FD8-4C5C-BD04-C629704B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38575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+8.9%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FD23F7-5A32-49C6-A602-C4B97B29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19600"/>
            <a:ext cx="2000250" cy="6286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34CF0D-0658-422B-8F55-E98FD0DD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2437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Energy Management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35550F-4912-4A3E-9B6B-EEFB53BC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19600"/>
            <a:ext cx="1466850" cy="6286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145470-037A-4684-9A06-4900C017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524375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n/a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25294A-6942-4B54-BB28-F9F69395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19600"/>
            <a:ext cx="1695450" cy="6286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A1BB70-EBAC-4335-A161-4048795C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524375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+10%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126131-F324-4F38-9DC5-28160EE0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05400"/>
            <a:ext cx="2000250" cy="6286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1E636A-B914-45BB-B915-95E27AB8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10175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Adjusted EBITA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C2AAD8-6A48-44A3-AC4D-F49A66D8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05400"/>
            <a:ext cx="1466850" cy="6286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4B5C18-A48F-4308-B6AF-C5700495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210175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EUR 7.5bn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1C5F41-C037-43ED-84EF-03C95B70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105400"/>
            <a:ext cx="1695450" cy="6286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7AA279-8140-4E49-8397-71EAC9AB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210175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18.7% margin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32E82F-D354-4D7C-A51F-92A2FFCB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241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LINEAR EXTRACTION</a:t>
            </a:r>
          </a:p>
        </p:txBody>
      </p:sp>
      <p:sp>
        <p:nvSpPr>
          <p:cNvPr id="30" name="linear-extraction">
            <a:extLst xmlns:a="http://schemas.openxmlformats.org/drawingml/2006/main">
              <a:ext uri="{FF2B5EF4-FFF2-40B4-BE49-F238E27FC236}">
                <a16:creationId xmlns:a16="http://schemas.microsoft.com/office/drawing/2014/main" id="{75B44080-439E-4C1F-A927-6A91849F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6191250" cy="339090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7DDF09-1C11-42D5-A08A-DD90C590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861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9A9A9F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9A9A9F"/>
                </a:solidFill>
                <a:latin typeface="Courier New"/>
                <a:ea typeface="Courier New"/>
                <a:cs typeface="Courier New"/>
              </a:rPr>
              <a:t>01   Metric  FY2025  Change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BC6E23-1957-45C2-BA6E-182A43E6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957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051C2A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051C2A"/>
                </a:solidFill>
                <a:latin typeface="Courier New"/>
                <a:ea typeface="Courier New"/>
                <a:cs typeface="Courier New"/>
              </a:rPr>
              <a:t>02   Revenue  EUR 40.2bn  +8.9%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FF888A-B6BD-4B0D-B35F-4BA13A75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053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051C2A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051C2A"/>
                </a:solidFill>
                <a:latin typeface="Courier New"/>
                <a:ea typeface="Courier New"/>
                <a:cs typeface="Courier New"/>
              </a:rPr>
              <a:t>03   Energy Management  n/a  +10%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F68206-AE2E-4173-851F-1D227300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149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051C2A"/>
                </a:solidFill>
                <a:latin typeface="Courier New"/>
                <a:ea typeface="Courier New"/>
                <a:cs typeface="Courier New"/>
              </a:defRPr>
            </a:pPr>
            <a:r>
              <a:rPr sz="1500" b="0">
                <a:solidFill>
                  <a:srgbClr val="051C2A"/>
                </a:solidFill>
                <a:latin typeface="Courier New"/>
                <a:ea typeface="Courier New"/>
                <a:cs typeface="Courier New"/>
              </a:rPr>
              <a:t>04   Adjusted EBITA  EUR 7.5bn  18.7% margin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466999-AD2B-49AF-92B7-D9F10BF0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562600"/>
            <a:ext cx="53911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07D0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BB5EBA-22FE-4A53-8C95-1FBCD1E4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619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Reading order alone does not encode row/column meaning.</a:t>
            </a:r>
          </a:p>
        </p:txBody>
      </p:sp>
      <p:cxnSp>
        <p:nvCxnSpPr>
          <p:cNvPr id="265" name=""/>
          <p:cNvCxnSpPr>
            <a:stCxn xmlns:a="http://schemas.openxmlformats.org/drawingml/2006/main" id="4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6838950" y="4476750"/>
            <a:ext cx="1085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7D00"/>
            </a:solidFill>
            <a:prstDash val="solid"/>
            <a:tailEnd type="triangle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E4703D-968A-4547-808B-57EAE1A7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743700"/>
            <a:ext cx="981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 number is safe evidence only when its label, period, unit and source survive.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6BDCF8-E19E-4D00-B4A6-FD186D59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68A547-99A7-4B66-B03E-114ACDE6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33FA4D-F333-4493-8FD8-2DCBFF53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A43FBC-B53A-499B-B471-A27C41B2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DOCUMENT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23C330-5541-469E-92DE-FFB55F914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684575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EAFBC5-0120-406B-9113-A189734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PARSER LADDER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8E1BA-062C-4D13-89C4-9762E55D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Verify extraction quality before choosing chunk boundaries</a:t>
            </a:r>
          </a:p>
        </p:txBody>
      </p:sp>
      <p:sp>
        <p:nvSpPr>
          <p:cNvPr id="3" name="ingestion-1">
            <a:extLst xmlns:a="http://schemas.openxmlformats.org/drawingml/2006/main">
              <a:ext uri="{FF2B5EF4-FFF2-40B4-BE49-F238E27FC236}">
                <a16:creationId xmlns:a16="http://schemas.microsoft.com/office/drawing/2014/main" id="{EF5CEA91-0836-4E99-95C1-43A271A1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63ADC-FDBA-49AB-AB53-62FA2910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1AD73-F995-4369-A266-8FA41354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Raw source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A7F72B-07B6-4BF4-A3F9-5860F8AC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HTML · PDF</a:t>
            </a:r>
          </a:p>
        </p:txBody>
      </p:sp>
      <p:sp>
        <p:nvSpPr>
          <p:cNvPr id="7" name="ingestion-2">
            <a:extLst xmlns:a="http://schemas.openxmlformats.org/drawingml/2006/main">
              <a:ext uri="{FF2B5EF4-FFF2-40B4-BE49-F238E27FC236}">
                <a16:creationId xmlns:a16="http://schemas.microsoft.com/office/drawing/2014/main" id="{B39DEECB-E0D1-415A-8F2A-C8075A6D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79081-8A68-4B7E-9199-340CF957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95E54-44DC-4092-9EB7-0C81E4B4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Text extraction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65E8E-6BA9-40DB-99F9-46D3397B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characters · words · lines</a:t>
            </a:r>
          </a:p>
        </p:txBody>
      </p:sp>
      <p:sp>
        <p:nvSpPr>
          <p:cNvPr id="11" name="ingestion-3">
            <a:extLst xmlns:a="http://schemas.openxmlformats.org/drawingml/2006/main">
              <a:ext uri="{FF2B5EF4-FFF2-40B4-BE49-F238E27FC236}">
                <a16:creationId xmlns:a16="http://schemas.microsoft.com/office/drawing/2014/main" id="{D4342A97-3791-461F-A305-9671DA49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49A95-2D88-4387-8BD5-FA749ABD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D3874-F985-4CD0-BBFF-D59F5B7B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Layout recovery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9AF29-91DE-47C0-8189-B0778BB5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tables · headings · order</a:t>
            </a:r>
          </a:p>
        </p:txBody>
      </p:sp>
      <p:sp>
        <p:nvSpPr>
          <p:cNvPr id="15" name="ingestion-4">
            <a:extLst xmlns:a="http://schemas.openxmlformats.org/drawingml/2006/main">
              <a:ext uri="{FF2B5EF4-FFF2-40B4-BE49-F238E27FC236}">
                <a16:creationId xmlns:a16="http://schemas.microsoft.com/office/drawing/2014/main" id="{7952DE37-BD86-481C-A575-8709971D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EC2EC9-18A1-4F72-A64D-AF536DDC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0FD5A-1C0F-4BE1-B862-685F20D0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DocumentBlock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52B70-645C-40F7-B0DE-1D1D1778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text · structure · provenance</a:t>
            </a:r>
          </a:p>
        </p:txBody>
      </p:sp>
      <p:sp>
        <p:nvSpPr>
          <p:cNvPr id="19" name="ingestion-5">
            <a:extLst xmlns:a="http://schemas.openxmlformats.org/drawingml/2006/main">
              <a:ext uri="{FF2B5EF4-FFF2-40B4-BE49-F238E27FC236}">
                <a16:creationId xmlns:a16="http://schemas.microsoft.com/office/drawing/2014/main" id="{43F7E1B1-E237-4A79-B0C4-38965CF3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086100"/>
            <a:ext cx="2247900" cy="2266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7D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764D39-05B0-4F08-BC2B-2221BE2F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32956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4CBB5-9FF7-4C7B-8D8C-5AA3541D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752850"/>
            <a:ext cx="2019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Quality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6B515-B8BF-4B9C-8D6B-EC909D2B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610100"/>
            <a:ext cx="1866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visual checks · integrity</a:t>
            </a:r>
          </a:p>
        </p:txBody>
      </p:sp>
      <p:cxnSp>
        <p:nvCxnSpPr>
          <p:cNvPr id="187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385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188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0579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189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8773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190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1696700" y="42195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9A9A9F"/>
            </a:solidFill>
            <a:prstDash val="solid"/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128475-820B-447C-A724-7D8A3132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103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Chunking begins only after extraction, layout and provenance pass.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5F2AAD-81FC-436A-88F7-89F49C9F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68389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Extraction recovers document signals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E04AD7-6CBE-4792-B549-765578FB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838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Quality gate protects evidence units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CBA7AE-993C-4F84-A696-8D1323A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97BF4D-EDBC-4480-A82B-512A7222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281B64-2F0F-4357-A085-C65451F2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A325A4-7EC6-42CE-A13A-4B38A32D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PIPELINE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7FB65A-4A0D-4595-92F4-FD9B7163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695107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3EFE36-F0E5-4A34-9303-2F261E07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CANONICAL BLOCK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2B6B0-9CAB-42A6-9CDA-FDF3A13D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Provenance must survive every transformation</a:t>
            </a:r>
          </a:p>
        </p:txBody>
      </p:sp>
      <p:sp>
        <p:nvSpPr>
          <p:cNvPr id="3" name="canonical-block">
            <a:extLst xmlns:a="http://schemas.openxmlformats.org/drawingml/2006/main">
              <a:ext uri="{FF2B5EF4-FFF2-40B4-BE49-F238E27FC236}">
                <a16:creationId xmlns:a16="http://schemas.microsoft.com/office/drawing/2014/main" id="{02D02DA8-4C0F-400F-BD3D-E5C1B80C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19400"/>
            <a:ext cx="461010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094F27-A4E9-43D6-91FC-255B527D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24200"/>
            <a:ext cx="3733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DocumentBlock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840549-C1BA-4343-8D7C-0F20981F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90950"/>
            <a:ext cx="3733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0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SU-2025-FY-EXCERPT-B004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ED5F6-048D-47C9-84A8-2C0DBB8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362450"/>
            <a:ext cx="369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48304-EC73-4226-BDEE-2B1DF0C7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91050"/>
            <a:ext cx="3543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TABLE · PAGE 2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Metric | FY2025 | Change</a:t>
            </a:r>
          </a:p>
        </p:txBody>
      </p:sp>
      <p:sp>
        <p:nvSpPr>
          <p:cNvPr id="8" name="left-field-0">
            <a:extLst xmlns:a="http://schemas.openxmlformats.org/drawingml/2006/main">
              <a:ext uri="{FF2B5EF4-FFF2-40B4-BE49-F238E27FC236}">
                <a16:creationId xmlns:a16="http://schemas.microsoft.com/office/drawing/2014/main" id="{720AE8BF-AA92-49DE-8E2A-99C0FB63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3238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ACEB0-7877-4121-958A-EABE3281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384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77E674-7E6C-4E95-A44F-3D0874CD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2420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company · document · URL</a:t>
            </a:r>
          </a:p>
        </p:txBody>
      </p:sp>
      <p:sp>
        <p:nvSpPr>
          <p:cNvPr id="11" name="left-field-1">
            <a:extLst xmlns:a="http://schemas.openxmlformats.org/drawingml/2006/main">
              <a:ext uri="{FF2B5EF4-FFF2-40B4-BE49-F238E27FC236}">
                <a16:creationId xmlns:a16="http://schemas.microsoft.com/office/drawing/2014/main" id="{EB85D765-CD85-4A47-9B4D-BE4F254E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3238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C1F3D-0AC2-4377-B5F6-24B12E25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386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LOCATION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3BE42-D27D-4E49-97D3-2DA03AC8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243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ordinal · page · section path</a:t>
            </a:r>
          </a:p>
        </p:txBody>
      </p:sp>
      <p:sp>
        <p:nvSpPr>
          <p:cNvPr id="14" name="left-field-2">
            <a:extLst xmlns:a="http://schemas.openxmlformats.org/drawingml/2006/main">
              <a:ext uri="{FF2B5EF4-FFF2-40B4-BE49-F238E27FC236}">
                <a16:creationId xmlns:a16="http://schemas.microsoft.com/office/drawing/2014/main" id="{D38A806E-0157-47C3-A918-4210A4D0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24450"/>
            <a:ext cx="3238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83342E-199A-44AF-A318-336CAE10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387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B5DA57-E61B-4C94-B0C3-378EC5FE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heading · paragraph · table</a:t>
            </a:r>
          </a:p>
        </p:txBody>
      </p:sp>
      <p:sp>
        <p:nvSpPr>
          <p:cNvPr id="17" name="right-field-0">
            <a:extLst xmlns:a="http://schemas.openxmlformats.org/drawingml/2006/main">
              <a:ext uri="{FF2B5EF4-FFF2-40B4-BE49-F238E27FC236}">
                <a16:creationId xmlns:a16="http://schemas.microsoft.com/office/drawing/2014/main" id="{ED066AEE-EA4B-4DB1-B7D7-DA862330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724150"/>
            <a:ext cx="3238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072D8D-E329-4E1A-A744-1D6F1EA5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28384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CONTENT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0576CD-3A76-4FED-92A9-5CC11BA9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12420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normalized text · table rows</a:t>
            </a:r>
          </a:p>
        </p:txBody>
      </p:sp>
      <p:sp>
        <p:nvSpPr>
          <p:cNvPr id="20" name="right-field-1">
            <a:extLst xmlns:a="http://schemas.openxmlformats.org/drawingml/2006/main">
              <a:ext uri="{FF2B5EF4-FFF2-40B4-BE49-F238E27FC236}">
                <a16:creationId xmlns:a16="http://schemas.microsoft.com/office/drawing/2014/main" id="{13EC72A3-15F5-4C75-A76D-0D6BA5AA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924300"/>
            <a:ext cx="3238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C9EE2B-9704-4AB7-AB65-DBB12C98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0386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PERIOD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B680EC-1257-4D06-9C48-5CABC3AD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432435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FY2025 · language · units</a:t>
            </a:r>
          </a:p>
        </p:txBody>
      </p:sp>
      <p:sp>
        <p:nvSpPr>
          <p:cNvPr id="23" name="right-field-2">
            <a:extLst xmlns:a="http://schemas.openxmlformats.org/drawingml/2006/main">
              <a:ext uri="{FF2B5EF4-FFF2-40B4-BE49-F238E27FC236}">
                <a16:creationId xmlns:a16="http://schemas.microsoft.com/office/drawing/2014/main" id="{A0E0710B-A185-4D6C-B16D-6B16D9A9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5124450"/>
            <a:ext cx="3238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678660-B347-4DEE-AD4B-E62AD2E0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2387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IDENTITY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137DBE-0373-4B7D-89B2-62CEDDD2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524500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stable source + block IDs</a:t>
            </a:r>
          </a:p>
        </p:txBody>
      </p:sp>
      <p:cxnSp>
        <p:nvCxnSpPr>
          <p:cNvPr id="218" name=""/>
          <p:cNvCxnSpPr>
            <a:stCxn xmlns:a="http://schemas.openxmlformats.org/drawingml/2006/main" id="8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267200" y="3171825"/>
            <a:ext cx="104775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219" name=""/>
          <p:cNvCxnSpPr>
            <a:stCxn xmlns:a="http://schemas.openxmlformats.org/drawingml/2006/main" id="11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267200" y="43719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220" name=""/>
          <p:cNvCxnSpPr>
            <a:stCxn xmlns:a="http://schemas.openxmlformats.org/drawingml/2006/main" id="14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 flipV="1">
            <a:off x="4267200" y="4371975"/>
            <a:ext cx="104775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9A9F"/>
            </a:solidFill>
            <a:prstDash val="solid"/>
            <a:tailEnd type="triangle" w="med" len="med"/>
          </a:ln>
        </p:spPr>
      </p:cxnSp>
      <p:cxnSp>
        <p:nvCxnSpPr>
          <p:cNvPr id="221" name=""/>
          <p:cNvCxnSpPr>
            <a:stCxn xmlns:a="http://schemas.openxmlformats.org/drawingml/2006/main" id="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9925050" y="3171825"/>
            <a:ext cx="104775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9A9F"/>
            </a:solidFill>
            <a:prstDash val="solid"/>
            <a:tailEnd type="triangle" w="sm" len="sm"/>
          </a:ln>
        </p:spPr>
      </p:cxnSp>
      <p:cxnSp>
        <p:nvCxnSpPr>
          <p:cNvPr id="222" name=""/>
          <p:cNvCxnSpPr>
            <a:stCxn xmlns:a="http://schemas.openxmlformats.org/drawingml/2006/main" id="3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925050" y="43719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9A9F"/>
            </a:solidFill>
            <a:prstDash val="solid"/>
            <a:tailEnd type="triangle" w="sm" len="sm"/>
          </a:ln>
        </p:spPr>
      </p:cxnSp>
      <p:cxnSp>
        <p:nvCxnSpPr>
          <p:cNvPr id="223" name=""/>
          <p:cNvCxnSpPr>
            <a:stCxn xmlns:a="http://schemas.openxmlformats.org/drawingml/2006/main" id="3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925050" y="4371975"/>
            <a:ext cx="104775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9A9F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75D1AF-F6AB-4A2D-841A-C9B511F5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705600"/>
            <a:ext cx="10553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If provenance is absent here, citations and metadata filters cannot recover it safely later.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7CAB67-18B2-45B8-A6D3-DDBE5255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AE100F-4D6F-45A8-A34A-47F11D77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579015-04F7-4D6F-9134-8D10D8D7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9C90B6-36DC-4661-AB68-C1D6A4EE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PROVENANCE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479DD1-2C8A-40B6-A3D0-33950CA5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241625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F4BAA6-B729-496F-9507-674DB342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CORE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C2DCA-6A55-434D-995F-2D0AB278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The same evidence changes shape under each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8B752-5838-4084-A09E-2C38B9D5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FIXED · 90 chars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53B89-6D78-4803-9B7F-A0162294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43200"/>
            <a:ext cx="2381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FC0D2-12CA-4723-B1F4-C8F21C5F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384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Heading + revenue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AAB83-2BB1-4A7A-84F9-1F2BE14A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2000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7D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0ED07-2E49-4E7A-9CBF-23CD3B8C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384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Center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A5E176-BCBA-4C49-9196-B98EF7C5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43200"/>
            <a:ext cx="16764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2C752-A7F9-4B50-9D20-A71CEAD8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384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Gaming | USD 16.0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9A56C-9DB1-49FF-8E87-2C6B8DB8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43200"/>
            <a:ext cx="10668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07D0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4F50D-12C3-4331-801A-91C1EC1A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38450"/>
            <a:ext cx="876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bn | 41%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D2954-A4C1-482E-AAB1-42DAC0BB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8003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can split anywhere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22776-3C69-478E-8B1D-4E859ACC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672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RECURSIVE · 180 chars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0E4D2-1B72-432A-AD48-61D3EF9BC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10050"/>
            <a:ext cx="3143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905A1-C4D3-46AB-A516-DCFB88A0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3053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Revenue sentence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2240E6-0102-4064-B038-AB12EDED6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10050"/>
            <a:ext cx="29527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BA82F-0F85-40C1-9BE1-6E7847AE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0530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Center sentence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7C7D4-5A09-43DC-B381-56DF305B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10050"/>
            <a:ext cx="20002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2F20F1-CF35-4789-AC4A-62229AB1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3053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Gaming row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8CD3E4-48E0-4421-8A8E-9A03948E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2672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prefers text boundaries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8DF2BD-542C-4821-AB60-F914C2D7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34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STRUCTURE-AWARE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1C47B-0B67-4AFB-8BDC-2F9D29D0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76900"/>
            <a:ext cx="33147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F40C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2F7603-BBFF-4854-9F2D-F8FF1E3B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772150"/>
            <a:ext cx="312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Revenue paragraph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8F6C86-F0E1-4812-B3DD-797EA0ED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676900"/>
            <a:ext cx="478155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E8B5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A6A990-C3AB-4ED0-A029-B6138AA5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72150"/>
            <a:ext cx="459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COMPLETE TABLE · headers + rows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845B58-81DD-48AA-9B5B-C9CA27F8A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734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69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protects document meaning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021015-2BDE-427C-B7E6-89D40DC7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2857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1760BB-B653-4A2F-A39B-D370FC39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38950"/>
            <a:ext cx="131635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07D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73608-CD25-41CB-8836-D0C27AC5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6934200"/>
            <a:ext cx="1247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Chunk size is an optimization parameter. Table and provenance integrity are constraints.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E0B34D-9DCB-48D8-8070-C30B3364E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FB9970-6C67-40D6-AFF0-F0FE598E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03E1FB-8ACB-4423-AB2C-92A3E103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7028D7-2EEC-4312-806B-59F42D9F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BOUNDARIES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34563E-9E00-41F4-886E-137032B6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261414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B9499D-57E3-4A1D-8EC6-611BB041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SEMANTIC + CONTEXTUAL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95CF57-625B-488E-BEB2-B69B4A40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86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Embedding boundaries, hierarchy and context solve different failures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47AA7-B631-41FD-ABBE-E3FFFB37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EMBEDDING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257D7-8A5E-4ED5-99FB-9BEA2CD5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1028700" cy="41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0CB"/>
          </a:solidFill>
          <a:ln xmlns:a="http://schemas.openxmlformats.org/drawingml/2006/main" w="0">
            <a:solidFill>
              <a:srgbClr val="1F40C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8125A-6117-4802-BDED-1521C83E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05150"/>
            <a:ext cx="1028700" cy="592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0CB"/>
          </a:solidFill>
          <a:ln xmlns:a="http://schemas.openxmlformats.org/drawingml/2006/main" w="0">
            <a:solidFill>
              <a:srgbClr val="1F40C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50A16-6CE2-41AD-9C68-31BCF4A3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05150"/>
            <a:ext cx="1028700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0CB"/>
          </a:solidFill>
          <a:ln xmlns:a="http://schemas.openxmlformats.org/drawingml/2006/main" w="0">
            <a:solidFill>
              <a:srgbClr val="1F40C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9E3D30-9339-457F-B7CD-A0EA27BB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8E3BE-28EF-40CE-8891-51278C59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076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01DE89-BF1D-4E47-A0E5-E2BD6B90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BE587B-C753-4E2B-8104-881E1547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152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9151E-D420-4D59-85E7-111FD86A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81450"/>
            <a:ext cx="3562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7D00"/>
          </a:solidFill>
          <a:ln xmlns:a="http://schemas.openxmlformats.org/drawingml/2006/main" w="0">
            <a:solidFill>
              <a:srgbClr val="F07D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6E1099-8F96-4D4A-A076-9A2E9069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38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model + threshold →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498DFA-9E2C-4070-94C7-94B63062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PARENT–CHILD</a:t>
            </a:r>
          </a:p>
        </p:txBody>
      </p:sp>
      <p:sp>
        <p:nvSpPr>
          <p:cNvPr id="14" name="parent-section">
            <a:extLst xmlns:a="http://schemas.openxmlformats.org/drawingml/2006/main">
              <a:ext uri="{FF2B5EF4-FFF2-40B4-BE49-F238E27FC236}">
                <a16:creationId xmlns:a16="http://schemas.microsoft.com/office/drawing/2014/main" id="{7E782CAC-BF7C-46FC-866C-E3E89506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09900"/>
            <a:ext cx="27241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A1344-7C73-4F1F-9D24-59FEB65C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PARENT SECTION</a:t>
            </a:r>
          </a:p>
        </p:txBody>
      </p:sp>
      <p:sp>
        <p:nvSpPr>
          <p:cNvPr id="16" name="child-0">
            <a:extLst xmlns:a="http://schemas.openxmlformats.org/drawingml/2006/main">
              <a:ext uri="{FF2B5EF4-FFF2-40B4-BE49-F238E27FC236}">
                <a16:creationId xmlns:a16="http://schemas.microsoft.com/office/drawing/2014/main" id="{49FF913A-8883-45CD-B244-354955AC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476750"/>
            <a:ext cx="12192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2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3589B9-91C1-4446-A372-5FFFE4BD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6291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CHILD 1</a:t>
            </a:r>
          </a:p>
        </p:txBody>
      </p:sp>
      <p:sp>
        <p:nvSpPr>
          <p:cNvPr id="18" name="child-1">
            <a:extLst xmlns:a="http://schemas.openxmlformats.org/drawingml/2006/main">
              <a:ext uri="{FF2B5EF4-FFF2-40B4-BE49-F238E27FC236}">
                <a16:creationId xmlns:a16="http://schemas.microsoft.com/office/drawing/2014/main" id="{7ADCF829-81FB-4C43-A5F1-10A73F9F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76750"/>
            <a:ext cx="12192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2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4D7249-C284-46C6-A639-E3A0E60C6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291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CHILD 2</a:t>
            </a:r>
          </a:p>
        </p:txBody>
      </p:sp>
      <p:sp>
        <p:nvSpPr>
          <p:cNvPr id="20" name="child-2">
            <a:extLst xmlns:a="http://schemas.openxmlformats.org/drawingml/2006/main">
              <a:ext uri="{FF2B5EF4-FFF2-40B4-BE49-F238E27FC236}">
                <a16:creationId xmlns:a16="http://schemas.microsoft.com/office/drawing/2014/main" id="{D221F047-9582-4D03-9D8B-65910E5A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476750"/>
            <a:ext cx="12192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2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E71631-E8CD-4C8E-83BE-21A31097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6291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CHILD 3</a:t>
            </a:r>
          </a:p>
        </p:txBody>
      </p:sp>
      <p:cxnSp>
        <p:nvCxnSpPr>
          <p:cNvPr id="182" name=""/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6400800" y="3714750"/>
            <a:ext cx="1228725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2EB"/>
            </a:solidFill>
            <a:prstDash val="solid"/>
            <a:tailEnd type="triangle" w="sm" len="sm"/>
          </a:ln>
        </p:spPr>
      </p:cxnSp>
      <p:cxnSp>
        <p:nvCxnSpPr>
          <p:cNvPr id="183" name=""/>
          <p:cNvCxnSpPr>
            <a:stCxn xmlns:a="http://schemas.openxmlformats.org/drawingml/2006/main" id="14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7629525" y="3714750"/>
            <a:ext cx="238125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2EB"/>
            </a:solidFill>
            <a:prstDash val="solid"/>
            <a:tailEnd type="triangle" w="sm" len="sm"/>
          </a:ln>
        </p:spPr>
      </p:cxnSp>
      <p:cxnSp>
        <p:nvCxnSpPr>
          <p:cNvPr id="184" name=""/>
          <p:cNvCxnSpPr>
            <a:stCxn xmlns:a="http://schemas.openxmlformats.org/drawingml/2006/main" id="14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7629525" y="3714750"/>
            <a:ext cx="1704975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A2EB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59A2EB-91A2-485C-8769-4414CA087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24500"/>
            <a:ext cx="403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retrieve small · expand verified parent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1A9A77-C203-4FF0-B40D-A9FCCEC0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4384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RAW + GENERATED CONTEXT</a:t>
            </a:r>
          </a:p>
        </p:txBody>
      </p:sp>
      <p:sp>
        <p:nvSpPr>
          <p:cNvPr id="27" name="context-prefix">
            <a:extLst xmlns:a="http://schemas.openxmlformats.org/drawingml/2006/main">
              <a:ext uri="{FF2B5EF4-FFF2-40B4-BE49-F238E27FC236}">
                <a16:creationId xmlns:a16="http://schemas.microsoft.com/office/drawing/2014/main" id="{394DF3A4-55D3-49A5-B189-7898A8E7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009900"/>
            <a:ext cx="34099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8F6F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481E31-07AB-413F-A9BC-2CCE1BE4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16230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RAW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40ED50-2261-4CBA-A9F0-AC58EB91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48615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NVIDIA FY2026 · stable source text</a:t>
            </a:r>
          </a:p>
        </p:txBody>
      </p:sp>
      <p:sp>
        <p:nvSpPr>
          <p:cNvPr id="30" name="proposition">
            <a:extLst xmlns:a="http://schemas.openxmlformats.org/drawingml/2006/main">
              <a:ext uri="{FF2B5EF4-FFF2-40B4-BE49-F238E27FC236}">
                <a16:creationId xmlns:a16="http://schemas.microsoft.com/office/drawing/2014/main" id="{72273FB0-E051-4A9D-ACF9-E2567C1D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343400"/>
            <a:ext cx="34099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9525">
            <a:solidFill>
              <a:srgbClr val="F07D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B58602-B779-49B2-B2C2-E7F6692D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4767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GENERATED CONTEXT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15A273-EB10-4B84-9D74-5A6A52A5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006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Fiscal 2026 revenue context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+ raw evidence at retrieval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41F16E-B897-4CFF-BC22-D4ACA3F5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772150"/>
            <a:ext cx="3409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offline: 1.37× tokens · latency · retrieval gain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BEFBEB-C8FB-4ACA-94DB-124FCEC5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705600"/>
            <a:ext cx="107061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F55544-8A98-45CD-8540-D0A1E30F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8199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Generated context augments raw_text; preserve IDs, pages and provenance.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F8A41E-A99D-409D-84BE-F33131D1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956031-4C7C-48C0-AB87-5A7D7BA6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3A278E-A894-4D27-A6F3-22DC6B6D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8798E0-FBD0-46BF-A594-53A0061D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STRATEGIES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1CC3F1-A84C-4B1D-A2E0-A25EF0E9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570352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521A64-93BB-447D-87E9-41FC1E86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FAILURE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93F9E-8AD7-4755-853A-CFF63AED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 retrievable number can still be analytically unsafe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302C1-E6C0-49C0-9FA8-BA7896D6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FIXED WINDOWS</a:t>
            </a:r>
          </a:p>
        </p:txBody>
      </p:sp>
      <p:sp>
        <p:nvSpPr>
          <p:cNvPr id="4" name="fixed-one">
            <a:extLst xmlns:a="http://schemas.openxmlformats.org/drawingml/2006/main">
              <a:ext uri="{FF2B5EF4-FFF2-40B4-BE49-F238E27FC236}">
                <a16:creationId xmlns:a16="http://schemas.microsoft.com/office/drawing/2014/main" id="{40C15356-6CC0-4340-AD48-214BA676B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53340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19050">
            <a:solidFill>
              <a:srgbClr val="F07D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2FFA5-77A1-442E-984F-08CF9D90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52750"/>
            <a:ext cx="4838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051C2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051C2A"/>
                </a:solidFill>
                <a:latin typeface="Courier New"/>
                <a:ea typeface="Courier New"/>
                <a:cs typeface="Courier New"/>
              </a:rPr>
              <a:t>F1  Business | Revenue | Growth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051C2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051C2A"/>
                </a:solidFill>
                <a:latin typeface="Courier New"/>
                <a:ea typeface="Courier New"/>
                <a:cs typeface="Courier New"/>
              </a:rPr>
              <a:t>Data Center | USD 193.7bn | 68%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051C2A"/>
                </a:solidFill>
                <a:latin typeface="Courier New"/>
                <a:ea typeface="Courier New"/>
                <a:cs typeface="Courier New"/>
              </a:defRPr>
            </a:pPr>
            <a:r>
              <a:rPr sz="1425" b="0">
                <a:solidFill>
                  <a:srgbClr val="051C2A"/>
                </a:solidFill>
                <a:latin typeface="Courier New"/>
                <a:ea typeface="Courier New"/>
                <a:cs typeface="Courier New"/>
              </a:rPr>
              <a:t>Gaming | USD 16.0</a:t>
            </a:r>
          </a:p>
        </p:txBody>
      </p:sp>
      <p:sp>
        <p:nvSpPr>
          <p:cNvPr id="6" name="fixed-two">
            <a:extLst xmlns:a="http://schemas.openxmlformats.org/drawingml/2006/main">
              <a:ext uri="{FF2B5EF4-FFF2-40B4-BE49-F238E27FC236}">
                <a16:creationId xmlns:a16="http://schemas.microsoft.com/office/drawing/2014/main" id="{AD30FCD2-C657-4E45-B1A1-6793E46E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24350"/>
            <a:ext cx="2857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1E5"/>
          </a:solidFill>
          <a:ln xmlns:a="http://schemas.openxmlformats.org/drawingml/2006/main" w="19050">
            <a:solidFill>
              <a:srgbClr val="F07D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EC4B2-CAE9-400F-B11D-2D4F3052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577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051C2A"/>
                </a:solidFill>
                <a:latin typeface="Courier New"/>
                <a:ea typeface="Courier New"/>
                <a:cs typeface="Courier New"/>
              </a:defRPr>
            </a:pPr>
            <a:r>
              <a:rPr sz="1500" b="1">
                <a:solidFill>
                  <a:srgbClr val="051C2A"/>
                </a:solidFill>
                <a:latin typeface="Courier New"/>
                <a:ea typeface="Courier New"/>
                <a:cs typeface="Courier New"/>
              </a:rPr>
              <a:t>F2  bn | 41%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46D44-14BC-44D4-9667-69FFDFBE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768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4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Boundary separates Gaming value from its complete 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6CDE7-35E6-4C8C-A738-6BACCF9A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43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STRUCTURE-AWARE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A6E03-2E74-4AA0-BC40-D36976B5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215265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8F7E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18B6A-26EA-404D-8004-B4AEFB1A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05125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Business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7E5910-AC18-40D2-B2F3-6FC1F08D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00350"/>
            <a:ext cx="196215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8F7E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DBD99-75A2-4F76-80D2-886026B3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05125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Revenue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461F5A-F082-42F4-BA7B-33237B01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2800350"/>
            <a:ext cx="2571750" cy="6096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E8F7E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A70624-C8CA-468D-98D9-37807488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2905125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Year-on-year growth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3A85A-2DFF-4A0D-A0C0-99283CEF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21526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84354-1A30-417B-8AE7-ECA5F6B0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235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Data Center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B55295-3DA8-457F-83F0-53BB6A03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48050"/>
            <a:ext cx="19621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696DF8-2386-42C4-91BD-18AC99A2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62350"/>
            <a:ext cx="1733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USD 193.7bn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39A1A9-4564-4056-8CDC-CEDB497A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448050"/>
            <a:ext cx="25717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C725B4-5DC5-4222-B581-EB84BE90E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3562350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68%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160DDC-C4FB-4932-B81B-09341596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71950"/>
            <a:ext cx="21526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8C8390-620E-4337-B177-E20E16662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86250"/>
            <a:ext cx="1924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Gaming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123193-7BA4-459F-B618-D3AB37E4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171950"/>
            <a:ext cx="19621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A33689-B136-4C82-B577-8954D205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286250"/>
            <a:ext cx="1733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USD 16.0bn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49AE3A-93EC-4D6A-8CF3-2D01BDBD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4171950"/>
            <a:ext cx="2571750" cy="666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7FB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772D1E-8248-480D-BA11-3458C9BA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4286250"/>
            <a:ext cx="2343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4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41%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F86CEA-598B-4254-9CEF-1D77B357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24450"/>
            <a:ext cx="680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One chunk · complete row/column relationship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5E3BAB-E11C-4A7E-89F3-AB1868F4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62200"/>
            <a:ext cx="28575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233CBA-8C3B-4B18-A5D5-D4F7061F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531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MEASURED ON THE NOTEBOOK FIXTURES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EA1FB2-5ABC-4E19-B39E-FBEB026E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534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Fixed table integrity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EE73CC-AED7-4593-A08D-4913CB1D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8580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3BC68A-D5B2-4F89-AC7A-F4A6B122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534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Structured table integrity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38EEE4-AA29-40C4-BA3C-01E40A9D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8580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100%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5D4A6D-C246-49F7-9388-C795B5E0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534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Fixed retrieval@2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066664-5058-4CD5-A636-49C7B36A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8580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75%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483989-A3BC-4F4A-A656-ACD3BAC9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34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Structured retrieval@2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B3CFBA-FD87-4351-8C2A-CF0B6F60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8580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>
                <a:solidFill>
                  <a:srgbClr val="2E8B57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2E8B57"/>
                </a:solidFill>
                <a:latin typeface="Calibri"/>
                <a:ea typeface="Calibri"/>
                <a:cs typeface="Calibri"/>
              </a:rPr>
              <a:t>100%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46780A-5D65-4410-9457-661BBB6C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69519E-645C-4800-9FE8-656AB5D5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032C2C-E113-4AB5-9CC6-D6B41AED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DD0EC2-8E86-44C8-B8C1-3DB1E93C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FAILURE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07089F-BB21-465D-B53D-42746B7A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494443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84E1CF-DA64-4EFC-8528-B207517D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6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STRATEGY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DDB7F-E2AD-4762-B051-D3A0AC29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96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88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Escalate chunking complexity only when evaluation justifies it</a:t>
            </a:r>
          </a:p>
        </p:txBody>
      </p:sp>
      <p:sp>
        <p:nvSpPr>
          <p:cNvPr id="3" name="decision-source">
            <a:extLst xmlns:a="http://schemas.openxmlformats.org/drawingml/2006/main">
              <a:ext uri="{FF2B5EF4-FFF2-40B4-BE49-F238E27FC236}">
                <a16:creationId xmlns:a16="http://schemas.microsoft.com/office/drawing/2014/main" id="{F0F1628B-25FC-4A7D-9ACB-11ED4151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27241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DE4FD-810A-4BB6-A9E2-9D453E2B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81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STRUCTURE-AWARE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A52CC-262C-4723-8C2E-E4326274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57600"/>
            <a:ext cx="2190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172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tables + headings intact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default for filings</a:t>
            </a:r>
          </a:p>
        </p:txBody>
      </p:sp>
      <p:sp>
        <p:nvSpPr>
          <p:cNvPr id="6" name="decision-child">
            <a:extLst xmlns:a="http://schemas.openxmlformats.org/drawingml/2006/main">
              <a:ext uri="{FF2B5EF4-FFF2-40B4-BE49-F238E27FC236}">
                <a16:creationId xmlns:a16="http://schemas.microsoft.com/office/drawing/2014/main" id="{E359D7F5-9555-4867-8587-2F8EC525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57500"/>
            <a:ext cx="3257550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6FB"/>
          </a:solidFill>
          <a:ln xmlns:a="http://schemas.openxmlformats.org/drawingml/2006/main" w="19050">
            <a:solidFill>
              <a:srgbClr val="00A2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45E62-2BDC-4F11-8E8E-92ACD6B6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67050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SEMANTIC + HIERARCHICAL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2A998-C21C-458F-BEED-48651392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486150"/>
            <a:ext cx="264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5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embedding boundary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+ verified parent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A313B-A32E-4318-B50D-32C78656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26720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when matching is weak</a:t>
            </a:r>
          </a:p>
        </p:txBody>
      </p:sp>
      <p:sp>
        <p:nvSpPr>
          <p:cNvPr id="10" name="decision-parent">
            <a:extLst xmlns:a="http://schemas.openxmlformats.org/drawingml/2006/main">
              <a:ext uri="{FF2B5EF4-FFF2-40B4-BE49-F238E27FC236}">
                <a16:creationId xmlns:a16="http://schemas.microsoft.com/office/drawing/2014/main" id="{7E8CC043-3F7C-4B5E-B01A-E942C33D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90850"/>
            <a:ext cx="35433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62433"/>
          </a:solidFill>
          <a:ln xmlns:a="http://schemas.openxmlformats.org/drawingml/2006/main" w="9525">
            <a:solidFill>
              <a:srgbClr val="0624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5FD15-7156-4E52-87B2-404D6260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181350"/>
            <a:ext cx="2933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LLM CONTEXTUAL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EFAC4-B99C-4E5B-B744-4D0EEDB1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638550"/>
            <a:ext cx="2933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generated context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+ immutable raw_text</a:t>
            </a:r>
          </a:p>
        </p:txBody>
      </p:sp>
      <p:cxnSp>
        <p:nvCxnSpPr>
          <p:cNvPr id="110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752850" y="377190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7D00"/>
            </a:solidFill>
            <a:prstDash val="solid"/>
            <a:tailEnd type="triangle" w="med" len="med"/>
          </a:ln>
        </p:spPr>
      </p:cxnSp>
      <p:cxnSp>
        <p:nvCxnSpPr>
          <p:cNvPr id="111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420100" y="3771900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07D00"/>
            </a:solidFill>
            <a:prstDash val="solid"/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BEF3A-6A25-4B3F-8E60-6108148E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467350"/>
            <a:ext cx="12039600" cy="1123950"/>
          </a:xfrm>
          <a:prstGeom xmlns:a="http://schemas.openxmlformats.org/drawingml/2006/main" prst="roundRect">
            <a:avLst>
              <a:gd name="adj" fmla="val 84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7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E4947E-2E2C-4D5A-B088-DFED206E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638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NON-NEGOTIABLE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1A217F-7E45-4462-994A-E1A7947A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962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table integrity · provenance · stable IDs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74CAF0-D3F9-408B-B959-2864FA71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638800"/>
            <a:ext cx="285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C058E3-0326-4715-852F-1F8B32F6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638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MEASURE BEFORE ADDING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A9B25E-ADFB-4067-BF4C-46A5AE9F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9626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tokens · latency · recall · transformation 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AA4B4E-BD27-48A6-A4E1-ACF33C62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0866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NEXT · LESSON 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9B97AA-C4C9-4A8D-997E-C7AD0F31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991350"/>
            <a:ext cx="11410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Keep the chunks; improve candidate retrieval with embeddings, filters, fusion and reranking.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A8D079-E333-430B-9198-F3840FF4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1352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0">
            <a:solidFill>
              <a:srgbClr val="E4E7E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B1FA6E-7D19-4BD4-95AB-A7A96F2D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896225"/>
            <a:ext cx="800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21D69C-B05C-4F0B-A6BD-0B4E43C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0581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A9C6EC-5AC1-4AD4-9D79-D0462CD0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805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DECISION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0F561A-2997-41E1-8361-56739584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80581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1">
                <a:solidFill>
                  <a:srgbClr val="9A9A9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A9A9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635715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E88F9-4976-411E-8732-D45BE311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10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43047-00B1-4B7A-BB36-D272D2C9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66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FIRST FINANCE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B9B00-5773-4D90-9774-8BB7FE35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3296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Quick quiz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F96F8-8EA3-4B69-A3AF-EBD5CBCD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3F3F4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F3F42"/>
                </a:solidFill>
                <a:latin typeface="Calibri"/>
                <a:ea typeface="Calibri"/>
                <a:cs typeface="Calibri"/>
              </a:rPr>
              <a:t>Choose one answer for each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6E89B-2708-4600-B820-727EF660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77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LESSON 05  ·  3 QUESTIONS  ·  3 MINUTES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831D6-7D46-4F1A-929F-D2CAD97F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67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8" name="quiz-question-1">
            <a:extLst xmlns:a="http://schemas.openxmlformats.org/drawingml/2006/main">
              <a:ext uri="{FF2B5EF4-FFF2-40B4-BE49-F238E27FC236}">
                <a16:creationId xmlns:a16="http://schemas.microsoft.com/office/drawing/2014/main" id="{CCF312FD-5D18-44FB-9239-E2804709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2E"/>
                </a:solidFill>
              </a:defRPr>
            </a:pPr>
            <a:r>
              <a:rPr sz="1500" b="1">
                <a:solidFill>
                  <a:srgbClr val="001B2E"/>
                </a:solidFill>
              </a:rPr>
              <a:t>1. What should be checked before choosing chunks?</a:t>
            </a:r>
          </a:p>
        </p:txBody>
      </p:sp>
      <p:sp>
        <p:nvSpPr>
          <p:cNvPr id="9" name="quiz-options-1">
            <a:extLst xmlns:a="http://schemas.openxmlformats.org/drawingml/2006/main">
              <a:ext uri="{FF2B5EF4-FFF2-40B4-BE49-F238E27FC236}">
                <a16:creationId xmlns:a16="http://schemas.microsoft.com/office/drawing/2014/main" id="{91C20658-E792-40FF-9A7B-FCC6BB31F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  Extraction quality     |     B  Agent retries     |     C  Model price</a:t>
            </a:r>
          </a:p>
        </p:txBody>
      </p:sp>
      <p:sp>
        <p:nvSpPr>
          <p:cNvPr id="10" name="quiz-question-2">
            <a:extLst xmlns:a="http://schemas.openxmlformats.org/drawingml/2006/main">
              <a:ext uri="{FF2B5EF4-FFF2-40B4-BE49-F238E27FC236}">
                <a16:creationId xmlns:a16="http://schemas.microsoft.com/office/drawing/2014/main" id="{0E005EFD-4F28-450F-B187-742C4EB1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863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2E"/>
                </a:solidFill>
              </a:defRPr>
            </a:pPr>
            <a:r>
              <a:rPr sz="1500" b="1">
                <a:solidFill>
                  <a:srgbClr val="001B2E"/>
                </a:solidFill>
              </a:rPr>
              <a:t>2. What must survive every document transformation?</a:t>
            </a:r>
          </a:p>
        </p:txBody>
      </p:sp>
      <p:sp>
        <p:nvSpPr>
          <p:cNvPr id="11" name="quiz-options-2">
            <a:extLst xmlns:a="http://schemas.openxmlformats.org/drawingml/2006/main">
              <a:ext uri="{FF2B5EF4-FFF2-40B4-BE49-F238E27FC236}">
                <a16:creationId xmlns:a16="http://schemas.microsoft.com/office/drawing/2014/main" id="{D38B3ADE-4F6A-422E-A583-4D1F01F6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911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  Provenance     |     B  Font colour     |     C  Chat history</a:t>
            </a:r>
          </a:p>
        </p:txBody>
      </p:sp>
      <p:sp>
        <p:nvSpPr>
          <p:cNvPr id="12" name="quiz-question-3">
            <a:extLst xmlns:a="http://schemas.openxmlformats.org/drawingml/2006/main">
              <a:ext uri="{FF2B5EF4-FFF2-40B4-BE49-F238E27FC236}">
                <a16:creationId xmlns:a16="http://schemas.microsoft.com/office/drawing/2014/main" id="{C164F298-52DA-4C17-9E6C-5BE6F419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721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1B2E"/>
                </a:solidFill>
              </a:defRPr>
            </a:pPr>
            <a:r>
              <a:rPr sz="1500" b="1">
                <a:solidFill>
                  <a:srgbClr val="001B2E"/>
                </a:solidFill>
              </a:rPr>
              <a:t>3. What do hierarchical chunks separate?</a:t>
            </a:r>
          </a:p>
        </p:txBody>
      </p:sp>
      <p:sp>
        <p:nvSpPr>
          <p:cNvPr id="13" name="quiz-options-3">
            <a:extLst xmlns:a="http://schemas.openxmlformats.org/drawingml/2006/main">
              <a:ext uri="{FF2B5EF4-FFF2-40B4-BE49-F238E27FC236}">
                <a16:creationId xmlns:a16="http://schemas.microsoft.com/office/drawing/2014/main" id="{DF1DAFEC-C8CC-4C9F-967F-28860A39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0769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A  Retrieval and reading context     |     B  Users and roles     |     C  Models and APIs</a:t>
            </a:r>
          </a:p>
        </p:txBody>
      </p:sp>
    </p:spTree>
    <p:extLst>
      <p:ext uri="{BB962C8B-B14F-4D97-AF65-F5344CB8AC3E}">
        <p14:creationId xmlns:p14="http://schemas.microsoft.com/office/powerpoint/2010/main" val="13162291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E88F9-4976-411E-8732-D45BE311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10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0">
            <a:solidFill>
              <a:srgbClr val="00A2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43047-00B1-4B7A-BB36-D272D2C9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66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FIRST FINANCE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B9B00-5773-4D90-9774-8BB7FE35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62200"/>
            <a:ext cx="132969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48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Answers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F96F8-8EA3-4B69-A3AF-EBD5CBCD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123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3F3F42"/>
                </a:solidFill>
                <a:latin typeface="Calibri"/>
                <a:ea typeface="Calibri"/>
                <a:cs typeface="Calibri"/>
              </a:defRPr>
            </a:pPr>
            <a:r>
              <a:rPr sz="2400" b="0">
                <a:solidFill>
                  <a:srgbClr val="3F3F42"/>
                </a:solidFill>
                <a:latin typeface="Calibri"/>
                <a:ea typeface="Calibri"/>
                <a:cs typeface="Calibri"/>
              </a:rPr>
              <a:t>Check the idea, not only the letter.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A6E89B-2708-4600-B820-727EF660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477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LESSON 05  ·  CORRECTION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831D6-7D46-4F1A-929F-D2CAD97F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675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8" name="quiz-answer-1">
            <a:extLst xmlns:a="http://schemas.openxmlformats.org/drawingml/2006/main">
              <a:ext uri="{FF2B5EF4-FFF2-40B4-BE49-F238E27FC236}">
                <a16:creationId xmlns:a16="http://schemas.microsoft.com/office/drawing/2014/main" id="{DCC03A50-B4E0-4A33-8660-4303A3EB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40CB"/>
                </a:solidFill>
              </a:defRPr>
            </a:pPr>
            <a:r>
              <a:rPr sz="1500" b="1">
                <a:solidFill>
                  <a:srgbClr val="1F40CB"/>
                </a:solidFill>
              </a:rPr>
              <a:t>1. A. Extraction quality</a:t>
            </a:r>
          </a:p>
        </p:txBody>
      </p:sp>
      <p:sp>
        <p:nvSpPr>
          <p:cNvPr id="9" name="quiz-explanation-1">
            <a:extLst xmlns:a="http://schemas.openxmlformats.org/drawingml/2006/main">
              <a:ext uri="{FF2B5EF4-FFF2-40B4-BE49-F238E27FC236}">
                <a16:creationId xmlns:a16="http://schemas.microsoft.com/office/drawing/2014/main" id="{2E4A872E-CE1D-4F25-8FD3-C85259AC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Bad reading order or lost tables cannot be repaired by better chunk sizes.</a:t>
            </a:r>
          </a:p>
        </p:txBody>
      </p:sp>
      <p:sp>
        <p:nvSpPr>
          <p:cNvPr id="10" name="quiz-answer-2">
            <a:extLst xmlns:a="http://schemas.openxmlformats.org/drawingml/2006/main">
              <a:ext uri="{FF2B5EF4-FFF2-40B4-BE49-F238E27FC236}">
                <a16:creationId xmlns:a16="http://schemas.microsoft.com/office/drawing/2014/main" id="{8E7C3092-6CBB-4D43-838A-C4FBEE8C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863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40CB"/>
                </a:solidFill>
              </a:defRPr>
            </a:pPr>
            <a:r>
              <a:rPr sz="1500" b="1">
                <a:solidFill>
                  <a:srgbClr val="1F40CB"/>
                </a:solidFill>
              </a:rPr>
              <a:t>2. A. Provenance</a:t>
            </a:r>
          </a:p>
        </p:txBody>
      </p:sp>
      <p:sp>
        <p:nvSpPr>
          <p:cNvPr id="11" name="quiz-explanation-2">
            <a:extLst xmlns:a="http://schemas.openxmlformats.org/drawingml/2006/main">
              <a:ext uri="{FF2B5EF4-FFF2-40B4-BE49-F238E27FC236}">
                <a16:creationId xmlns:a16="http://schemas.microsoft.com/office/drawing/2014/main" id="{80F9E211-E235-4B33-89A3-60C3B361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911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Stable IDs, pages and sources keep evidence traceable.</a:t>
            </a:r>
          </a:p>
        </p:txBody>
      </p:sp>
      <p:sp>
        <p:nvSpPr>
          <p:cNvPr id="12" name="quiz-answer-3">
            <a:extLst xmlns:a="http://schemas.openxmlformats.org/drawingml/2006/main">
              <a:ext uri="{FF2B5EF4-FFF2-40B4-BE49-F238E27FC236}">
                <a16:creationId xmlns:a16="http://schemas.microsoft.com/office/drawing/2014/main" id="{A55EF1BA-75A5-46E9-87A8-5B9962F0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72150"/>
            <a:ext cx="1329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40CB"/>
                </a:solidFill>
              </a:defRPr>
            </a:pPr>
            <a:r>
              <a:rPr sz="1500" b="1">
                <a:solidFill>
                  <a:srgbClr val="1F40CB"/>
                </a:solidFill>
              </a:rPr>
              <a:t>3. A. Retrieval and reading context</a:t>
            </a:r>
          </a:p>
        </p:txBody>
      </p:sp>
      <p:sp>
        <p:nvSpPr>
          <p:cNvPr id="13" name="quiz-explanation-3">
            <a:extLst xmlns:a="http://schemas.openxmlformats.org/drawingml/2006/main">
              <a:ext uri="{FF2B5EF4-FFF2-40B4-BE49-F238E27FC236}">
                <a16:creationId xmlns:a16="http://schemas.microsoft.com/office/drawing/2014/main" id="{478F71FA-44B6-4830-BC4D-2D20DBDD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076950"/>
            <a:ext cx="1301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Small children retrieve precisely while parents restore context.</a:t>
            </a:r>
          </a:p>
        </p:txBody>
      </p:sp>
    </p:spTree>
    <p:extLst>
      <p:ext uri="{BB962C8B-B14F-4D97-AF65-F5344CB8AC3E}">
        <p14:creationId xmlns:p14="http://schemas.microsoft.com/office/powerpoint/2010/main" val="13162291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2026-08-24T19:24:32.5450000Z</dcterms:created>
  <dcterms:modified xsi:type="dcterms:W3CDTF">2026-08-24T19:24:32.5450000Z</dcterms:modified>
</coreProperties>
</file>