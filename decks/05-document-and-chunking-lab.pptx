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206318607d470d" /><Relationship Type="http://schemas.openxmlformats.org/officeDocument/2006/relationships/extended-properties" Target="/docProps/app.xml" Id="Rcc323ce52a0d49b3" /><Relationship Type="http://schemas.openxmlformats.org/officeDocument/2006/relationships/officeDocument" Target="/ppt/presentation.xml" Id="R3d42439836fd4d5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edbdd840124414"/>
  </p:sldMasterIdLst>
  <p:notesMasterIdLst>
    <p:notesMasterId xmlns:r="http://schemas.openxmlformats.org/officeDocument/2006/relationships" r:id="R98038520255f4d89"/>
  </p:notesMasterIdLst>
  <p:sldIdLst>
    <p:sldId xmlns:r="http://schemas.openxmlformats.org/officeDocument/2006/relationships" id="256" r:id="R0353ba52e27c44ec"/>
    <p:sldId xmlns:r="http://schemas.openxmlformats.org/officeDocument/2006/relationships" id="257" r:id="R53748089cf1441e0"/>
    <p:sldId xmlns:r="http://schemas.openxmlformats.org/officeDocument/2006/relationships" id="258" r:id="Rcd8ecda44af74713"/>
    <p:sldId xmlns:r="http://schemas.openxmlformats.org/officeDocument/2006/relationships" id="259" r:id="R002671e268a74e6f"/>
    <p:sldId xmlns:r="http://schemas.openxmlformats.org/officeDocument/2006/relationships" id="260" r:id="Rca1820ad07714e41"/>
    <p:sldId xmlns:r="http://schemas.openxmlformats.org/officeDocument/2006/relationships" id="261" r:id="R92461eba96d44f0e"/>
    <p:sldId xmlns:r="http://schemas.openxmlformats.org/officeDocument/2006/relationships" id="262" r:id="R9da03e5aa3d545ed"/>
    <p:sldId xmlns:r="http://schemas.openxmlformats.org/officeDocument/2006/relationships" id="263" r:id="R10e9ffe7040147b7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2cf088c8f348b7" /><Relationship Type="http://schemas.openxmlformats.org/officeDocument/2006/relationships/slideMaster" Target="/ppt/slideMasters/slideMaster1.xml" Id="R45edbdd840124414" /><Relationship Type="http://schemas.openxmlformats.org/officeDocument/2006/relationships/notesMaster" Target="/ppt/notesMasters/notesMaster1.xml" Id="R98038520255f4d89" /><Relationship Type="http://schemas.openxmlformats.org/officeDocument/2006/relationships/presProps" Target="/ppt/presProps.xml" Id="R76f3e86af6774cc9" /><Relationship Type="http://schemas.openxmlformats.org/officeDocument/2006/relationships/tableStyles" Target="/ppt/tableStyles.xml" Id="Rb8bfee3e6d524f2f" /><Relationship Type="http://schemas.openxmlformats.org/officeDocument/2006/relationships/slide" Target="/ppt/slides/slide1.xml" Id="R0353ba52e27c44ec" /><Relationship Type="http://schemas.openxmlformats.org/officeDocument/2006/relationships/slide" Target="/ppt/slides/slide2.xml" Id="R53748089cf1441e0" /><Relationship Type="http://schemas.openxmlformats.org/officeDocument/2006/relationships/slide" Target="/ppt/slides/slide3.xml" Id="Rcd8ecda44af74713" /><Relationship Type="http://schemas.openxmlformats.org/officeDocument/2006/relationships/slide" Target="/ppt/slides/slide4.xml" Id="R002671e268a74e6f" /><Relationship Type="http://schemas.openxmlformats.org/officeDocument/2006/relationships/slide" Target="/ppt/slides/slide5.xml" Id="Rca1820ad07714e41" /><Relationship Type="http://schemas.openxmlformats.org/officeDocument/2006/relationships/slide" Target="/ppt/slides/slide6.xml" Id="R92461eba96d44f0e" /><Relationship Type="http://schemas.openxmlformats.org/officeDocument/2006/relationships/slide" Target="/ppt/slides/slide7.xml" Id="R9da03e5aa3d545ed" /><Relationship Type="http://schemas.openxmlformats.org/officeDocument/2006/relationships/slide" Target="/ppt/slides/slide8.xml" Id="R10e9ffe7040147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b3bafa6b5e9464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bcbc36d86c4777" /><Relationship Type="http://schemas.openxmlformats.org/officeDocument/2006/relationships/notesMaster" Target="/ppt/notesMasters/notesMaster1.xml" Id="R954ac9509bbe408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d11cee25b024856" /><Relationship Type="http://schemas.openxmlformats.org/officeDocument/2006/relationships/notesMaster" Target="/ppt/notesMasters/notesMaster1.xml" Id="R4032c19445e14ee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22a60c5cbd948bb" /><Relationship Type="http://schemas.openxmlformats.org/officeDocument/2006/relationships/notesMaster" Target="/ppt/notesMasters/notesMaster1.xml" Id="R434accf354be44a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949a9c445ad4fe2" /><Relationship Type="http://schemas.openxmlformats.org/officeDocument/2006/relationships/notesMaster" Target="/ppt/notesMasters/notesMaster1.xml" Id="Rd42beb1d6a2f49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bbf93456244934" /><Relationship Type="http://schemas.openxmlformats.org/officeDocument/2006/relationships/notesMaster" Target="/ppt/notesMasters/notesMaster1.xml" Id="R816f395ed68749c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0697e7cdd2549db" /><Relationship Type="http://schemas.openxmlformats.org/officeDocument/2006/relationships/notesMaster" Target="/ppt/notesMasters/notesMaster1.xml" Id="R5938b27e9ee4416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da265530dd74ccd" /><Relationship Type="http://schemas.openxmlformats.org/officeDocument/2006/relationships/notesMaster" Target="/ppt/notesMasters/notesMaster1.xml" Id="R95176299aa41441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4235c54128246b3" /><Relationship Type="http://schemas.openxmlformats.org/officeDocument/2006/relationships/notesMaster" Target="/ppt/notesMasters/notesMaster1.xml" Id="R6129ed092f4c4b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Resume with the hidden assumption from Lesson 04: the passages had already been prepared.</a:t>
            </a:r>
          </a:p>
          <a:p xmlns:a="http://schemas.openxmlformats.org/drawingml/2006/main">
            <a:r>
              <a:t>This session builds the missing document-engineering layer.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Course-owned diagram and copy.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table to show that EUR 40.2bn depends on row and column context.</a:t>
            </a:r>
          </a:p>
          <a:p xmlns:a="http://schemas.openxmlformats.org/drawingml/2006/main">
            <a:r>
              <a:t>The compact Schneider fixture is machine-generated and parsed with pdfplumber.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https://www.se.com/ww/en/assets/564/document/528237/release-fy-results-2025.pdf</a:t>
            </a:r>
          </a:p>
          <a:p xmlns:a="http://schemas.openxmlformats.org/drawingml/2006/main">
            <a:r>
              <a:t>- https://github.com/jsvine/pdfplumber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the parser contract from the chunking policy.</a:t>
            </a:r>
          </a:p>
          <a:p xmlns:a="http://schemas.openxmlformats.org/drawingml/2006/main">
            <a:r>
              <a:t>The canonical block model is the stable boundary between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https://github.com/jsvine/pdfplumber</a:t>
            </a:r>
          </a:p>
          <a:p xmlns:a="http://schemas.openxmlformats.org/drawingml/2006/main">
            <a:r>
              <a:t>- https://www.crummy.com/software/BeautifulSoup/bs4/doc/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around the block from source identity to structure and content.</a:t>
            </a:r>
          </a:p>
          <a:p xmlns:a="http://schemas.openxmlformats.org/drawingml/2006/main">
            <a:r>
              <a:t>Page and section metadata are created during parsing, not after retrieval.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https://www.se.com/ww/en/assets/564/document/528237/release-fy-results-2025.pdf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learners to predict which fixed window separates the final Gaming cells.</a:t>
            </a:r>
          </a:p>
          <a:p xmlns:a="http://schemas.openxmlformats.org/drawingml/2006/main">
            <a:r>
              <a:t>Recursive splitting improves natural text boundaries but does not inherently understand tables.</a:t>
            </a:r>
          </a:p>
          <a:p xmlns:a="http://schemas.openxmlformats.org/drawingml/2006/main">
            <a:r>
              <a:t>Structure-aware chunking keeps parsed tables atomic.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Semantic chunking requires both a representation and a boundary threshold.</a:t>
            </a:r>
          </a:p>
          <a:p xmlns:a="http://schemas.openxmlformats.org/drawingml/2006/main">
            <a:r>
              <a:t>Hierarchical chunking separates matching granularity from reading context.</a:t>
            </a:r>
          </a:p>
          <a:p xmlns:a="http://schemas.openxmlformats.org/drawingml/2006/main">
            <a:r>
              <a:t>Contextual prefixes and LLM propositions add cost and must be evaluated against original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https://scikit-learn.org/stable/modules/generated/sklearn.feature_extraction.text.TfidfVectorizer.html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parser recovered the table correctly; the fixed chunker broke the relationship.</a:t>
            </a:r>
          </a:p>
          <a:p xmlns:a="http://schemas.openxmlformats.org/drawingml/2006/main">
            <a:r>
              <a:t>Do not change the model or retriever before repairing the evidence unit.</a:t>
            </a:r>
          </a:p>
          <a:p xmlns:a="http://schemas.openxmlformats.org/drawingml/2006/main">
            <a:r>
              <a:t>The metrics are generated by Notebook 05 over four maintained fixture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Recommend a structure-aware child representation as the initial policy, not a universal final answer.</a:t>
            </a:r>
          </a:p>
          <a:p xmlns:a="http://schemas.openxmlformats.org/drawingml/2006/main">
            <a:r>
              <a:t>Parent links restore context after retrieval while keeping the index granular.</a:t>
            </a:r>
          </a:p>
          <a:p xmlns:a="http://schemas.openxmlformats.org/drawingml/2006/main">
            <a:r>
              <a:t>Lesson 06 holds these chunks constant and improves representation and ranking.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Course-owned diagram and copy.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b353e7e5fe4ce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4ba42ab496d400e" /><Relationship Type="http://schemas.openxmlformats.org/officeDocument/2006/relationships/slideLayout" Target="/ppt/slideLayouts/slideLayout1.xml" Id="R3afdb4cdc039447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fdb4cdc039447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ad603dfc914da7" /><Relationship Type="http://schemas.openxmlformats.org/officeDocument/2006/relationships/notesSlide" Target="/ppt/notesSlides/notesSlide1.xml" Id="R80ef8b82c0904a9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ac5c3ba5f2497b" /><Relationship Type="http://schemas.openxmlformats.org/officeDocument/2006/relationships/notesSlide" Target="/ppt/notesSlides/notesSlide2.xml" Id="R864046879baa45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b72ccc6d914fc8" /><Relationship Type="http://schemas.openxmlformats.org/officeDocument/2006/relationships/notesSlide" Target="/ppt/notesSlides/notesSlide3.xml" Id="R75c7e01517fb4ae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9b2d78dec54f2a" /><Relationship Type="http://schemas.openxmlformats.org/officeDocument/2006/relationships/notesSlide" Target="/ppt/notesSlides/notesSlide4.xml" Id="R1645cd1d112845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4dceff1aff4806" /><Relationship Type="http://schemas.openxmlformats.org/officeDocument/2006/relationships/notesSlide" Target="/ppt/notesSlides/notesSlide5.xml" Id="R08ba441bc3234e4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5d7c66da3c4394" /><Relationship Type="http://schemas.openxmlformats.org/officeDocument/2006/relationships/notesSlide" Target="/ppt/notesSlides/notesSlide6.xml" Id="Rafc73662917b4fc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0d7413fd7f4c53" /><Relationship Type="http://schemas.openxmlformats.org/officeDocument/2006/relationships/notesSlide" Target="/ppt/notesSlides/notesSlide7.xml" Id="R002666a66d0d4a0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3be54a7ae04dc1" /><Relationship Type="http://schemas.openxmlformats.org/officeDocument/2006/relationships/notesSlide" Target="/ppt/notesSlides/notesSlide8.xml" Id="R0287e07e2550488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Financial Documents and Chunking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Preserve financial structure before retrieval begins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05  ·  13:30–15:00  ·  20 MIN CONCEPTS + 70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Financial Analyst Copilot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CBCA988-6C06-40A1-95B7-5433476E5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DOCUMENT REALITY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9220EF-F793-4885-9AB8-00A0F9EA0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Financial meaning is visual; extraction is often linear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00753-F858-4C36-BFB0-3B1A4C12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241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VISIBLE REPORT</a:t>
            </a:r>
          </a:p>
        </p:txBody>
      </p:sp>
      <p:sp>
        <p:nvSpPr>
          <p:cNvPr id="4" name="visual-table">
            <a:extLst xmlns:a="http://schemas.openxmlformats.org/drawingml/2006/main">
              <a:ext uri="{FF2B5EF4-FFF2-40B4-BE49-F238E27FC236}">
                <a16:creationId xmlns:a16="http://schemas.microsoft.com/office/drawing/2014/main" id="{576683D8-E775-42D1-AF4F-2E325721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81300"/>
            <a:ext cx="5810250" cy="339090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B2ADA4-F920-4232-9DA2-D9793FAD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86100"/>
            <a:ext cx="20002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FF9963-0F9F-4886-AB57-EF4C2E67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813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Metric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7D9C1E-00D7-4159-B73B-01D34D7F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086100"/>
            <a:ext cx="14668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7DFBB9-A001-4B0E-AA71-86682FCE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81350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FY2025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D21544-212A-4A0D-B9F7-FCC0D1BF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086100"/>
            <a:ext cx="16954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AB4578-E8A6-43AE-A2C2-CEA0324C0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181350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Change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D04ECC-09F8-456C-879E-7691A5B3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733800"/>
            <a:ext cx="20002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DF2230-F0C0-4DBC-BB47-7BADFC8C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3857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Revenue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54DA14-31F7-4D96-B8DD-9152DF44D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733800"/>
            <a:ext cx="14668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4648FD-7DFC-4761-A04A-3AC1852B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838575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EUR 40.2bn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1CF715-7C9A-4BB8-BE5A-15D7CE05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733800"/>
            <a:ext cx="16954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86DE64-6FD8-4C5C-BD04-C629704B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83857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+8.9%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FD23F7-5A32-49C6-A602-C4B97B29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19600"/>
            <a:ext cx="20002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34CF0D-0658-422B-8F55-E98FD0DD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2437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Energy Management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35550F-4912-4A3E-9B6B-EEFB53BC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419600"/>
            <a:ext cx="14668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145470-037A-4684-9A06-4900C017F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524375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n/a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25294A-6942-4B54-BB28-F9F69395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419600"/>
            <a:ext cx="16954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A1BB70-EBAC-4335-A161-4048795C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2437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+10%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126131-F324-4F38-9DC5-28160EE0C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05400"/>
            <a:ext cx="20002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1E636A-B914-45BB-B915-95E27AB8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1017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Adjusted EBITA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C2AAD8-6A48-44A3-AC4D-F49A66D8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105400"/>
            <a:ext cx="14668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4B5C18-A48F-4308-B6AF-C5700495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210175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EUR 7.5bn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1C5F41-C037-43ED-84EF-03C95B70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105400"/>
            <a:ext cx="16954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7AA279-8140-4E49-8397-71EAC9AB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21017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18.7% margin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32E82F-D354-4D7C-A51F-92A2FFCB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2410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LINEAR EXTRACTION</a:t>
            </a:r>
          </a:p>
        </p:txBody>
      </p:sp>
      <p:sp>
        <p:nvSpPr>
          <p:cNvPr id="30" name="linear-extraction">
            <a:extLst xmlns:a="http://schemas.openxmlformats.org/drawingml/2006/main">
              <a:ext uri="{FF2B5EF4-FFF2-40B4-BE49-F238E27FC236}">
                <a16:creationId xmlns:a16="http://schemas.microsoft.com/office/drawing/2014/main" id="{75B44080-439E-4C1F-A927-6A91849F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81300"/>
            <a:ext cx="6191250" cy="339090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7DDF09-1C11-42D5-A08A-DD90C590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861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9A9A9F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9A9A9F"/>
                </a:solidFill>
                <a:latin typeface="Courier New"/>
                <a:ea typeface="Courier New"/>
                <a:cs typeface="Courier New"/>
              </a:rPr>
              <a:t>01   Metric  FY2025  Change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BC6E23-1957-45C2-BA6E-182A43E6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6957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02   Revenue  EUR 40.2bn  +8.9%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FF888A-B6BD-4B0D-B35F-4BA13A75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053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03   Energy Management  n/a  +10%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0F68206-AE2E-4173-851F-1D227300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9149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04   Adjusted EBITA  EUR 7.5bn  18.7% margin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466999-AD2B-49AF-92B7-D9F10BF0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562600"/>
            <a:ext cx="53911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BB5EBA-22FE-4A53-8C95-1FBCD1E4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61975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Reading order alone does not encode row/column meaning.</a:t>
            </a:r>
          </a:p>
        </p:txBody>
      </p:sp>
      <p:cxnSp>
        <p:nvCxnSpPr>
          <p:cNvPr id="80" name=""/>
          <p:cNvCxnSpPr>
            <a:stCxn xmlns:a="http://schemas.openxmlformats.org/drawingml/2006/main" id="4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838950" y="4476750"/>
            <a:ext cx="10858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8E4703D-968A-4547-808B-57EAE1A7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6743700"/>
            <a:ext cx="981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number is safe evidence only when its label, period, unit and source survive.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36BDCF8-E19E-4D00-B4A6-FD186D59E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68A547-99A7-4B66-B03E-114ACDE61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33FA4D-F333-4493-8FD8-2DCBFF53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EA43FBC-B53A-499B-B471-A27C41B2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DOCUMENT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C23C330-5541-469E-92DE-FFB55F91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684575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INGESTION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Normalize format-specific inputs before choosing chunks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Official source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SEC HTML or PDF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Parser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elements · pages · tables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DocumentBlock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order · structure · source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Quality checks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tables · headings · provenance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Chunk strategy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controlled evidence units</a:t>
            </a:r>
          </a:p>
        </p:txBody>
      </p:sp>
      <p:cxnSp>
        <p:nvCxnSpPr>
          <p:cNvPr id="57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8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9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0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canonical block model lets parsing and chunking evolve independently.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Parser describes the document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Chunker chooses retrievable evidence units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PIPELINE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3EFE36-F0E5-4A34-9303-2F261E07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CANONICAL BLOCK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2B6B0-9CAB-42A6-9CDA-FDF3A13D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Provenance must survive every transformation</a:t>
            </a:r>
          </a:p>
        </p:txBody>
      </p:sp>
      <p:sp>
        <p:nvSpPr>
          <p:cNvPr id="3" name="canonical-block">
            <a:extLst xmlns:a="http://schemas.openxmlformats.org/drawingml/2006/main">
              <a:ext uri="{FF2B5EF4-FFF2-40B4-BE49-F238E27FC236}">
                <a16:creationId xmlns:a16="http://schemas.microsoft.com/office/drawing/2014/main" id="{02D02DA8-4C0F-400F-BD3D-E5C1B80C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819400"/>
            <a:ext cx="4610100" cy="3105150"/>
          </a:xfrm>
          <a:prstGeom xmlns:a="http://schemas.openxmlformats.org/drawingml/2006/main" prst="roundRect">
            <a:avLst>
              <a:gd name="adj" fmla="val 3681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94F27-A4E9-43D6-91FC-255B527D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124200"/>
            <a:ext cx="3733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DocumentBlock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840549-C1BA-4343-8D7C-0F20981F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7909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SU-2025-FY-EXCERPT-B004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8ED5F6-048D-47C9-84A8-2C0DBB8E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362450"/>
            <a:ext cx="3695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548304-EC73-4226-BDEE-2B1DF0C7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591050"/>
            <a:ext cx="3543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TABLE · PAGE 2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Metric | FY2025 | Change</a:t>
            </a:r>
          </a:p>
        </p:txBody>
      </p:sp>
      <p:sp>
        <p:nvSpPr>
          <p:cNvPr id="8" name="left-field-0">
            <a:extLst xmlns:a="http://schemas.openxmlformats.org/drawingml/2006/main">
              <a:ext uri="{FF2B5EF4-FFF2-40B4-BE49-F238E27FC236}">
                <a16:creationId xmlns:a16="http://schemas.microsoft.com/office/drawing/2014/main" id="{720AE8BF-AA92-49DE-8E2A-99C0FB63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241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BACEB0-7877-4121-958A-EABE3281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384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SOURCE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77E674-7E6C-4E95-A44F-3D0874CD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company · document · URL</a:t>
            </a:r>
          </a:p>
        </p:txBody>
      </p:sp>
      <p:sp>
        <p:nvSpPr>
          <p:cNvPr id="11" name="left-field-1">
            <a:extLst xmlns:a="http://schemas.openxmlformats.org/drawingml/2006/main">
              <a:ext uri="{FF2B5EF4-FFF2-40B4-BE49-F238E27FC236}">
                <a16:creationId xmlns:a16="http://schemas.microsoft.com/office/drawing/2014/main" id="{EB85D765-CD85-4A47-9B4D-BE4F254E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2430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7C1F3D-0AC2-4377-B5F6-24B12E25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3860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LOCATION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F3BE42-D27D-4E49-97D3-2DA03AC8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243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ordinal · page · section path</a:t>
            </a:r>
          </a:p>
        </p:txBody>
      </p:sp>
      <p:sp>
        <p:nvSpPr>
          <p:cNvPr id="14" name="left-field-2">
            <a:extLst xmlns:a="http://schemas.openxmlformats.org/drawingml/2006/main">
              <a:ext uri="{FF2B5EF4-FFF2-40B4-BE49-F238E27FC236}">
                <a16:creationId xmlns:a16="http://schemas.microsoft.com/office/drawing/2014/main" id="{D38A806E-0157-47C3-A918-4210A4D0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244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83342E-199A-44AF-A318-336CAE10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2387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TYPE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B5DA57-E61B-4C94-B0C3-378EC5FE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245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heading · paragraph · table</a:t>
            </a:r>
          </a:p>
        </p:txBody>
      </p:sp>
      <p:sp>
        <p:nvSpPr>
          <p:cNvPr id="17" name="right-field-0">
            <a:extLst xmlns:a="http://schemas.openxmlformats.org/drawingml/2006/main">
              <a:ext uri="{FF2B5EF4-FFF2-40B4-BE49-F238E27FC236}">
                <a16:creationId xmlns:a16="http://schemas.microsoft.com/office/drawing/2014/main" id="{ED066AEE-EA4B-4DB1-B7D7-DA862330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7241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072D8D-E329-4E1A-A744-1D6F1EA5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28384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CONTENT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0576CD-3A76-4FED-92A9-5CC11BA9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1242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normalized text · table rows</a:t>
            </a:r>
          </a:p>
        </p:txBody>
      </p:sp>
      <p:sp>
        <p:nvSpPr>
          <p:cNvPr id="20" name="right-field-1">
            <a:extLst xmlns:a="http://schemas.openxmlformats.org/drawingml/2006/main">
              <a:ext uri="{FF2B5EF4-FFF2-40B4-BE49-F238E27FC236}">
                <a16:creationId xmlns:a16="http://schemas.microsoft.com/office/drawing/2014/main" id="{13EC72A3-15F5-4C75-A76D-0D6BA5AA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92430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C9EE2B-9704-4AB7-AB65-DBB12C98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03860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PERIOD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B680EC-1257-4D06-9C48-5CABC3AD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3243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FY2025 · language · units</a:t>
            </a:r>
          </a:p>
        </p:txBody>
      </p:sp>
      <p:sp>
        <p:nvSpPr>
          <p:cNvPr id="23" name="right-field-2">
            <a:extLst xmlns:a="http://schemas.openxmlformats.org/drawingml/2006/main">
              <a:ext uri="{FF2B5EF4-FFF2-40B4-BE49-F238E27FC236}">
                <a16:creationId xmlns:a16="http://schemas.microsoft.com/office/drawing/2014/main" id="{A0E0710B-A185-4D6C-B16D-6B16D9A9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1244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678660-B347-4DEE-AD4B-E62AD2E0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2387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IDENTITY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137DBE-0373-4B7D-89B2-62CEDDD2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5245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stable source + block IDs</a:t>
            </a:r>
          </a:p>
        </p:txBody>
      </p:sp>
      <p:cxnSp>
        <p:nvCxnSpPr>
          <p:cNvPr id="63" name=""/>
          <p:cNvCxnSpPr>
            <a:stCxn xmlns:a="http://schemas.openxmlformats.org/drawingml/2006/main" id="8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267200" y="317182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4" name=""/>
          <p:cNvCxnSpPr>
            <a:stCxn xmlns:a="http://schemas.openxmlformats.org/drawingml/2006/main" id="11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267200" y="43719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5" name=""/>
          <p:cNvCxnSpPr>
            <a:stCxn xmlns:a="http://schemas.openxmlformats.org/drawingml/2006/main" id="14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 flipV="1">
            <a:off x="4267200" y="437197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6" name=""/>
          <p:cNvCxnSpPr>
            <a:stCxn xmlns:a="http://schemas.openxmlformats.org/drawingml/2006/main" id="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9925050" y="317182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67" name=""/>
          <p:cNvCxnSpPr>
            <a:stCxn xmlns:a="http://schemas.openxmlformats.org/drawingml/2006/main" id="3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9925050" y="43719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68" name=""/>
          <p:cNvCxnSpPr>
            <a:stCxn xmlns:a="http://schemas.openxmlformats.org/drawingml/2006/main" id="3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9925050" y="437197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75D1AF-F6AB-4A2D-841A-C9B511F5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6705600"/>
            <a:ext cx="10553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If provenance is absent here, citations and metadata filters cannot recover it safely later.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7CAB67-18B2-45B8-A6D3-DDBE5255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AE100F-4D6F-45A8-A34A-47F11D77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579015-04F7-4D6F-9134-8D10D8D76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9C90B6-36DC-4661-AB68-C1D6A4EE7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PROVENANCE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479DD1-2C8A-40B6-A3D0-33950CA5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241625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CORE BOUNDARIES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same evidence changes shape under each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FIXED · 90 chars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Heading + revenue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Center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Gaming | USD 16.0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bn | 41%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can split anywhere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RECURSIVE · 180 chars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Revenue sentence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Center sentence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Gaming row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prefers text boundaries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STRUCTURE-AWARE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Revenue paragraph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COMPLETE TABLE · headers + rows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469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protects document meaning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Chunk size is an optimization parameter. Table and provenance integrity are constraints.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BOUNDARIES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B9499D-57E3-4A1D-8EC6-611BB041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ADVANCED PATTERNS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95CF57-625B-488E-BEB2-B69B4A40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31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Semantic, hierarchical and LLM-assisted chunks solve different problems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B47AA7-B631-41FD-ABBE-E3FFFB37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384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SEMANTIC BOUNDARY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5257D7-8A5E-4ED5-99FB-9BEA2CD5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1028700" cy="41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8125A-6117-4802-BDED-1521C83E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05150"/>
            <a:ext cx="1028700" cy="592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50A16-6CE2-41AD-9C68-31BCF4A3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105150"/>
            <a:ext cx="1028700" cy="6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9E3D30-9339-457F-B7CD-A0EA27BB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337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A8E3BE-28EF-40CE-8891-51278C59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76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01DE89-BF1D-4E47-A0E5-E2BD6B90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BE587B-C753-4E2B-8104-881E1547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52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69151E-D420-4D59-85E7-111FD86A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81450"/>
            <a:ext cx="3562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E1099-8F96-4D4A-A076-9A2E9069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386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low similarity → boundary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498DFA-9E2C-4070-94C7-94B63062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38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PARENT–CHILD</a:t>
            </a:r>
          </a:p>
        </p:txBody>
      </p:sp>
      <p:sp>
        <p:nvSpPr>
          <p:cNvPr id="14" name="parent-section">
            <a:extLst xmlns:a="http://schemas.openxmlformats.org/drawingml/2006/main">
              <a:ext uri="{FF2B5EF4-FFF2-40B4-BE49-F238E27FC236}">
                <a16:creationId xmlns:a16="http://schemas.microsoft.com/office/drawing/2014/main" id="{7E782CAC-BF7C-46FC-866C-E3E89506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09900"/>
            <a:ext cx="27241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DA1344-7C73-4F1F-9D24-59FEB65C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14325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PARENT SECTION</a:t>
            </a:r>
          </a:p>
        </p:txBody>
      </p:sp>
      <p:sp>
        <p:nvSpPr>
          <p:cNvPr id="16" name="child-0">
            <a:extLst xmlns:a="http://schemas.openxmlformats.org/drawingml/2006/main">
              <a:ext uri="{FF2B5EF4-FFF2-40B4-BE49-F238E27FC236}">
                <a16:creationId xmlns:a16="http://schemas.microsoft.com/office/drawing/2014/main" id="{49FF913A-8883-45CD-B244-354955AC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3589B9-91C1-4446-A372-5FFFE4BD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CHILD 1</a:t>
            </a:r>
          </a:p>
        </p:txBody>
      </p:sp>
      <p:sp>
        <p:nvSpPr>
          <p:cNvPr id="18" name="child-1">
            <a:extLst xmlns:a="http://schemas.openxmlformats.org/drawingml/2006/main">
              <a:ext uri="{FF2B5EF4-FFF2-40B4-BE49-F238E27FC236}">
                <a16:creationId xmlns:a16="http://schemas.microsoft.com/office/drawing/2014/main" id="{7ADCF829-81FB-4C43-A5F1-10A73F9F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4D7249-C284-46C6-A639-E3A0E60C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CHILD 2</a:t>
            </a:r>
          </a:p>
        </p:txBody>
      </p:sp>
      <p:sp>
        <p:nvSpPr>
          <p:cNvPr id="20" name="child-2">
            <a:extLst xmlns:a="http://schemas.openxmlformats.org/drawingml/2006/main">
              <a:ext uri="{FF2B5EF4-FFF2-40B4-BE49-F238E27FC236}">
                <a16:creationId xmlns:a16="http://schemas.microsoft.com/office/drawing/2014/main" id="{D221F047-9582-4D03-9D8B-65910E5A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E71631-E8CD-4C8E-83BE-21A31097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CHILD 3</a:t>
            </a:r>
          </a:p>
        </p:txBody>
      </p:sp>
      <p:cxnSp>
        <p:nvCxnSpPr>
          <p:cNvPr id="62" name=""/>
          <p:cNvCxnSpPr>
            <a:stCxn xmlns:a="http://schemas.openxmlformats.org/drawingml/2006/main" id="14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 flipH="1">
            <a:off x="6400800" y="3714750"/>
            <a:ext cx="122872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cxnSp>
        <p:nvCxnSpPr>
          <p:cNvPr id="63" name=""/>
          <p:cNvCxnSpPr>
            <a:stCxn xmlns:a="http://schemas.openxmlformats.org/drawingml/2006/main" id="14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7629525" y="3714750"/>
            <a:ext cx="23812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cxnSp>
        <p:nvCxnSpPr>
          <p:cNvPr id="64" name=""/>
          <p:cNvCxnSpPr>
            <a:stCxn xmlns:a="http://schemas.openxmlformats.org/drawingml/2006/main" id="14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7629525" y="3714750"/>
            <a:ext cx="170497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59A2EB-91A2-485C-8769-4414CA087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524500"/>
            <a:ext cx="403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retrieve small · expand verified parent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1A9A77-C203-4FF0-B40D-A9FCCEC0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4384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CONTEXT + PROPOSITIONS</a:t>
            </a:r>
          </a:p>
        </p:txBody>
      </p:sp>
      <p:sp>
        <p:nvSpPr>
          <p:cNvPr id="27" name="context-prefix">
            <a:extLst xmlns:a="http://schemas.openxmlformats.org/drawingml/2006/main">
              <a:ext uri="{FF2B5EF4-FFF2-40B4-BE49-F238E27FC236}">
                <a16:creationId xmlns:a16="http://schemas.microsoft.com/office/drawing/2014/main" id="{394DF3A4-55D3-49A5-B189-7898A8E7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009900"/>
            <a:ext cx="34099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481E31-07AB-413F-A9BC-2CCE1BE4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162300"/>
            <a:ext cx="299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NVIDIA | FY2026 | Data Center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40ED50-2261-4CBA-A9F0-AC58EB91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4861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+ original evidence chunk</a:t>
            </a:r>
          </a:p>
        </p:txBody>
      </p:sp>
      <p:sp>
        <p:nvSpPr>
          <p:cNvPr id="30" name="proposition">
            <a:extLst xmlns:a="http://schemas.openxmlformats.org/drawingml/2006/main">
              <a:ext uri="{FF2B5EF4-FFF2-40B4-BE49-F238E27FC236}">
                <a16:creationId xmlns:a16="http://schemas.microsoft.com/office/drawing/2014/main" id="{72273FB0-E051-4A9D-ACF9-E2567C1DB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343400"/>
            <a:ext cx="34099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B58602-B779-49B2-B2C2-E7F6692D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4767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ATOMIC CLAIM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15A273-EB10-4B84-9D74-5A6A52A5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800600"/>
            <a:ext cx="295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Data Center revenue was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USD 193.7bn in FY2026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41F16E-B897-4CFF-BC22-D4ACA3F5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57721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extra tokens · model cost · transformation risk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BEFBEB-C8FB-4ACA-94DB-124FCEC5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6705600"/>
            <a:ext cx="107061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F55544-8A98-45CD-8540-D0A1E30F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8199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 strategy is universally best: version the representation, threshold and evaluation set.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F8A41E-A99D-409D-84BE-F33131D1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956031-4C7C-48C0-AB87-5A7D7BA6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3A278E-A894-4D27-A6F3-22DC6B6D4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8798E0-FBD0-46BF-A594-53A0061D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STRATEGIES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F1CC3F1-A84C-4B1D-A2E0-A25EF0E9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570352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521A64-93BB-447D-87E9-41FC1E86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FAILURE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93F9E-8AD7-4755-853A-CFF63AED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retrievable number can still be analytically unsafe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302C1-E6C0-49C0-9FA8-BA7896D6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FIXED WINDOWS</a:t>
            </a:r>
          </a:p>
        </p:txBody>
      </p:sp>
      <p:sp>
        <p:nvSpPr>
          <p:cNvPr id="4" name="fixed-one">
            <a:extLst xmlns:a="http://schemas.openxmlformats.org/drawingml/2006/main">
              <a:ext uri="{FF2B5EF4-FFF2-40B4-BE49-F238E27FC236}">
                <a16:creationId xmlns:a16="http://schemas.microsoft.com/office/drawing/2014/main" id="{40C15356-6CC0-4340-AD48-214BA676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5334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2FFA5-77A1-442E-984F-08CF9D90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52750"/>
            <a:ext cx="4838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F1  Business | Revenue | Growth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Data Center | USD 193.7bn | 68%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Gaming | USD 16.0</a:t>
            </a:r>
          </a:p>
        </p:txBody>
      </p:sp>
      <p:sp>
        <p:nvSpPr>
          <p:cNvPr id="6" name="fixed-two">
            <a:extLst xmlns:a="http://schemas.openxmlformats.org/drawingml/2006/main">
              <a:ext uri="{FF2B5EF4-FFF2-40B4-BE49-F238E27FC236}">
                <a16:creationId xmlns:a16="http://schemas.microsoft.com/office/drawing/2014/main" id="{AD30FCD2-C657-4E45-B1A1-6793E46E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24350"/>
            <a:ext cx="2857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3EC4B2-CAE9-400F-B11D-2D4F3052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577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F2  bn | 41%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46D44-14BC-44D4-9667-69FFDFBE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768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4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Boundary separates Gaming value from its complete row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6CDE7-35E6-4C8C-A738-6BACCF9A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431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STRUCTURE-AWARE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2A6E03-2E74-4AA0-BC40-D36976B5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00350"/>
            <a:ext cx="21526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E18B6A-26EA-404D-8004-B4AEFB1A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05125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Business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7E5910-AC18-40D2-B2F3-6FC1F08D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800350"/>
            <a:ext cx="19621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4DBD99-75A2-4F76-80D2-886026B3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051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Revenue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461F5A-F082-42F4-BA7B-33237B01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2800350"/>
            <a:ext cx="25717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70624-C8CA-468D-98D9-37807488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9051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Year-on-year growth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03A85A-2DFF-4A0D-A0C0-99283CEF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480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684354-1A30-417B-8AE7-ECA5F6B0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623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Data Center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B55295-3DA8-457F-83F0-53BB6A03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4480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696DF8-2386-42C4-91BD-18AC99A2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USD 193.7bn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39A1A9-4564-4056-8CDC-CEDB497A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34480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C725B4-5DC5-4222-B581-EB84BE90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35623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68%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160DDC-C4FB-4932-B81B-09341596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719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8C8390-620E-4337-B177-E20E1666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862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Gaming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123193-7BA4-459F-B618-D3AB37E4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1719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A33689-B136-4C82-B577-8954D205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2862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USD 16.0bn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49AE3A-93EC-4D6A-8CF3-2D01BDBD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41719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772D1E-8248-480D-BA11-3458C9BA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42862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41%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F86CEA-598B-4254-9CEF-1D77B357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124450"/>
            <a:ext cx="680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One chunk · complete row/column relationship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5E3BAB-E11C-4A7E-89F3-AB1868F4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62200"/>
            <a:ext cx="2857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233CBA-8C3B-4B18-A5D5-D4F7061F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1531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MEASURED ON THE NOTEBOOK FIXTURES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EA1FB2-5ABC-4E19-B39E-FBEB026E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Fixed table integrity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EE73CC-AED7-4593-A08D-4913CB1D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3BC68A-D5B2-4F89-AC7A-F4A6B122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Structured table integrity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38EEE4-AA29-40C4-BA3C-01E40A9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100%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5D4A6D-C246-49F7-9388-C795B5E0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Fixed retrieval@2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066664-5058-4CD5-A636-49C7B36A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75%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483989-A3BC-4F4A-A656-ACD3BAC9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Structured retrieval@2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B3CFBA-FD87-4351-8C2A-CF0B6F60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100%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46780A-5D65-4410-9457-661BBB6C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69519E-645C-4800-9FE8-656AB5D5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032C2C-E113-4AB5-9CC6-D6B41AED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DD0EC2-8E86-44C8-B8C1-3DB1E93C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FAILURE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07089F-BB21-465D-B53D-42746B7A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494443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ENGINEERING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Start with structural children and preserve a verified parent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CANONICAL BLOCKS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5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order · page · section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table rows · source URL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67050"/>
            <a:ext cx="264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INDEX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486150"/>
            <a:ext cx="264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Structure-aware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child chunks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267200"/>
            <a:ext cx="2647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company · period · section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AFTER RETRIEVAL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Expand the verified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parent section</a:t>
            </a:r>
          </a:p>
        </p:txBody>
      </p:sp>
      <p:cxnSp>
        <p:nvCxnSpPr>
          <p:cNvPr id="40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41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HARD CONSTRAINTS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64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table integrity · complete provenance · stable parent links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OPTIMIZE WITH EVALUATION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chunk size · context tokens · recall · cost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LESSON 06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7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Keep the chunks; improve representation and ranking with embeddings, filters, fusion and reranking.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DECISION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2026-08-15T10:35:31.7190000Z</dcterms:created>
  <dcterms:modified xsi:type="dcterms:W3CDTF">2026-08-15T10:35:31.7190000Z</dcterms:modified>
</coreProperties>
</file>