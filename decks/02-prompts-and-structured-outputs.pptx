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ec64f646ae244f3" /><Relationship Type="http://schemas.openxmlformats.org/officeDocument/2006/relationships/extended-properties" Target="/docProps/app.xml" Id="Rfdcc78b1d8704451" /><Relationship Type="http://schemas.openxmlformats.org/officeDocument/2006/relationships/officeDocument" Target="/ppt/presentation.xml" Id="Rea9674159df44ee6" /></Relationships>
</file>

<file path=ppt/presentation.xml><?xml version="1.0" encoding="utf-8"?>
<p:presentation xmlns:p="http://schemas.openxmlformats.org/presentationml/2006/main">
  <p:sldMasterIdLst>
    <p:sldMasterId xmlns:r="http://schemas.openxmlformats.org/officeDocument/2006/relationships" id="2147483648" r:id="Rb20f0aa8f68c40b9"/>
  </p:sldMasterIdLst>
  <p:notesMasterIdLst>
    <p:notesMasterId xmlns:r="http://schemas.openxmlformats.org/officeDocument/2006/relationships" r:id="Rb16a4e6aaf224734"/>
  </p:notesMasterIdLst>
  <p:sldIdLst>
    <p:sldId xmlns:r="http://schemas.openxmlformats.org/officeDocument/2006/relationships" id="256" r:id="Rf143e7f2213543f7"/>
    <p:sldId xmlns:r="http://schemas.openxmlformats.org/officeDocument/2006/relationships" id="257" r:id="R1031a01b756247cb"/>
    <p:sldId xmlns:r="http://schemas.openxmlformats.org/officeDocument/2006/relationships" id="258" r:id="R69862b23549645e5"/>
    <p:sldId xmlns:r="http://schemas.openxmlformats.org/officeDocument/2006/relationships" id="259" r:id="Rd7ccdb923ccf43c3"/>
    <p:sldId xmlns:r="http://schemas.openxmlformats.org/officeDocument/2006/relationships" id="260" r:id="Rf8c49e8db0e94c57"/>
    <p:sldId xmlns:r="http://schemas.openxmlformats.org/officeDocument/2006/relationships" id="261" r:id="Red8c7d97bfff48c8"/>
    <p:sldId xmlns:r="http://schemas.openxmlformats.org/officeDocument/2006/relationships" id="262" r:id="R26427e8bc3f8432f"/>
    <p:sldId xmlns:r="http://schemas.openxmlformats.org/officeDocument/2006/relationships" id="263" r:id="R13d50c3ad72a4170"/>
    <p:sldId xmlns:r="http://schemas.openxmlformats.org/officeDocument/2006/relationships" id="264" r:id="Rbaba76bfe50f489e"/>
    <p:sldId xmlns:r="http://schemas.openxmlformats.org/officeDocument/2006/relationships" id="265" r:id="Rb86c673beae841e8"/>
    <p:sldId xmlns:r="http://schemas.openxmlformats.org/officeDocument/2006/relationships" id="266" r:id="R0e60bbf0c7e04717"/>
    <p:sldId xmlns:r="http://schemas.openxmlformats.org/officeDocument/2006/relationships" id="267" r:id="Rea246a07e11e4fa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0663e8d2544473" /><Relationship Type="http://schemas.openxmlformats.org/officeDocument/2006/relationships/slideMaster" Target="/ppt/slideMasters/slideMaster1.xml" Id="Rb20f0aa8f68c40b9" /><Relationship Type="http://schemas.openxmlformats.org/officeDocument/2006/relationships/notesMaster" Target="/ppt/notesMasters/notesMaster1.xml" Id="Rb16a4e6aaf224734" /><Relationship Type="http://schemas.openxmlformats.org/officeDocument/2006/relationships/presProps" Target="/ppt/presProps.xml" Id="R9c7cc5c53f2444aa" /><Relationship Type="http://schemas.openxmlformats.org/officeDocument/2006/relationships/tableStyles" Target="/ppt/tableStyles.xml" Id="R4b4844f670114d50" /><Relationship Type="http://schemas.openxmlformats.org/officeDocument/2006/relationships/slide" Target="/ppt/slides/slide1.xml" Id="Rf143e7f2213543f7" /><Relationship Type="http://schemas.openxmlformats.org/officeDocument/2006/relationships/slide" Target="/ppt/slides/slide2.xml" Id="R1031a01b756247cb" /><Relationship Type="http://schemas.openxmlformats.org/officeDocument/2006/relationships/slide" Target="/ppt/slides/slide3.xml" Id="R69862b23549645e5" /><Relationship Type="http://schemas.openxmlformats.org/officeDocument/2006/relationships/slide" Target="/ppt/slides/slide4.xml" Id="Rd7ccdb923ccf43c3" /><Relationship Type="http://schemas.openxmlformats.org/officeDocument/2006/relationships/slide" Target="/ppt/slides/slide5.xml" Id="Rf8c49e8db0e94c57" /><Relationship Type="http://schemas.openxmlformats.org/officeDocument/2006/relationships/slide" Target="/ppt/slides/slide6.xml" Id="Red8c7d97bfff48c8" /><Relationship Type="http://schemas.openxmlformats.org/officeDocument/2006/relationships/slide" Target="/ppt/slides/slide7.xml" Id="R26427e8bc3f8432f" /><Relationship Type="http://schemas.openxmlformats.org/officeDocument/2006/relationships/slide" Target="/ppt/slides/slide8.xml" Id="R13d50c3ad72a4170" /><Relationship Type="http://schemas.openxmlformats.org/officeDocument/2006/relationships/slide" Target="/ppt/slides/slide9.xml" Id="Rbaba76bfe50f489e" /><Relationship Type="http://schemas.openxmlformats.org/officeDocument/2006/relationships/slide" Target="/ppt/slides/slide10.xml" Id="Rb86c673beae841e8" /><Relationship Type="http://schemas.openxmlformats.org/officeDocument/2006/relationships/slide" Target="/ppt/slides/slide11.xml" Id="R0e60bbf0c7e04717" /><Relationship Type="http://schemas.openxmlformats.org/officeDocument/2006/relationships/slide" Target="/ppt/slides/slide12.xml" Id="Rea246a07e11e4f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72b2a7a5704a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ba76295a3b493e" /><Relationship Type="http://schemas.openxmlformats.org/officeDocument/2006/relationships/notesMaster" Target="/ppt/notesMasters/notesMaster1.xml" Id="Rb48320c3c3a64c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64c181cd14880" /><Relationship Type="http://schemas.openxmlformats.org/officeDocument/2006/relationships/notesMaster" Target="/ppt/notesMasters/notesMaster1.xml" Id="R4aeaf4305cd24b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1895a8c00a4be4" /><Relationship Type="http://schemas.openxmlformats.org/officeDocument/2006/relationships/notesMaster" Target="/ppt/notesMasters/notesMaster1.xml" Id="R188bed61359a45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e3a256b8184387" /><Relationship Type="http://schemas.openxmlformats.org/officeDocument/2006/relationships/notesMaster" Target="/ppt/notesMasters/notesMaster1.xml" Id="R53844ab318794a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b0806d73884da6" /><Relationship Type="http://schemas.openxmlformats.org/officeDocument/2006/relationships/notesMaster" Target="/ppt/notesMasters/notesMaster1.xml" Id="R959fd329296649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61fbfb090842a4" /><Relationship Type="http://schemas.openxmlformats.org/officeDocument/2006/relationships/notesMaster" Target="/ppt/notesMasters/notesMaster1.xml" Id="R9349f915adbd4e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db89890c724738" /><Relationship Type="http://schemas.openxmlformats.org/officeDocument/2006/relationships/notesMaster" Target="/ppt/notesMasters/notesMaster1.xml" Id="R281828d153884c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b55ec2df294ff6" /><Relationship Type="http://schemas.openxmlformats.org/officeDocument/2006/relationships/notesMaster" Target="/ppt/notesMasters/notesMaster1.xml" Id="Rd02f1f1ee4004a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979c3dda2d4234" /><Relationship Type="http://schemas.openxmlformats.org/officeDocument/2006/relationships/notesMaster" Target="/ppt/notesMasters/notesMaster1.xml" Id="R2bf207e26edb46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c3244f64724db1" /><Relationship Type="http://schemas.openxmlformats.org/officeDocument/2006/relationships/notesMaster" Target="/ppt/notesMasters/notesMaster1.xml" Id="R213413de6f1840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0a3a9efa6ea4113" /><Relationship Type="http://schemas.openxmlformats.org/officeDocument/2006/relationships/notesMaster" Target="/ppt/notesMasters/notesMaster1.xml" Id="Rf10a88058df8438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ff28f38d2f446e" /><Relationship Type="http://schemas.openxmlformats.org/officeDocument/2006/relationships/notesMaster" Target="/ppt/notesMasters/notesMaster1.xml" Id="R9d302846364d43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problem: fluent language is not yet dependable application data. This lesson builds three controls in sequence—examples for judgment, schemas for shape, and finance validation for meaning.</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two systems. The model is optimized to generate language; the application needs stable fields, types, and explicit failure states. Structured output solves the interface problem, while later checks solve the finance problem.</a:t>
            </a:r>
          </a:p>
          <a:p xmlns:a="http://schemas.openxmlformats.org/drawingml/2006/main">
            <a:r>
              <a:t/>
            </a:r>
          </a:p>
          <a:p xmlns:a="http://schemas.openxmlformats.org/drawingml/2006/main">
            <a:r>
              <a:t>[Sources]</a:t>
            </a:r>
          </a:p>
          <a:p xmlns:a="http://schemas.openxmlformats.org/drawingml/2006/main">
            <a:r>
              <a:t>- https://developers.openai.com/api/docs/guides/structured-outputs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workflow to make the discipline visible: define the task, write a prompt, test it, evaluate outputs, refine, and ship only after the behavior is repeatable. The loop matters because prompt quality is empirical, not self-evident. Diagram adapted from Google's published prompt design workflow for this finance lesson.</a:t>
            </a:r>
          </a:p>
          <a:p xmlns:a="http://schemas.openxmlformats.org/drawingml/2006/main">
            <a:r>
              <a:t/>
            </a:r>
          </a:p>
          <a:p xmlns:a="http://schemas.openxmlformats.org/drawingml/2006/main">
            <a:r>
              <a:t>[Sources]</a:t>
            </a:r>
          </a:p>
          <a:p xmlns:a="http://schemas.openxmlformats.org/drawingml/2006/main">
            <a:r>
              <a:t>- https://docs.cloud.google.com/gemini-enterprise-agent-platform/models/prompts/prompt-design-strategies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EXAMPLES 3 label in Anthropic Workbench. Examples are not decoration: they demonstrate the mapping from an input situation to the desired response pattern. For finance, examples can distinguish reported fact, interpretation, and an honest caveat.</a:t>
            </a:r>
          </a:p>
          <a:p xmlns:a="http://schemas.openxmlformats.org/drawingml/2006/main">
            <a:r>
              <a:t/>
            </a:r>
          </a:p>
          <a:p xmlns:a="http://schemas.openxmlformats.org/drawingml/2006/main">
            <a:r>
              <a:t>[Sources]</a:t>
            </a:r>
          </a:p>
          <a:p xmlns:a="http://schemas.openxmlformats.org/drawingml/2006/main">
            <a:r>
              <a:t>- https://claude.com/blog/prompt-improver</a:t>
            </a:r>
          </a:p>
          <a:p xmlns:a="http://schemas.openxmlformats.org/drawingml/2006/main">
            <a:r>
              <a:t>- https://platform.claude.com/docs/en/build-with-claude/prompt-engineering/claude-prompting-best-practices</a:t>
            </a:r>
          </a:p>
          <a:p xmlns:a="http://schemas.openxmlformats.org/drawingml/2006/main">
            <a:r>
              <a:t>- https://developers.openai.com/api/docs/guides/prompt-engineering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Zero-shot gives only instructions. One-shot demonstrates one mapping. Few-shot reveals repeated patterns and boundary cases. Anthropic recommends relevant, diverse examples and generally suggests three to five; OpenAI likewise describes few-shot prompting as learning from input/output examples.</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https://platform.claude.com/docs/en/build-with-claude/prompt-engineering/claude-prompting-best-practices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distinction explicit. Examples provide behavioral evidence; the schema provides a machine-checkable interface. Neither replaces the other, and neither establishes factual truth by itself.</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 https://platform.claude.com/docs/en/build-with-claude/structured-outputs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reports OpenAI's 2024 complex JSON-schema evaluation. The gpt-4o-2024-08-06 model with strict Structured Outputs reached 100% schema matching in that published eval. Treat this as evidence for format reliability in the tested setting—not as a universal correctness or truth guarantee.</a:t>
            </a:r>
          </a:p>
          <a:p xmlns:a="http://schemas.openxmlformats.org/drawingml/2006/main">
            <a:r>
              <a:t/>
            </a:r>
          </a:p>
          <a:p xmlns:a="http://schemas.openxmlformats.org/drawingml/2006/main">
            <a:r>
              <a:t>[Sources]</a:t>
            </a:r>
          </a:p>
          <a:p xmlns:a="http://schemas.openxmlformats.org/drawingml/2006/main">
            <a:r>
              <a:t>- https://openai.com/index/introducing-structured-outputs-in-the-api/</a:t>
            </a:r>
          </a:p>
          <a:p xmlns:a="http://schemas.openxmlformats.org/drawingml/2006/main">
            <a:r>
              <a:t>- https://developers.openai.com/api/docs/guides/structured-outputs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 can be valid JSON and satisfy every schema constraint while the claim remains unsupported. The finance layer must check whether the source excerpt supports the wording, including absolute terms such as “entirely.”</a:t>
            </a:r>
          </a:p>
          <a:p xmlns:a="http://schemas.openxmlformats.org/drawingml/2006/main">
            <a:r>
              <a:t/>
            </a:r>
          </a:p>
          <a:p xmlns:a="http://schemas.openxmlformats.org/drawingml/2006/main">
            <a:r>
              <a:t>[Sources]</a:t>
            </a:r>
          </a:p>
          <a:p xmlns:a="http://schemas.openxmlformats.org/drawingml/2006/main">
            <a:r>
              <a:t>- https://developers.openai.com/api/docs/guides/structured-outputs</a:t>
            </a:r>
          </a:p>
          <a:p xmlns:a="http://schemas.openxmlformats.org/drawingml/2006/main">
            <a:r>
              <a:t>- https://www.sec.gov/Archives/edgar/data/1045810/000104581026000021/nvda-20260125.htm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as the lesson backbone. Source evidence and examples shape the generation. The schema gate checks the object's structure. Finance rules then check evidence support, semantic meaning, and required coverage before the application accepts the brief.</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 https://www.sec.gov/Archives/edgar/data/1045810/000104581026000021/nvda-20260125.htm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is deliberately compact. Students make two small unstructured calls to compare zero-shot and genuine few-shot behavior, then one schema-bound call. The final validation exercise proves that valid shape can still fail finance semantics.</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 https://www.sec.gov/Archives/edgar/data/1045810/000104581026000021/nvda-20260125.htm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for one letter per question, then ask one learner to explain the difference between behavior, shape, and meaning.</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mnemonic: examples for behavior, schemas for shape, finance validation for meaning. Ask learners to name which control they would add when an output is fluent but inconsistent, parseable but unsupported, or missing a required field.</a:t>
            </a:r>
          </a:p>
          <a:p xmlns:a="http://schemas.openxmlformats.org/drawingml/2006/main">
            <a:r>
              <a:t/>
            </a:r>
          </a:p>
          <a:p xmlns:a="http://schemas.openxmlformats.org/drawingml/2006/main">
            <a:r>
              <a:t>[Sources]</a:t>
            </a:r>
          </a:p>
          <a:p xmlns:a="http://schemas.openxmlformats.org/drawingml/2006/main">
            <a:r>
              <a:t>- https://developers.openai.com/api/docs/guides/prompt-engineering</a:t>
            </a:r>
          </a:p>
          <a:p xmlns:a="http://schemas.openxmlformats.org/drawingml/2006/main">
            <a:r>
              <a:t>- https://developers.openai.com/api/docs/guides/structured-outputs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45d812f93d49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7f74225a5b42f9" /><Relationship Type="http://schemas.openxmlformats.org/officeDocument/2006/relationships/slideLayout" Target="/ppt/slideLayouts/slideLayout1.xml" Id="Ra7ed311fd4f845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ed311fd4f845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dfaebcfd9746b6" /><Relationship Type="http://schemas.openxmlformats.org/officeDocument/2006/relationships/notesSlide" Target="/ppt/notesSlides/notesSlide1.xml" Id="Rb08123d1098f4e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dcbaffc0e6428c" /><Relationship Type="http://schemas.openxmlformats.org/officeDocument/2006/relationships/notesSlide" Target="/ppt/notesSlides/notesSlide2.xml" Id="R86a92e929c7847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86c07d0a2a24dc3" /><Relationship Type="http://schemas.openxmlformats.org/officeDocument/2006/relationships/image" Target="/ppt/media/image.png" Id="Rbd82b2641527471f" /><Relationship Type="http://schemas.openxmlformats.org/officeDocument/2006/relationships/notesSlide" Target="/ppt/notesSlides/notesSlide3.xml" Id="R3461c56895d0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e3ddc129154b96" /><Relationship Type="http://schemas.openxmlformats.org/officeDocument/2006/relationships/image" Target="/ppt/media/image.jpeg" Id="Rb7c745dcc89c4911" /><Relationship Type="http://schemas.openxmlformats.org/officeDocument/2006/relationships/notesSlide" Target="/ppt/notesSlides/notesSlide4.xml" Id="R03300201a0404c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81b84d793f4467" /><Relationship Type="http://schemas.openxmlformats.org/officeDocument/2006/relationships/notesSlide" Target="/ppt/notesSlides/notesSlide5.xml" Id="Rd9494a7c4d8c46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0e5e1c123f54cdb" /><Relationship Type="http://schemas.openxmlformats.org/officeDocument/2006/relationships/notesSlide" Target="/ppt/notesSlides/notesSlide6.xml" Id="R3c1c680182634d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645bebaf1a4ff4" /><Relationship Type="http://schemas.openxmlformats.org/officeDocument/2006/relationships/image" Target="/ppt/media/image2.png" Id="Rebbecfaa6290403f" /><Relationship Type="http://schemas.openxmlformats.org/officeDocument/2006/relationships/notesSlide" Target="/ppt/notesSlides/notesSlide7.xml" Id="R000be8b082ea40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6db72f54b448f7" /><Relationship Type="http://schemas.openxmlformats.org/officeDocument/2006/relationships/notesSlide" Target="/ppt/notesSlides/notesSlide8.xml" Id="Rdf1e91bbbd2043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64c651daf74c6d" /><Relationship Type="http://schemas.openxmlformats.org/officeDocument/2006/relationships/notesSlide" Target="/ppt/notesSlides/notesSlide9.xml" Id="Rfbf735cc53024c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fe1702a8584a9b" /><Relationship Type="http://schemas.openxmlformats.org/officeDocument/2006/relationships/notesSlide" Target="/ppt/notesSlides/notesSlide10.xml" Id="R0a444ad151ce4c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5788ffe0ce54bc5" /><Relationship Type="http://schemas.openxmlformats.org/officeDocument/2006/relationships/notesSlide" Target="/ppt/notesSlides/notesSlide11.xml" Id="Rf1df6ed157644b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b65bef2b43b483b" /><Relationship Type="http://schemas.openxmlformats.org/officeDocument/2006/relationships/notesSlide" Target="/ppt/notesSlides/notesSlide12.xml" Id="R8b1635ed6d0042ea" /></Relationships>
</file>

<file path=ppt/slides/slide1.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91AC7A-C390-4918-960F-B031B7C93A63}"/>
              </a:ext>
            </a:extLst>
          </p:cNvPr>
          <p:cNvSpPr>
            <a:spLocks xmlns:a="http://schemas.openxmlformats.org/drawingml/2006/main" noGrp="1"/>
          </p:cNvSpPr>
          <p:nvPr/>
        </p:nvSpPr>
        <p:spPr>
          <a:xfrm xmlns:a="http://schemas.openxmlformats.org/drawingml/2006/main">
            <a:off x="971550" y="781050"/>
            <a:ext cx="1257300" cy="76200"/>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 name="">
            <a:extLst xmlns:a="http://schemas.openxmlformats.org/drawingml/2006/main">
              <a:ext uri="{FF2B5EF4-FFF2-40B4-BE49-F238E27FC236}">
                <a16:creationId xmlns:a16="http://schemas.microsoft.com/office/drawing/2014/main" id="{64682EC5-19B2-4E56-87B3-7ADF11BC6291}"/>
              </a:ext>
            </a:extLst>
          </p:cNvPr>
          <p:cNvSpPr>
            <a:spLocks xmlns:a="http://schemas.openxmlformats.org/drawingml/2006/main" noGrp="1"/>
          </p:cNvSpPr>
          <p:nvPr/>
        </p:nvSpPr>
        <p:spPr>
          <a:xfrm xmlns:a="http://schemas.openxmlformats.org/drawingml/2006/main">
            <a:off x="971550" y="11049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00" b="1">
                <a:solidFill>
                  <a:srgbClr val="1F40CB"/>
                </a:solidFill>
                <a:latin typeface="Calibri"/>
                <a:ea typeface="Calibri"/>
                <a:cs typeface="Calibri"/>
              </a:defRPr>
            </a:pPr>
            <a:r>
              <a:rPr sz="1500" b="1">
                <a:solidFill>
                  <a:srgbClr val="1F40CB"/>
                </a:solidFill>
                <a:latin typeface="Calibri"/>
                <a:ea typeface="Calibri"/>
                <a:cs typeface="Calibri"/>
              </a:rPr>
              <a:t>FIRST FINANCE</a:t>
            </a:r>
          </a:p>
        </p:txBody>
      </p:sp>
      <p:sp>
        <p:nvSpPr>
          <p:cNvPr id="3" name="">
            <a:extLst xmlns:a="http://schemas.openxmlformats.org/drawingml/2006/main">
              <a:ext uri="{FF2B5EF4-FFF2-40B4-BE49-F238E27FC236}">
                <a16:creationId xmlns:a16="http://schemas.microsoft.com/office/drawing/2014/main" id="{728B1E4B-A80D-4DD8-B9C5-6F19ACF9BC87}"/>
              </a:ext>
            </a:extLst>
          </p:cNvPr>
          <p:cNvSpPr>
            <a:spLocks xmlns:a="http://schemas.openxmlformats.org/drawingml/2006/main" noGrp="1"/>
          </p:cNvSpPr>
          <p:nvPr/>
        </p:nvSpPr>
        <p:spPr>
          <a:xfrm xmlns:a="http://schemas.openxmlformats.org/drawingml/2006/main">
            <a:off x="971550" y="2400300"/>
            <a:ext cx="9334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950" b="1">
                <a:solidFill>
                  <a:srgbClr val="051C2A"/>
                </a:solidFill>
                <a:latin typeface="Calibri"/>
                <a:ea typeface="Calibri"/>
                <a:cs typeface="Calibri"/>
              </a:defRPr>
            </a:pPr>
            <a:r>
              <a:rPr sz="4950" b="1">
                <a:solidFill>
                  <a:srgbClr val="051C2A"/>
                </a:solidFill>
                <a:latin typeface="Calibri"/>
                <a:ea typeface="Calibri"/>
                <a:cs typeface="Calibri"/>
              </a:rPr>
              <a:t>Prompt to Product Contract</a:t>
            </a:r>
          </a:p>
        </p:txBody>
      </p:sp>
      <p:sp>
        <p:nvSpPr>
          <p:cNvPr id="4" name="">
            <a:extLst xmlns:a="http://schemas.openxmlformats.org/drawingml/2006/main">
              <a:ext uri="{FF2B5EF4-FFF2-40B4-BE49-F238E27FC236}">
                <a16:creationId xmlns:a16="http://schemas.microsoft.com/office/drawing/2014/main" id="{EE83E63A-968D-469D-97F9-C2D3B82A7E4D}"/>
              </a:ext>
            </a:extLst>
          </p:cNvPr>
          <p:cNvSpPr>
            <a:spLocks xmlns:a="http://schemas.openxmlformats.org/drawingml/2006/main" noGrp="1"/>
          </p:cNvSpPr>
          <p:nvPr/>
        </p:nvSpPr>
        <p:spPr>
          <a:xfrm xmlns:a="http://schemas.openxmlformats.org/drawingml/2006/main">
            <a:off x="971550" y="3638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400">
                <a:solidFill>
                  <a:srgbClr val="373738"/>
                </a:solidFill>
                <a:latin typeface="Calibri"/>
                <a:ea typeface="Calibri"/>
                <a:cs typeface="Calibri"/>
              </a:defRPr>
            </a:pPr>
            <a:r>
              <a:rPr sz="2400">
                <a:solidFill>
                  <a:srgbClr val="373738"/>
                </a:solidFill>
                <a:latin typeface="Calibri"/>
                <a:ea typeface="Calibri"/>
                <a:cs typeface="Calibri"/>
              </a:rPr>
              <a:t>Use examples to teach judgment, schemas to enforce shape, and finance rules to protect meaning.</a:t>
            </a:r>
          </a:p>
        </p:txBody>
      </p:sp>
      <p:sp>
        <p:nvSpPr>
          <p:cNvPr id="5" name="">
            <a:extLst xmlns:a="http://schemas.openxmlformats.org/drawingml/2006/main">
              <a:ext uri="{FF2B5EF4-FFF2-40B4-BE49-F238E27FC236}">
                <a16:creationId xmlns:a16="http://schemas.microsoft.com/office/drawing/2014/main" id="{001333EC-2C9C-4877-BD13-41F8B87FC676}"/>
              </a:ext>
            </a:extLst>
          </p:cNvPr>
          <p:cNvSpPr>
            <a:spLocks xmlns:a="http://schemas.openxmlformats.org/drawingml/2006/main" noGrp="1"/>
          </p:cNvSpPr>
          <p:nvPr/>
        </p:nvSpPr>
        <p:spPr>
          <a:xfrm xmlns:a="http://schemas.openxmlformats.org/drawingml/2006/main">
            <a:off x="971550" y="66103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1F40CB"/>
                </a:solidFill>
                <a:latin typeface="Calibri"/>
                <a:ea typeface="Calibri"/>
                <a:cs typeface="Calibri"/>
              </a:defRPr>
            </a:pPr>
            <a:r>
              <a:rPr sz="1425" b="1">
                <a:solidFill>
                  <a:srgbClr val="1F40CB"/>
                </a:solidFill>
                <a:latin typeface="Calibri"/>
                <a:ea typeface="Calibri"/>
                <a:cs typeface="Calibri"/>
              </a:rPr>
              <a:t>SESSION 02  ·  10:00–10:30  ·  12 MIN CONCEPTS + 18 MIN NOTEBOOK</a:t>
            </a:r>
          </a:p>
        </p:txBody>
      </p:sp>
      <p:sp>
        <p:nvSpPr>
          <p:cNvPr id="6" name="">
            <a:extLst xmlns:a="http://schemas.openxmlformats.org/drawingml/2006/main">
              <a:ext uri="{FF2B5EF4-FFF2-40B4-BE49-F238E27FC236}">
                <a16:creationId xmlns:a16="http://schemas.microsoft.com/office/drawing/2014/main" id="{C1C3877F-F854-40AF-9C55-8A4B72F80AEA}"/>
              </a:ext>
            </a:extLst>
          </p:cNvPr>
          <p:cNvSpPr>
            <a:spLocks xmlns:a="http://schemas.openxmlformats.org/drawingml/2006/main" noGrp="1"/>
          </p:cNvSpPr>
          <p:nvPr/>
        </p:nvSpPr>
        <p:spPr>
          <a:xfrm xmlns:a="http://schemas.openxmlformats.org/drawingml/2006/main">
            <a:off x="971550" y="71628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00">
                <a:solidFill>
                  <a:srgbClr val="051C2A"/>
                </a:solidFill>
                <a:latin typeface="Calibri"/>
                <a:ea typeface="Calibri"/>
                <a:cs typeface="Calibri"/>
              </a:defRPr>
            </a:pPr>
            <a:r>
              <a:rPr sz="1800">
                <a:solidFill>
                  <a:srgbClr val="051C2A"/>
                </a:solidFill>
                <a:latin typeface="Calibri"/>
                <a:ea typeface="Calibri"/>
                <a:cs typeface="Calibri"/>
              </a:rPr>
              <a:t>First Finance - Arnaud Demes</a:t>
            </a:r>
          </a:p>
        </p:txBody>
      </p:sp>
    </p:spTree>
    <p:extLst>
      <p:ext uri="{BB962C8B-B14F-4D97-AF65-F5344CB8AC3E}">
        <p14:creationId xmlns:p14="http://schemas.microsoft.com/office/powerpoint/2010/main" val="767502565"/>
      </p:ext>
    </p:extLst>
  </p:cSld>
</p:sld>
</file>

<file path=ppt/slides/slide2.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EB10B4-0FED-42C3-8AA0-5BAB4CEF90E7}"/>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CORE PROBLEM</a:t>
            </a:r>
          </a:p>
        </p:txBody>
      </p:sp>
      <p:sp>
        <p:nvSpPr>
          <p:cNvPr id="2" name="">
            <a:extLst xmlns:a="http://schemas.openxmlformats.org/drawingml/2006/main">
              <a:ext uri="{FF2B5EF4-FFF2-40B4-BE49-F238E27FC236}">
                <a16:creationId xmlns:a16="http://schemas.microsoft.com/office/drawing/2014/main" id="{865BB064-4AE8-44EA-963D-8F76C6A28D53}"/>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Software cannot depend on free-form answers</a:t>
            </a:r>
          </a:p>
        </p:txBody>
      </p:sp>
      <p:sp>
        <p:nvSpPr>
          <p:cNvPr id="3" name="">
            <a:extLst xmlns:a="http://schemas.openxmlformats.org/drawingml/2006/main">
              <a:ext uri="{FF2B5EF4-FFF2-40B4-BE49-F238E27FC236}">
                <a16:creationId xmlns:a16="http://schemas.microsoft.com/office/drawing/2014/main" id="{51CA505F-3B0C-49A0-98CF-6D6175D62EAB}"/>
              </a:ext>
            </a:extLst>
          </p:cNvPr>
          <p:cNvSpPr>
            <a:spLocks xmlns:a="http://schemas.openxmlformats.org/drawingml/2006/main" noGrp="1"/>
          </p:cNvSpPr>
          <p:nvPr/>
        </p:nvSpPr>
        <p:spPr>
          <a:xfrm xmlns:a="http://schemas.openxmlformats.org/drawingml/2006/main">
            <a:off x="1066800" y="2857500"/>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350" b="1">
                <a:solidFill>
                  <a:srgbClr val="051C2A"/>
                </a:solidFill>
                <a:latin typeface="Calibri"/>
                <a:ea typeface="Calibri"/>
                <a:cs typeface="Calibri"/>
              </a:defRPr>
            </a:pPr>
            <a:r>
              <a:rPr sz="4350" b="1">
                <a:solidFill>
                  <a:srgbClr val="051C2A"/>
                </a:solidFill>
                <a:latin typeface="Calibri"/>
                <a:ea typeface="Calibri"/>
                <a:cs typeface="Calibri"/>
              </a:rPr>
              <a:t>FLEXIBLE TEXT</a:t>
            </a:r>
          </a:p>
        </p:txBody>
      </p:sp>
      <p:sp>
        <p:nvSpPr>
          <p:cNvPr id="4" name="">
            <a:extLst xmlns:a="http://schemas.openxmlformats.org/drawingml/2006/main">
              <a:ext uri="{FF2B5EF4-FFF2-40B4-BE49-F238E27FC236}">
                <a16:creationId xmlns:a16="http://schemas.microsoft.com/office/drawing/2014/main" id="{7AD41D26-D959-489A-A086-84E330386F5D}"/>
              </a:ext>
            </a:extLst>
          </p:cNvPr>
          <p:cNvSpPr>
            <a:spLocks xmlns:a="http://schemas.openxmlformats.org/drawingml/2006/main" noGrp="1"/>
          </p:cNvSpPr>
          <p:nvPr/>
        </p:nvSpPr>
        <p:spPr>
          <a:xfrm xmlns:a="http://schemas.openxmlformats.org/drawingml/2006/main">
            <a:off x="1066800" y="3905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Flexible prose changes wording and structure from run to run.</a:t>
            </a:r>
          </a:p>
        </p:txBody>
      </p:sp>
      <p:sp>
        <p:nvSpPr>
          <p:cNvPr id="5" name="">
            <a:extLst xmlns:a="http://schemas.openxmlformats.org/drawingml/2006/main">
              <a:ext uri="{FF2B5EF4-FFF2-40B4-BE49-F238E27FC236}">
                <a16:creationId xmlns:a16="http://schemas.microsoft.com/office/drawing/2014/main" id="{5B522A8F-16AD-44AB-BA1E-BB7C095B3A39}"/>
              </a:ext>
            </a:extLst>
          </p:cNvPr>
          <p:cNvSpPr>
            <a:spLocks xmlns:a="http://schemas.openxmlformats.org/drawingml/2006/main" noGrp="1"/>
          </p:cNvSpPr>
          <p:nvPr/>
        </p:nvSpPr>
        <p:spPr>
          <a:xfrm xmlns:a="http://schemas.openxmlformats.org/drawingml/2006/main">
            <a:off x="6477000" y="2724150"/>
            <a:ext cx="19050" cy="31432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6" name="">
            <a:extLst xmlns:a="http://schemas.openxmlformats.org/drawingml/2006/main">
              <a:ext uri="{FF2B5EF4-FFF2-40B4-BE49-F238E27FC236}">
                <a16:creationId xmlns:a16="http://schemas.microsoft.com/office/drawing/2014/main" id="{3E7C6626-7591-4116-BDA4-36A1BF728E57}"/>
              </a:ext>
            </a:extLst>
          </p:cNvPr>
          <p:cNvSpPr>
            <a:spLocks xmlns:a="http://schemas.openxmlformats.org/drawingml/2006/main" noGrp="1"/>
          </p:cNvSpPr>
          <p:nvPr/>
        </p:nvSpPr>
        <p:spPr>
          <a:xfrm xmlns:a="http://schemas.openxmlformats.org/drawingml/2006/main">
            <a:off x="7239000" y="285750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350" b="1">
                <a:solidFill>
                  <a:srgbClr val="1F40CB"/>
                </a:solidFill>
                <a:latin typeface="Calibri"/>
                <a:ea typeface="Calibri"/>
                <a:cs typeface="Calibri"/>
              </a:defRPr>
            </a:pPr>
            <a:r>
              <a:rPr sz="4350" b="1">
                <a:solidFill>
                  <a:srgbClr val="1F40CB"/>
                </a:solidFill>
                <a:latin typeface="Calibri"/>
                <a:ea typeface="Calibri"/>
                <a:cs typeface="Calibri"/>
              </a:rPr>
              <a:t>STABLE DATA</a:t>
            </a:r>
          </a:p>
        </p:txBody>
      </p:sp>
      <p:sp>
        <p:nvSpPr>
          <p:cNvPr id="7" name="">
            <a:extLst xmlns:a="http://schemas.openxmlformats.org/drawingml/2006/main">
              <a:ext uri="{FF2B5EF4-FFF2-40B4-BE49-F238E27FC236}">
                <a16:creationId xmlns:a16="http://schemas.microsoft.com/office/drawing/2014/main" id="{913A65EC-CF94-4DE7-B420-D90CF126DC5B}"/>
              </a:ext>
            </a:extLst>
          </p:cNvPr>
          <p:cNvSpPr>
            <a:spLocks xmlns:a="http://schemas.openxmlformats.org/drawingml/2006/main" noGrp="1"/>
          </p:cNvSpPr>
          <p:nvPr/>
        </p:nvSpPr>
        <p:spPr>
          <a:xfrm xmlns:a="http://schemas.openxmlformats.org/drawingml/2006/main">
            <a:off x="7239000" y="39052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Stable fields let code parse, validate and route the result.</a:t>
            </a:r>
          </a:p>
        </p:txBody>
      </p:sp>
      <p:sp>
        <p:nvSpPr>
          <p:cNvPr id="8" name="">
            <a:extLst xmlns:a="http://schemas.openxmlformats.org/drawingml/2006/main">
              <a:ext uri="{FF2B5EF4-FFF2-40B4-BE49-F238E27FC236}">
                <a16:creationId xmlns:a16="http://schemas.microsoft.com/office/drawing/2014/main" id="{C08E439B-7E83-494E-A3B5-46C4B69928CF}"/>
              </a:ext>
            </a:extLst>
          </p:cNvPr>
          <p:cNvSpPr>
            <a:spLocks xmlns:a="http://schemas.openxmlformats.org/drawingml/2006/main" noGrp="1"/>
          </p:cNvSpPr>
          <p:nvPr/>
        </p:nvSpPr>
        <p:spPr>
          <a:xfrm xmlns:a="http://schemas.openxmlformats.org/drawingml/2006/main">
            <a:off x="1066800" y="49530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725" b="1">
                <a:solidFill>
                  <a:srgbClr val="051C2A"/>
                </a:solidFill>
                <a:latin typeface="Calibri"/>
                <a:ea typeface="Calibri"/>
                <a:cs typeface="Calibri"/>
              </a:defRPr>
            </a:pPr>
            <a:r>
              <a:rPr sz="1725" b="1">
                <a:solidFill>
                  <a:srgbClr val="051C2A"/>
                </a:solidFill>
                <a:latin typeface="Calibri"/>
                <a:ea typeface="Calibri"/>
                <a:cs typeface="Calibri"/>
              </a:rPr>
              <a:t>[FREE FORM]  fluent · variable · hard to test</a:t>
            </a:r>
          </a:p>
        </p:txBody>
      </p:sp>
      <p:sp>
        <p:nvSpPr>
          <p:cNvPr id="9" name="">
            <a:extLst xmlns:a="http://schemas.openxmlformats.org/drawingml/2006/main">
              <a:ext uri="{FF2B5EF4-FFF2-40B4-BE49-F238E27FC236}">
                <a16:creationId xmlns:a16="http://schemas.microsoft.com/office/drawing/2014/main" id="{C6B113A5-935F-4D64-84B0-5B781937EF01}"/>
              </a:ext>
            </a:extLst>
          </p:cNvPr>
          <p:cNvSpPr>
            <a:spLocks xmlns:a="http://schemas.openxmlformats.org/drawingml/2006/main" noGrp="1"/>
          </p:cNvSpPr>
          <p:nvPr/>
        </p:nvSpPr>
        <p:spPr>
          <a:xfrm xmlns:a="http://schemas.openxmlformats.org/drawingml/2006/main">
            <a:off x="7239000" y="49530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725" b="1">
                <a:solidFill>
                  <a:srgbClr val="F07D00"/>
                </a:solidFill>
                <a:latin typeface="Calibri"/>
                <a:ea typeface="Calibri"/>
                <a:cs typeface="Calibri"/>
              </a:defRPr>
            </a:pPr>
            <a:r>
              <a:rPr sz="1725" b="1">
                <a:solidFill>
                  <a:srgbClr val="F07D00"/>
                </a:solidFill>
                <a:latin typeface="Calibri"/>
                <a:ea typeface="Calibri"/>
                <a:cs typeface="Calibri"/>
              </a:rPr>
              <a:t>[CONTRACT]  typed · predictable · observable</a:t>
            </a:r>
          </a:p>
        </p:txBody>
      </p:sp>
      <p:sp>
        <p:nvSpPr>
          <p:cNvPr id="10" name="">
            <a:extLst xmlns:a="http://schemas.openxmlformats.org/drawingml/2006/main">
              <a:ext uri="{FF2B5EF4-FFF2-40B4-BE49-F238E27FC236}">
                <a16:creationId xmlns:a16="http://schemas.microsoft.com/office/drawing/2014/main" id="{C0422730-1A2F-437A-8161-C3EA5A7E3843}"/>
              </a:ext>
            </a:extLst>
          </p:cNvPr>
          <p:cNvSpPr>
            <a:spLocks xmlns:a="http://schemas.openxmlformats.org/drawingml/2006/main" noGrp="1"/>
          </p:cNvSpPr>
          <p:nvPr/>
        </p:nvSpPr>
        <p:spPr>
          <a:xfrm xmlns:a="http://schemas.openxmlformats.org/drawingml/2006/main">
            <a:off x="1066800" y="6343650"/>
            <a:ext cx="1181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A structured response creates an application boundary—not a truth guarantee.</a:t>
            </a:r>
          </a:p>
        </p:txBody>
      </p:sp>
      <p:sp>
        <p:nvSpPr>
          <p:cNvPr id="11" name="">
            <a:extLst xmlns:a="http://schemas.openxmlformats.org/drawingml/2006/main">
              <a:ext uri="{FF2B5EF4-FFF2-40B4-BE49-F238E27FC236}">
                <a16:creationId xmlns:a16="http://schemas.microsoft.com/office/drawing/2014/main" id="{1CA99A9B-F12A-48FE-953D-620804A38EED}"/>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2" name="">
            <a:extLst xmlns:a="http://schemas.openxmlformats.org/drawingml/2006/main">
              <a:ext uri="{FF2B5EF4-FFF2-40B4-BE49-F238E27FC236}">
                <a16:creationId xmlns:a16="http://schemas.microsoft.com/office/drawing/2014/main" id="{3D4C9EE8-1362-49E4-BFD2-8CCFD9A293C5}"/>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3" name="">
            <a:extLst xmlns:a="http://schemas.openxmlformats.org/drawingml/2006/main">
              <a:ext uri="{FF2B5EF4-FFF2-40B4-BE49-F238E27FC236}">
                <a16:creationId xmlns:a16="http://schemas.microsoft.com/office/drawing/2014/main" id="{24206614-6877-4386-9D02-F474A613C115}"/>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4" name="">
            <a:extLst xmlns:a="http://schemas.openxmlformats.org/drawingml/2006/main">
              <a:ext uri="{FF2B5EF4-FFF2-40B4-BE49-F238E27FC236}">
                <a16:creationId xmlns:a16="http://schemas.microsoft.com/office/drawing/2014/main" id="{7B1FCDDD-754E-4B46-A9F3-09ADE649CF72}"/>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WHY</a:t>
            </a:r>
          </a:p>
        </p:txBody>
      </p:sp>
      <p:sp>
        <p:nvSpPr>
          <p:cNvPr id="15" name="">
            <a:extLst xmlns:a="http://schemas.openxmlformats.org/drawingml/2006/main">
              <a:ext uri="{FF2B5EF4-FFF2-40B4-BE49-F238E27FC236}">
                <a16:creationId xmlns:a16="http://schemas.microsoft.com/office/drawing/2014/main" id="{62F3E1F1-C1E6-4C5D-B5BB-8ED1767C9D2F}"/>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02</a:t>
            </a:r>
          </a:p>
        </p:txBody>
      </p:sp>
    </p:spTree>
    <p:extLst>
      <p:ext uri="{BB962C8B-B14F-4D97-AF65-F5344CB8AC3E}">
        <p14:creationId xmlns:p14="http://schemas.microsoft.com/office/powerpoint/2010/main" val="1878034231"/>
      </p:ext>
    </p:extLst>
  </p:cSld>
</p:sld>
</file>

<file path=ppt/slides/slide3.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5AB1E4-42AC-4F38-9832-61AB9F79D31D}"/>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DESIGN LOOP</a:t>
            </a:r>
          </a:p>
        </p:txBody>
      </p:sp>
      <p:sp>
        <p:nvSpPr>
          <p:cNvPr id="2" name="">
            <a:extLst xmlns:a="http://schemas.openxmlformats.org/drawingml/2006/main">
              <a:ext uri="{FF2B5EF4-FFF2-40B4-BE49-F238E27FC236}">
                <a16:creationId xmlns:a16="http://schemas.microsoft.com/office/drawing/2014/main" id="{4FC87317-1AE5-4283-B66E-4DB26DCD07BA}"/>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Prompt engineering is a test-and-refine loop</a:t>
            </a:r>
          </a:p>
        </p:txBody>
      </p:sp>
      <p:sp>
        <p:nvSpPr>
          <p:cNvPr id="3" name="">
            <a:extLst xmlns:a="http://schemas.openxmlformats.org/drawingml/2006/main">
              <a:ext uri="{FF2B5EF4-FFF2-40B4-BE49-F238E27FC236}">
                <a16:creationId xmlns:a16="http://schemas.microsoft.com/office/drawing/2014/main" id="{2225C689-54CE-4FC2-A8FF-E88EDD6E73E1}"/>
              </a:ext>
            </a:extLst>
          </p:cNvPr>
          <p:cNvSpPr>
            <a:spLocks xmlns:a="http://schemas.openxmlformats.org/drawingml/2006/main" noGrp="1"/>
          </p:cNvSpPr>
          <p:nvPr/>
        </p:nvSpPr>
        <p:spPr>
          <a:xfrm xmlns:a="http://schemas.openxmlformats.org/drawingml/2006/main">
            <a:off x="1066800" y="28765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1F40CB"/>
                </a:solidFill>
                <a:latin typeface="Calibri"/>
                <a:ea typeface="Calibri"/>
                <a:cs typeface="Calibri"/>
              </a:defRPr>
            </a:pPr>
            <a:r>
              <a:rPr sz="1575" b="1">
                <a:solidFill>
                  <a:srgbClr val="1F40CB"/>
                </a:solidFill>
                <a:latin typeface="Calibri"/>
                <a:ea typeface="Calibri"/>
                <a:cs typeface="Calibri"/>
              </a:rPr>
              <a:t>WHY IT MATTERS</a:t>
            </a:r>
          </a:p>
        </p:txBody>
      </p:sp>
      <p:sp>
        <p:nvSpPr>
          <p:cNvPr id="4" name="">
            <a:extLst xmlns:a="http://schemas.openxmlformats.org/drawingml/2006/main">
              <a:ext uri="{FF2B5EF4-FFF2-40B4-BE49-F238E27FC236}">
                <a16:creationId xmlns:a16="http://schemas.microsoft.com/office/drawing/2014/main" id="{AB35474F-D624-489B-92E8-BD4182BDBA92}"/>
              </a:ext>
            </a:extLst>
          </p:cNvPr>
          <p:cNvSpPr>
            <a:spLocks xmlns:a="http://schemas.openxmlformats.org/drawingml/2006/main" noGrp="1"/>
          </p:cNvSpPr>
          <p:nvPr/>
        </p:nvSpPr>
        <p:spPr>
          <a:xfrm xmlns:a="http://schemas.openxmlformats.org/drawingml/2006/main">
            <a:off x="1066800" y="33528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A prompt is a hypothesis about how the model will behave.</a:t>
            </a:r>
          </a:p>
        </p:txBody>
      </p:sp>
      <p:sp>
        <p:nvSpPr>
          <p:cNvPr id="5" name="">
            <a:extLst xmlns:a="http://schemas.openxmlformats.org/drawingml/2006/main">
              <a:ext uri="{FF2B5EF4-FFF2-40B4-BE49-F238E27FC236}">
                <a16:creationId xmlns:a16="http://schemas.microsoft.com/office/drawing/2014/main" id="{CB6A7CE9-8603-4733-86A0-820430368077}"/>
              </a:ext>
            </a:extLst>
          </p:cNvPr>
          <p:cNvSpPr>
            <a:spLocks xmlns:a="http://schemas.openxmlformats.org/drawingml/2006/main" noGrp="1"/>
          </p:cNvSpPr>
          <p:nvPr/>
        </p:nvSpPr>
        <p:spPr>
          <a:xfrm xmlns:a="http://schemas.openxmlformats.org/drawingml/2006/main">
            <a:off x="1066800" y="4324350"/>
            <a:ext cx="4095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6" name="">
            <a:extLst xmlns:a="http://schemas.openxmlformats.org/drawingml/2006/main">
              <a:ext uri="{FF2B5EF4-FFF2-40B4-BE49-F238E27FC236}">
                <a16:creationId xmlns:a16="http://schemas.microsoft.com/office/drawing/2014/main" id="{48208B5E-14CF-4E16-BADC-18EA4B95A2C8}"/>
              </a:ext>
            </a:extLst>
          </p:cNvPr>
          <p:cNvSpPr>
            <a:spLocks xmlns:a="http://schemas.openxmlformats.org/drawingml/2006/main" noGrp="1"/>
          </p:cNvSpPr>
          <p:nvPr/>
        </p:nvSpPr>
        <p:spPr>
          <a:xfrm xmlns:a="http://schemas.openxmlformats.org/drawingml/2006/main">
            <a:off x="1066800" y="46863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00A2EB"/>
                </a:solidFill>
                <a:latin typeface="Calibri"/>
                <a:ea typeface="Calibri"/>
                <a:cs typeface="Calibri"/>
              </a:defRPr>
            </a:pPr>
            <a:r>
              <a:rPr sz="1575" b="1">
                <a:solidFill>
                  <a:srgbClr val="00A2EB"/>
                </a:solidFill>
                <a:latin typeface="Calibri"/>
                <a:ea typeface="Calibri"/>
                <a:cs typeface="Calibri"/>
              </a:rPr>
              <a:t>SHIP CONDITION</a:t>
            </a:r>
          </a:p>
        </p:txBody>
      </p:sp>
      <p:sp>
        <p:nvSpPr>
          <p:cNvPr id="7" name="">
            <a:extLst xmlns:a="http://schemas.openxmlformats.org/drawingml/2006/main">
              <a:ext uri="{FF2B5EF4-FFF2-40B4-BE49-F238E27FC236}">
                <a16:creationId xmlns:a16="http://schemas.microsoft.com/office/drawing/2014/main" id="{5324DF7E-874E-4566-BFD4-563B7D2DC563}"/>
              </a:ext>
            </a:extLst>
          </p:cNvPr>
          <p:cNvSpPr>
            <a:spLocks xmlns:a="http://schemas.openxmlformats.org/drawingml/2006/main" noGrp="1"/>
          </p:cNvSpPr>
          <p:nvPr/>
        </p:nvSpPr>
        <p:spPr>
          <a:xfrm xmlns:a="http://schemas.openxmlformats.org/drawingml/2006/main">
            <a:off x="1066800" y="51625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Promote only after examples pass repeatable checks.</a:t>
            </a:r>
          </a:p>
        </p:txBody>
      </p:sp>
      <p:sp>
        <p:nvSpPr>
          <p:cNvPr id="14" name="">
            <a:extLst xmlns:a="http://schemas.openxmlformats.org/drawingml/2006/main">
              <a:ext uri="{FF2B5EF4-FFF2-40B4-BE49-F238E27FC236}">
                <a16:creationId xmlns:a16="http://schemas.microsoft.com/office/drawing/2014/main" id="{12ABA0A2-12FF-4F25-862C-AE57B2222EEA}"/>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DABD8D42-E860-4B95-87E4-3C7FF1FC93AE}"/>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6" name="">
            <a:extLst xmlns:a="http://schemas.openxmlformats.org/drawingml/2006/main">
              <a:ext uri="{FF2B5EF4-FFF2-40B4-BE49-F238E27FC236}">
                <a16:creationId xmlns:a16="http://schemas.microsoft.com/office/drawing/2014/main" id="{97D224F1-4BCA-4A2F-84C4-3FDCAE79E925}"/>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7" name="">
            <a:extLst xmlns:a="http://schemas.openxmlformats.org/drawingml/2006/main">
              <a:ext uri="{FF2B5EF4-FFF2-40B4-BE49-F238E27FC236}">
                <a16:creationId xmlns:a16="http://schemas.microsoft.com/office/drawing/2014/main" id="{E854E057-3E14-470C-8862-AC0BFD9D53C6}"/>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ADAPTED · GOOGLE</a:t>
            </a:r>
          </a:p>
        </p:txBody>
      </p:sp>
      <p:sp>
        <p:nvSpPr>
          <p:cNvPr id="18" name="">
            <a:extLst xmlns:a="http://schemas.openxmlformats.org/drawingml/2006/main">
              <a:ext uri="{FF2B5EF4-FFF2-40B4-BE49-F238E27FC236}">
                <a16:creationId xmlns:a16="http://schemas.microsoft.com/office/drawing/2014/main" id="{7AADE638-85F0-4B8A-A0CD-DDDC9FD4291B}"/>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03</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d82b2641527471f"/>
          <a:stretch xmlns:a="http://schemas.openxmlformats.org/drawingml/2006/main"/>
        </p:blipFill>
        <p:spPr>
          <a:xfrm xmlns:a="http://schemas.openxmlformats.org/drawingml/2006/main">
            <a:off x="6323631" y="2667166"/>
            <a:ext cx="7545737" cy="3904919"/>
          </a:xfrm>
          <a:prstGeom xmlns:a="http://schemas.openxmlformats.org/drawingml/2006/main" prst="rect">
            <a:avLst/>
          </a:prstGeom>
        </p:spPr>
      </p:pic>
    </p:spTree>
    <p:extLst>
      <p:ext uri="{BB962C8B-B14F-4D97-AF65-F5344CB8AC3E}">
        <p14:creationId xmlns:p14="http://schemas.microsoft.com/office/powerpoint/2010/main" val="772363078"/>
      </p:ext>
    </p:extLst>
  </p:cSld>
</p:sld>
</file>

<file path=ppt/slides/slide4.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5AB1E4-42AC-4F38-9832-61AB9F79D31D}"/>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FEW-SHOT LEARNING</a:t>
            </a:r>
          </a:p>
        </p:txBody>
      </p:sp>
      <p:sp>
        <p:nvSpPr>
          <p:cNvPr id="2" name="">
            <a:extLst xmlns:a="http://schemas.openxmlformats.org/drawingml/2006/main">
              <a:ext uri="{FF2B5EF4-FFF2-40B4-BE49-F238E27FC236}">
                <a16:creationId xmlns:a16="http://schemas.microsoft.com/office/drawing/2014/main" id="{4FC87317-1AE5-4283-B66E-4DB26DCD07BA}"/>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Examples teach patterns instructions leave implicit</a:t>
            </a:r>
          </a:p>
        </p:txBody>
      </p:sp>
      <p:sp>
        <p:nvSpPr>
          <p:cNvPr id="3" name="">
            <a:extLst xmlns:a="http://schemas.openxmlformats.org/drawingml/2006/main">
              <a:ext uri="{FF2B5EF4-FFF2-40B4-BE49-F238E27FC236}">
                <a16:creationId xmlns:a16="http://schemas.microsoft.com/office/drawing/2014/main" id="{2225C689-54CE-4FC2-A8FF-E88EDD6E73E1}"/>
              </a:ext>
            </a:extLst>
          </p:cNvPr>
          <p:cNvSpPr>
            <a:spLocks xmlns:a="http://schemas.openxmlformats.org/drawingml/2006/main" noGrp="1"/>
          </p:cNvSpPr>
          <p:nvPr/>
        </p:nvSpPr>
        <p:spPr>
          <a:xfrm xmlns:a="http://schemas.openxmlformats.org/drawingml/2006/main">
            <a:off x="1066800" y="28765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1F40CB"/>
                </a:solidFill>
                <a:latin typeface="Calibri"/>
                <a:ea typeface="Calibri"/>
                <a:cs typeface="Calibri"/>
              </a:defRPr>
            </a:pPr>
            <a:r>
              <a:rPr sz="1575" b="1">
                <a:solidFill>
                  <a:srgbClr val="1F40CB"/>
                </a:solidFill>
                <a:latin typeface="Calibri"/>
                <a:ea typeface="Calibri"/>
                <a:cs typeface="Calibri"/>
              </a:rPr>
              <a:t>EXAMPLES TEACH</a:t>
            </a:r>
          </a:p>
        </p:txBody>
      </p:sp>
      <p:sp>
        <p:nvSpPr>
          <p:cNvPr id="4" name="">
            <a:extLst xmlns:a="http://schemas.openxmlformats.org/drawingml/2006/main">
              <a:ext uri="{FF2B5EF4-FFF2-40B4-BE49-F238E27FC236}">
                <a16:creationId xmlns:a16="http://schemas.microsoft.com/office/drawing/2014/main" id="{AB35474F-D624-489B-92E8-BD4182BDBA92}"/>
              </a:ext>
            </a:extLst>
          </p:cNvPr>
          <p:cNvSpPr>
            <a:spLocks xmlns:a="http://schemas.openxmlformats.org/drawingml/2006/main" noGrp="1"/>
          </p:cNvSpPr>
          <p:nvPr/>
        </p:nvSpPr>
        <p:spPr>
          <a:xfrm xmlns:a="http://schemas.openxmlformats.org/drawingml/2006/main">
            <a:off x="1066800" y="33528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Tone · structure · evidence use · uncertainty</a:t>
            </a:r>
          </a:p>
        </p:txBody>
      </p:sp>
      <p:sp>
        <p:nvSpPr>
          <p:cNvPr id="5" name="">
            <a:extLst xmlns:a="http://schemas.openxmlformats.org/drawingml/2006/main">
              <a:ext uri="{FF2B5EF4-FFF2-40B4-BE49-F238E27FC236}">
                <a16:creationId xmlns:a16="http://schemas.microsoft.com/office/drawing/2014/main" id="{CB6A7CE9-8603-4733-86A0-820430368077}"/>
              </a:ext>
            </a:extLst>
          </p:cNvPr>
          <p:cNvSpPr>
            <a:spLocks xmlns:a="http://schemas.openxmlformats.org/drawingml/2006/main" noGrp="1"/>
          </p:cNvSpPr>
          <p:nvPr/>
        </p:nvSpPr>
        <p:spPr>
          <a:xfrm xmlns:a="http://schemas.openxmlformats.org/drawingml/2006/main">
            <a:off x="1066800" y="4324350"/>
            <a:ext cx="4095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6" name="">
            <a:extLst xmlns:a="http://schemas.openxmlformats.org/drawingml/2006/main">
              <a:ext uri="{FF2B5EF4-FFF2-40B4-BE49-F238E27FC236}">
                <a16:creationId xmlns:a16="http://schemas.microsoft.com/office/drawing/2014/main" id="{48208B5E-14CF-4E16-BADC-18EA4B95A2C8}"/>
              </a:ext>
            </a:extLst>
          </p:cNvPr>
          <p:cNvSpPr>
            <a:spLocks xmlns:a="http://schemas.openxmlformats.org/drawingml/2006/main" noGrp="1"/>
          </p:cNvSpPr>
          <p:nvPr/>
        </p:nvSpPr>
        <p:spPr>
          <a:xfrm xmlns:a="http://schemas.openxmlformats.org/drawingml/2006/main">
            <a:off x="1066800" y="46863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00A2EB"/>
                </a:solidFill>
                <a:latin typeface="Calibri"/>
                <a:ea typeface="Calibri"/>
                <a:cs typeface="Calibri"/>
              </a:defRPr>
            </a:pPr>
            <a:r>
              <a:rPr sz="1575" b="1">
                <a:solidFill>
                  <a:srgbClr val="00A2EB"/>
                </a:solidFill>
                <a:latin typeface="Calibri"/>
                <a:ea typeface="Calibri"/>
                <a:cs typeface="Calibri"/>
              </a:rPr>
              <a:t>WHY IT MATTERS</a:t>
            </a:r>
          </a:p>
        </p:txBody>
      </p:sp>
      <p:sp>
        <p:nvSpPr>
          <p:cNvPr id="7" name="">
            <a:extLst xmlns:a="http://schemas.openxmlformats.org/drawingml/2006/main">
              <a:ext uri="{FF2B5EF4-FFF2-40B4-BE49-F238E27FC236}">
                <a16:creationId xmlns:a16="http://schemas.microsoft.com/office/drawing/2014/main" id="{5324DF7E-874E-4566-BFD4-563B7D2DC563}"/>
              </a:ext>
            </a:extLst>
          </p:cNvPr>
          <p:cNvSpPr>
            <a:spLocks xmlns:a="http://schemas.openxmlformats.org/drawingml/2006/main" noGrp="1"/>
          </p:cNvSpPr>
          <p:nvPr/>
        </p:nvSpPr>
        <p:spPr>
          <a:xfrm xmlns:a="http://schemas.openxmlformats.org/drawingml/2006/main">
            <a:off x="1066800" y="51625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Rules alone leave judgment underspecified.</a:t>
            </a:r>
          </a:p>
        </p:txBody>
      </p:sp>
      <p:sp>
        <p:nvSpPr>
          <p:cNvPr id="14" name="">
            <a:extLst xmlns:a="http://schemas.openxmlformats.org/drawingml/2006/main">
              <a:ext uri="{FF2B5EF4-FFF2-40B4-BE49-F238E27FC236}">
                <a16:creationId xmlns:a16="http://schemas.microsoft.com/office/drawing/2014/main" id="{12ABA0A2-12FF-4F25-862C-AE57B2222EEA}"/>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DABD8D42-E860-4B95-87E4-3C7FF1FC93AE}"/>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6" name="">
            <a:extLst xmlns:a="http://schemas.openxmlformats.org/drawingml/2006/main">
              <a:ext uri="{FF2B5EF4-FFF2-40B4-BE49-F238E27FC236}">
                <a16:creationId xmlns:a16="http://schemas.microsoft.com/office/drawing/2014/main" id="{97D224F1-4BCA-4A2F-84C4-3FDCAE79E925}"/>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7" name="">
            <a:extLst xmlns:a="http://schemas.openxmlformats.org/drawingml/2006/main">
              <a:ext uri="{FF2B5EF4-FFF2-40B4-BE49-F238E27FC236}">
                <a16:creationId xmlns:a16="http://schemas.microsoft.com/office/drawing/2014/main" id="{E854E057-3E14-470C-8862-AC0BFD9D53C6}"/>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ANTHROPIC · EXAMPLES</a:t>
            </a:r>
          </a:p>
        </p:txBody>
      </p:sp>
      <p:sp>
        <p:nvSpPr>
          <p:cNvPr id="18" name="">
            <a:extLst xmlns:a="http://schemas.openxmlformats.org/drawingml/2006/main">
              <a:ext uri="{FF2B5EF4-FFF2-40B4-BE49-F238E27FC236}">
                <a16:creationId xmlns:a16="http://schemas.microsoft.com/office/drawing/2014/main" id="{7AADE638-85F0-4B8A-A0CD-DDDC9FD4291B}"/>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04</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b7c745dcc89c4911"/>
          <a:srcRect xmlns:a="http://schemas.openxmlformats.org/drawingml/2006/main" l="0" t="3996" r="0" b="3996"/>
          <a:stretch xmlns:a="http://schemas.openxmlformats.org/drawingml/2006/main">
            <a:fillRect l="0" t="0" r="0" b="0"/>
          </a:stretch>
        </p:blipFill>
        <p:spPr>
          <a:xfrm xmlns:a="http://schemas.openxmlformats.org/drawingml/2006/main">
            <a:off x="6323631" y="2667000"/>
            <a:ext cx="7545737" cy="3905250"/>
          </a:xfrm>
          <a:prstGeom xmlns:a="http://schemas.openxmlformats.org/drawingml/2006/main" prst="rect">
            <a:avLst/>
          </a:prstGeom>
        </p:spPr>
      </p:pic>
    </p:spTree>
    <p:extLst>
      <p:ext uri="{BB962C8B-B14F-4D97-AF65-F5344CB8AC3E}">
        <p14:creationId xmlns:p14="http://schemas.microsoft.com/office/powerpoint/2010/main" val="772363078"/>
      </p:ext>
    </p:extLst>
  </p:cSld>
</p:sld>
</file>

<file path=ppt/slides/slide5.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C48A24-E18F-4399-84FF-49EC1D75EC4A}"/>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PROMPT EVIDENCE</a:t>
            </a:r>
          </a:p>
        </p:txBody>
      </p:sp>
      <p:sp>
        <p:nvSpPr>
          <p:cNvPr id="2" name="">
            <a:extLst xmlns:a="http://schemas.openxmlformats.org/drawingml/2006/main">
              <a:ext uri="{FF2B5EF4-FFF2-40B4-BE49-F238E27FC236}">
                <a16:creationId xmlns:a16="http://schemas.microsoft.com/office/drawing/2014/main" id="{7574DED0-BD05-4639-BE3C-BD8A49B9E36F}"/>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More examples reveal more of the desired pattern</a:t>
            </a:r>
          </a:p>
        </p:txBody>
      </p:sp>
      <p:sp>
        <p:nvSpPr>
          <p:cNvPr id="3" name="">
            <a:extLst xmlns:a="http://schemas.openxmlformats.org/drawingml/2006/main">
              <a:ext uri="{FF2B5EF4-FFF2-40B4-BE49-F238E27FC236}">
                <a16:creationId xmlns:a16="http://schemas.microsoft.com/office/drawing/2014/main" id="{B710C483-A890-47EA-A072-5D9086A148F5}"/>
              </a:ext>
            </a:extLst>
          </p:cNvPr>
          <p:cNvSpPr>
            <a:spLocks xmlns:a="http://schemas.openxmlformats.org/drawingml/2006/main" noGrp="1"/>
          </p:cNvSpPr>
          <p:nvPr/>
        </p:nvSpPr>
        <p:spPr>
          <a:xfrm xmlns:a="http://schemas.openxmlformats.org/drawingml/2006/main">
            <a:off x="1162050" y="28575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01</a:t>
            </a:r>
          </a:p>
        </p:txBody>
      </p:sp>
      <p:sp>
        <p:nvSpPr>
          <p:cNvPr id="4" name="">
            <a:extLst xmlns:a="http://schemas.openxmlformats.org/drawingml/2006/main">
              <a:ext uri="{FF2B5EF4-FFF2-40B4-BE49-F238E27FC236}">
                <a16:creationId xmlns:a16="http://schemas.microsoft.com/office/drawing/2014/main" id="{8A4E515B-5F3B-40A3-8912-9F85F0FE7567}"/>
              </a:ext>
            </a:extLst>
          </p:cNvPr>
          <p:cNvSpPr>
            <a:spLocks xmlns:a="http://schemas.openxmlformats.org/drawingml/2006/main" noGrp="1"/>
          </p:cNvSpPr>
          <p:nvPr/>
        </p:nvSpPr>
        <p:spPr>
          <a:xfrm xmlns:a="http://schemas.openxmlformats.org/drawingml/2006/main">
            <a:off x="2143125" y="28194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Zero-shot</a:t>
            </a:r>
          </a:p>
        </p:txBody>
      </p:sp>
      <p:sp>
        <p:nvSpPr>
          <p:cNvPr id="5" name="">
            <a:extLst xmlns:a="http://schemas.openxmlformats.org/drawingml/2006/main">
              <a:ext uri="{FF2B5EF4-FFF2-40B4-BE49-F238E27FC236}">
                <a16:creationId xmlns:a16="http://schemas.microsoft.com/office/drawing/2014/main" id="{A2CF432C-0929-4FB7-9EB4-33A2C51C41DC}"/>
              </a:ext>
            </a:extLst>
          </p:cNvPr>
          <p:cNvSpPr>
            <a:spLocks xmlns:a="http://schemas.openxmlformats.org/drawingml/2006/main" noGrp="1"/>
          </p:cNvSpPr>
          <p:nvPr/>
        </p:nvSpPr>
        <p:spPr>
          <a:xfrm xmlns:a="http://schemas.openxmlformats.org/drawingml/2006/main">
            <a:off x="8572500" y="28575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RULES</a:t>
            </a:r>
          </a:p>
        </p:txBody>
      </p:sp>
      <p:sp>
        <p:nvSpPr>
          <p:cNvPr id="6" name="">
            <a:extLst xmlns:a="http://schemas.openxmlformats.org/drawingml/2006/main">
              <a:ext uri="{FF2B5EF4-FFF2-40B4-BE49-F238E27FC236}">
                <a16:creationId xmlns:a16="http://schemas.microsoft.com/office/drawing/2014/main" id="{179A1F7B-8EE0-471C-AA17-75A56716B8A1}"/>
              </a:ext>
            </a:extLst>
          </p:cNvPr>
          <p:cNvSpPr>
            <a:spLocks xmlns:a="http://schemas.openxmlformats.org/drawingml/2006/main" noGrp="1"/>
          </p:cNvSpPr>
          <p:nvPr/>
        </p:nvSpPr>
        <p:spPr>
          <a:xfrm xmlns:a="http://schemas.openxmlformats.org/drawingml/2006/main">
            <a:off x="2143125" y="34099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7" name="">
            <a:extLst xmlns:a="http://schemas.openxmlformats.org/drawingml/2006/main">
              <a:ext uri="{FF2B5EF4-FFF2-40B4-BE49-F238E27FC236}">
                <a16:creationId xmlns:a16="http://schemas.microsoft.com/office/drawing/2014/main" id="{C5F63C6A-1C80-47E2-9174-F44504BE7A86}"/>
              </a:ext>
            </a:extLst>
          </p:cNvPr>
          <p:cNvSpPr>
            <a:spLocks xmlns:a="http://schemas.openxmlformats.org/drawingml/2006/main" noGrp="1"/>
          </p:cNvSpPr>
          <p:nvPr/>
        </p:nvSpPr>
        <p:spPr>
          <a:xfrm xmlns:a="http://schemas.openxmlformats.org/drawingml/2006/main">
            <a:off x="1162050" y="36957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9521B42D-9ED7-495A-B9A4-706CAD687326}"/>
              </a:ext>
            </a:extLst>
          </p:cNvPr>
          <p:cNvSpPr>
            <a:spLocks xmlns:a="http://schemas.openxmlformats.org/drawingml/2006/main" noGrp="1"/>
          </p:cNvSpPr>
          <p:nvPr/>
        </p:nvSpPr>
        <p:spPr>
          <a:xfrm xmlns:a="http://schemas.openxmlformats.org/drawingml/2006/main">
            <a:off x="2143125" y="36576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One-shot</a:t>
            </a:r>
          </a:p>
        </p:txBody>
      </p:sp>
      <p:sp>
        <p:nvSpPr>
          <p:cNvPr id="9" name="">
            <a:extLst xmlns:a="http://schemas.openxmlformats.org/drawingml/2006/main">
              <a:ext uri="{FF2B5EF4-FFF2-40B4-BE49-F238E27FC236}">
                <a16:creationId xmlns:a16="http://schemas.microsoft.com/office/drawing/2014/main" id="{3879279A-F56C-43A4-BB61-5DBED2EC9897}"/>
              </a:ext>
            </a:extLst>
          </p:cNvPr>
          <p:cNvSpPr>
            <a:spLocks xmlns:a="http://schemas.openxmlformats.org/drawingml/2006/main" noGrp="1"/>
          </p:cNvSpPr>
          <p:nvPr/>
        </p:nvSpPr>
        <p:spPr>
          <a:xfrm xmlns:a="http://schemas.openxmlformats.org/drawingml/2006/main">
            <a:off x="8572500" y="36957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PATTERN</a:t>
            </a:r>
          </a:p>
        </p:txBody>
      </p:sp>
      <p:sp>
        <p:nvSpPr>
          <p:cNvPr id="10" name="">
            <a:extLst xmlns:a="http://schemas.openxmlformats.org/drawingml/2006/main">
              <a:ext uri="{FF2B5EF4-FFF2-40B4-BE49-F238E27FC236}">
                <a16:creationId xmlns:a16="http://schemas.microsoft.com/office/drawing/2014/main" id="{17DD85C8-4C83-4C3E-8F6A-367A43180458}"/>
              </a:ext>
            </a:extLst>
          </p:cNvPr>
          <p:cNvSpPr>
            <a:spLocks xmlns:a="http://schemas.openxmlformats.org/drawingml/2006/main" noGrp="1"/>
          </p:cNvSpPr>
          <p:nvPr/>
        </p:nvSpPr>
        <p:spPr>
          <a:xfrm xmlns:a="http://schemas.openxmlformats.org/drawingml/2006/main">
            <a:off x="2143125" y="42481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1" name="">
            <a:extLst xmlns:a="http://schemas.openxmlformats.org/drawingml/2006/main">
              <a:ext uri="{FF2B5EF4-FFF2-40B4-BE49-F238E27FC236}">
                <a16:creationId xmlns:a16="http://schemas.microsoft.com/office/drawing/2014/main" id="{56A488D8-189E-4BB9-9C55-CA27344D4880}"/>
              </a:ext>
            </a:extLst>
          </p:cNvPr>
          <p:cNvSpPr>
            <a:spLocks xmlns:a="http://schemas.openxmlformats.org/drawingml/2006/main" noGrp="1"/>
          </p:cNvSpPr>
          <p:nvPr/>
        </p:nvSpPr>
        <p:spPr>
          <a:xfrm xmlns:a="http://schemas.openxmlformats.org/drawingml/2006/main">
            <a:off x="1162050" y="45339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2062B6DC-830C-4BC9-8851-A3888182AE1E}"/>
              </a:ext>
            </a:extLst>
          </p:cNvPr>
          <p:cNvSpPr>
            <a:spLocks xmlns:a="http://schemas.openxmlformats.org/drawingml/2006/main" noGrp="1"/>
          </p:cNvSpPr>
          <p:nvPr/>
        </p:nvSpPr>
        <p:spPr>
          <a:xfrm xmlns:a="http://schemas.openxmlformats.org/drawingml/2006/main">
            <a:off x="2143125" y="44958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Few-shot</a:t>
            </a:r>
          </a:p>
        </p:txBody>
      </p:sp>
      <p:sp>
        <p:nvSpPr>
          <p:cNvPr id="13" name="">
            <a:extLst xmlns:a="http://schemas.openxmlformats.org/drawingml/2006/main">
              <a:ext uri="{FF2B5EF4-FFF2-40B4-BE49-F238E27FC236}">
                <a16:creationId xmlns:a16="http://schemas.microsoft.com/office/drawing/2014/main" id="{56B92F15-B968-44A2-AC9F-1F44F75B84FF}"/>
              </a:ext>
            </a:extLst>
          </p:cNvPr>
          <p:cNvSpPr>
            <a:spLocks xmlns:a="http://schemas.openxmlformats.org/drawingml/2006/main" noGrp="1"/>
          </p:cNvSpPr>
          <p:nvPr/>
        </p:nvSpPr>
        <p:spPr>
          <a:xfrm xmlns:a="http://schemas.openxmlformats.org/drawingml/2006/main">
            <a:off x="8572500" y="45339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EDGES</a:t>
            </a:r>
          </a:p>
        </p:txBody>
      </p:sp>
      <p:sp>
        <p:nvSpPr>
          <p:cNvPr id="14" name="">
            <a:extLst xmlns:a="http://schemas.openxmlformats.org/drawingml/2006/main">
              <a:ext uri="{FF2B5EF4-FFF2-40B4-BE49-F238E27FC236}">
                <a16:creationId xmlns:a16="http://schemas.microsoft.com/office/drawing/2014/main" id="{AC9FCC08-CC44-427D-9C16-AD71F4A0FE15}"/>
              </a:ext>
            </a:extLst>
          </p:cNvPr>
          <p:cNvSpPr>
            <a:spLocks xmlns:a="http://schemas.openxmlformats.org/drawingml/2006/main" noGrp="1"/>
          </p:cNvSpPr>
          <p:nvPr/>
        </p:nvSpPr>
        <p:spPr>
          <a:xfrm xmlns:a="http://schemas.openxmlformats.org/drawingml/2006/main">
            <a:off x="2143125" y="50863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46219D6C-4B5E-42DF-9DFC-40856CEAE76C}"/>
              </a:ext>
            </a:extLst>
          </p:cNvPr>
          <p:cNvSpPr>
            <a:spLocks xmlns:a="http://schemas.openxmlformats.org/drawingml/2006/main" noGrp="1"/>
          </p:cNvSpPr>
          <p:nvPr/>
        </p:nvSpPr>
        <p:spPr>
          <a:xfrm xmlns:a="http://schemas.openxmlformats.org/drawingml/2006/main">
            <a:off x="1162050" y="53721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E2CA7A6E-EE89-4E7C-A0E4-A0D3E684AC6C}"/>
              </a:ext>
            </a:extLst>
          </p:cNvPr>
          <p:cNvSpPr>
            <a:spLocks xmlns:a="http://schemas.openxmlformats.org/drawingml/2006/main" noGrp="1"/>
          </p:cNvSpPr>
          <p:nvPr/>
        </p:nvSpPr>
        <p:spPr>
          <a:xfrm xmlns:a="http://schemas.openxmlformats.org/drawingml/2006/main">
            <a:off x="2143125" y="53340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Finance example set</a:t>
            </a:r>
          </a:p>
        </p:txBody>
      </p:sp>
      <p:sp>
        <p:nvSpPr>
          <p:cNvPr id="17" name="">
            <a:extLst xmlns:a="http://schemas.openxmlformats.org/drawingml/2006/main">
              <a:ext uri="{FF2B5EF4-FFF2-40B4-BE49-F238E27FC236}">
                <a16:creationId xmlns:a16="http://schemas.microsoft.com/office/drawing/2014/main" id="{EF9232DB-9ADA-4EC0-9488-23F6FAAFFAB6}"/>
              </a:ext>
            </a:extLst>
          </p:cNvPr>
          <p:cNvSpPr>
            <a:spLocks xmlns:a="http://schemas.openxmlformats.org/drawingml/2006/main" noGrp="1"/>
          </p:cNvSpPr>
          <p:nvPr/>
        </p:nvSpPr>
        <p:spPr>
          <a:xfrm xmlns:a="http://schemas.openxmlformats.org/drawingml/2006/main">
            <a:off x="8572500" y="53721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JUDGMENT</a:t>
            </a:r>
          </a:p>
        </p:txBody>
      </p:sp>
      <p:sp>
        <p:nvSpPr>
          <p:cNvPr id="18" name="">
            <a:extLst xmlns:a="http://schemas.openxmlformats.org/drawingml/2006/main">
              <a:ext uri="{FF2B5EF4-FFF2-40B4-BE49-F238E27FC236}">
                <a16:creationId xmlns:a16="http://schemas.microsoft.com/office/drawing/2014/main" id="{48F021EC-EF4B-4696-AC90-EE4C0AB71651}"/>
              </a:ext>
            </a:extLst>
          </p:cNvPr>
          <p:cNvSpPr>
            <a:spLocks xmlns:a="http://schemas.openxmlformats.org/drawingml/2006/main" noGrp="1"/>
          </p:cNvSpPr>
          <p:nvPr/>
        </p:nvSpPr>
        <p:spPr>
          <a:xfrm xmlns:a="http://schemas.openxmlformats.org/drawingml/2006/main">
            <a:off x="2143125" y="59245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9" name="">
            <a:extLst xmlns:a="http://schemas.openxmlformats.org/drawingml/2006/main">
              <a:ext uri="{FF2B5EF4-FFF2-40B4-BE49-F238E27FC236}">
                <a16:creationId xmlns:a16="http://schemas.microsoft.com/office/drawing/2014/main" id="{2D510A64-1653-4D80-B5B0-A343D07C171B}"/>
              </a:ext>
            </a:extLst>
          </p:cNvPr>
          <p:cNvSpPr>
            <a:spLocks xmlns:a="http://schemas.openxmlformats.org/drawingml/2006/main" noGrp="1"/>
          </p:cNvSpPr>
          <p:nvPr/>
        </p:nvSpPr>
        <p:spPr>
          <a:xfrm xmlns:a="http://schemas.openxmlformats.org/drawingml/2006/main">
            <a:off x="10572750" y="2914650"/>
            <a:ext cx="3333750" cy="3238500"/>
          </a:xfrm>
          <a:prstGeom xmlns:a="http://schemas.openxmlformats.org/drawingml/2006/main" prst="roundRect">
            <a:avLst>
              <a:gd name="adj" fmla="val 2353"/>
            </a:avLst>
          </a:prstGeom>
          <a:solidFill xmlns:a="http://schemas.openxmlformats.org/drawingml/2006/main">
            <a:srgbClr val="051C2A"/>
          </a:solidFill>
          <a:ln xmlns:a="http://schemas.openxmlformats.org/drawingml/2006/main" w="9525">
            <a:solidFill>
              <a:srgbClr val="051C2A"/>
            </a:solidFill>
            <a:prstDash val="solid"/>
          </a:ln>
        </p:spPr>
      </p:sp>
      <p:sp>
        <p:nvSpPr>
          <p:cNvPr id="20" name="">
            <a:extLst xmlns:a="http://schemas.openxmlformats.org/drawingml/2006/main">
              <a:ext uri="{FF2B5EF4-FFF2-40B4-BE49-F238E27FC236}">
                <a16:creationId xmlns:a16="http://schemas.microsoft.com/office/drawing/2014/main" id="{34E24CC2-8886-4470-A433-8B2BDCC9A396}"/>
              </a:ext>
            </a:extLst>
          </p:cNvPr>
          <p:cNvSpPr>
            <a:spLocks xmlns:a="http://schemas.openxmlformats.org/drawingml/2006/main" noGrp="1"/>
          </p:cNvSpPr>
          <p:nvPr/>
        </p:nvSpPr>
        <p:spPr>
          <a:xfrm xmlns:a="http://schemas.openxmlformats.org/drawingml/2006/main">
            <a:off x="11049000" y="3429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425" b="1">
                <a:solidFill>
                  <a:srgbClr val="00A2EB"/>
                </a:solidFill>
                <a:latin typeface="Calibri"/>
                <a:ea typeface="Calibri"/>
                <a:cs typeface="Calibri"/>
              </a:defRPr>
            </a:pPr>
            <a:r>
              <a:rPr sz="1425" b="1">
                <a:solidFill>
                  <a:srgbClr val="00A2EB"/>
                </a:solidFill>
                <a:latin typeface="Calibri"/>
                <a:ea typeface="Calibri"/>
                <a:cs typeface="Calibri"/>
              </a:rPr>
              <a:t>USE</a:t>
            </a:r>
          </a:p>
        </p:txBody>
      </p:sp>
      <p:sp>
        <p:nvSpPr>
          <p:cNvPr id="21" name="">
            <a:extLst xmlns:a="http://schemas.openxmlformats.org/drawingml/2006/main">
              <a:ext uri="{FF2B5EF4-FFF2-40B4-BE49-F238E27FC236}">
                <a16:creationId xmlns:a16="http://schemas.microsoft.com/office/drawing/2014/main" id="{75710502-B50A-464D-8CBF-05C06A018465}"/>
              </a:ext>
            </a:extLst>
          </p:cNvPr>
          <p:cNvSpPr>
            <a:spLocks xmlns:a="http://schemas.openxmlformats.org/drawingml/2006/main" noGrp="1"/>
          </p:cNvSpPr>
          <p:nvPr/>
        </p:nvSpPr>
        <p:spPr>
          <a:xfrm xmlns:a="http://schemas.openxmlformats.org/drawingml/2006/main">
            <a:off x="11049000" y="4038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550" b="1">
                <a:solidFill>
                  <a:srgbClr val="FFFFFF"/>
                </a:solidFill>
                <a:latin typeface="Calibri"/>
                <a:ea typeface="Calibri"/>
                <a:cs typeface="Calibri"/>
              </a:defRPr>
            </a:pPr>
            <a:r>
              <a:rPr sz="2550" b="1">
                <a:solidFill>
                  <a:srgbClr val="FFFFFF"/>
                </a:solidFill>
                <a:latin typeface="Calibri"/>
                <a:ea typeface="Calibri"/>
                <a:cs typeface="Calibri"/>
              </a:rPr>
              <a:t>3–5 examples</a:t>
            </a:r>
          </a:p>
        </p:txBody>
      </p:sp>
      <p:sp>
        <p:nvSpPr>
          <p:cNvPr id="22" name="">
            <a:extLst xmlns:a="http://schemas.openxmlformats.org/drawingml/2006/main">
              <a:ext uri="{FF2B5EF4-FFF2-40B4-BE49-F238E27FC236}">
                <a16:creationId xmlns:a16="http://schemas.microsoft.com/office/drawing/2014/main" id="{98057516-ABAC-4FB1-A462-D76649ACD6A3}"/>
              </a:ext>
            </a:extLst>
          </p:cNvPr>
          <p:cNvSpPr>
            <a:spLocks xmlns:a="http://schemas.openxmlformats.org/drawingml/2006/main" noGrp="1"/>
          </p:cNvSpPr>
          <p:nvPr/>
        </p:nvSpPr>
        <p:spPr>
          <a:xfrm xmlns:a="http://schemas.openxmlformats.org/drawingml/2006/main">
            <a:off x="11049000" y="495300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a:solidFill>
                  <a:srgbClr val="FFFFFF"/>
                </a:solidFill>
                <a:latin typeface="Calibri"/>
                <a:ea typeface="Calibri"/>
                <a:cs typeface="Calibri"/>
              </a:defRPr>
            </a:pPr>
            <a:r>
              <a:rPr sz="1650">
                <a:solidFill>
                  <a:srgbClr val="FFFFFF"/>
                </a:solidFill>
                <a:latin typeface="Calibri"/>
                <a:ea typeface="Calibri"/>
                <a:cs typeface="Calibri"/>
              </a:rPr>
              <a:t>FACT · INFERENCE
· CAVEAT</a:t>
            </a:r>
          </a:p>
        </p:txBody>
      </p:sp>
      <p:sp>
        <p:nvSpPr>
          <p:cNvPr id="23" name="">
            <a:extLst xmlns:a="http://schemas.openxmlformats.org/drawingml/2006/main">
              <a:ext uri="{FF2B5EF4-FFF2-40B4-BE49-F238E27FC236}">
                <a16:creationId xmlns:a16="http://schemas.microsoft.com/office/drawing/2014/main" id="{8174979B-71B7-425A-85CB-FF6AD6AC593E}"/>
              </a:ext>
            </a:extLst>
          </p:cNvPr>
          <p:cNvSpPr>
            <a:spLocks xmlns:a="http://schemas.openxmlformats.org/drawingml/2006/main" noGrp="1"/>
          </p:cNvSpPr>
          <p:nvPr/>
        </p:nvSpPr>
        <p:spPr>
          <a:xfrm xmlns:a="http://schemas.openxmlformats.org/drawingml/2006/main">
            <a:off x="2143125" y="66675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Use few-shot examples when the task contains judgment, ambiguity, or edge cases.</a:t>
            </a:r>
          </a:p>
        </p:txBody>
      </p:sp>
      <p:sp>
        <p:nvSpPr>
          <p:cNvPr id="24" name="">
            <a:extLst xmlns:a="http://schemas.openxmlformats.org/drawingml/2006/main">
              <a:ext uri="{FF2B5EF4-FFF2-40B4-BE49-F238E27FC236}">
                <a16:creationId xmlns:a16="http://schemas.microsoft.com/office/drawing/2014/main" id="{5B353963-99F6-474D-AE9E-6D102866C245}"/>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25" name="">
            <a:extLst xmlns:a="http://schemas.openxmlformats.org/drawingml/2006/main">
              <a:ext uri="{FF2B5EF4-FFF2-40B4-BE49-F238E27FC236}">
                <a16:creationId xmlns:a16="http://schemas.microsoft.com/office/drawing/2014/main" id="{7A58137A-5475-4121-BA20-053FF731F89A}"/>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6" name="">
            <a:extLst xmlns:a="http://schemas.openxmlformats.org/drawingml/2006/main">
              <a:ext uri="{FF2B5EF4-FFF2-40B4-BE49-F238E27FC236}">
                <a16:creationId xmlns:a16="http://schemas.microsoft.com/office/drawing/2014/main" id="{7126838F-9E9E-49AC-8F5A-4888689CD6C3}"/>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27" name="">
            <a:extLst xmlns:a="http://schemas.openxmlformats.org/drawingml/2006/main">
              <a:ext uri="{FF2B5EF4-FFF2-40B4-BE49-F238E27FC236}">
                <a16:creationId xmlns:a16="http://schemas.microsoft.com/office/drawing/2014/main" id="{3F2728AD-6B3E-41C8-9959-16F490654FF9}"/>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SHOTS</a:t>
            </a:r>
          </a:p>
        </p:txBody>
      </p:sp>
      <p:sp>
        <p:nvSpPr>
          <p:cNvPr id="28" name="">
            <a:extLst xmlns:a="http://schemas.openxmlformats.org/drawingml/2006/main">
              <a:ext uri="{FF2B5EF4-FFF2-40B4-BE49-F238E27FC236}">
                <a16:creationId xmlns:a16="http://schemas.microsoft.com/office/drawing/2014/main" id="{2500A979-B0DA-491D-BECE-B4073BB3CB9A}"/>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05</a:t>
            </a:r>
          </a:p>
        </p:txBody>
      </p:sp>
    </p:spTree>
    <p:extLst>
      <p:ext uri="{BB962C8B-B14F-4D97-AF65-F5344CB8AC3E}">
        <p14:creationId xmlns:p14="http://schemas.microsoft.com/office/powerpoint/2010/main" val="223453297"/>
      </p:ext>
    </p:extLst>
  </p:cSld>
</p:sld>
</file>

<file path=ppt/slides/slide6.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FEB10B4-0FED-42C3-8AA0-5BAB4CEF90E7}"/>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TWO CONTROLS</a:t>
            </a:r>
          </a:p>
        </p:txBody>
      </p:sp>
      <p:sp>
        <p:nvSpPr>
          <p:cNvPr id="2" name="">
            <a:extLst xmlns:a="http://schemas.openxmlformats.org/drawingml/2006/main">
              <a:ext uri="{FF2B5EF4-FFF2-40B4-BE49-F238E27FC236}">
                <a16:creationId xmlns:a16="http://schemas.microsoft.com/office/drawing/2014/main" id="{865BB064-4AE8-44EA-963D-8F76C6A28D53}"/>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Examples steer judgment; schemas enforce shape</a:t>
            </a:r>
          </a:p>
        </p:txBody>
      </p:sp>
      <p:sp>
        <p:nvSpPr>
          <p:cNvPr id="3" name="">
            <a:extLst xmlns:a="http://schemas.openxmlformats.org/drawingml/2006/main">
              <a:ext uri="{FF2B5EF4-FFF2-40B4-BE49-F238E27FC236}">
                <a16:creationId xmlns:a16="http://schemas.microsoft.com/office/drawing/2014/main" id="{51CA505F-3B0C-49A0-98CF-6D6175D62EAB}"/>
              </a:ext>
            </a:extLst>
          </p:cNvPr>
          <p:cNvSpPr>
            <a:spLocks xmlns:a="http://schemas.openxmlformats.org/drawingml/2006/main" noGrp="1"/>
          </p:cNvSpPr>
          <p:nvPr/>
        </p:nvSpPr>
        <p:spPr>
          <a:xfrm xmlns:a="http://schemas.openxmlformats.org/drawingml/2006/main">
            <a:off x="1066800" y="2857500"/>
            <a:ext cx="4381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350" b="1">
                <a:solidFill>
                  <a:srgbClr val="051C2A"/>
                </a:solidFill>
                <a:latin typeface="Calibri"/>
                <a:ea typeface="Calibri"/>
                <a:cs typeface="Calibri"/>
              </a:defRPr>
            </a:pPr>
            <a:r>
              <a:rPr sz="4350" b="1">
                <a:solidFill>
                  <a:srgbClr val="051C2A"/>
                </a:solidFill>
                <a:latin typeface="Calibri"/>
                <a:ea typeface="Calibri"/>
                <a:cs typeface="Calibri"/>
              </a:rPr>
              <a:t>EXAMPLES</a:t>
            </a:r>
          </a:p>
        </p:txBody>
      </p:sp>
      <p:sp>
        <p:nvSpPr>
          <p:cNvPr id="4" name="">
            <a:extLst xmlns:a="http://schemas.openxmlformats.org/drawingml/2006/main">
              <a:ext uri="{FF2B5EF4-FFF2-40B4-BE49-F238E27FC236}">
                <a16:creationId xmlns:a16="http://schemas.microsoft.com/office/drawing/2014/main" id="{7AD41D26-D959-489A-A086-84E330386F5D}"/>
              </a:ext>
            </a:extLst>
          </p:cNvPr>
          <p:cNvSpPr>
            <a:spLocks xmlns:a="http://schemas.openxmlformats.org/drawingml/2006/main" noGrp="1"/>
          </p:cNvSpPr>
          <p:nvPr/>
        </p:nvSpPr>
        <p:spPr>
          <a:xfrm xmlns:a="http://schemas.openxmlformats.org/drawingml/2006/main">
            <a:off x="1066800" y="3905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Teach what a good fact, inference, or caveat looks like.</a:t>
            </a:r>
          </a:p>
        </p:txBody>
      </p:sp>
      <p:sp>
        <p:nvSpPr>
          <p:cNvPr id="5" name="">
            <a:extLst xmlns:a="http://schemas.openxmlformats.org/drawingml/2006/main">
              <a:ext uri="{FF2B5EF4-FFF2-40B4-BE49-F238E27FC236}">
                <a16:creationId xmlns:a16="http://schemas.microsoft.com/office/drawing/2014/main" id="{5B522A8F-16AD-44AB-BA1E-BB7C095B3A39}"/>
              </a:ext>
            </a:extLst>
          </p:cNvPr>
          <p:cNvSpPr>
            <a:spLocks xmlns:a="http://schemas.openxmlformats.org/drawingml/2006/main" noGrp="1"/>
          </p:cNvSpPr>
          <p:nvPr/>
        </p:nvSpPr>
        <p:spPr>
          <a:xfrm xmlns:a="http://schemas.openxmlformats.org/drawingml/2006/main">
            <a:off x="6477000" y="2724150"/>
            <a:ext cx="19050" cy="31432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6" name="">
            <a:extLst xmlns:a="http://schemas.openxmlformats.org/drawingml/2006/main">
              <a:ext uri="{FF2B5EF4-FFF2-40B4-BE49-F238E27FC236}">
                <a16:creationId xmlns:a16="http://schemas.microsoft.com/office/drawing/2014/main" id="{3E7C6626-7591-4116-BDA4-36A1BF728E57}"/>
              </a:ext>
            </a:extLst>
          </p:cNvPr>
          <p:cNvSpPr>
            <a:spLocks xmlns:a="http://schemas.openxmlformats.org/drawingml/2006/main" noGrp="1"/>
          </p:cNvSpPr>
          <p:nvPr/>
        </p:nvSpPr>
        <p:spPr>
          <a:xfrm xmlns:a="http://schemas.openxmlformats.org/drawingml/2006/main">
            <a:off x="7239000" y="2857500"/>
            <a:ext cx="4953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350" b="1">
                <a:solidFill>
                  <a:srgbClr val="1F40CB"/>
                </a:solidFill>
                <a:latin typeface="Calibri"/>
                <a:ea typeface="Calibri"/>
                <a:cs typeface="Calibri"/>
              </a:defRPr>
            </a:pPr>
            <a:r>
              <a:rPr sz="4350" b="1">
                <a:solidFill>
                  <a:srgbClr val="1F40CB"/>
                </a:solidFill>
                <a:latin typeface="Calibri"/>
                <a:ea typeface="Calibri"/>
                <a:cs typeface="Calibri"/>
              </a:rPr>
              <a:t>SCHEMA</a:t>
            </a:r>
          </a:p>
        </p:txBody>
      </p:sp>
      <p:sp>
        <p:nvSpPr>
          <p:cNvPr id="7" name="">
            <a:extLst xmlns:a="http://schemas.openxmlformats.org/drawingml/2006/main">
              <a:ext uri="{FF2B5EF4-FFF2-40B4-BE49-F238E27FC236}">
                <a16:creationId xmlns:a16="http://schemas.microsoft.com/office/drawing/2014/main" id="{913A65EC-CF94-4DE7-B420-D90CF126DC5B}"/>
              </a:ext>
            </a:extLst>
          </p:cNvPr>
          <p:cNvSpPr>
            <a:spLocks xmlns:a="http://schemas.openxmlformats.org/drawingml/2006/main" noGrp="1"/>
          </p:cNvSpPr>
          <p:nvPr/>
        </p:nvSpPr>
        <p:spPr>
          <a:xfrm xmlns:a="http://schemas.openxmlformats.org/drawingml/2006/main">
            <a:off x="7239000" y="3905250"/>
            <a:ext cx="552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Constrain fields, types, enums and required values.</a:t>
            </a:r>
          </a:p>
        </p:txBody>
      </p:sp>
      <p:sp>
        <p:nvSpPr>
          <p:cNvPr id="8" name="">
            <a:extLst xmlns:a="http://schemas.openxmlformats.org/drawingml/2006/main">
              <a:ext uri="{FF2B5EF4-FFF2-40B4-BE49-F238E27FC236}">
                <a16:creationId xmlns:a16="http://schemas.microsoft.com/office/drawing/2014/main" id="{C08E439B-7E83-494E-A3B5-46C4B69928CF}"/>
              </a:ext>
            </a:extLst>
          </p:cNvPr>
          <p:cNvSpPr>
            <a:spLocks xmlns:a="http://schemas.openxmlformats.org/drawingml/2006/main" noGrp="1"/>
          </p:cNvSpPr>
          <p:nvPr/>
        </p:nvSpPr>
        <p:spPr>
          <a:xfrm xmlns:a="http://schemas.openxmlformats.org/drawingml/2006/main">
            <a:off x="1066800" y="495300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725" b="1">
                <a:solidFill>
                  <a:srgbClr val="051C2A"/>
                </a:solidFill>
                <a:latin typeface="Calibri"/>
                <a:ea typeface="Calibri"/>
                <a:cs typeface="Calibri"/>
              </a:defRPr>
            </a:pPr>
            <a:r>
              <a:rPr sz="1725" b="1">
                <a:solidFill>
                  <a:srgbClr val="051C2A"/>
                </a:solidFill>
                <a:latin typeface="Calibri"/>
                <a:ea typeface="Calibri"/>
                <a:cs typeface="Calibri"/>
              </a:rPr>
              <a:t>[BEHAVIOR]  tone · reasoning · edge cases</a:t>
            </a:r>
          </a:p>
        </p:txBody>
      </p:sp>
      <p:sp>
        <p:nvSpPr>
          <p:cNvPr id="9" name="">
            <a:extLst xmlns:a="http://schemas.openxmlformats.org/drawingml/2006/main">
              <a:ext uri="{FF2B5EF4-FFF2-40B4-BE49-F238E27FC236}">
                <a16:creationId xmlns:a16="http://schemas.microsoft.com/office/drawing/2014/main" id="{C6B113A5-935F-4D64-84B0-5B781937EF01}"/>
              </a:ext>
            </a:extLst>
          </p:cNvPr>
          <p:cNvSpPr>
            <a:spLocks xmlns:a="http://schemas.openxmlformats.org/drawingml/2006/main" noGrp="1"/>
          </p:cNvSpPr>
          <p:nvPr/>
        </p:nvSpPr>
        <p:spPr>
          <a:xfrm xmlns:a="http://schemas.openxmlformats.org/drawingml/2006/main">
            <a:off x="7239000" y="49530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725" b="1">
                <a:solidFill>
                  <a:srgbClr val="F07D00"/>
                </a:solidFill>
                <a:latin typeface="Calibri"/>
                <a:ea typeface="Calibri"/>
                <a:cs typeface="Calibri"/>
              </a:defRPr>
            </a:pPr>
            <a:r>
              <a:rPr sz="1725" b="1">
                <a:solidFill>
                  <a:srgbClr val="F07D00"/>
                </a:solidFill>
                <a:latin typeface="Calibri"/>
                <a:ea typeface="Calibri"/>
                <a:cs typeface="Calibri"/>
              </a:rPr>
              <a:t>[SHAPE]  parseable · typed · complete</a:t>
            </a:r>
          </a:p>
        </p:txBody>
      </p:sp>
      <p:sp>
        <p:nvSpPr>
          <p:cNvPr id="10" name="">
            <a:extLst xmlns:a="http://schemas.openxmlformats.org/drawingml/2006/main">
              <a:ext uri="{FF2B5EF4-FFF2-40B4-BE49-F238E27FC236}">
                <a16:creationId xmlns:a16="http://schemas.microsoft.com/office/drawing/2014/main" id="{C0422730-1A2F-437A-8161-C3EA5A7E3843}"/>
              </a:ext>
            </a:extLst>
          </p:cNvPr>
          <p:cNvSpPr>
            <a:spLocks xmlns:a="http://schemas.openxmlformats.org/drawingml/2006/main" noGrp="1"/>
          </p:cNvSpPr>
          <p:nvPr/>
        </p:nvSpPr>
        <p:spPr>
          <a:xfrm xmlns:a="http://schemas.openxmlformats.org/drawingml/2006/main">
            <a:off x="1066800" y="6343650"/>
            <a:ext cx="11811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Use both: one shapes behavior; the other makes the response dependable software input.</a:t>
            </a:r>
          </a:p>
        </p:txBody>
      </p:sp>
      <p:sp>
        <p:nvSpPr>
          <p:cNvPr id="11" name="">
            <a:extLst xmlns:a="http://schemas.openxmlformats.org/drawingml/2006/main">
              <a:ext uri="{FF2B5EF4-FFF2-40B4-BE49-F238E27FC236}">
                <a16:creationId xmlns:a16="http://schemas.microsoft.com/office/drawing/2014/main" id="{1CA99A9B-F12A-48FE-953D-620804A38EED}"/>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2" name="">
            <a:extLst xmlns:a="http://schemas.openxmlformats.org/drawingml/2006/main">
              <a:ext uri="{FF2B5EF4-FFF2-40B4-BE49-F238E27FC236}">
                <a16:creationId xmlns:a16="http://schemas.microsoft.com/office/drawing/2014/main" id="{3D4C9EE8-1362-49E4-BFD2-8CCFD9A293C5}"/>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3" name="">
            <a:extLst xmlns:a="http://schemas.openxmlformats.org/drawingml/2006/main">
              <a:ext uri="{FF2B5EF4-FFF2-40B4-BE49-F238E27FC236}">
                <a16:creationId xmlns:a16="http://schemas.microsoft.com/office/drawing/2014/main" id="{24206614-6877-4386-9D02-F474A613C115}"/>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4" name="">
            <a:extLst xmlns:a="http://schemas.openxmlformats.org/drawingml/2006/main">
              <a:ext uri="{FF2B5EF4-FFF2-40B4-BE49-F238E27FC236}">
                <a16:creationId xmlns:a16="http://schemas.microsoft.com/office/drawing/2014/main" id="{7B1FCDDD-754E-4B46-A9F3-09ADE649CF72}"/>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CONTROLS</a:t>
            </a:r>
          </a:p>
        </p:txBody>
      </p:sp>
      <p:sp>
        <p:nvSpPr>
          <p:cNvPr id="15" name="">
            <a:extLst xmlns:a="http://schemas.openxmlformats.org/drawingml/2006/main">
              <a:ext uri="{FF2B5EF4-FFF2-40B4-BE49-F238E27FC236}">
                <a16:creationId xmlns:a16="http://schemas.microsoft.com/office/drawing/2014/main" id="{62F3E1F1-C1E6-4C5D-B5BB-8ED1767C9D2F}"/>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06</a:t>
            </a:r>
          </a:p>
        </p:txBody>
      </p:sp>
    </p:spTree>
    <p:extLst>
      <p:ext uri="{BB962C8B-B14F-4D97-AF65-F5344CB8AC3E}">
        <p14:creationId xmlns:p14="http://schemas.microsoft.com/office/powerpoint/2010/main" val="1878034231"/>
      </p:ext>
    </p:extLst>
  </p:cSld>
</p:sld>
</file>

<file path=ppt/slides/slide7.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25AB1E4-42AC-4F38-9832-61AB9F79D31D}"/>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OPENAI EVIDENCE</a:t>
            </a:r>
          </a:p>
        </p:txBody>
      </p:sp>
      <p:sp>
        <p:nvSpPr>
          <p:cNvPr id="2" name="">
            <a:extLst xmlns:a="http://schemas.openxmlformats.org/drawingml/2006/main">
              <a:ext uri="{FF2B5EF4-FFF2-40B4-BE49-F238E27FC236}">
                <a16:creationId xmlns:a16="http://schemas.microsoft.com/office/drawing/2014/main" id="{4FC87317-1AE5-4283-B66E-4DB26DCD07BA}"/>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Strict schemas eliminate format failures in this eval</a:t>
            </a:r>
          </a:p>
        </p:txBody>
      </p:sp>
      <p:sp>
        <p:nvSpPr>
          <p:cNvPr id="3" name="">
            <a:extLst xmlns:a="http://schemas.openxmlformats.org/drawingml/2006/main">
              <a:ext uri="{FF2B5EF4-FFF2-40B4-BE49-F238E27FC236}">
                <a16:creationId xmlns:a16="http://schemas.microsoft.com/office/drawing/2014/main" id="{2225C689-54CE-4FC2-A8FF-E88EDD6E73E1}"/>
              </a:ext>
            </a:extLst>
          </p:cNvPr>
          <p:cNvSpPr>
            <a:spLocks xmlns:a="http://schemas.openxmlformats.org/drawingml/2006/main" noGrp="1"/>
          </p:cNvSpPr>
          <p:nvPr/>
        </p:nvSpPr>
        <p:spPr>
          <a:xfrm xmlns:a="http://schemas.openxmlformats.org/drawingml/2006/main">
            <a:off x="1066800" y="287655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1F40CB"/>
                </a:solidFill>
                <a:latin typeface="Calibri"/>
                <a:ea typeface="Calibri"/>
                <a:cs typeface="Calibri"/>
              </a:defRPr>
            </a:pPr>
            <a:r>
              <a:rPr sz="1575" b="1">
                <a:solidFill>
                  <a:srgbClr val="1F40CB"/>
                </a:solidFill>
                <a:latin typeface="Calibri"/>
                <a:ea typeface="Calibri"/>
                <a:cs typeface="Calibri"/>
              </a:rPr>
              <a:t>PUBLISHED RESULT</a:t>
            </a:r>
          </a:p>
        </p:txBody>
      </p:sp>
      <p:sp>
        <p:nvSpPr>
          <p:cNvPr id="4" name="">
            <a:extLst xmlns:a="http://schemas.openxmlformats.org/drawingml/2006/main">
              <a:ext uri="{FF2B5EF4-FFF2-40B4-BE49-F238E27FC236}">
                <a16:creationId xmlns:a16="http://schemas.microsoft.com/office/drawing/2014/main" id="{AB35474F-D624-489B-92E8-BD4182BDBA92}"/>
              </a:ext>
            </a:extLst>
          </p:cNvPr>
          <p:cNvSpPr>
            <a:spLocks xmlns:a="http://schemas.openxmlformats.org/drawingml/2006/main" noGrp="1"/>
          </p:cNvSpPr>
          <p:nvPr/>
        </p:nvSpPr>
        <p:spPr>
          <a:xfrm xmlns:a="http://schemas.openxmlformats.org/drawingml/2006/main">
            <a:off x="1066800" y="33528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100% schema match for gpt-4o-2024-08-06</a:t>
            </a:r>
          </a:p>
        </p:txBody>
      </p:sp>
      <p:sp>
        <p:nvSpPr>
          <p:cNvPr id="5" name="">
            <a:extLst xmlns:a="http://schemas.openxmlformats.org/drawingml/2006/main">
              <a:ext uri="{FF2B5EF4-FFF2-40B4-BE49-F238E27FC236}">
                <a16:creationId xmlns:a16="http://schemas.microsoft.com/office/drawing/2014/main" id="{CB6A7CE9-8603-4733-86A0-820430368077}"/>
              </a:ext>
            </a:extLst>
          </p:cNvPr>
          <p:cNvSpPr>
            <a:spLocks xmlns:a="http://schemas.openxmlformats.org/drawingml/2006/main" noGrp="1"/>
          </p:cNvSpPr>
          <p:nvPr/>
        </p:nvSpPr>
        <p:spPr>
          <a:xfrm xmlns:a="http://schemas.openxmlformats.org/drawingml/2006/main">
            <a:off x="1066800" y="4324350"/>
            <a:ext cx="4095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6" name="">
            <a:extLst xmlns:a="http://schemas.openxmlformats.org/drawingml/2006/main">
              <a:ext uri="{FF2B5EF4-FFF2-40B4-BE49-F238E27FC236}">
                <a16:creationId xmlns:a16="http://schemas.microsoft.com/office/drawing/2014/main" id="{48208B5E-14CF-4E16-BADC-18EA4B95A2C8}"/>
              </a:ext>
            </a:extLst>
          </p:cNvPr>
          <p:cNvSpPr>
            <a:spLocks xmlns:a="http://schemas.openxmlformats.org/drawingml/2006/main" noGrp="1"/>
          </p:cNvSpPr>
          <p:nvPr/>
        </p:nvSpPr>
        <p:spPr>
          <a:xfrm xmlns:a="http://schemas.openxmlformats.org/drawingml/2006/main">
            <a:off x="1066800" y="46863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75" b="1">
                <a:solidFill>
                  <a:srgbClr val="00A2EB"/>
                </a:solidFill>
                <a:latin typeface="Calibri"/>
                <a:ea typeface="Calibri"/>
                <a:cs typeface="Calibri"/>
              </a:defRPr>
            </a:pPr>
            <a:r>
              <a:rPr sz="1575" b="1">
                <a:solidFill>
                  <a:srgbClr val="00A2EB"/>
                </a:solidFill>
                <a:latin typeface="Calibri"/>
                <a:ea typeface="Calibri"/>
                <a:cs typeface="Calibri"/>
              </a:rPr>
              <a:t>IMPORTANT LIMIT</a:t>
            </a:r>
          </a:p>
        </p:txBody>
      </p:sp>
      <p:sp>
        <p:nvSpPr>
          <p:cNvPr id="7" name="">
            <a:extLst xmlns:a="http://schemas.openxmlformats.org/drawingml/2006/main">
              <a:ext uri="{FF2B5EF4-FFF2-40B4-BE49-F238E27FC236}">
                <a16:creationId xmlns:a16="http://schemas.microsoft.com/office/drawing/2014/main" id="{5324DF7E-874E-4566-BFD4-563B7D2DC563}"/>
              </a:ext>
            </a:extLst>
          </p:cNvPr>
          <p:cNvSpPr>
            <a:spLocks xmlns:a="http://schemas.openxmlformats.org/drawingml/2006/main" noGrp="1"/>
          </p:cNvSpPr>
          <p:nvPr/>
        </p:nvSpPr>
        <p:spPr>
          <a:xfrm xmlns:a="http://schemas.openxmlformats.org/drawingml/2006/main">
            <a:off x="1066800" y="51625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025" b="1">
                <a:solidFill>
                  <a:srgbClr val="051C2A"/>
                </a:solidFill>
                <a:latin typeface="Calibri"/>
                <a:ea typeface="Calibri"/>
                <a:cs typeface="Calibri"/>
              </a:defRPr>
            </a:pPr>
            <a:r>
              <a:rPr sz="2025" b="1">
                <a:solidFill>
                  <a:srgbClr val="051C2A"/>
                </a:solidFill>
                <a:latin typeface="Calibri"/>
                <a:ea typeface="Calibri"/>
                <a:cs typeface="Calibri"/>
              </a:rPr>
              <a:t>Schema adherence does not prove the finance.</a:t>
            </a:r>
          </a:p>
        </p:txBody>
      </p:sp>
      <p:sp>
        <p:nvSpPr>
          <p:cNvPr id="14" name="">
            <a:extLst xmlns:a="http://schemas.openxmlformats.org/drawingml/2006/main">
              <a:ext uri="{FF2B5EF4-FFF2-40B4-BE49-F238E27FC236}">
                <a16:creationId xmlns:a16="http://schemas.microsoft.com/office/drawing/2014/main" id="{12ABA0A2-12FF-4F25-862C-AE57B2222EEA}"/>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DABD8D42-E860-4B95-87E4-3C7FF1FC93AE}"/>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6" name="">
            <a:extLst xmlns:a="http://schemas.openxmlformats.org/drawingml/2006/main">
              <a:ext uri="{FF2B5EF4-FFF2-40B4-BE49-F238E27FC236}">
                <a16:creationId xmlns:a16="http://schemas.microsoft.com/office/drawing/2014/main" id="{97D224F1-4BCA-4A2F-84C4-3FDCAE79E925}"/>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7" name="">
            <a:extLst xmlns:a="http://schemas.openxmlformats.org/drawingml/2006/main">
              <a:ext uri="{FF2B5EF4-FFF2-40B4-BE49-F238E27FC236}">
                <a16:creationId xmlns:a16="http://schemas.microsoft.com/office/drawing/2014/main" id="{E854E057-3E14-470C-8862-AC0BFD9D53C6}"/>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OPENAI · EVAL</a:t>
            </a:r>
          </a:p>
        </p:txBody>
      </p:sp>
      <p:sp>
        <p:nvSpPr>
          <p:cNvPr id="18" name="">
            <a:extLst xmlns:a="http://schemas.openxmlformats.org/drawingml/2006/main">
              <a:ext uri="{FF2B5EF4-FFF2-40B4-BE49-F238E27FC236}">
                <a16:creationId xmlns:a16="http://schemas.microsoft.com/office/drawing/2014/main" id="{7AADE638-85F0-4B8A-A0CD-DDDC9FD4291B}"/>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07</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ebbecfaa6290403f"/>
          <a:stretch xmlns:a="http://schemas.openxmlformats.org/drawingml/2006/main"/>
        </p:blipFill>
        <p:spPr>
          <a:xfrm xmlns:a="http://schemas.openxmlformats.org/drawingml/2006/main">
            <a:off x="6323631" y="3280562"/>
            <a:ext cx="7545737" cy="2678126"/>
          </a:xfrm>
          <a:prstGeom xmlns:a="http://schemas.openxmlformats.org/drawingml/2006/main" prst="rect">
            <a:avLst/>
          </a:prstGeom>
        </p:spPr>
      </p:pic>
    </p:spTree>
    <p:extLst>
      <p:ext uri="{BB962C8B-B14F-4D97-AF65-F5344CB8AC3E}">
        <p14:creationId xmlns:p14="http://schemas.microsoft.com/office/powerpoint/2010/main" val="772363078"/>
      </p:ext>
    </p:extLst>
  </p:cSld>
</p:sld>
</file>

<file path=ppt/slides/slide8.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0BC54A-1309-460D-AD2B-0F18507EB1B8}"/>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FINANCE LIMIT</a:t>
            </a:r>
          </a:p>
        </p:txBody>
      </p:sp>
      <p:sp>
        <p:nvSpPr>
          <p:cNvPr id="2" name="">
            <a:extLst xmlns:a="http://schemas.openxmlformats.org/drawingml/2006/main">
              <a:ext uri="{FF2B5EF4-FFF2-40B4-BE49-F238E27FC236}">
                <a16:creationId xmlns:a16="http://schemas.microsoft.com/office/drawing/2014/main" id="{592B95A1-7E53-412C-8974-DFB6A8DFF62E}"/>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Schema-valid can still be financially wrong</a:t>
            </a:r>
          </a:p>
        </p:txBody>
      </p:sp>
      <p:sp>
        <p:nvSpPr>
          <p:cNvPr id="3" name="">
            <a:extLst xmlns:a="http://schemas.openxmlformats.org/drawingml/2006/main">
              <a:ext uri="{FF2B5EF4-FFF2-40B4-BE49-F238E27FC236}">
                <a16:creationId xmlns:a16="http://schemas.microsoft.com/office/drawing/2014/main" id="{8A1C2FBE-FCE9-4D4C-9DBD-D89790B01627}"/>
              </a:ext>
            </a:extLst>
          </p:cNvPr>
          <p:cNvSpPr>
            <a:spLocks xmlns:a="http://schemas.openxmlformats.org/drawingml/2006/main" noGrp="1"/>
          </p:cNvSpPr>
          <p:nvPr/>
        </p:nvSpPr>
        <p:spPr>
          <a:xfrm xmlns:a="http://schemas.openxmlformats.org/drawingml/2006/main">
            <a:off x="1257300" y="2857500"/>
            <a:ext cx="1181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850" b="1">
                <a:solidFill>
                  <a:srgbClr val="F07D00"/>
                </a:solidFill>
                <a:latin typeface="Calibri"/>
                <a:ea typeface="Calibri"/>
                <a:cs typeface="Calibri"/>
              </a:defRPr>
            </a:pPr>
            <a:r>
              <a:rPr sz="2850" b="1">
                <a:solidFill>
                  <a:srgbClr val="F07D00"/>
                </a:solidFill>
                <a:latin typeface="Calibri"/>
                <a:ea typeface="Calibri"/>
                <a:cs typeface="Calibri"/>
              </a:rPr>
              <a:t>Candidate: “Data Center growth was entirely recurring.”</a:t>
            </a:r>
          </a:p>
        </p:txBody>
      </p:sp>
      <p:sp>
        <p:nvSpPr>
          <p:cNvPr id="4" name="">
            <a:extLst xmlns:a="http://schemas.openxmlformats.org/drawingml/2006/main">
              <a:ext uri="{FF2B5EF4-FFF2-40B4-BE49-F238E27FC236}">
                <a16:creationId xmlns:a16="http://schemas.microsoft.com/office/drawing/2014/main" id="{C0F60789-BA8D-4377-A318-F3BEDA9C61FD}"/>
              </a:ext>
            </a:extLst>
          </p:cNvPr>
          <p:cNvSpPr>
            <a:spLocks xmlns:a="http://schemas.openxmlformats.org/drawingml/2006/main" noGrp="1"/>
          </p:cNvSpPr>
          <p:nvPr/>
        </p:nvSpPr>
        <p:spPr>
          <a:xfrm xmlns:a="http://schemas.openxmlformats.org/drawingml/2006/main">
            <a:off x="2476500" y="3952875"/>
            <a:ext cx="102870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5" name="">
            <a:extLst xmlns:a="http://schemas.openxmlformats.org/drawingml/2006/main">
              <a:ext uri="{FF2B5EF4-FFF2-40B4-BE49-F238E27FC236}">
                <a16:creationId xmlns:a16="http://schemas.microsoft.com/office/drawing/2014/main" id="{F632BA03-1788-4BE1-A884-B111371C78E5}"/>
              </a:ext>
            </a:extLst>
          </p:cNvPr>
          <p:cNvSpPr>
            <a:spLocks xmlns:a="http://schemas.openxmlformats.org/drawingml/2006/main" noGrp="1"/>
          </p:cNvSpPr>
          <p:nvPr/>
        </p:nvSpPr>
        <p:spPr>
          <a:xfrm xmlns:a="http://schemas.openxmlformats.org/drawingml/2006/main">
            <a:off x="112395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F07D00"/>
                </a:solidFill>
                <a:latin typeface="Calibri"/>
                <a:ea typeface="Calibri"/>
                <a:cs typeface="Calibri"/>
              </a:defRPr>
            </a:pPr>
            <a:r>
              <a:rPr sz="1350" b="1">
                <a:solidFill>
                  <a:srgbClr val="F07D00"/>
                </a:solidFill>
                <a:latin typeface="Calibri"/>
                <a:ea typeface="Calibri"/>
                <a:cs typeface="Calibri"/>
              </a:rPr>
              <a:t>01</a:t>
            </a:r>
          </a:p>
        </p:txBody>
      </p:sp>
      <p:sp>
        <p:nvSpPr>
          <p:cNvPr id="6" name="">
            <a:extLst xmlns:a="http://schemas.openxmlformats.org/drawingml/2006/main">
              <a:ext uri="{FF2B5EF4-FFF2-40B4-BE49-F238E27FC236}">
                <a16:creationId xmlns:a16="http://schemas.microsoft.com/office/drawing/2014/main" id="{21D92F82-4B68-493F-A374-EE0CF32C7343}"/>
              </a:ext>
            </a:extLst>
          </p:cNvPr>
          <p:cNvSpPr>
            <a:spLocks xmlns:a="http://schemas.openxmlformats.org/drawingml/2006/main" noGrp="1"/>
          </p:cNvSpPr>
          <p:nvPr/>
        </p:nvSpPr>
        <p:spPr>
          <a:xfrm xmlns:a="http://schemas.openxmlformats.org/drawingml/2006/main">
            <a:off x="1123950" y="514350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75" b="1">
                <a:solidFill>
                  <a:srgbClr val="051C2A"/>
                </a:solidFill>
                <a:latin typeface="Calibri"/>
                <a:ea typeface="Calibri"/>
                <a:cs typeface="Calibri"/>
              </a:defRPr>
            </a:pPr>
            <a:r>
              <a:rPr sz="1875" b="1">
                <a:solidFill>
                  <a:srgbClr val="051C2A"/>
                </a:solidFill>
                <a:latin typeface="Calibri"/>
                <a:ea typeface="Calibri"/>
                <a:cs typeface="Calibri"/>
              </a:rPr>
              <a:t>JSON  ✓</a:t>
            </a:r>
          </a:p>
        </p:txBody>
      </p:sp>
      <p:sp>
        <p:nvSpPr>
          <p:cNvPr id="7" name="">
            <a:extLst xmlns:a="http://schemas.openxmlformats.org/drawingml/2006/main">
              <a:ext uri="{FF2B5EF4-FFF2-40B4-BE49-F238E27FC236}">
                <a16:creationId xmlns:a16="http://schemas.microsoft.com/office/drawing/2014/main" id="{0C641AFC-2FEB-434F-ADB4-9127D7801978}"/>
              </a:ext>
            </a:extLst>
          </p:cNvPr>
          <p:cNvSpPr>
            <a:spLocks xmlns:a="http://schemas.openxmlformats.org/drawingml/2006/main" noGrp="1"/>
          </p:cNvSpPr>
          <p:nvPr/>
        </p:nvSpPr>
        <p:spPr>
          <a:xfrm xmlns:a="http://schemas.openxmlformats.org/drawingml/2006/main">
            <a:off x="386715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F07D00"/>
                </a:solidFill>
                <a:latin typeface="Calibri"/>
                <a:ea typeface="Calibri"/>
                <a:cs typeface="Calibri"/>
              </a:defRPr>
            </a:pPr>
            <a:r>
              <a:rPr sz="1350" b="1">
                <a:solidFill>
                  <a:srgbClr val="F07D00"/>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5F0EEE86-8AD2-4FC0-A0CA-3F39924551D1}"/>
              </a:ext>
            </a:extLst>
          </p:cNvPr>
          <p:cNvSpPr>
            <a:spLocks xmlns:a="http://schemas.openxmlformats.org/drawingml/2006/main" noGrp="1"/>
          </p:cNvSpPr>
          <p:nvPr/>
        </p:nvSpPr>
        <p:spPr>
          <a:xfrm xmlns:a="http://schemas.openxmlformats.org/drawingml/2006/main">
            <a:off x="3867150" y="514350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75" b="1">
                <a:solidFill>
                  <a:srgbClr val="051C2A"/>
                </a:solidFill>
                <a:latin typeface="Calibri"/>
                <a:ea typeface="Calibri"/>
                <a:cs typeface="Calibri"/>
              </a:defRPr>
            </a:pPr>
            <a:r>
              <a:rPr sz="1875" b="1">
                <a:solidFill>
                  <a:srgbClr val="051C2A"/>
                </a:solidFill>
                <a:latin typeface="Calibri"/>
                <a:ea typeface="Calibri"/>
                <a:cs typeface="Calibri"/>
              </a:rPr>
              <a:t>Fields  ✓</a:t>
            </a:r>
          </a:p>
        </p:txBody>
      </p:sp>
      <p:sp>
        <p:nvSpPr>
          <p:cNvPr id="9" name="">
            <a:extLst xmlns:a="http://schemas.openxmlformats.org/drawingml/2006/main">
              <a:ext uri="{FF2B5EF4-FFF2-40B4-BE49-F238E27FC236}">
                <a16:creationId xmlns:a16="http://schemas.microsoft.com/office/drawing/2014/main" id="{42A9F77B-9D95-469A-B256-2B019874F5B4}"/>
              </a:ext>
            </a:extLst>
          </p:cNvPr>
          <p:cNvSpPr>
            <a:spLocks xmlns:a="http://schemas.openxmlformats.org/drawingml/2006/main" noGrp="1"/>
          </p:cNvSpPr>
          <p:nvPr/>
        </p:nvSpPr>
        <p:spPr>
          <a:xfrm xmlns:a="http://schemas.openxmlformats.org/drawingml/2006/main">
            <a:off x="661035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F07D00"/>
                </a:solidFill>
                <a:latin typeface="Calibri"/>
                <a:ea typeface="Calibri"/>
                <a:cs typeface="Calibri"/>
              </a:defRPr>
            </a:pPr>
            <a:r>
              <a:rPr sz="1350" b="1">
                <a:solidFill>
                  <a:srgbClr val="F07D00"/>
                </a:solidFill>
                <a:latin typeface="Calibri"/>
                <a:ea typeface="Calibri"/>
                <a:cs typeface="Calibri"/>
              </a:rPr>
              <a:t>03</a:t>
            </a:r>
          </a:p>
        </p:txBody>
      </p:sp>
      <p:sp>
        <p:nvSpPr>
          <p:cNvPr id="10" name="">
            <a:extLst xmlns:a="http://schemas.openxmlformats.org/drawingml/2006/main">
              <a:ext uri="{FF2B5EF4-FFF2-40B4-BE49-F238E27FC236}">
                <a16:creationId xmlns:a16="http://schemas.microsoft.com/office/drawing/2014/main" id="{6920B1BF-7CCF-4161-9AFF-CC9F8DCA91B3}"/>
              </a:ext>
            </a:extLst>
          </p:cNvPr>
          <p:cNvSpPr>
            <a:spLocks xmlns:a="http://schemas.openxmlformats.org/drawingml/2006/main" noGrp="1"/>
          </p:cNvSpPr>
          <p:nvPr/>
        </p:nvSpPr>
        <p:spPr>
          <a:xfrm xmlns:a="http://schemas.openxmlformats.org/drawingml/2006/main">
            <a:off x="6610350" y="514350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75" b="1">
                <a:solidFill>
                  <a:srgbClr val="051C2A"/>
                </a:solidFill>
                <a:latin typeface="Calibri"/>
                <a:ea typeface="Calibri"/>
                <a:cs typeface="Calibri"/>
              </a:defRPr>
            </a:pPr>
            <a:r>
              <a:rPr sz="1875" b="1">
                <a:solidFill>
                  <a:srgbClr val="051C2A"/>
                </a:solidFill>
                <a:latin typeface="Calibri"/>
                <a:ea typeface="Calibri"/>
                <a:cs typeface="Calibri"/>
              </a:rPr>
              <a:t>Enums  ✓</a:t>
            </a:r>
          </a:p>
        </p:txBody>
      </p:sp>
      <p:sp>
        <p:nvSpPr>
          <p:cNvPr id="11" name="">
            <a:extLst xmlns:a="http://schemas.openxmlformats.org/drawingml/2006/main">
              <a:ext uri="{FF2B5EF4-FFF2-40B4-BE49-F238E27FC236}">
                <a16:creationId xmlns:a16="http://schemas.microsoft.com/office/drawing/2014/main" id="{8E8CF07A-926D-46C1-84B0-CB0E949F4B99}"/>
              </a:ext>
            </a:extLst>
          </p:cNvPr>
          <p:cNvSpPr>
            <a:spLocks xmlns:a="http://schemas.openxmlformats.org/drawingml/2006/main" noGrp="1"/>
          </p:cNvSpPr>
          <p:nvPr/>
        </p:nvSpPr>
        <p:spPr>
          <a:xfrm xmlns:a="http://schemas.openxmlformats.org/drawingml/2006/main">
            <a:off x="935355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F07D00"/>
                </a:solidFill>
                <a:latin typeface="Calibri"/>
                <a:ea typeface="Calibri"/>
                <a:cs typeface="Calibri"/>
              </a:defRPr>
            </a:pPr>
            <a:r>
              <a:rPr sz="1350" b="1">
                <a:solidFill>
                  <a:srgbClr val="F07D00"/>
                </a:solidFill>
                <a:latin typeface="Calibri"/>
                <a:ea typeface="Calibri"/>
                <a:cs typeface="Calibri"/>
              </a:rPr>
              <a:t>04</a:t>
            </a:r>
          </a:p>
        </p:txBody>
      </p:sp>
      <p:sp>
        <p:nvSpPr>
          <p:cNvPr id="12" name="">
            <a:extLst xmlns:a="http://schemas.openxmlformats.org/drawingml/2006/main">
              <a:ext uri="{FF2B5EF4-FFF2-40B4-BE49-F238E27FC236}">
                <a16:creationId xmlns:a16="http://schemas.microsoft.com/office/drawing/2014/main" id="{6D8E6400-99FC-4D00-A8CB-D89D7FA7E963}"/>
              </a:ext>
            </a:extLst>
          </p:cNvPr>
          <p:cNvSpPr>
            <a:spLocks xmlns:a="http://schemas.openxmlformats.org/drawingml/2006/main" noGrp="1"/>
          </p:cNvSpPr>
          <p:nvPr/>
        </p:nvSpPr>
        <p:spPr>
          <a:xfrm xmlns:a="http://schemas.openxmlformats.org/drawingml/2006/main">
            <a:off x="9353550" y="514350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75" b="1">
                <a:solidFill>
                  <a:srgbClr val="051C2A"/>
                </a:solidFill>
                <a:latin typeface="Calibri"/>
                <a:ea typeface="Calibri"/>
                <a:cs typeface="Calibri"/>
              </a:defRPr>
            </a:pPr>
            <a:r>
              <a:rPr sz="1875" b="1">
                <a:solidFill>
                  <a:srgbClr val="051C2A"/>
                </a:solidFill>
                <a:latin typeface="Calibri"/>
                <a:ea typeface="Calibri"/>
                <a:cs typeface="Calibri"/>
              </a:rPr>
              <a:t>No extras  ✓</a:t>
            </a:r>
          </a:p>
        </p:txBody>
      </p:sp>
      <p:sp>
        <p:nvSpPr>
          <p:cNvPr id="13" name="">
            <a:extLst xmlns:a="http://schemas.openxmlformats.org/drawingml/2006/main">
              <a:ext uri="{FF2B5EF4-FFF2-40B4-BE49-F238E27FC236}">
                <a16:creationId xmlns:a16="http://schemas.microsoft.com/office/drawing/2014/main" id="{BB04CD7E-4803-4104-8338-9D962B7E6766}"/>
              </a:ext>
            </a:extLst>
          </p:cNvPr>
          <p:cNvSpPr>
            <a:spLocks xmlns:a="http://schemas.openxmlformats.org/drawingml/2006/main" noGrp="1"/>
          </p:cNvSpPr>
          <p:nvPr/>
        </p:nvSpPr>
        <p:spPr>
          <a:xfrm xmlns:a="http://schemas.openxmlformats.org/drawingml/2006/main">
            <a:off x="1209675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F07D00"/>
                </a:solidFill>
                <a:latin typeface="Calibri"/>
                <a:ea typeface="Calibri"/>
                <a:cs typeface="Calibri"/>
              </a:defRPr>
            </a:pPr>
            <a:r>
              <a:rPr sz="1350" b="1">
                <a:solidFill>
                  <a:srgbClr val="F07D00"/>
                </a:solidFill>
                <a:latin typeface="Calibri"/>
                <a:ea typeface="Calibri"/>
                <a:cs typeface="Calibri"/>
              </a:rPr>
              <a:t>05</a:t>
            </a:r>
          </a:p>
        </p:txBody>
      </p:sp>
      <p:sp>
        <p:nvSpPr>
          <p:cNvPr id="14" name="">
            <a:extLst xmlns:a="http://schemas.openxmlformats.org/drawingml/2006/main">
              <a:ext uri="{FF2B5EF4-FFF2-40B4-BE49-F238E27FC236}">
                <a16:creationId xmlns:a16="http://schemas.microsoft.com/office/drawing/2014/main" id="{65270AE8-D659-434A-B5EA-AB73577F8DC8}"/>
              </a:ext>
            </a:extLst>
          </p:cNvPr>
          <p:cNvSpPr>
            <a:spLocks xmlns:a="http://schemas.openxmlformats.org/drawingml/2006/main" noGrp="1"/>
          </p:cNvSpPr>
          <p:nvPr/>
        </p:nvSpPr>
        <p:spPr>
          <a:xfrm xmlns:a="http://schemas.openxmlformats.org/drawingml/2006/main">
            <a:off x="12096750" y="5143500"/>
            <a:ext cx="2266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75" b="1">
                <a:solidFill>
                  <a:srgbClr val="051C2A"/>
                </a:solidFill>
                <a:latin typeface="Calibri"/>
                <a:ea typeface="Calibri"/>
                <a:cs typeface="Calibri"/>
              </a:defRPr>
            </a:pPr>
            <a:r>
              <a:rPr sz="1875" b="1">
                <a:solidFill>
                  <a:srgbClr val="051C2A"/>
                </a:solidFill>
                <a:latin typeface="Calibri"/>
                <a:ea typeface="Calibri"/>
                <a:cs typeface="Calibri"/>
              </a:rPr>
              <a:t>Evidence  ✕</a:t>
            </a:r>
          </a:p>
        </p:txBody>
      </p:sp>
      <p:sp>
        <p:nvSpPr>
          <p:cNvPr id="15" name="">
            <a:extLst xmlns:a="http://schemas.openxmlformats.org/drawingml/2006/main">
              <a:ext uri="{FF2B5EF4-FFF2-40B4-BE49-F238E27FC236}">
                <a16:creationId xmlns:a16="http://schemas.microsoft.com/office/drawing/2014/main" id="{32780C9E-1A2E-4219-955F-7ED3FB5CD9E3}"/>
              </a:ext>
            </a:extLst>
          </p:cNvPr>
          <p:cNvSpPr>
            <a:spLocks xmlns:a="http://schemas.openxmlformats.org/drawingml/2006/main" noGrp="1"/>
          </p:cNvSpPr>
          <p:nvPr/>
        </p:nvSpPr>
        <p:spPr>
          <a:xfrm xmlns:a="http://schemas.openxmlformats.org/drawingml/2006/main">
            <a:off x="2857500" y="649605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950" b="1">
                <a:solidFill>
                  <a:srgbClr val="051C2A"/>
                </a:solidFill>
                <a:latin typeface="Calibri"/>
                <a:ea typeface="Calibri"/>
                <a:cs typeface="Calibri"/>
              </a:defRPr>
            </a:pPr>
            <a:r>
              <a:rPr sz="1950" b="1">
                <a:solidFill>
                  <a:srgbClr val="051C2A"/>
                </a:solidFill>
                <a:latin typeface="Calibri"/>
                <a:ea typeface="Calibri"/>
                <a:cs typeface="Calibri"/>
              </a:rPr>
              <a:t>Reject: the filing does not support the word “entirely.”</a:t>
            </a:r>
          </a:p>
        </p:txBody>
      </p:sp>
      <p:sp>
        <p:nvSpPr>
          <p:cNvPr id="16" name="">
            <a:extLst xmlns:a="http://schemas.openxmlformats.org/drawingml/2006/main">
              <a:ext uri="{FF2B5EF4-FFF2-40B4-BE49-F238E27FC236}">
                <a16:creationId xmlns:a16="http://schemas.microsoft.com/office/drawing/2014/main" id="{86DF59FE-4FEE-42DE-92D0-4AA138236B06}"/>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7" name="">
            <a:extLst xmlns:a="http://schemas.openxmlformats.org/drawingml/2006/main">
              <a:ext uri="{FF2B5EF4-FFF2-40B4-BE49-F238E27FC236}">
                <a16:creationId xmlns:a16="http://schemas.microsoft.com/office/drawing/2014/main" id="{CCD1BFF5-CF10-414F-A9A1-5F4FE7F25AE3}"/>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18" name="">
            <a:extLst xmlns:a="http://schemas.openxmlformats.org/drawingml/2006/main">
              <a:ext uri="{FF2B5EF4-FFF2-40B4-BE49-F238E27FC236}">
                <a16:creationId xmlns:a16="http://schemas.microsoft.com/office/drawing/2014/main" id="{79A777C2-72B8-4165-974F-061823F0161A}"/>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19" name="">
            <a:extLst xmlns:a="http://schemas.openxmlformats.org/drawingml/2006/main">
              <a:ext uri="{FF2B5EF4-FFF2-40B4-BE49-F238E27FC236}">
                <a16:creationId xmlns:a16="http://schemas.microsoft.com/office/drawing/2014/main" id="{656DE7B0-9049-4B6C-8B3A-B01028AA58B8}"/>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VALIDATION</a:t>
            </a:r>
          </a:p>
        </p:txBody>
      </p:sp>
      <p:sp>
        <p:nvSpPr>
          <p:cNvPr id="20" name="">
            <a:extLst xmlns:a="http://schemas.openxmlformats.org/drawingml/2006/main">
              <a:ext uri="{FF2B5EF4-FFF2-40B4-BE49-F238E27FC236}">
                <a16:creationId xmlns:a16="http://schemas.microsoft.com/office/drawing/2014/main" id="{B0657728-BC95-4348-AF6C-34919712C05C}"/>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08</a:t>
            </a:r>
          </a:p>
        </p:txBody>
      </p:sp>
    </p:spTree>
    <p:extLst>
      <p:ext uri="{BB962C8B-B14F-4D97-AF65-F5344CB8AC3E}">
        <p14:creationId xmlns:p14="http://schemas.microsoft.com/office/powerpoint/2010/main" val="1510656681"/>
      </p:ext>
    </p:extLst>
  </p:cSld>
</p:sld>
</file>

<file path=ppt/slides/slide9.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C48A24-E18F-4399-84FF-49EC1D75EC4A}"/>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RELIABILITY PIPELINE</a:t>
            </a:r>
          </a:p>
        </p:txBody>
      </p:sp>
      <p:sp>
        <p:nvSpPr>
          <p:cNvPr id="2" name="">
            <a:extLst xmlns:a="http://schemas.openxmlformats.org/drawingml/2006/main">
              <a:ext uri="{FF2B5EF4-FFF2-40B4-BE49-F238E27FC236}">
                <a16:creationId xmlns:a16="http://schemas.microsoft.com/office/drawing/2014/main" id="{7574DED0-BD05-4639-BE3C-BD8A49B9E36F}"/>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Reliable finance outputs need two gates</a:t>
            </a:r>
          </a:p>
        </p:txBody>
      </p:sp>
      <p:sp>
        <p:nvSpPr>
          <p:cNvPr id="3" name="">
            <a:extLst xmlns:a="http://schemas.openxmlformats.org/drawingml/2006/main">
              <a:ext uri="{FF2B5EF4-FFF2-40B4-BE49-F238E27FC236}">
                <a16:creationId xmlns:a16="http://schemas.microsoft.com/office/drawing/2014/main" id="{B710C483-A890-47EA-A072-5D9086A148F5}"/>
              </a:ext>
            </a:extLst>
          </p:cNvPr>
          <p:cNvSpPr>
            <a:spLocks xmlns:a="http://schemas.openxmlformats.org/drawingml/2006/main" noGrp="1"/>
          </p:cNvSpPr>
          <p:nvPr/>
        </p:nvSpPr>
        <p:spPr>
          <a:xfrm xmlns:a="http://schemas.openxmlformats.org/drawingml/2006/main">
            <a:off x="1162050" y="28575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01</a:t>
            </a:r>
          </a:p>
        </p:txBody>
      </p:sp>
      <p:sp>
        <p:nvSpPr>
          <p:cNvPr id="4" name="">
            <a:extLst xmlns:a="http://schemas.openxmlformats.org/drawingml/2006/main">
              <a:ext uri="{FF2B5EF4-FFF2-40B4-BE49-F238E27FC236}">
                <a16:creationId xmlns:a16="http://schemas.microsoft.com/office/drawing/2014/main" id="{8A4E515B-5F3B-40A3-8912-9F85F0FE7567}"/>
              </a:ext>
            </a:extLst>
          </p:cNvPr>
          <p:cNvSpPr>
            <a:spLocks xmlns:a="http://schemas.openxmlformats.org/drawingml/2006/main" noGrp="1"/>
          </p:cNvSpPr>
          <p:nvPr/>
        </p:nvSpPr>
        <p:spPr>
          <a:xfrm xmlns:a="http://schemas.openxmlformats.org/drawingml/2006/main">
            <a:off x="2143125" y="28194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SEC evidence</a:t>
            </a:r>
          </a:p>
        </p:txBody>
      </p:sp>
      <p:sp>
        <p:nvSpPr>
          <p:cNvPr id="5" name="">
            <a:extLst xmlns:a="http://schemas.openxmlformats.org/drawingml/2006/main">
              <a:ext uri="{FF2B5EF4-FFF2-40B4-BE49-F238E27FC236}">
                <a16:creationId xmlns:a16="http://schemas.microsoft.com/office/drawing/2014/main" id="{A2CF432C-0929-4FB7-9EB4-33A2C51C41DC}"/>
              </a:ext>
            </a:extLst>
          </p:cNvPr>
          <p:cNvSpPr>
            <a:spLocks xmlns:a="http://schemas.openxmlformats.org/drawingml/2006/main" noGrp="1"/>
          </p:cNvSpPr>
          <p:nvPr/>
        </p:nvSpPr>
        <p:spPr>
          <a:xfrm xmlns:a="http://schemas.openxmlformats.org/drawingml/2006/main">
            <a:off x="8572500" y="28575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GROUND</a:t>
            </a:r>
          </a:p>
        </p:txBody>
      </p:sp>
      <p:sp>
        <p:nvSpPr>
          <p:cNvPr id="6" name="">
            <a:extLst xmlns:a="http://schemas.openxmlformats.org/drawingml/2006/main">
              <a:ext uri="{FF2B5EF4-FFF2-40B4-BE49-F238E27FC236}">
                <a16:creationId xmlns:a16="http://schemas.microsoft.com/office/drawing/2014/main" id="{179A1F7B-8EE0-471C-AA17-75A56716B8A1}"/>
              </a:ext>
            </a:extLst>
          </p:cNvPr>
          <p:cNvSpPr>
            <a:spLocks xmlns:a="http://schemas.openxmlformats.org/drawingml/2006/main" noGrp="1"/>
          </p:cNvSpPr>
          <p:nvPr/>
        </p:nvSpPr>
        <p:spPr>
          <a:xfrm xmlns:a="http://schemas.openxmlformats.org/drawingml/2006/main">
            <a:off x="2143125" y="34099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7" name="">
            <a:extLst xmlns:a="http://schemas.openxmlformats.org/drawingml/2006/main">
              <a:ext uri="{FF2B5EF4-FFF2-40B4-BE49-F238E27FC236}">
                <a16:creationId xmlns:a16="http://schemas.microsoft.com/office/drawing/2014/main" id="{C5F63C6A-1C80-47E2-9174-F44504BE7A86}"/>
              </a:ext>
            </a:extLst>
          </p:cNvPr>
          <p:cNvSpPr>
            <a:spLocks xmlns:a="http://schemas.openxmlformats.org/drawingml/2006/main" noGrp="1"/>
          </p:cNvSpPr>
          <p:nvPr/>
        </p:nvSpPr>
        <p:spPr>
          <a:xfrm xmlns:a="http://schemas.openxmlformats.org/drawingml/2006/main">
            <a:off x="1162050" y="36957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9521B42D-9ED7-495A-B9A4-706CAD687326}"/>
              </a:ext>
            </a:extLst>
          </p:cNvPr>
          <p:cNvSpPr>
            <a:spLocks xmlns:a="http://schemas.openxmlformats.org/drawingml/2006/main" noGrp="1"/>
          </p:cNvSpPr>
          <p:nvPr/>
        </p:nvSpPr>
        <p:spPr>
          <a:xfrm xmlns:a="http://schemas.openxmlformats.org/drawingml/2006/main">
            <a:off x="2143125" y="36576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Instructions + examples</a:t>
            </a:r>
          </a:p>
        </p:txBody>
      </p:sp>
      <p:sp>
        <p:nvSpPr>
          <p:cNvPr id="9" name="">
            <a:extLst xmlns:a="http://schemas.openxmlformats.org/drawingml/2006/main">
              <a:ext uri="{FF2B5EF4-FFF2-40B4-BE49-F238E27FC236}">
                <a16:creationId xmlns:a16="http://schemas.microsoft.com/office/drawing/2014/main" id="{3879279A-F56C-43A4-BB61-5DBED2EC9897}"/>
              </a:ext>
            </a:extLst>
          </p:cNvPr>
          <p:cNvSpPr>
            <a:spLocks xmlns:a="http://schemas.openxmlformats.org/drawingml/2006/main" noGrp="1"/>
          </p:cNvSpPr>
          <p:nvPr/>
        </p:nvSpPr>
        <p:spPr>
          <a:xfrm xmlns:a="http://schemas.openxmlformats.org/drawingml/2006/main">
            <a:off x="8572500" y="36957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STEER</a:t>
            </a:r>
          </a:p>
        </p:txBody>
      </p:sp>
      <p:sp>
        <p:nvSpPr>
          <p:cNvPr id="10" name="">
            <a:extLst xmlns:a="http://schemas.openxmlformats.org/drawingml/2006/main">
              <a:ext uri="{FF2B5EF4-FFF2-40B4-BE49-F238E27FC236}">
                <a16:creationId xmlns:a16="http://schemas.microsoft.com/office/drawing/2014/main" id="{17DD85C8-4C83-4C3E-8F6A-367A43180458}"/>
              </a:ext>
            </a:extLst>
          </p:cNvPr>
          <p:cNvSpPr>
            <a:spLocks xmlns:a="http://schemas.openxmlformats.org/drawingml/2006/main" noGrp="1"/>
          </p:cNvSpPr>
          <p:nvPr/>
        </p:nvSpPr>
        <p:spPr>
          <a:xfrm xmlns:a="http://schemas.openxmlformats.org/drawingml/2006/main">
            <a:off x="2143125" y="42481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1" name="">
            <a:extLst xmlns:a="http://schemas.openxmlformats.org/drawingml/2006/main">
              <a:ext uri="{FF2B5EF4-FFF2-40B4-BE49-F238E27FC236}">
                <a16:creationId xmlns:a16="http://schemas.microsoft.com/office/drawing/2014/main" id="{56A488D8-189E-4BB9-9C55-CA27344D4880}"/>
              </a:ext>
            </a:extLst>
          </p:cNvPr>
          <p:cNvSpPr>
            <a:spLocks xmlns:a="http://schemas.openxmlformats.org/drawingml/2006/main" noGrp="1"/>
          </p:cNvSpPr>
          <p:nvPr/>
        </p:nvSpPr>
        <p:spPr>
          <a:xfrm xmlns:a="http://schemas.openxmlformats.org/drawingml/2006/main">
            <a:off x="1162050" y="45339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2062B6DC-830C-4BC9-8851-A3888182AE1E}"/>
              </a:ext>
            </a:extLst>
          </p:cNvPr>
          <p:cNvSpPr>
            <a:spLocks xmlns:a="http://schemas.openxmlformats.org/drawingml/2006/main" noGrp="1"/>
          </p:cNvSpPr>
          <p:nvPr/>
        </p:nvSpPr>
        <p:spPr>
          <a:xfrm xmlns:a="http://schemas.openxmlformats.org/drawingml/2006/main">
            <a:off x="2143125" y="44958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LLM response</a:t>
            </a:r>
          </a:p>
        </p:txBody>
      </p:sp>
      <p:sp>
        <p:nvSpPr>
          <p:cNvPr id="13" name="">
            <a:extLst xmlns:a="http://schemas.openxmlformats.org/drawingml/2006/main">
              <a:ext uri="{FF2B5EF4-FFF2-40B4-BE49-F238E27FC236}">
                <a16:creationId xmlns:a16="http://schemas.microsoft.com/office/drawing/2014/main" id="{56B92F15-B968-44A2-AC9F-1F44F75B84FF}"/>
              </a:ext>
            </a:extLst>
          </p:cNvPr>
          <p:cNvSpPr>
            <a:spLocks xmlns:a="http://schemas.openxmlformats.org/drawingml/2006/main" noGrp="1"/>
          </p:cNvSpPr>
          <p:nvPr/>
        </p:nvSpPr>
        <p:spPr>
          <a:xfrm xmlns:a="http://schemas.openxmlformats.org/drawingml/2006/main">
            <a:off x="8572500" y="45339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GENERATE</a:t>
            </a:r>
          </a:p>
        </p:txBody>
      </p:sp>
      <p:sp>
        <p:nvSpPr>
          <p:cNvPr id="14" name="">
            <a:extLst xmlns:a="http://schemas.openxmlformats.org/drawingml/2006/main">
              <a:ext uri="{FF2B5EF4-FFF2-40B4-BE49-F238E27FC236}">
                <a16:creationId xmlns:a16="http://schemas.microsoft.com/office/drawing/2014/main" id="{AC9FCC08-CC44-427D-9C16-AD71F4A0FE15}"/>
              </a:ext>
            </a:extLst>
          </p:cNvPr>
          <p:cNvSpPr>
            <a:spLocks xmlns:a="http://schemas.openxmlformats.org/drawingml/2006/main" noGrp="1"/>
          </p:cNvSpPr>
          <p:nvPr/>
        </p:nvSpPr>
        <p:spPr>
          <a:xfrm xmlns:a="http://schemas.openxmlformats.org/drawingml/2006/main">
            <a:off x="2143125" y="50863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46219D6C-4B5E-42DF-9DFC-40856CEAE76C}"/>
              </a:ext>
            </a:extLst>
          </p:cNvPr>
          <p:cNvSpPr>
            <a:spLocks xmlns:a="http://schemas.openxmlformats.org/drawingml/2006/main" noGrp="1"/>
          </p:cNvSpPr>
          <p:nvPr/>
        </p:nvSpPr>
        <p:spPr>
          <a:xfrm xmlns:a="http://schemas.openxmlformats.org/drawingml/2006/main">
            <a:off x="1162050" y="53721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E2CA7A6E-EE89-4E7C-A0E4-A0D3E684AC6C}"/>
              </a:ext>
            </a:extLst>
          </p:cNvPr>
          <p:cNvSpPr>
            <a:spLocks xmlns:a="http://schemas.openxmlformats.org/drawingml/2006/main" noGrp="1"/>
          </p:cNvSpPr>
          <p:nvPr/>
        </p:nvSpPr>
        <p:spPr>
          <a:xfrm xmlns:a="http://schemas.openxmlformats.org/drawingml/2006/main">
            <a:off x="2143125" y="53340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Schema gate</a:t>
            </a:r>
          </a:p>
        </p:txBody>
      </p:sp>
      <p:sp>
        <p:nvSpPr>
          <p:cNvPr id="17" name="">
            <a:extLst xmlns:a="http://schemas.openxmlformats.org/drawingml/2006/main">
              <a:ext uri="{FF2B5EF4-FFF2-40B4-BE49-F238E27FC236}">
                <a16:creationId xmlns:a16="http://schemas.microsoft.com/office/drawing/2014/main" id="{EF9232DB-9ADA-4EC0-9488-23F6FAAFFAB6}"/>
              </a:ext>
            </a:extLst>
          </p:cNvPr>
          <p:cNvSpPr>
            <a:spLocks xmlns:a="http://schemas.openxmlformats.org/drawingml/2006/main" noGrp="1"/>
          </p:cNvSpPr>
          <p:nvPr/>
        </p:nvSpPr>
        <p:spPr>
          <a:xfrm xmlns:a="http://schemas.openxmlformats.org/drawingml/2006/main">
            <a:off x="8572500" y="53721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SHAPE</a:t>
            </a:r>
          </a:p>
        </p:txBody>
      </p:sp>
      <p:sp>
        <p:nvSpPr>
          <p:cNvPr id="18" name="">
            <a:extLst xmlns:a="http://schemas.openxmlformats.org/drawingml/2006/main">
              <a:ext uri="{FF2B5EF4-FFF2-40B4-BE49-F238E27FC236}">
                <a16:creationId xmlns:a16="http://schemas.microsoft.com/office/drawing/2014/main" id="{48F021EC-EF4B-4696-AC90-EE4C0AB71651}"/>
              </a:ext>
            </a:extLst>
          </p:cNvPr>
          <p:cNvSpPr>
            <a:spLocks xmlns:a="http://schemas.openxmlformats.org/drawingml/2006/main" noGrp="1"/>
          </p:cNvSpPr>
          <p:nvPr/>
        </p:nvSpPr>
        <p:spPr>
          <a:xfrm xmlns:a="http://schemas.openxmlformats.org/drawingml/2006/main">
            <a:off x="2143125" y="59245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9" name="">
            <a:extLst xmlns:a="http://schemas.openxmlformats.org/drawingml/2006/main">
              <a:ext uri="{FF2B5EF4-FFF2-40B4-BE49-F238E27FC236}">
                <a16:creationId xmlns:a16="http://schemas.microsoft.com/office/drawing/2014/main" id="{2D510A64-1653-4D80-B5B0-A343D07C171B}"/>
              </a:ext>
            </a:extLst>
          </p:cNvPr>
          <p:cNvSpPr>
            <a:spLocks xmlns:a="http://schemas.openxmlformats.org/drawingml/2006/main" noGrp="1"/>
          </p:cNvSpPr>
          <p:nvPr/>
        </p:nvSpPr>
        <p:spPr>
          <a:xfrm xmlns:a="http://schemas.openxmlformats.org/drawingml/2006/main">
            <a:off x="10572750" y="2914650"/>
            <a:ext cx="3333750" cy="3238500"/>
          </a:xfrm>
          <a:prstGeom xmlns:a="http://schemas.openxmlformats.org/drawingml/2006/main" prst="roundRect">
            <a:avLst>
              <a:gd name="adj" fmla="val 2353"/>
            </a:avLst>
          </a:prstGeom>
          <a:solidFill xmlns:a="http://schemas.openxmlformats.org/drawingml/2006/main">
            <a:srgbClr val="051C2A"/>
          </a:solidFill>
          <a:ln xmlns:a="http://schemas.openxmlformats.org/drawingml/2006/main" w="9525">
            <a:solidFill>
              <a:srgbClr val="051C2A"/>
            </a:solidFill>
            <a:prstDash val="solid"/>
          </a:ln>
        </p:spPr>
      </p:sp>
      <p:sp>
        <p:nvSpPr>
          <p:cNvPr id="20" name="">
            <a:extLst xmlns:a="http://schemas.openxmlformats.org/drawingml/2006/main">
              <a:ext uri="{FF2B5EF4-FFF2-40B4-BE49-F238E27FC236}">
                <a16:creationId xmlns:a16="http://schemas.microsoft.com/office/drawing/2014/main" id="{34E24CC2-8886-4470-A433-8B2BDCC9A396}"/>
              </a:ext>
            </a:extLst>
          </p:cNvPr>
          <p:cNvSpPr>
            <a:spLocks xmlns:a="http://schemas.openxmlformats.org/drawingml/2006/main" noGrp="1"/>
          </p:cNvSpPr>
          <p:nvPr/>
        </p:nvSpPr>
        <p:spPr>
          <a:xfrm xmlns:a="http://schemas.openxmlformats.org/drawingml/2006/main">
            <a:off x="11049000" y="3429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425" b="1">
                <a:solidFill>
                  <a:srgbClr val="00A2EB"/>
                </a:solidFill>
                <a:latin typeface="Calibri"/>
                <a:ea typeface="Calibri"/>
                <a:cs typeface="Calibri"/>
              </a:defRPr>
            </a:pPr>
            <a:r>
              <a:rPr sz="1425" b="1">
                <a:solidFill>
                  <a:srgbClr val="00A2EB"/>
                </a:solidFill>
                <a:latin typeface="Calibri"/>
                <a:ea typeface="Calibri"/>
                <a:cs typeface="Calibri"/>
              </a:rPr>
              <a:t>THEN</a:t>
            </a:r>
          </a:p>
        </p:txBody>
      </p:sp>
      <p:sp>
        <p:nvSpPr>
          <p:cNvPr id="21" name="">
            <a:extLst xmlns:a="http://schemas.openxmlformats.org/drawingml/2006/main">
              <a:ext uri="{FF2B5EF4-FFF2-40B4-BE49-F238E27FC236}">
                <a16:creationId xmlns:a16="http://schemas.microsoft.com/office/drawing/2014/main" id="{75710502-B50A-464D-8CBF-05C06A018465}"/>
              </a:ext>
            </a:extLst>
          </p:cNvPr>
          <p:cNvSpPr>
            <a:spLocks xmlns:a="http://schemas.openxmlformats.org/drawingml/2006/main" noGrp="1"/>
          </p:cNvSpPr>
          <p:nvPr/>
        </p:nvSpPr>
        <p:spPr>
          <a:xfrm xmlns:a="http://schemas.openxmlformats.org/drawingml/2006/main">
            <a:off x="11049000" y="4038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550" b="1">
                <a:solidFill>
                  <a:srgbClr val="FFFFFF"/>
                </a:solidFill>
                <a:latin typeface="Calibri"/>
                <a:ea typeface="Calibri"/>
                <a:cs typeface="Calibri"/>
              </a:defRPr>
            </a:pPr>
            <a:r>
              <a:rPr sz="2550" b="1">
                <a:solidFill>
                  <a:srgbClr val="FFFFFF"/>
                </a:solidFill>
                <a:latin typeface="Calibri"/>
                <a:ea typeface="Calibri"/>
                <a:cs typeface="Calibri"/>
              </a:rPr>
              <a:t>Finance rules</a:t>
            </a:r>
          </a:p>
        </p:txBody>
      </p:sp>
      <p:sp>
        <p:nvSpPr>
          <p:cNvPr id="22" name="">
            <a:extLst xmlns:a="http://schemas.openxmlformats.org/drawingml/2006/main">
              <a:ext uri="{FF2B5EF4-FFF2-40B4-BE49-F238E27FC236}">
                <a16:creationId xmlns:a16="http://schemas.microsoft.com/office/drawing/2014/main" id="{98057516-ABAC-4FB1-A462-D76649ACD6A3}"/>
              </a:ext>
            </a:extLst>
          </p:cNvPr>
          <p:cNvSpPr>
            <a:spLocks xmlns:a="http://schemas.openxmlformats.org/drawingml/2006/main" noGrp="1"/>
          </p:cNvSpPr>
          <p:nvPr/>
        </p:nvSpPr>
        <p:spPr>
          <a:xfrm xmlns:a="http://schemas.openxmlformats.org/drawingml/2006/main">
            <a:off x="11049000" y="495300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a:solidFill>
                  <a:srgbClr val="FFFFFF"/>
                </a:solidFill>
                <a:latin typeface="Calibri"/>
                <a:ea typeface="Calibri"/>
                <a:cs typeface="Calibri"/>
              </a:defRPr>
            </a:pPr>
            <a:r>
              <a:rPr sz="1650">
                <a:solidFill>
                  <a:srgbClr val="FFFFFF"/>
                </a:solidFill>
                <a:latin typeface="Calibri"/>
                <a:ea typeface="Calibri"/>
                <a:cs typeface="Calibri"/>
              </a:rPr>
              <a:t>EVIDENCE · MEANING
· COMPLETENESS</a:t>
            </a:r>
          </a:p>
        </p:txBody>
      </p:sp>
      <p:sp>
        <p:nvSpPr>
          <p:cNvPr id="23" name="">
            <a:extLst xmlns:a="http://schemas.openxmlformats.org/drawingml/2006/main">
              <a:ext uri="{FF2B5EF4-FFF2-40B4-BE49-F238E27FC236}">
                <a16:creationId xmlns:a16="http://schemas.microsoft.com/office/drawing/2014/main" id="{8174979B-71B7-425A-85CB-FF6AD6AC593E}"/>
              </a:ext>
            </a:extLst>
          </p:cNvPr>
          <p:cNvSpPr>
            <a:spLocks xmlns:a="http://schemas.openxmlformats.org/drawingml/2006/main" noGrp="1"/>
          </p:cNvSpPr>
          <p:nvPr/>
        </p:nvSpPr>
        <p:spPr>
          <a:xfrm xmlns:a="http://schemas.openxmlformats.org/drawingml/2006/main">
            <a:off x="2143125" y="66675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Gate 1 makes the object parseable; Gate 2 checks evidence, meaning and completeness.</a:t>
            </a:r>
          </a:p>
        </p:txBody>
      </p:sp>
      <p:sp>
        <p:nvSpPr>
          <p:cNvPr id="24" name="">
            <a:extLst xmlns:a="http://schemas.openxmlformats.org/drawingml/2006/main">
              <a:ext uri="{FF2B5EF4-FFF2-40B4-BE49-F238E27FC236}">
                <a16:creationId xmlns:a16="http://schemas.microsoft.com/office/drawing/2014/main" id="{5B353963-99F6-474D-AE9E-6D102866C245}"/>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25" name="">
            <a:extLst xmlns:a="http://schemas.openxmlformats.org/drawingml/2006/main">
              <a:ext uri="{FF2B5EF4-FFF2-40B4-BE49-F238E27FC236}">
                <a16:creationId xmlns:a16="http://schemas.microsoft.com/office/drawing/2014/main" id="{7A58137A-5475-4121-BA20-053FF731F89A}"/>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6" name="">
            <a:extLst xmlns:a="http://schemas.openxmlformats.org/drawingml/2006/main">
              <a:ext uri="{FF2B5EF4-FFF2-40B4-BE49-F238E27FC236}">
                <a16:creationId xmlns:a16="http://schemas.microsoft.com/office/drawing/2014/main" id="{7126838F-9E9E-49AC-8F5A-4888689CD6C3}"/>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27" name="">
            <a:extLst xmlns:a="http://schemas.openxmlformats.org/drawingml/2006/main">
              <a:ext uri="{FF2B5EF4-FFF2-40B4-BE49-F238E27FC236}">
                <a16:creationId xmlns:a16="http://schemas.microsoft.com/office/drawing/2014/main" id="{3F2728AD-6B3E-41C8-9959-16F490654FF9}"/>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PIPELINE</a:t>
            </a:r>
          </a:p>
        </p:txBody>
      </p:sp>
      <p:sp>
        <p:nvSpPr>
          <p:cNvPr id="28" name="">
            <a:extLst xmlns:a="http://schemas.openxmlformats.org/drawingml/2006/main">
              <a:ext uri="{FF2B5EF4-FFF2-40B4-BE49-F238E27FC236}">
                <a16:creationId xmlns:a16="http://schemas.microsoft.com/office/drawing/2014/main" id="{2500A979-B0DA-491D-BECE-B4073BB3CB9A}"/>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09</a:t>
            </a:r>
          </a:p>
        </p:txBody>
      </p:sp>
    </p:spTree>
    <p:extLst>
      <p:ext uri="{BB962C8B-B14F-4D97-AF65-F5344CB8AC3E}">
        <p14:creationId xmlns:p14="http://schemas.microsoft.com/office/powerpoint/2010/main" val="223453297"/>
      </p:ext>
    </p:extLst>
  </p:cSld>
</p:sld>
</file>

<file path=ppt/slides/slide10.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C48A24-E18F-4399-84FF-49EC1D75EC4A}"/>
              </a:ext>
            </a:extLst>
          </p:cNvPr>
          <p:cNvSpPr>
            <a:spLocks xmlns:a="http://schemas.openxmlformats.org/drawingml/2006/main" noGrp="1"/>
          </p:cNvSpPr>
          <p:nvPr/>
        </p:nvSpPr>
        <p:spPr>
          <a:xfrm xmlns:a="http://schemas.openxmlformats.org/drawingml/2006/main">
            <a:off x="971550" y="7239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PRACTICAL EXERCISE</a:t>
            </a:r>
          </a:p>
        </p:txBody>
      </p:sp>
      <p:sp>
        <p:nvSpPr>
          <p:cNvPr id="2" name="">
            <a:extLst xmlns:a="http://schemas.openxmlformats.org/drawingml/2006/main">
              <a:ext uri="{FF2B5EF4-FFF2-40B4-BE49-F238E27FC236}">
                <a16:creationId xmlns:a16="http://schemas.microsoft.com/office/drawing/2014/main" id="{7574DED0-BD05-4639-BE3C-BD8A49B9E36F}"/>
              </a:ext>
            </a:extLst>
          </p:cNvPr>
          <p:cNvSpPr>
            <a:spLocks xmlns:a="http://schemas.openxmlformats.org/drawingml/2006/main" noGrp="1"/>
          </p:cNvSpPr>
          <p:nvPr/>
        </p:nvSpPr>
        <p:spPr>
          <a:xfrm xmlns:a="http://schemas.openxmlformats.org/drawingml/2006/main">
            <a:off x="971550" y="1181100"/>
            <a:ext cx="13239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3600" b="1">
                <a:solidFill>
                  <a:srgbClr val="051C2A"/>
                </a:solidFill>
                <a:latin typeface="Calibri"/>
                <a:ea typeface="Calibri"/>
                <a:cs typeface="Calibri"/>
              </a:defRPr>
            </a:pPr>
            <a:r>
              <a:rPr sz="3600" b="1">
                <a:solidFill>
                  <a:srgbClr val="051C2A"/>
                </a:solidFill>
                <a:latin typeface="Calibri"/>
                <a:ea typeface="Calibri"/>
                <a:cs typeface="Calibri"/>
              </a:rPr>
              <a:t>The notebook tests each control separately</a:t>
            </a:r>
          </a:p>
        </p:txBody>
      </p:sp>
      <p:sp>
        <p:nvSpPr>
          <p:cNvPr id="3" name="">
            <a:extLst xmlns:a="http://schemas.openxmlformats.org/drawingml/2006/main">
              <a:ext uri="{FF2B5EF4-FFF2-40B4-BE49-F238E27FC236}">
                <a16:creationId xmlns:a16="http://schemas.microsoft.com/office/drawing/2014/main" id="{B710C483-A890-47EA-A072-5D9086A148F5}"/>
              </a:ext>
            </a:extLst>
          </p:cNvPr>
          <p:cNvSpPr>
            <a:spLocks xmlns:a="http://schemas.openxmlformats.org/drawingml/2006/main" noGrp="1"/>
          </p:cNvSpPr>
          <p:nvPr/>
        </p:nvSpPr>
        <p:spPr>
          <a:xfrm xmlns:a="http://schemas.openxmlformats.org/drawingml/2006/main">
            <a:off x="1162050" y="28575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01</a:t>
            </a:r>
          </a:p>
        </p:txBody>
      </p:sp>
      <p:sp>
        <p:nvSpPr>
          <p:cNvPr id="4" name="">
            <a:extLst xmlns:a="http://schemas.openxmlformats.org/drawingml/2006/main">
              <a:ext uri="{FF2B5EF4-FFF2-40B4-BE49-F238E27FC236}">
                <a16:creationId xmlns:a16="http://schemas.microsoft.com/office/drawing/2014/main" id="{8A4E515B-5F3B-40A3-8912-9F85F0FE7567}"/>
              </a:ext>
            </a:extLst>
          </p:cNvPr>
          <p:cNvSpPr>
            <a:spLocks xmlns:a="http://schemas.openxmlformats.org/drawingml/2006/main" noGrp="1"/>
          </p:cNvSpPr>
          <p:nvPr/>
        </p:nvSpPr>
        <p:spPr>
          <a:xfrm xmlns:a="http://schemas.openxmlformats.org/drawingml/2006/main">
            <a:off x="2143125" y="28194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Load visible SEC evidence</a:t>
            </a:r>
          </a:p>
        </p:txBody>
      </p:sp>
      <p:sp>
        <p:nvSpPr>
          <p:cNvPr id="5" name="">
            <a:extLst xmlns:a="http://schemas.openxmlformats.org/drawingml/2006/main">
              <a:ext uri="{FF2B5EF4-FFF2-40B4-BE49-F238E27FC236}">
                <a16:creationId xmlns:a16="http://schemas.microsoft.com/office/drawing/2014/main" id="{A2CF432C-0929-4FB7-9EB4-33A2C51C41DC}"/>
              </a:ext>
            </a:extLst>
          </p:cNvPr>
          <p:cNvSpPr>
            <a:spLocks xmlns:a="http://schemas.openxmlformats.org/drawingml/2006/main" noGrp="1"/>
          </p:cNvSpPr>
          <p:nvPr/>
        </p:nvSpPr>
        <p:spPr>
          <a:xfrm xmlns:a="http://schemas.openxmlformats.org/drawingml/2006/main">
            <a:off x="8572500" y="28575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SOURCE</a:t>
            </a:r>
          </a:p>
        </p:txBody>
      </p:sp>
      <p:sp>
        <p:nvSpPr>
          <p:cNvPr id="6" name="">
            <a:extLst xmlns:a="http://schemas.openxmlformats.org/drawingml/2006/main">
              <a:ext uri="{FF2B5EF4-FFF2-40B4-BE49-F238E27FC236}">
                <a16:creationId xmlns:a16="http://schemas.microsoft.com/office/drawing/2014/main" id="{179A1F7B-8EE0-471C-AA17-75A56716B8A1}"/>
              </a:ext>
            </a:extLst>
          </p:cNvPr>
          <p:cNvSpPr>
            <a:spLocks xmlns:a="http://schemas.openxmlformats.org/drawingml/2006/main" noGrp="1"/>
          </p:cNvSpPr>
          <p:nvPr/>
        </p:nvSpPr>
        <p:spPr>
          <a:xfrm xmlns:a="http://schemas.openxmlformats.org/drawingml/2006/main">
            <a:off x="2143125" y="34099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7" name="">
            <a:extLst xmlns:a="http://schemas.openxmlformats.org/drawingml/2006/main">
              <a:ext uri="{FF2B5EF4-FFF2-40B4-BE49-F238E27FC236}">
                <a16:creationId xmlns:a16="http://schemas.microsoft.com/office/drawing/2014/main" id="{C5F63C6A-1C80-47E2-9174-F44504BE7A86}"/>
              </a:ext>
            </a:extLst>
          </p:cNvPr>
          <p:cNvSpPr>
            <a:spLocks xmlns:a="http://schemas.openxmlformats.org/drawingml/2006/main" noGrp="1"/>
          </p:cNvSpPr>
          <p:nvPr/>
        </p:nvSpPr>
        <p:spPr>
          <a:xfrm xmlns:a="http://schemas.openxmlformats.org/drawingml/2006/main">
            <a:off x="1162050" y="36957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02</a:t>
            </a:r>
          </a:p>
        </p:txBody>
      </p:sp>
      <p:sp>
        <p:nvSpPr>
          <p:cNvPr id="8" name="">
            <a:extLst xmlns:a="http://schemas.openxmlformats.org/drawingml/2006/main">
              <a:ext uri="{FF2B5EF4-FFF2-40B4-BE49-F238E27FC236}">
                <a16:creationId xmlns:a16="http://schemas.microsoft.com/office/drawing/2014/main" id="{9521B42D-9ED7-495A-B9A4-706CAD687326}"/>
              </a:ext>
            </a:extLst>
          </p:cNvPr>
          <p:cNvSpPr>
            <a:spLocks xmlns:a="http://schemas.openxmlformats.org/drawingml/2006/main" noGrp="1"/>
          </p:cNvSpPr>
          <p:nvPr/>
        </p:nvSpPr>
        <p:spPr>
          <a:xfrm xmlns:a="http://schemas.openxmlformats.org/drawingml/2006/main">
            <a:off x="2143125" y="36576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Compare zero- and few-shot</a:t>
            </a:r>
          </a:p>
        </p:txBody>
      </p:sp>
      <p:sp>
        <p:nvSpPr>
          <p:cNvPr id="9" name="">
            <a:extLst xmlns:a="http://schemas.openxmlformats.org/drawingml/2006/main">
              <a:ext uri="{FF2B5EF4-FFF2-40B4-BE49-F238E27FC236}">
                <a16:creationId xmlns:a16="http://schemas.microsoft.com/office/drawing/2014/main" id="{3879279A-F56C-43A4-BB61-5DBED2EC9897}"/>
              </a:ext>
            </a:extLst>
          </p:cNvPr>
          <p:cNvSpPr>
            <a:spLocks xmlns:a="http://schemas.openxmlformats.org/drawingml/2006/main" noGrp="1"/>
          </p:cNvSpPr>
          <p:nvPr/>
        </p:nvSpPr>
        <p:spPr>
          <a:xfrm xmlns:a="http://schemas.openxmlformats.org/drawingml/2006/main">
            <a:off x="8572500" y="36957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BEHAVIOR</a:t>
            </a:r>
          </a:p>
        </p:txBody>
      </p:sp>
      <p:sp>
        <p:nvSpPr>
          <p:cNvPr id="10" name="">
            <a:extLst xmlns:a="http://schemas.openxmlformats.org/drawingml/2006/main">
              <a:ext uri="{FF2B5EF4-FFF2-40B4-BE49-F238E27FC236}">
                <a16:creationId xmlns:a16="http://schemas.microsoft.com/office/drawing/2014/main" id="{17DD85C8-4C83-4C3E-8F6A-367A43180458}"/>
              </a:ext>
            </a:extLst>
          </p:cNvPr>
          <p:cNvSpPr>
            <a:spLocks xmlns:a="http://schemas.openxmlformats.org/drawingml/2006/main" noGrp="1"/>
          </p:cNvSpPr>
          <p:nvPr/>
        </p:nvSpPr>
        <p:spPr>
          <a:xfrm xmlns:a="http://schemas.openxmlformats.org/drawingml/2006/main">
            <a:off x="2143125" y="42481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1" name="">
            <a:extLst xmlns:a="http://schemas.openxmlformats.org/drawingml/2006/main">
              <a:ext uri="{FF2B5EF4-FFF2-40B4-BE49-F238E27FC236}">
                <a16:creationId xmlns:a16="http://schemas.microsoft.com/office/drawing/2014/main" id="{56A488D8-189E-4BB9-9C55-CA27344D4880}"/>
              </a:ext>
            </a:extLst>
          </p:cNvPr>
          <p:cNvSpPr>
            <a:spLocks xmlns:a="http://schemas.openxmlformats.org/drawingml/2006/main" noGrp="1"/>
          </p:cNvSpPr>
          <p:nvPr/>
        </p:nvSpPr>
        <p:spPr>
          <a:xfrm xmlns:a="http://schemas.openxmlformats.org/drawingml/2006/main">
            <a:off x="1162050" y="45339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03</a:t>
            </a:r>
          </a:p>
        </p:txBody>
      </p:sp>
      <p:sp>
        <p:nvSpPr>
          <p:cNvPr id="12" name="">
            <a:extLst xmlns:a="http://schemas.openxmlformats.org/drawingml/2006/main">
              <a:ext uri="{FF2B5EF4-FFF2-40B4-BE49-F238E27FC236}">
                <a16:creationId xmlns:a16="http://schemas.microsoft.com/office/drawing/2014/main" id="{2062B6DC-830C-4BC9-8851-A3888182AE1E}"/>
              </a:ext>
            </a:extLst>
          </p:cNvPr>
          <p:cNvSpPr>
            <a:spLocks xmlns:a="http://schemas.openxmlformats.org/drawingml/2006/main" noGrp="1"/>
          </p:cNvSpPr>
          <p:nvPr/>
        </p:nvSpPr>
        <p:spPr>
          <a:xfrm xmlns:a="http://schemas.openxmlformats.org/drawingml/2006/main">
            <a:off x="2143125" y="44958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Generate a typed brief</a:t>
            </a:r>
          </a:p>
        </p:txBody>
      </p:sp>
      <p:sp>
        <p:nvSpPr>
          <p:cNvPr id="13" name="">
            <a:extLst xmlns:a="http://schemas.openxmlformats.org/drawingml/2006/main">
              <a:ext uri="{FF2B5EF4-FFF2-40B4-BE49-F238E27FC236}">
                <a16:creationId xmlns:a16="http://schemas.microsoft.com/office/drawing/2014/main" id="{56B92F15-B968-44A2-AC9F-1F44F75B84FF}"/>
              </a:ext>
            </a:extLst>
          </p:cNvPr>
          <p:cNvSpPr>
            <a:spLocks xmlns:a="http://schemas.openxmlformats.org/drawingml/2006/main" noGrp="1"/>
          </p:cNvSpPr>
          <p:nvPr/>
        </p:nvSpPr>
        <p:spPr>
          <a:xfrm xmlns:a="http://schemas.openxmlformats.org/drawingml/2006/main">
            <a:off x="8572500" y="45339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SCHEMA</a:t>
            </a:r>
          </a:p>
        </p:txBody>
      </p:sp>
      <p:sp>
        <p:nvSpPr>
          <p:cNvPr id="14" name="">
            <a:extLst xmlns:a="http://schemas.openxmlformats.org/drawingml/2006/main">
              <a:ext uri="{FF2B5EF4-FFF2-40B4-BE49-F238E27FC236}">
                <a16:creationId xmlns:a16="http://schemas.microsoft.com/office/drawing/2014/main" id="{AC9FCC08-CC44-427D-9C16-AD71F4A0FE15}"/>
              </a:ext>
            </a:extLst>
          </p:cNvPr>
          <p:cNvSpPr>
            <a:spLocks xmlns:a="http://schemas.openxmlformats.org/drawingml/2006/main" noGrp="1"/>
          </p:cNvSpPr>
          <p:nvPr/>
        </p:nvSpPr>
        <p:spPr>
          <a:xfrm xmlns:a="http://schemas.openxmlformats.org/drawingml/2006/main">
            <a:off x="2143125" y="50863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5" name="">
            <a:extLst xmlns:a="http://schemas.openxmlformats.org/drawingml/2006/main">
              <a:ext uri="{FF2B5EF4-FFF2-40B4-BE49-F238E27FC236}">
                <a16:creationId xmlns:a16="http://schemas.microsoft.com/office/drawing/2014/main" id="{46219D6C-4B5E-42DF-9DFC-40856CEAE76C}"/>
              </a:ext>
            </a:extLst>
          </p:cNvPr>
          <p:cNvSpPr>
            <a:spLocks xmlns:a="http://schemas.openxmlformats.org/drawingml/2006/main" noGrp="1"/>
          </p:cNvSpPr>
          <p:nvPr/>
        </p:nvSpPr>
        <p:spPr>
          <a:xfrm xmlns:a="http://schemas.openxmlformats.org/drawingml/2006/main">
            <a:off x="1162050" y="53721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00A2EB"/>
                </a:solidFill>
                <a:latin typeface="Calibri"/>
                <a:ea typeface="Calibri"/>
                <a:cs typeface="Calibri"/>
              </a:defRPr>
            </a:pPr>
            <a:r>
              <a:rPr sz="1425" b="1">
                <a:solidFill>
                  <a:srgbClr val="00A2EB"/>
                </a:solidFill>
                <a:latin typeface="Calibri"/>
                <a:ea typeface="Calibri"/>
                <a:cs typeface="Calibri"/>
              </a:rPr>
              <a:t>04</a:t>
            </a:r>
          </a:p>
        </p:txBody>
      </p:sp>
      <p:sp>
        <p:nvSpPr>
          <p:cNvPr id="16" name="">
            <a:extLst xmlns:a="http://schemas.openxmlformats.org/drawingml/2006/main">
              <a:ext uri="{FF2B5EF4-FFF2-40B4-BE49-F238E27FC236}">
                <a16:creationId xmlns:a16="http://schemas.microsoft.com/office/drawing/2014/main" id="{E2CA7A6E-EE89-4E7C-A0E4-A0D3E684AC6C}"/>
              </a:ext>
            </a:extLst>
          </p:cNvPr>
          <p:cNvSpPr>
            <a:spLocks xmlns:a="http://schemas.openxmlformats.org/drawingml/2006/main" noGrp="1"/>
          </p:cNvSpPr>
          <p:nvPr/>
        </p:nvSpPr>
        <p:spPr>
          <a:xfrm xmlns:a="http://schemas.openxmlformats.org/drawingml/2006/main">
            <a:off x="2143125" y="5334000"/>
            <a:ext cx="590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100" b="1">
                <a:solidFill>
                  <a:srgbClr val="051C2A"/>
                </a:solidFill>
                <a:latin typeface="Calibri"/>
                <a:ea typeface="Calibri"/>
                <a:cs typeface="Calibri"/>
              </a:defRPr>
            </a:pPr>
            <a:r>
              <a:rPr sz="2100" b="1">
                <a:solidFill>
                  <a:srgbClr val="051C2A"/>
                </a:solidFill>
                <a:latin typeface="Calibri"/>
                <a:ea typeface="Calibri"/>
                <a:cs typeface="Calibri"/>
              </a:rPr>
              <a:t>Reject unsupported meaning</a:t>
            </a:r>
          </a:p>
        </p:txBody>
      </p:sp>
      <p:sp>
        <p:nvSpPr>
          <p:cNvPr id="17" name="">
            <a:extLst xmlns:a="http://schemas.openxmlformats.org/drawingml/2006/main">
              <a:ext uri="{FF2B5EF4-FFF2-40B4-BE49-F238E27FC236}">
                <a16:creationId xmlns:a16="http://schemas.microsoft.com/office/drawing/2014/main" id="{EF9232DB-9ADA-4EC0-9488-23F6FAAFFAB6}"/>
              </a:ext>
            </a:extLst>
          </p:cNvPr>
          <p:cNvSpPr>
            <a:spLocks xmlns:a="http://schemas.openxmlformats.org/drawingml/2006/main" noGrp="1"/>
          </p:cNvSpPr>
          <p:nvPr/>
        </p:nvSpPr>
        <p:spPr>
          <a:xfrm xmlns:a="http://schemas.openxmlformats.org/drawingml/2006/main">
            <a:off x="8572500" y="537210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350" b="1">
                <a:solidFill>
                  <a:srgbClr val="1F40CB"/>
                </a:solidFill>
                <a:latin typeface="Calibri"/>
                <a:ea typeface="Calibri"/>
                <a:cs typeface="Calibri"/>
              </a:defRPr>
            </a:pPr>
            <a:r>
              <a:rPr sz="1350" b="1">
                <a:solidFill>
                  <a:srgbClr val="1F40CB"/>
                </a:solidFill>
                <a:latin typeface="Calibri"/>
                <a:ea typeface="Calibri"/>
                <a:cs typeface="Calibri"/>
              </a:rPr>
              <a:t>6 / 6</a:t>
            </a:r>
          </a:p>
        </p:txBody>
      </p:sp>
      <p:sp>
        <p:nvSpPr>
          <p:cNvPr id="18" name="">
            <a:extLst xmlns:a="http://schemas.openxmlformats.org/drawingml/2006/main">
              <a:ext uri="{FF2B5EF4-FFF2-40B4-BE49-F238E27FC236}">
                <a16:creationId xmlns:a16="http://schemas.microsoft.com/office/drawing/2014/main" id="{48F021EC-EF4B-4696-AC90-EE4C0AB71651}"/>
              </a:ext>
            </a:extLst>
          </p:cNvPr>
          <p:cNvSpPr>
            <a:spLocks xmlns:a="http://schemas.openxmlformats.org/drawingml/2006/main" noGrp="1"/>
          </p:cNvSpPr>
          <p:nvPr/>
        </p:nvSpPr>
        <p:spPr>
          <a:xfrm xmlns:a="http://schemas.openxmlformats.org/drawingml/2006/main">
            <a:off x="2143125" y="5924550"/>
            <a:ext cx="752475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19" name="">
            <a:extLst xmlns:a="http://schemas.openxmlformats.org/drawingml/2006/main">
              <a:ext uri="{FF2B5EF4-FFF2-40B4-BE49-F238E27FC236}">
                <a16:creationId xmlns:a16="http://schemas.microsoft.com/office/drawing/2014/main" id="{2D510A64-1653-4D80-B5B0-A343D07C171B}"/>
              </a:ext>
            </a:extLst>
          </p:cNvPr>
          <p:cNvSpPr>
            <a:spLocks xmlns:a="http://schemas.openxmlformats.org/drawingml/2006/main" noGrp="1"/>
          </p:cNvSpPr>
          <p:nvPr/>
        </p:nvSpPr>
        <p:spPr>
          <a:xfrm xmlns:a="http://schemas.openxmlformats.org/drawingml/2006/main">
            <a:off x="10572750" y="2914650"/>
            <a:ext cx="3333750" cy="3238500"/>
          </a:xfrm>
          <a:prstGeom xmlns:a="http://schemas.openxmlformats.org/drawingml/2006/main" prst="roundRect">
            <a:avLst>
              <a:gd name="adj" fmla="val 2353"/>
            </a:avLst>
          </a:prstGeom>
          <a:solidFill xmlns:a="http://schemas.openxmlformats.org/drawingml/2006/main">
            <a:srgbClr val="051C2A"/>
          </a:solidFill>
          <a:ln xmlns:a="http://schemas.openxmlformats.org/drawingml/2006/main" w="9525">
            <a:solidFill>
              <a:srgbClr val="051C2A"/>
            </a:solidFill>
            <a:prstDash val="solid"/>
          </a:ln>
        </p:spPr>
      </p:sp>
      <p:sp>
        <p:nvSpPr>
          <p:cNvPr id="20" name="">
            <a:extLst xmlns:a="http://schemas.openxmlformats.org/drawingml/2006/main">
              <a:ext uri="{FF2B5EF4-FFF2-40B4-BE49-F238E27FC236}">
                <a16:creationId xmlns:a16="http://schemas.microsoft.com/office/drawing/2014/main" id="{34E24CC2-8886-4470-A433-8B2BDCC9A396}"/>
              </a:ext>
            </a:extLst>
          </p:cNvPr>
          <p:cNvSpPr>
            <a:spLocks xmlns:a="http://schemas.openxmlformats.org/drawingml/2006/main" noGrp="1"/>
          </p:cNvSpPr>
          <p:nvPr/>
        </p:nvSpPr>
        <p:spPr>
          <a:xfrm xmlns:a="http://schemas.openxmlformats.org/drawingml/2006/main">
            <a:off x="11049000" y="3429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425" b="1">
                <a:solidFill>
                  <a:srgbClr val="00A2EB"/>
                </a:solidFill>
                <a:latin typeface="Calibri"/>
                <a:ea typeface="Calibri"/>
                <a:cs typeface="Calibri"/>
              </a:defRPr>
            </a:pPr>
            <a:r>
              <a:rPr sz="1425" b="1">
                <a:solidFill>
                  <a:srgbClr val="00A2EB"/>
                </a:solidFill>
                <a:latin typeface="Calibri"/>
                <a:ea typeface="Calibri"/>
                <a:cs typeface="Calibri"/>
              </a:rPr>
              <a:t>NOW RUN</a:t>
            </a:r>
          </a:p>
        </p:txBody>
      </p:sp>
      <p:sp>
        <p:nvSpPr>
          <p:cNvPr id="21" name="">
            <a:extLst xmlns:a="http://schemas.openxmlformats.org/drawingml/2006/main">
              <a:ext uri="{FF2B5EF4-FFF2-40B4-BE49-F238E27FC236}">
                <a16:creationId xmlns:a16="http://schemas.microsoft.com/office/drawing/2014/main" id="{75710502-B50A-464D-8CBF-05C06A018465}"/>
              </a:ext>
            </a:extLst>
          </p:cNvPr>
          <p:cNvSpPr>
            <a:spLocks xmlns:a="http://schemas.openxmlformats.org/drawingml/2006/main" noGrp="1"/>
          </p:cNvSpPr>
          <p:nvPr/>
        </p:nvSpPr>
        <p:spPr>
          <a:xfrm xmlns:a="http://schemas.openxmlformats.org/drawingml/2006/main">
            <a:off x="11049000" y="40386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2550" b="1">
                <a:solidFill>
                  <a:srgbClr val="FFFFFF"/>
                </a:solidFill>
                <a:latin typeface="Calibri"/>
                <a:ea typeface="Calibri"/>
                <a:cs typeface="Calibri"/>
              </a:defRPr>
            </a:pPr>
            <a:r>
              <a:rPr sz="2550" b="1">
                <a:solidFill>
                  <a:srgbClr val="FFFFFF"/>
                </a:solidFill>
                <a:latin typeface="Calibri"/>
                <a:ea typeface="Calibri"/>
                <a:cs typeface="Calibri"/>
              </a:rPr>
              <a:t>Notebook 02</a:t>
            </a:r>
          </a:p>
        </p:txBody>
      </p:sp>
      <p:sp>
        <p:nvSpPr>
          <p:cNvPr id="22" name="">
            <a:extLst xmlns:a="http://schemas.openxmlformats.org/drawingml/2006/main">
              <a:ext uri="{FF2B5EF4-FFF2-40B4-BE49-F238E27FC236}">
                <a16:creationId xmlns:a16="http://schemas.microsoft.com/office/drawing/2014/main" id="{98057516-ABAC-4FB1-A462-D76649ACD6A3}"/>
              </a:ext>
            </a:extLst>
          </p:cNvPr>
          <p:cNvSpPr>
            <a:spLocks xmlns:a="http://schemas.openxmlformats.org/drawingml/2006/main" noGrp="1"/>
          </p:cNvSpPr>
          <p:nvPr/>
        </p:nvSpPr>
        <p:spPr>
          <a:xfrm xmlns:a="http://schemas.openxmlformats.org/drawingml/2006/main">
            <a:off x="11049000" y="4953000"/>
            <a:ext cx="238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650">
                <a:solidFill>
                  <a:srgbClr val="FFFFFF"/>
                </a:solidFill>
                <a:latin typeface="Calibri"/>
                <a:ea typeface="Calibri"/>
                <a:cs typeface="Calibri"/>
              </a:defRPr>
            </a:pPr>
            <a:r>
              <a:rPr sz="1650">
                <a:solidFill>
                  <a:srgbClr val="FFFFFF"/>
                </a:solidFill>
                <a:latin typeface="Calibri"/>
                <a:ea typeface="Calibri"/>
                <a:cs typeface="Calibri"/>
              </a:rPr>
              <a:t>15 cells
20 minutes</a:t>
            </a:r>
          </a:p>
        </p:txBody>
      </p:sp>
      <p:sp>
        <p:nvSpPr>
          <p:cNvPr id="23" name="">
            <a:extLst xmlns:a="http://schemas.openxmlformats.org/drawingml/2006/main">
              <a:ext uri="{FF2B5EF4-FFF2-40B4-BE49-F238E27FC236}">
                <a16:creationId xmlns:a16="http://schemas.microsoft.com/office/drawing/2014/main" id="{8174979B-71B7-425A-85CB-FF6AD6AC593E}"/>
              </a:ext>
            </a:extLst>
          </p:cNvPr>
          <p:cNvSpPr>
            <a:spLocks xmlns:a="http://schemas.openxmlformats.org/drawingml/2006/main" noGrp="1"/>
          </p:cNvSpPr>
          <p:nvPr/>
        </p:nvSpPr>
        <p:spPr>
          <a:xfrm xmlns:a="http://schemas.openxmlformats.org/drawingml/2006/main">
            <a:off x="2143125" y="666750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650">
                <a:solidFill>
                  <a:srgbClr val="373738"/>
                </a:solidFill>
                <a:latin typeface="Calibri"/>
                <a:ea typeface="Calibri"/>
                <a:cs typeface="Calibri"/>
              </a:defRPr>
            </a:pPr>
            <a:r>
              <a:rPr sz="1650">
                <a:solidFill>
                  <a:srgbClr val="373738"/>
                </a:solidFill>
                <a:latin typeface="Calibri"/>
                <a:ea typeface="Calibri"/>
                <a:cs typeface="Calibri"/>
              </a:rPr>
              <a:t>Three small calls: two prompt comparisons, then one schema-bound result.</a:t>
            </a:r>
          </a:p>
        </p:txBody>
      </p:sp>
      <p:sp>
        <p:nvSpPr>
          <p:cNvPr id="24" name="">
            <a:extLst xmlns:a="http://schemas.openxmlformats.org/drawingml/2006/main">
              <a:ext uri="{FF2B5EF4-FFF2-40B4-BE49-F238E27FC236}">
                <a16:creationId xmlns:a16="http://schemas.microsoft.com/office/drawing/2014/main" id="{5B353963-99F6-474D-AE9E-6D102866C245}"/>
              </a:ext>
            </a:extLst>
          </p:cNvPr>
          <p:cNvSpPr>
            <a:spLocks xmlns:a="http://schemas.openxmlformats.org/drawingml/2006/main" noGrp="1"/>
          </p:cNvSpPr>
          <p:nvPr/>
        </p:nvSpPr>
        <p:spPr>
          <a:xfrm xmlns:a="http://schemas.openxmlformats.org/drawingml/2006/main">
            <a:off x="857250" y="7905750"/>
            <a:ext cx="13525500" cy="19050"/>
          </a:xfrm>
          <a:prstGeom xmlns:a="http://schemas.openxmlformats.org/drawingml/2006/main" prst="rect">
            <a:avLst/>
          </a:prstGeom>
          <a:solidFill xmlns:a="http://schemas.openxmlformats.org/drawingml/2006/main">
            <a:srgbClr val="E4E6E8"/>
          </a:solidFill>
          <a:ln xmlns:a="http://schemas.openxmlformats.org/drawingml/2006/main" w="9525">
            <a:solidFill>
              <a:srgbClr val="E4E6E8"/>
            </a:solidFill>
            <a:prstDash val="solid"/>
          </a:ln>
        </p:spPr>
      </p:sp>
      <p:sp>
        <p:nvSpPr>
          <p:cNvPr id="25" name="">
            <a:extLst xmlns:a="http://schemas.openxmlformats.org/drawingml/2006/main">
              <a:ext uri="{FF2B5EF4-FFF2-40B4-BE49-F238E27FC236}">
                <a16:creationId xmlns:a16="http://schemas.microsoft.com/office/drawing/2014/main" id="{7A58137A-5475-4121-BA20-053FF731F89A}"/>
              </a:ext>
            </a:extLst>
          </p:cNvPr>
          <p:cNvSpPr>
            <a:spLocks xmlns:a="http://schemas.openxmlformats.org/drawingml/2006/main" noGrp="1"/>
          </p:cNvSpPr>
          <p:nvPr/>
        </p:nvSpPr>
        <p:spPr>
          <a:xfrm xmlns:a="http://schemas.openxmlformats.org/drawingml/2006/main">
            <a:off x="857250" y="7905750"/>
            <a:ext cx="8001000" cy="28575"/>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6" name="">
            <a:extLst xmlns:a="http://schemas.openxmlformats.org/drawingml/2006/main">
              <a:ext uri="{FF2B5EF4-FFF2-40B4-BE49-F238E27FC236}">
                <a16:creationId xmlns:a16="http://schemas.microsoft.com/office/drawing/2014/main" id="{7126838F-9E9E-49AC-8F5A-4888689CD6C3}"/>
              </a:ext>
            </a:extLst>
          </p:cNvPr>
          <p:cNvSpPr>
            <a:spLocks xmlns:a="http://schemas.openxmlformats.org/drawingml/2006/main" noGrp="1"/>
          </p:cNvSpPr>
          <p:nvPr/>
        </p:nvSpPr>
        <p:spPr>
          <a:xfrm xmlns:a="http://schemas.openxmlformats.org/drawingml/2006/main">
            <a:off x="971550" y="81534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275">
                <a:solidFill>
                  <a:srgbClr val="9E9FA2"/>
                </a:solidFill>
                <a:latin typeface="Calibri"/>
                <a:ea typeface="Calibri"/>
                <a:cs typeface="Calibri"/>
              </a:defRPr>
            </a:pPr>
            <a:r>
              <a:rPr sz="1275">
                <a:solidFill>
                  <a:srgbClr val="9E9FA2"/>
                </a:solidFill>
                <a:latin typeface="Calibri"/>
                <a:ea typeface="Calibri"/>
                <a:cs typeface="Calibri"/>
              </a:rPr>
              <a:t>First Finance - Arnaud Demes</a:t>
            </a:r>
          </a:p>
        </p:txBody>
      </p:sp>
      <p:sp>
        <p:nvSpPr>
          <p:cNvPr id="27" name="">
            <a:extLst xmlns:a="http://schemas.openxmlformats.org/drawingml/2006/main">
              <a:ext uri="{FF2B5EF4-FFF2-40B4-BE49-F238E27FC236}">
                <a16:creationId xmlns:a16="http://schemas.microsoft.com/office/drawing/2014/main" id="{3F2728AD-6B3E-41C8-9959-16F490654FF9}"/>
              </a:ext>
            </a:extLst>
          </p:cNvPr>
          <p:cNvSpPr>
            <a:spLocks xmlns:a="http://schemas.openxmlformats.org/drawingml/2006/main" noGrp="1"/>
          </p:cNvSpPr>
          <p:nvPr/>
        </p:nvSpPr>
        <p:spPr>
          <a:xfrm xmlns:a="http://schemas.openxmlformats.org/drawingml/2006/main">
            <a:off x="12477750" y="81534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NOTEBOOK</a:t>
            </a:r>
          </a:p>
        </p:txBody>
      </p:sp>
      <p:sp>
        <p:nvSpPr>
          <p:cNvPr id="28" name="">
            <a:extLst xmlns:a="http://schemas.openxmlformats.org/drawingml/2006/main">
              <a:ext uri="{FF2B5EF4-FFF2-40B4-BE49-F238E27FC236}">
                <a16:creationId xmlns:a16="http://schemas.microsoft.com/office/drawing/2014/main" id="{2500A979-B0DA-491D-BECE-B4073BB3CB9A}"/>
              </a:ext>
            </a:extLst>
          </p:cNvPr>
          <p:cNvSpPr>
            <a:spLocks xmlns:a="http://schemas.openxmlformats.org/drawingml/2006/main" noGrp="1"/>
          </p:cNvSpPr>
          <p:nvPr/>
        </p:nvSpPr>
        <p:spPr>
          <a:xfrm xmlns:a="http://schemas.openxmlformats.org/drawingml/2006/main">
            <a:off x="14097000" y="8153400"/>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9E9FA2"/>
                </a:solidFill>
                <a:latin typeface="Calibri"/>
                <a:ea typeface="Calibri"/>
                <a:cs typeface="Calibri"/>
              </a:defRPr>
            </a:pPr>
            <a:r>
              <a:rPr sz="1200" b="1">
                <a:solidFill>
                  <a:srgbClr val="9E9FA2"/>
                </a:solidFill>
                <a:latin typeface="Calibri"/>
                <a:ea typeface="Calibri"/>
                <a:cs typeface="Calibri"/>
              </a:rPr>
              <a:t>10</a:t>
            </a:r>
          </a:p>
        </p:txBody>
      </p:sp>
    </p:spTree>
    <p:extLst>
      <p:ext uri="{BB962C8B-B14F-4D97-AF65-F5344CB8AC3E}">
        <p14:creationId xmlns:p14="http://schemas.microsoft.com/office/powerpoint/2010/main" val="223453297"/>
      </p:ext>
    </p:extLst>
  </p:cSld>
</p:sld>
</file>

<file path=ppt/slides/slide11.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91AC7A-C390-4918-960F-B031B7C93A63}"/>
              </a:ext>
            </a:extLst>
          </p:cNvPr>
          <p:cNvSpPr>
            <a:spLocks xmlns:a="http://schemas.openxmlformats.org/drawingml/2006/main" noGrp="1"/>
          </p:cNvSpPr>
          <p:nvPr/>
        </p:nvSpPr>
        <p:spPr>
          <a:xfrm xmlns:a="http://schemas.openxmlformats.org/drawingml/2006/main">
            <a:off x="971550" y="781050"/>
            <a:ext cx="1257300" cy="76200"/>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 name="">
            <a:extLst xmlns:a="http://schemas.openxmlformats.org/drawingml/2006/main">
              <a:ext uri="{FF2B5EF4-FFF2-40B4-BE49-F238E27FC236}">
                <a16:creationId xmlns:a16="http://schemas.microsoft.com/office/drawing/2014/main" id="{64682EC5-19B2-4E56-87B3-7ADF11BC6291}"/>
              </a:ext>
            </a:extLst>
          </p:cNvPr>
          <p:cNvSpPr>
            <a:spLocks xmlns:a="http://schemas.openxmlformats.org/drawingml/2006/main" noGrp="1"/>
          </p:cNvSpPr>
          <p:nvPr/>
        </p:nvSpPr>
        <p:spPr>
          <a:xfrm xmlns:a="http://schemas.openxmlformats.org/drawingml/2006/main">
            <a:off x="971550" y="11049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00" b="1">
                <a:solidFill>
                  <a:srgbClr val="1F40CB"/>
                </a:solidFill>
                <a:latin typeface="Calibri"/>
                <a:ea typeface="Calibri"/>
                <a:cs typeface="Calibri"/>
              </a:defRPr>
            </a:pPr>
            <a:r>
              <a:rPr sz="1500" b="1">
                <a:solidFill>
                  <a:srgbClr val="1F40CB"/>
                </a:solidFill>
                <a:latin typeface="Calibri"/>
                <a:ea typeface="Calibri"/>
                <a:cs typeface="Calibri"/>
              </a:rPr>
              <a:t>FIRST FINANCE</a:t>
            </a:r>
          </a:p>
        </p:txBody>
      </p:sp>
      <p:sp>
        <p:nvSpPr>
          <p:cNvPr id="3" name="">
            <a:extLst xmlns:a="http://schemas.openxmlformats.org/drawingml/2006/main">
              <a:ext uri="{FF2B5EF4-FFF2-40B4-BE49-F238E27FC236}">
                <a16:creationId xmlns:a16="http://schemas.microsoft.com/office/drawing/2014/main" id="{728B1E4B-A80D-4DD8-B9C5-6F19ACF9BC87}"/>
              </a:ext>
            </a:extLst>
          </p:cNvPr>
          <p:cNvSpPr>
            <a:spLocks xmlns:a="http://schemas.openxmlformats.org/drawingml/2006/main" noGrp="1"/>
          </p:cNvSpPr>
          <p:nvPr/>
        </p:nvSpPr>
        <p:spPr>
          <a:xfrm xmlns:a="http://schemas.openxmlformats.org/drawingml/2006/main">
            <a:off x="971550" y="2400300"/>
            <a:ext cx="9334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950" b="1">
                <a:solidFill>
                  <a:srgbClr val="051C2A"/>
                </a:solidFill>
                <a:latin typeface="Calibri"/>
                <a:ea typeface="Calibri"/>
                <a:cs typeface="Calibri"/>
              </a:defRPr>
            </a:pPr>
            <a:r>
              <a:rPr sz="4950" b="1">
                <a:solidFill>
                  <a:srgbClr val="051C2A"/>
                </a:solidFill>
                <a:latin typeface="Calibri"/>
                <a:ea typeface="Calibri"/>
                <a:cs typeface="Calibri"/>
              </a:rPr>
              <a:t>Quick quiz</a:t>
            </a:r>
          </a:p>
        </p:txBody>
      </p:sp>
      <p:sp>
        <p:nvSpPr>
          <p:cNvPr id="4" name="">
            <a:extLst xmlns:a="http://schemas.openxmlformats.org/drawingml/2006/main">
              <a:ext uri="{FF2B5EF4-FFF2-40B4-BE49-F238E27FC236}">
                <a16:creationId xmlns:a16="http://schemas.microsoft.com/office/drawing/2014/main" id="{EE83E63A-968D-469D-97F9-C2D3B82A7E4D}"/>
              </a:ext>
            </a:extLst>
          </p:cNvPr>
          <p:cNvSpPr>
            <a:spLocks xmlns:a="http://schemas.openxmlformats.org/drawingml/2006/main" noGrp="1"/>
          </p:cNvSpPr>
          <p:nvPr/>
        </p:nvSpPr>
        <p:spPr>
          <a:xfrm xmlns:a="http://schemas.openxmlformats.org/drawingml/2006/main">
            <a:off x="971550" y="3638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400">
                <a:solidFill>
                  <a:srgbClr val="373738"/>
                </a:solidFill>
                <a:latin typeface="Calibri"/>
                <a:ea typeface="Calibri"/>
                <a:cs typeface="Calibri"/>
              </a:defRPr>
            </a:pPr>
            <a:r>
              <a:rPr sz="2400">
                <a:solidFill>
                  <a:srgbClr val="373738"/>
                </a:solidFill>
                <a:latin typeface="Calibri"/>
                <a:ea typeface="Calibri"/>
                <a:cs typeface="Calibri"/>
              </a:rPr>
              <a:t>Choose the control that solves each problem.</a:t>
            </a:r>
          </a:p>
        </p:txBody>
      </p:sp>
      <p:sp>
        <p:nvSpPr>
          <p:cNvPr id="5" name="">
            <a:extLst xmlns:a="http://schemas.openxmlformats.org/drawingml/2006/main">
              <a:ext uri="{FF2B5EF4-FFF2-40B4-BE49-F238E27FC236}">
                <a16:creationId xmlns:a16="http://schemas.microsoft.com/office/drawing/2014/main" id="{001333EC-2C9C-4877-BD13-41F8B87FC676}"/>
              </a:ext>
            </a:extLst>
          </p:cNvPr>
          <p:cNvSpPr>
            <a:spLocks xmlns:a="http://schemas.openxmlformats.org/drawingml/2006/main" noGrp="1"/>
          </p:cNvSpPr>
          <p:nvPr/>
        </p:nvSpPr>
        <p:spPr>
          <a:xfrm xmlns:a="http://schemas.openxmlformats.org/drawingml/2006/main">
            <a:off x="971550" y="66103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1F40CB"/>
                </a:solidFill>
                <a:latin typeface="Calibri"/>
                <a:ea typeface="Calibri"/>
                <a:cs typeface="Calibri"/>
              </a:defRPr>
            </a:pPr>
            <a:r>
              <a:rPr sz="1425" b="1">
                <a:solidFill>
                  <a:srgbClr val="1F40CB"/>
                </a:solidFill>
                <a:latin typeface="Calibri"/>
                <a:ea typeface="Calibri"/>
                <a:cs typeface="Calibri"/>
              </a:rPr>
              <a:t>LESSON 02  ·  3 QUESTIONS  ·  3 MINUTES</a:t>
            </a:r>
          </a:p>
        </p:txBody>
      </p:sp>
      <p:sp>
        <p:nvSpPr>
          <p:cNvPr id="6" name="">
            <a:extLst xmlns:a="http://schemas.openxmlformats.org/drawingml/2006/main">
              <a:ext uri="{FF2B5EF4-FFF2-40B4-BE49-F238E27FC236}">
                <a16:creationId xmlns:a16="http://schemas.microsoft.com/office/drawing/2014/main" id="{C1C3877F-F854-40AF-9C55-8A4B72F80AEA}"/>
              </a:ext>
            </a:extLst>
          </p:cNvPr>
          <p:cNvSpPr>
            <a:spLocks xmlns:a="http://schemas.openxmlformats.org/drawingml/2006/main" noGrp="1"/>
          </p:cNvSpPr>
          <p:nvPr/>
        </p:nvSpPr>
        <p:spPr>
          <a:xfrm xmlns:a="http://schemas.openxmlformats.org/drawingml/2006/main">
            <a:off x="971550" y="71628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00">
                <a:solidFill>
                  <a:srgbClr val="051C2A"/>
                </a:solidFill>
                <a:latin typeface="Calibri"/>
                <a:ea typeface="Calibri"/>
                <a:cs typeface="Calibri"/>
              </a:defRPr>
            </a:pPr>
            <a:r>
              <a:rPr sz="1800">
                <a:solidFill>
                  <a:srgbClr val="051C2A"/>
                </a:solidFill>
                <a:latin typeface="Calibri"/>
                <a:ea typeface="Calibri"/>
                <a:cs typeface="Calibri"/>
              </a:rPr>
              <a:t>First Finance - Arnaud Demes</a:t>
            </a:r>
          </a:p>
        </p:txBody>
      </p:sp>
      <p:sp>
        <p:nvSpPr>
          <p:cNvPr id="8" name="quiz-question-1">
            <a:extLst xmlns:a="http://schemas.openxmlformats.org/drawingml/2006/main">
              <a:ext uri="{FF2B5EF4-FFF2-40B4-BE49-F238E27FC236}">
                <a16:creationId xmlns:a16="http://schemas.microsoft.com/office/drawing/2014/main" id="{B3D13D74-DA5C-4965-BAF8-1FBC41D14F86}"/>
              </a:ext>
            </a:extLst>
          </p:cNvPr>
          <p:cNvSpPr>
            <a:spLocks xmlns:a="http://schemas.openxmlformats.org/drawingml/2006/main" noGrp="1"/>
          </p:cNvSpPr>
          <p:nvPr/>
        </p:nvSpPr>
        <p:spPr>
          <a:xfrm xmlns:a="http://schemas.openxmlformats.org/drawingml/2006/main">
            <a:off x="971550" y="44005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001B2E"/>
                </a:solidFill>
              </a:defRPr>
            </a:pPr>
            <a:r>
              <a:rPr sz="1500" b="1">
                <a:solidFill>
                  <a:srgbClr val="001B2E"/>
                </a:solidFill>
              </a:rPr>
              <a:t>1. What does few-shot prompting teach?</a:t>
            </a:r>
          </a:p>
        </p:txBody>
      </p:sp>
      <p:sp>
        <p:nvSpPr>
          <p:cNvPr id="9" name="quiz-options-1">
            <a:extLst xmlns:a="http://schemas.openxmlformats.org/drawingml/2006/main">
              <a:ext uri="{FF2B5EF4-FFF2-40B4-BE49-F238E27FC236}">
                <a16:creationId xmlns:a16="http://schemas.microsoft.com/office/drawing/2014/main" id="{55AE8505-B3BF-4416-A1C0-1A507A00D9D9}"/>
              </a:ext>
            </a:extLst>
          </p:cNvPr>
          <p:cNvSpPr>
            <a:spLocks xmlns:a="http://schemas.openxmlformats.org/drawingml/2006/main" noGrp="1"/>
          </p:cNvSpPr>
          <p:nvPr/>
        </p:nvSpPr>
        <p:spPr>
          <a:xfrm xmlns:a="http://schemas.openxmlformats.org/drawingml/2006/main">
            <a:off x="1257300" y="47053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A  Exact facts     |     B  Desired patterns     |     C  Source access</a:t>
            </a:r>
          </a:p>
        </p:txBody>
      </p:sp>
      <p:sp>
        <p:nvSpPr>
          <p:cNvPr id="10" name="quiz-question-2">
            <a:extLst xmlns:a="http://schemas.openxmlformats.org/drawingml/2006/main">
              <a:ext uri="{FF2B5EF4-FFF2-40B4-BE49-F238E27FC236}">
                <a16:creationId xmlns:a16="http://schemas.microsoft.com/office/drawing/2014/main" id="{B2C57C21-1093-44D1-AF6B-31EBB93D1777}"/>
              </a:ext>
            </a:extLst>
          </p:cNvPr>
          <p:cNvSpPr>
            <a:spLocks xmlns:a="http://schemas.openxmlformats.org/drawingml/2006/main" noGrp="1"/>
          </p:cNvSpPr>
          <p:nvPr/>
        </p:nvSpPr>
        <p:spPr>
          <a:xfrm xmlns:a="http://schemas.openxmlformats.org/drawingml/2006/main">
            <a:off x="971550" y="50863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001B2E"/>
                </a:solidFill>
              </a:defRPr>
            </a:pPr>
            <a:r>
              <a:rPr sz="1500" b="1">
                <a:solidFill>
                  <a:srgbClr val="001B2E"/>
                </a:solidFill>
              </a:rPr>
              <a:t>2. What does a strict schema guarantee?</a:t>
            </a:r>
          </a:p>
        </p:txBody>
      </p:sp>
      <p:sp>
        <p:nvSpPr>
          <p:cNvPr id="11" name="quiz-options-2">
            <a:extLst xmlns:a="http://schemas.openxmlformats.org/drawingml/2006/main">
              <a:ext uri="{FF2B5EF4-FFF2-40B4-BE49-F238E27FC236}">
                <a16:creationId xmlns:a16="http://schemas.microsoft.com/office/drawing/2014/main" id="{0E20E995-3457-45BB-9C9F-114B23729B38}"/>
              </a:ext>
            </a:extLst>
          </p:cNvPr>
          <p:cNvSpPr>
            <a:spLocks xmlns:a="http://schemas.openxmlformats.org/drawingml/2006/main" noGrp="1"/>
          </p:cNvSpPr>
          <p:nvPr/>
        </p:nvSpPr>
        <p:spPr>
          <a:xfrm xmlns:a="http://schemas.openxmlformats.org/drawingml/2006/main">
            <a:off x="1257300" y="53911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A  Shape     |     B  Truth     |     C  SEC accuracy</a:t>
            </a:r>
          </a:p>
        </p:txBody>
      </p:sp>
      <p:sp>
        <p:nvSpPr>
          <p:cNvPr id="12" name="quiz-question-3">
            <a:extLst xmlns:a="http://schemas.openxmlformats.org/drawingml/2006/main">
              <a:ext uri="{FF2B5EF4-FFF2-40B4-BE49-F238E27FC236}">
                <a16:creationId xmlns:a16="http://schemas.microsoft.com/office/drawing/2014/main" id="{AA8F0DA3-C18B-4AD0-80A6-4EF7088E3AB0}"/>
              </a:ext>
            </a:extLst>
          </p:cNvPr>
          <p:cNvSpPr>
            <a:spLocks xmlns:a="http://schemas.openxmlformats.org/drawingml/2006/main" noGrp="1"/>
          </p:cNvSpPr>
          <p:nvPr/>
        </p:nvSpPr>
        <p:spPr>
          <a:xfrm xmlns:a="http://schemas.openxmlformats.org/drawingml/2006/main">
            <a:off x="971550" y="57721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001B2E"/>
                </a:solidFill>
              </a:defRPr>
            </a:pPr>
            <a:r>
              <a:rPr sz="1500" b="1">
                <a:solidFill>
                  <a:srgbClr val="001B2E"/>
                </a:solidFill>
              </a:rPr>
              <a:t>3. Why add finance validation after the schema?</a:t>
            </a:r>
          </a:p>
        </p:txBody>
      </p:sp>
      <p:sp>
        <p:nvSpPr>
          <p:cNvPr id="13" name="quiz-options-3">
            <a:extLst xmlns:a="http://schemas.openxmlformats.org/drawingml/2006/main">
              <a:ext uri="{FF2B5EF4-FFF2-40B4-BE49-F238E27FC236}">
                <a16:creationId xmlns:a16="http://schemas.microsoft.com/office/drawing/2014/main" id="{9C7256AA-18F8-4390-AF2E-1B1EB317E93D}"/>
              </a:ext>
            </a:extLst>
          </p:cNvPr>
          <p:cNvSpPr>
            <a:spLocks xmlns:a="http://schemas.openxmlformats.org/drawingml/2006/main" noGrp="1"/>
          </p:cNvSpPr>
          <p:nvPr/>
        </p:nvSpPr>
        <p:spPr>
          <a:xfrm xmlns:a="http://schemas.openxmlformats.org/drawingml/2006/main">
            <a:off x="1257300" y="60769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A  Meaning can still be wrong     |     B  To add words     |     C  To select a provider</a:t>
            </a:r>
          </a:p>
        </p:txBody>
      </p:sp>
    </p:spTree>
    <p:extLst>
      <p:ext uri="{BB962C8B-B14F-4D97-AF65-F5344CB8AC3E}">
        <p14:creationId xmlns:p14="http://schemas.microsoft.com/office/powerpoint/2010/main" val="767502565"/>
      </p:ext>
    </p:extLst>
  </p:cSld>
</p:sld>
</file>

<file path=ppt/slides/slide12.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291AC7A-C390-4918-960F-B031B7C93A63}"/>
              </a:ext>
            </a:extLst>
          </p:cNvPr>
          <p:cNvSpPr>
            <a:spLocks xmlns:a="http://schemas.openxmlformats.org/drawingml/2006/main" noGrp="1"/>
          </p:cNvSpPr>
          <p:nvPr/>
        </p:nvSpPr>
        <p:spPr>
          <a:xfrm xmlns:a="http://schemas.openxmlformats.org/drawingml/2006/main">
            <a:off x="971550" y="781050"/>
            <a:ext cx="1257300" cy="76200"/>
          </a:xfrm>
          <a:prstGeom xmlns:a="http://schemas.openxmlformats.org/drawingml/2006/main" prst="rect">
            <a:avLst/>
          </a:prstGeom>
          <a:solidFill xmlns:a="http://schemas.openxmlformats.org/drawingml/2006/main">
            <a:srgbClr val="00A2EB"/>
          </a:solidFill>
          <a:ln xmlns:a="http://schemas.openxmlformats.org/drawingml/2006/main" w="9525">
            <a:solidFill>
              <a:srgbClr val="00A2EB"/>
            </a:solidFill>
            <a:prstDash val="solid"/>
          </a:ln>
        </p:spPr>
      </p:sp>
      <p:sp>
        <p:nvSpPr>
          <p:cNvPr id="2" name="">
            <a:extLst xmlns:a="http://schemas.openxmlformats.org/drawingml/2006/main">
              <a:ext uri="{FF2B5EF4-FFF2-40B4-BE49-F238E27FC236}">
                <a16:creationId xmlns:a16="http://schemas.microsoft.com/office/drawing/2014/main" id="{64682EC5-19B2-4E56-87B3-7ADF11BC6291}"/>
              </a:ext>
            </a:extLst>
          </p:cNvPr>
          <p:cNvSpPr>
            <a:spLocks xmlns:a="http://schemas.openxmlformats.org/drawingml/2006/main" noGrp="1"/>
          </p:cNvSpPr>
          <p:nvPr/>
        </p:nvSpPr>
        <p:spPr>
          <a:xfrm xmlns:a="http://schemas.openxmlformats.org/drawingml/2006/main">
            <a:off x="971550" y="11049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500" b="1">
                <a:solidFill>
                  <a:srgbClr val="1F40CB"/>
                </a:solidFill>
                <a:latin typeface="Calibri"/>
                <a:ea typeface="Calibri"/>
                <a:cs typeface="Calibri"/>
              </a:defRPr>
            </a:pPr>
            <a:r>
              <a:rPr sz="1500" b="1">
                <a:solidFill>
                  <a:srgbClr val="1F40CB"/>
                </a:solidFill>
                <a:latin typeface="Calibri"/>
                <a:ea typeface="Calibri"/>
                <a:cs typeface="Calibri"/>
              </a:rPr>
              <a:t>FIRST FINANCE</a:t>
            </a:r>
          </a:p>
        </p:txBody>
      </p:sp>
      <p:sp>
        <p:nvSpPr>
          <p:cNvPr id="3" name="">
            <a:extLst xmlns:a="http://schemas.openxmlformats.org/drawingml/2006/main">
              <a:ext uri="{FF2B5EF4-FFF2-40B4-BE49-F238E27FC236}">
                <a16:creationId xmlns:a16="http://schemas.microsoft.com/office/drawing/2014/main" id="{728B1E4B-A80D-4DD8-B9C5-6F19ACF9BC87}"/>
              </a:ext>
            </a:extLst>
          </p:cNvPr>
          <p:cNvSpPr>
            <a:spLocks xmlns:a="http://schemas.openxmlformats.org/drawingml/2006/main" noGrp="1"/>
          </p:cNvSpPr>
          <p:nvPr/>
        </p:nvSpPr>
        <p:spPr>
          <a:xfrm xmlns:a="http://schemas.openxmlformats.org/drawingml/2006/main">
            <a:off x="971550" y="2400300"/>
            <a:ext cx="9334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4950" b="1">
                <a:solidFill>
                  <a:srgbClr val="051C2A"/>
                </a:solidFill>
                <a:latin typeface="Calibri"/>
                <a:ea typeface="Calibri"/>
                <a:cs typeface="Calibri"/>
              </a:defRPr>
            </a:pPr>
            <a:r>
              <a:rPr sz="4950" b="1">
                <a:solidFill>
                  <a:srgbClr val="051C2A"/>
                </a:solidFill>
                <a:latin typeface="Calibri"/>
                <a:ea typeface="Calibri"/>
                <a:cs typeface="Calibri"/>
              </a:rPr>
              <a:t>Answers</a:t>
            </a:r>
          </a:p>
        </p:txBody>
      </p:sp>
      <p:sp>
        <p:nvSpPr>
          <p:cNvPr id="4" name="">
            <a:extLst xmlns:a="http://schemas.openxmlformats.org/drawingml/2006/main">
              <a:ext uri="{FF2B5EF4-FFF2-40B4-BE49-F238E27FC236}">
                <a16:creationId xmlns:a16="http://schemas.microsoft.com/office/drawing/2014/main" id="{EE83E63A-968D-469D-97F9-C2D3B82A7E4D}"/>
              </a:ext>
            </a:extLst>
          </p:cNvPr>
          <p:cNvSpPr>
            <a:spLocks xmlns:a="http://schemas.openxmlformats.org/drawingml/2006/main" noGrp="1"/>
          </p:cNvSpPr>
          <p:nvPr/>
        </p:nvSpPr>
        <p:spPr>
          <a:xfrm xmlns:a="http://schemas.openxmlformats.org/drawingml/2006/main">
            <a:off x="971550" y="363855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2400">
                <a:solidFill>
                  <a:srgbClr val="373738"/>
                </a:solidFill>
                <a:latin typeface="Calibri"/>
                <a:ea typeface="Calibri"/>
                <a:cs typeface="Calibri"/>
              </a:defRPr>
            </a:pPr>
            <a:r>
              <a:rPr sz="2400">
                <a:solidFill>
                  <a:srgbClr val="373738"/>
                </a:solidFill>
                <a:latin typeface="Calibri"/>
                <a:ea typeface="Calibri"/>
                <a:cs typeface="Calibri"/>
              </a:rPr>
              <a:t>Three controls solve three different problems.</a:t>
            </a:r>
          </a:p>
        </p:txBody>
      </p:sp>
      <p:sp>
        <p:nvSpPr>
          <p:cNvPr id="5" name="">
            <a:extLst xmlns:a="http://schemas.openxmlformats.org/drawingml/2006/main">
              <a:ext uri="{FF2B5EF4-FFF2-40B4-BE49-F238E27FC236}">
                <a16:creationId xmlns:a16="http://schemas.microsoft.com/office/drawing/2014/main" id="{001333EC-2C9C-4877-BD13-41F8B87FC676}"/>
              </a:ext>
            </a:extLst>
          </p:cNvPr>
          <p:cNvSpPr>
            <a:spLocks xmlns:a="http://schemas.openxmlformats.org/drawingml/2006/main" noGrp="1"/>
          </p:cNvSpPr>
          <p:nvPr/>
        </p:nvSpPr>
        <p:spPr>
          <a:xfrm xmlns:a="http://schemas.openxmlformats.org/drawingml/2006/main">
            <a:off x="971550" y="661035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425" b="1">
                <a:solidFill>
                  <a:srgbClr val="1F40CB"/>
                </a:solidFill>
                <a:latin typeface="Calibri"/>
                <a:ea typeface="Calibri"/>
                <a:cs typeface="Calibri"/>
              </a:defRPr>
            </a:pPr>
            <a:r>
              <a:rPr sz="1425" b="1">
                <a:solidFill>
                  <a:srgbClr val="1F40CB"/>
                </a:solidFill>
                <a:latin typeface="Calibri"/>
                <a:ea typeface="Calibri"/>
                <a:cs typeface="Calibri"/>
              </a:rPr>
              <a:t>LESSON 02  ·  CORRECTION</a:t>
            </a:r>
          </a:p>
        </p:txBody>
      </p:sp>
      <p:sp>
        <p:nvSpPr>
          <p:cNvPr id="6" name="">
            <a:extLst xmlns:a="http://schemas.openxmlformats.org/drawingml/2006/main">
              <a:ext uri="{FF2B5EF4-FFF2-40B4-BE49-F238E27FC236}">
                <a16:creationId xmlns:a16="http://schemas.microsoft.com/office/drawing/2014/main" id="{C1C3877F-F854-40AF-9C55-8A4B72F80AEA}"/>
              </a:ext>
            </a:extLst>
          </p:cNvPr>
          <p:cNvSpPr>
            <a:spLocks xmlns:a="http://schemas.openxmlformats.org/drawingml/2006/main" noGrp="1"/>
          </p:cNvSpPr>
          <p:nvPr/>
        </p:nvSpPr>
        <p:spPr>
          <a:xfrm xmlns:a="http://schemas.openxmlformats.org/drawingml/2006/main">
            <a:off x="971550" y="7162800"/>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buNone/>
              <a:defRPr sz="1800">
                <a:solidFill>
                  <a:srgbClr val="051C2A"/>
                </a:solidFill>
                <a:latin typeface="Calibri"/>
                <a:ea typeface="Calibri"/>
                <a:cs typeface="Calibri"/>
              </a:defRPr>
            </a:pPr>
            <a:r>
              <a:rPr sz="1800">
                <a:solidFill>
                  <a:srgbClr val="051C2A"/>
                </a:solidFill>
                <a:latin typeface="Calibri"/>
                <a:ea typeface="Calibri"/>
                <a:cs typeface="Calibri"/>
              </a:rPr>
              <a:t>First Finance - Arnaud Demes</a:t>
            </a:r>
          </a:p>
        </p:txBody>
      </p:sp>
      <p:sp>
        <p:nvSpPr>
          <p:cNvPr id="8" name="quiz-answer-1">
            <a:extLst xmlns:a="http://schemas.openxmlformats.org/drawingml/2006/main">
              <a:ext uri="{FF2B5EF4-FFF2-40B4-BE49-F238E27FC236}">
                <a16:creationId xmlns:a16="http://schemas.microsoft.com/office/drawing/2014/main" id="{B3E68ED8-5D5E-4FC8-85BB-D0AA94005BE5}"/>
              </a:ext>
            </a:extLst>
          </p:cNvPr>
          <p:cNvSpPr>
            <a:spLocks xmlns:a="http://schemas.openxmlformats.org/drawingml/2006/main" noGrp="1"/>
          </p:cNvSpPr>
          <p:nvPr/>
        </p:nvSpPr>
        <p:spPr>
          <a:xfrm xmlns:a="http://schemas.openxmlformats.org/drawingml/2006/main">
            <a:off x="971550" y="44005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1F40CB"/>
                </a:solidFill>
              </a:defRPr>
            </a:pPr>
            <a:r>
              <a:rPr sz="1500" b="1">
                <a:solidFill>
                  <a:srgbClr val="1F40CB"/>
                </a:solidFill>
              </a:rPr>
              <a:t>1. B. Desired patterns</a:t>
            </a:r>
          </a:p>
        </p:txBody>
      </p:sp>
      <p:sp>
        <p:nvSpPr>
          <p:cNvPr id="9" name="quiz-explanation-1">
            <a:extLst xmlns:a="http://schemas.openxmlformats.org/drawingml/2006/main">
              <a:ext uri="{FF2B5EF4-FFF2-40B4-BE49-F238E27FC236}">
                <a16:creationId xmlns:a16="http://schemas.microsoft.com/office/drawing/2014/main" id="{12F86BE9-65FE-4D56-876B-660CEEC8B7E4}"/>
              </a:ext>
            </a:extLst>
          </p:cNvPr>
          <p:cNvSpPr>
            <a:spLocks xmlns:a="http://schemas.openxmlformats.org/drawingml/2006/main" noGrp="1"/>
          </p:cNvSpPr>
          <p:nvPr/>
        </p:nvSpPr>
        <p:spPr>
          <a:xfrm xmlns:a="http://schemas.openxmlformats.org/drawingml/2006/main">
            <a:off x="1257300" y="47053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Examples demonstrate the behavior that instructions leave implicit.</a:t>
            </a:r>
          </a:p>
        </p:txBody>
      </p:sp>
      <p:sp>
        <p:nvSpPr>
          <p:cNvPr id="10" name="quiz-answer-2">
            <a:extLst xmlns:a="http://schemas.openxmlformats.org/drawingml/2006/main">
              <a:ext uri="{FF2B5EF4-FFF2-40B4-BE49-F238E27FC236}">
                <a16:creationId xmlns:a16="http://schemas.microsoft.com/office/drawing/2014/main" id="{DEE58F75-5680-45B1-92E0-7ABDC4A27844}"/>
              </a:ext>
            </a:extLst>
          </p:cNvPr>
          <p:cNvSpPr>
            <a:spLocks xmlns:a="http://schemas.openxmlformats.org/drawingml/2006/main" noGrp="1"/>
          </p:cNvSpPr>
          <p:nvPr/>
        </p:nvSpPr>
        <p:spPr>
          <a:xfrm xmlns:a="http://schemas.openxmlformats.org/drawingml/2006/main">
            <a:off x="971550" y="50863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1F40CB"/>
                </a:solidFill>
              </a:defRPr>
            </a:pPr>
            <a:r>
              <a:rPr sz="1500" b="1">
                <a:solidFill>
                  <a:srgbClr val="1F40CB"/>
                </a:solidFill>
              </a:rPr>
              <a:t>2. A. Shape</a:t>
            </a:r>
          </a:p>
        </p:txBody>
      </p:sp>
      <p:sp>
        <p:nvSpPr>
          <p:cNvPr id="11" name="quiz-explanation-2">
            <a:extLst xmlns:a="http://schemas.openxmlformats.org/drawingml/2006/main">
              <a:ext uri="{FF2B5EF4-FFF2-40B4-BE49-F238E27FC236}">
                <a16:creationId xmlns:a16="http://schemas.microsoft.com/office/drawing/2014/main" id="{345E14EC-8194-49E3-8B5D-FE9D129EFF1C}"/>
              </a:ext>
            </a:extLst>
          </p:cNvPr>
          <p:cNvSpPr>
            <a:spLocks xmlns:a="http://schemas.openxmlformats.org/drawingml/2006/main" noGrp="1"/>
          </p:cNvSpPr>
          <p:nvPr/>
        </p:nvSpPr>
        <p:spPr>
          <a:xfrm xmlns:a="http://schemas.openxmlformats.org/drawingml/2006/main">
            <a:off x="1257300" y="53911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A strict schema constrains the object; it does not prove the claims.</a:t>
            </a:r>
          </a:p>
        </p:txBody>
      </p:sp>
      <p:sp>
        <p:nvSpPr>
          <p:cNvPr id="12" name="quiz-answer-3">
            <a:extLst xmlns:a="http://schemas.openxmlformats.org/drawingml/2006/main">
              <a:ext uri="{FF2B5EF4-FFF2-40B4-BE49-F238E27FC236}">
                <a16:creationId xmlns:a16="http://schemas.microsoft.com/office/drawing/2014/main" id="{D6A8200D-8D4E-4335-90A0-F3CE8B2873DF}"/>
              </a:ext>
            </a:extLst>
          </p:cNvPr>
          <p:cNvSpPr>
            <a:spLocks xmlns:a="http://schemas.openxmlformats.org/drawingml/2006/main" noGrp="1"/>
          </p:cNvSpPr>
          <p:nvPr/>
        </p:nvSpPr>
        <p:spPr>
          <a:xfrm xmlns:a="http://schemas.openxmlformats.org/drawingml/2006/main">
            <a:off x="971550" y="5772150"/>
            <a:ext cx="1329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00" b="1">
                <a:solidFill>
                  <a:srgbClr val="1F40CB"/>
                </a:solidFill>
              </a:defRPr>
            </a:pPr>
            <a:r>
              <a:rPr sz="1500" b="1">
                <a:solidFill>
                  <a:srgbClr val="1F40CB"/>
                </a:solidFill>
              </a:rPr>
              <a:t>3. A. Meaning can still be wrong</a:t>
            </a:r>
          </a:p>
        </p:txBody>
      </p:sp>
      <p:sp>
        <p:nvSpPr>
          <p:cNvPr id="13" name="quiz-explanation-3">
            <a:extLst xmlns:a="http://schemas.openxmlformats.org/drawingml/2006/main">
              <a:ext uri="{FF2B5EF4-FFF2-40B4-BE49-F238E27FC236}">
                <a16:creationId xmlns:a16="http://schemas.microsoft.com/office/drawing/2014/main" id="{2E1CEFC0-2C84-4E0D-A864-ED434F5DD850}"/>
              </a:ext>
            </a:extLst>
          </p:cNvPr>
          <p:cNvSpPr>
            <a:spLocks xmlns:a="http://schemas.openxmlformats.org/drawingml/2006/main" noGrp="1"/>
          </p:cNvSpPr>
          <p:nvPr/>
        </p:nvSpPr>
        <p:spPr>
          <a:xfrm xmlns:a="http://schemas.openxmlformats.org/drawingml/2006/main">
            <a:off x="1257300" y="6076950"/>
            <a:ext cx="13011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200" b="0">
                <a:solidFill>
                  <a:srgbClr val="334155"/>
                </a:solidFill>
              </a:defRPr>
            </a:pPr>
            <a:r>
              <a:rPr sz="1200" b="0">
                <a:solidFill>
                  <a:srgbClr val="334155"/>
                </a:solidFill>
              </a:rPr>
              <a:t>Finance checks still verify evidence, meaning and completeness.</a:t>
            </a:r>
          </a:p>
        </p:txBody>
      </p:sp>
    </p:spTree>
    <p:extLst>
      <p:ext uri="{BB962C8B-B14F-4D97-AF65-F5344CB8AC3E}">
        <p14:creationId xmlns:p14="http://schemas.microsoft.com/office/powerpoint/2010/main" val="767502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2026-08-25T19:17:41.8130000Z</dcterms:created>
  <dcterms:modified xsi:type="dcterms:W3CDTF">2026-08-25T19:17:41.8130000Z</dcterms:modified>
</coreProperties>
</file>