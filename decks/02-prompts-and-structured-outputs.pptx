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f823887acdb4fa0" /><Relationship Type="http://schemas.openxmlformats.org/officeDocument/2006/relationships/extended-properties" Target="/docProps/app.xml" Id="R2a8e6321b8c34433" /><Relationship Type="http://schemas.openxmlformats.org/officeDocument/2006/relationships/officeDocument" Target="/ppt/presentation.xml" Id="R52615a1fe1fd4ca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f2864228f304faa"/>
  </p:sldMasterIdLst>
  <p:notesMasterIdLst>
    <p:notesMasterId xmlns:r="http://schemas.openxmlformats.org/officeDocument/2006/relationships" r:id="Rda5e54f553c2481f"/>
  </p:notesMasterIdLst>
  <p:sldIdLst>
    <p:sldId xmlns:r="http://schemas.openxmlformats.org/officeDocument/2006/relationships" id="256" r:id="Rddef58bb753f4823"/>
    <p:sldId xmlns:r="http://schemas.openxmlformats.org/officeDocument/2006/relationships" id="257" r:id="R6e69040c2fda4dc8"/>
    <p:sldId xmlns:r="http://schemas.openxmlformats.org/officeDocument/2006/relationships" id="258" r:id="R150dc8adbe4343a5"/>
    <p:sldId xmlns:r="http://schemas.openxmlformats.org/officeDocument/2006/relationships" id="259" r:id="Rf30561220ce14a11"/>
    <p:sldId xmlns:r="http://schemas.openxmlformats.org/officeDocument/2006/relationships" id="260" r:id="R2cb51b6890f14954"/>
    <p:sldId xmlns:r="http://schemas.openxmlformats.org/officeDocument/2006/relationships" id="261" r:id="R069dad033b874f95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e1b8de78f284dfe" /><Relationship Type="http://schemas.openxmlformats.org/officeDocument/2006/relationships/slideMaster" Target="/ppt/slideMasters/slideMaster1.xml" Id="R7f2864228f304faa" /><Relationship Type="http://schemas.openxmlformats.org/officeDocument/2006/relationships/notesMaster" Target="/ppt/notesMasters/notesMaster1.xml" Id="Rda5e54f553c2481f" /><Relationship Type="http://schemas.openxmlformats.org/officeDocument/2006/relationships/presProps" Target="/ppt/presProps.xml" Id="Rdbf7a225d5d44715" /><Relationship Type="http://schemas.openxmlformats.org/officeDocument/2006/relationships/tableStyles" Target="/ppt/tableStyles.xml" Id="R3d4b5037e9ea4c84" /><Relationship Type="http://schemas.openxmlformats.org/officeDocument/2006/relationships/slide" Target="/ppt/slides/slide1.xml" Id="Rddef58bb753f4823" /><Relationship Type="http://schemas.openxmlformats.org/officeDocument/2006/relationships/slide" Target="/ppt/slides/slide2.xml" Id="R6e69040c2fda4dc8" /><Relationship Type="http://schemas.openxmlformats.org/officeDocument/2006/relationships/slide" Target="/ppt/slides/slide3.xml" Id="R150dc8adbe4343a5" /><Relationship Type="http://schemas.openxmlformats.org/officeDocument/2006/relationships/slide" Target="/ppt/slides/slide4.xml" Id="Rf30561220ce14a11" /><Relationship Type="http://schemas.openxmlformats.org/officeDocument/2006/relationships/slide" Target="/ppt/slides/slide5.xml" Id="R2cb51b6890f14954" /><Relationship Type="http://schemas.openxmlformats.org/officeDocument/2006/relationships/slide" Target="/ppt/slides/slide6.xml" Id="R069dad033b874f9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a98fdf4d0d7479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f1d05e47cb24724" /><Relationship Type="http://schemas.openxmlformats.org/officeDocument/2006/relationships/notesMaster" Target="/ppt/notesMasters/notesMaster1.xml" Id="Rf5145d1fee2c4a0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60a50fe56bb4e83" /><Relationship Type="http://schemas.openxmlformats.org/officeDocument/2006/relationships/notesMaster" Target="/ppt/notesMasters/notesMaster1.xml" Id="R72fc7fd92118481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270ccf654b94e2b" /><Relationship Type="http://schemas.openxmlformats.org/officeDocument/2006/relationships/notesMaster" Target="/ppt/notesMasters/notesMaster1.xml" Id="Re070bc512a2a44c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c358faf8d65472c" /><Relationship Type="http://schemas.openxmlformats.org/officeDocument/2006/relationships/notesMaster" Target="/ppt/notesMasters/notesMaster1.xml" Id="R470b27054ad9455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c5b29cc920f4eb6" /><Relationship Type="http://schemas.openxmlformats.org/officeDocument/2006/relationships/notesMaster" Target="/ppt/notesMasters/notesMaster1.xml" Id="R2bb1d06c507e462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c85492653014d48" /><Relationship Type="http://schemas.openxmlformats.org/officeDocument/2006/relationships/notesMaster" Target="/ppt/notesMasters/notesMaster1.xml" Id="R63d97660df1d4c2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by linking this session to the free-form response from Lesson 1. The goal is an application object, not prettier prose.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https://developers.openai.com/api/docs/guides/structured-outputs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that instructions, trusted inputs, document data and output requirements have different owners. Ask which values the application should never delegate to the 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https://developers.openai.com/api/docs/guides/structured-outputs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slide to separate syntax failures from unsupported financial claims. A JSON parser cannot validate evidence quality.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https://developers.openai.com/api/docs/guides/structured-outputs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through the existing capstone contract. The NVIDIA filing remains the real-company context; the schema is provider-neutral.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https://developers.openai.com/api/docs/guides/structured-outputs</a:t>
            </a:r>
          </a:p>
          <a:p xmlns:a="http://schemas.openxmlformats.org/drawingml/2006/main">
            <a:r>
              <a:t>- https://www.sec.gov/Archives/edgar/data/1045810/000104581026000021/nvda-20260125.htm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Structured generation improves schema adherence. Application validators and post-generation checks still decide whether the financial product is acceptable.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https://developers.openai.com/api/docs/guides/structured-outputs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Move immediately into Notebook 02. The expected learning sequence is one controlled failure followed by typed generation and deterministic verification.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https://developers.openai.com/api/docs/guides/structured-outputs</a:t>
            </a:r>
          </a:p>
          <a:p xmlns:a="http://schemas.openxmlformats.org/drawingml/2006/main">
            <a:r>
              <a:t>- https://www.sec.gov/Archives/edgar/data/1045810/000104581026000021/nvda-20260125.htm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35e3e7ad68433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62f195c08c64dbb" /><Relationship Type="http://schemas.openxmlformats.org/officeDocument/2006/relationships/slideLayout" Target="/ppt/slideLayouts/slideLayout1.xml" Id="R79dfe7491bbb4bf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9dfe7491bbb4bf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ca867d522a4809" /><Relationship Type="http://schemas.openxmlformats.org/officeDocument/2006/relationships/notesSlide" Target="/ppt/notesSlides/notesSlide1.xml" Id="R894570f19e1e41e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4afd3bf42140c5" /><Relationship Type="http://schemas.openxmlformats.org/officeDocument/2006/relationships/notesSlide" Target="/ppt/notesSlides/notesSlide2.xml" Id="R538f78fb4784457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b6ad0166cc41ec" /><Relationship Type="http://schemas.openxmlformats.org/officeDocument/2006/relationships/notesSlide" Target="/ppt/notesSlides/notesSlide3.xml" Id="Rbf29aa48c92d41f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5b5bd5df674420" /><Relationship Type="http://schemas.openxmlformats.org/officeDocument/2006/relationships/notesSlide" Target="/ppt/notesSlides/notesSlide4.xml" Id="R382c473d05e94bb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4ffb4c2251413b" /><Relationship Type="http://schemas.openxmlformats.org/officeDocument/2006/relationships/notesSlide" Target="/ppt/notesSlides/notesSlide5.xml" Id="R3f095cf4648e491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c17b036e734823" /><Relationship Type="http://schemas.openxmlformats.org/officeDocument/2006/relationships/notesSlide" Target="/ppt/notesSlides/notesSlide6.xml" Id="R2030ab9d19b74cb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91AC7A-C390-4918-960F-B031B7C93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810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682EC5-19B2-4E56-87B3-7ADF11BC6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04900"/>
            <a:ext cx="304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FIRST FINANCE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8B1E4B-A80D-4DD8-B9C5-6F19ACF9B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00300"/>
            <a:ext cx="9334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4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Structured Outputs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83E63A-968D-469D-97F9-C2D3B82A7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385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400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2400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Prompt engineering for a validated financial object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1333EC-2C9C-4877-BD13-41F8B87FC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1035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SESSION 02  ·  10:00–10:30  ·  10 MIN CONCEPTS + 20 MIN NOTEBOOK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C3877F-F854-40AF-9C55-8A4B72F80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162800"/>
            <a:ext cx="514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Financial Analyst Copilot</a:t>
            </a:r>
          </a:p>
        </p:txBody>
      </p:sp>
    </p:spTree>
    <p:extLst>
      <p:ext uri="{BB962C8B-B14F-4D97-AF65-F5344CB8AC3E}">
        <p14:creationId xmlns:p14="http://schemas.microsoft.com/office/powerpoint/2010/main" val="76750256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5AB1E4-42AC-4F38-9832-61AB9F79D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PROMPT INTERFACE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C87317-1AE5-4283-B66E-4DB26DCD0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39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 prompt is an explicit application interface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25C689-54CE-4FC2-A8FF-E88EDD6E7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7655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INSTRUCTIONS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35474F-D624-489B-92E8-BD4182BDB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352800"/>
            <a:ext cx="4095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Stable role, boundaries and evidence policy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6A7CE9-8603-4733-86A0-820430368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24350"/>
            <a:ext cx="4095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208B5E-14CF-4E16-BADC-18EA4B95A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68630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SOURCE DATA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24DF7E-874E-4566-BFD4-563B7D2DC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162550"/>
            <a:ext cx="4095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Trusted inputs plus an untrusted document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B0359C-EF48-41D4-A6E9-00E41CF10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67000"/>
            <a:ext cx="7810500" cy="3905250"/>
          </a:xfrm>
          <a:prstGeom xmlns:a="http://schemas.openxmlformats.org/drawingml/2006/main" prst="roundRect">
            <a:avLst>
              <a:gd name="adj" fmla="val 1951"/>
            </a:avLst>
          </a:prstGeom>
          <a:solidFill xmlns:a="http://schemas.openxmlformats.org/drawingml/2006/main">
            <a:srgbClr val="051C2A"/>
          </a:solidFill>
          <a:ln xmlns:a="http://schemas.openxmlformats.org/drawingml/2006/main" w="9525">
            <a:solidFill>
              <a:srgbClr val="051C2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A2E685-CEFF-4453-8C95-28578E2DE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105150"/>
            <a:ext cx="647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prompt = {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1A30A9-E2C4-4827-8E19-657027C5A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714750"/>
            <a:ext cx="647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0A2EB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00A2EB"/>
                </a:solidFill>
                <a:latin typeface="Consolas"/>
                <a:ea typeface="Consolas"/>
                <a:cs typeface="Consolas"/>
              </a:rPr>
              <a:t>  "instructions": stable_policy,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E231728-B735-42CB-93A0-1EC165D1B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324350"/>
            <a:ext cx="676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"inputs + source": bounded_context,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03C876-E68B-49CA-BC42-27F65639A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933950"/>
            <a:ext cx="647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1800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  "output": AnalystBrief  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F656D8-F2F5-4064-95D9-4ECB8677B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5762625"/>
            <a:ext cx="628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5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Each boundary can be inspected, versioned and tested.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ABA0A2-12FF-4F25-862C-AE57B2222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1352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BD8D42-E860-4B95-87E4-3C7FF1FC9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800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D224F1-4BCA-4A2F-84C4-3FDCAE79E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1534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54E057-3E14-470C-8862-AC0BFD9D5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81534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PROMPT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ADE638-85F0-4B8A-A0CD-DDDC9FD42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1534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77236307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0BC54A-1309-460D-AD2B-0F18507EB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FAILURE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2B95A1-7E53-412C-8974-DFB6A8DFF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39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“Return JSON” is not an application contract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1C2FBE-FCE9-4D4C-9DBD-D89790B01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57500"/>
            <a:ext cx="11811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28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“Return the answer as JSON.”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F60789-BA8D-4377-A318-F3BEDA9C6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952875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32BA03-1788-4BE1-A884-B111371C7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64820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D92F82-4B68-493F-A374-EE0CF32C7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143500"/>
            <a:ext cx="2266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Invalid syntax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641AFC-2FEB-434F-ADB4-9127D7801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64820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0EEE86-8AD2-4FC0-A0CA-3F3992455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5143500"/>
            <a:ext cx="2266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Missing fields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A9F77B-9D95-469A-B256-2B019874F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64820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20B1BF-7CCF-4161-9AFF-CC9F8DCA9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5143500"/>
            <a:ext cx="2266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Wrong enums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8CF07A-926D-46C1-84B0-CB0E949F4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64820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8E6400-99FC-4D00-A8CB-D89D7FA7E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5143500"/>
            <a:ext cx="2266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Extra fields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04CD7E-4803-4104-8338-9D962B7E6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4648200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270AE8-D659-434A-B5EA-AB73577F8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5143500"/>
            <a:ext cx="2266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Unsupported claims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780C9E-1A2E-4219-955F-7ED3FB5CD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649605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Parsing checks syntax; the application still validates shape and evidence.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6DF59FE-4FEE-42DE-92D0-4AA138236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1352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D1BFF5-CF10-414F-A9A1-5F4FE7F25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800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A777C2-72B8-4165-974F-061823F01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1534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6DE7B0-9049-4B6C-8B3A-B01028AA5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81534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FAILURE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657728-BC95-4348-AF6C-34919712C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1534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51065668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EB10B4-0FED-42C3-8AA0-5BAB4CEF9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PYDANTIC CONTRACT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5BB064-4AE8-44EA-963D-8F76C6A28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39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AnalystBrief expresses the financial product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CA505F-3B0C-49A0-98CF-6D6175D62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0"/>
            <a:ext cx="4381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43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3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AnalystBrief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D41D26-D959-489A-A086-84E330386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9052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company · period · executive summary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522A8F-16AD-44AB-BA1E-BB7C095B3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724150"/>
            <a:ext cx="190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7C6626-7591-4116-BDA4-36A1BF728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857500"/>
            <a:ext cx="4953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4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4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AnalystFinding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3A65EC-CF94-4DE7-B420-D90CF126D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905250"/>
            <a:ext cx="5524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statement · category · evidence type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8E439B-7E83-494E-A3B5-46C4B6992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953000"/>
            <a:ext cx="571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[BRIEF]  findings · caveats · open questions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B113A5-935F-4D64-84B0-5B781937E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953000"/>
            <a:ext cx="666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[FINDING]  excerpt for facts · rationale for interpretation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422730-1A2F-437A-8161-C3EA5A7E3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6343650"/>
            <a:ext cx="11811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One schema is reused by the notebook, service, interface and evaluation.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A99A9B-F12A-48FE-953D-620804A38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1352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4C9EE8-1362-49E4-BFD2-8CCFD9A29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800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206614-6877-4386-9D02-F474A613C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1534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1FCDDD-754E-4B46-A9F3-09ADE649C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81534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SCHEMA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F3E1F1-C1E6-4C5D-B5BB-8ED1767C9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1534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87803423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7C48A24-E18F-4399-84FF-49EC1D75E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VALIDATION LAYERS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74DED0-BD05-4639-BE3C-BD8A49B9E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39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Validation separates shape from financial correctness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10C483-A890-47EA-A072-5D9086A14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8575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4E515B-5F3B-40A3-8912-9F85F0FE7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8194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JSON syntax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CF432C-0929-4FB7-9EB4-33A2C51C4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575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PARSE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9A1F7B-8EE0-471C-AA17-75A56716B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4099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F63C6A-1C80-47E2-9174-F44504BE7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6957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21B42D-9ED7-495A-B9A4-706CAD687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6576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Pydantic schema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79279A-F56C-43A4-BB61-5DBED2EC9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6957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VALIDATE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DD85C8-4C83-4C3E-8F6A-367A43180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2481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A488D8-189E-4BB9-9C55-CA27344D4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5339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62B6DC-830C-4BC9-8851-A3888182A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4958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Finance semantics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B92F15-B968-44A2-AC9F-1F44F75B8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339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REVIEW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9FCC08-CC44-427D-9C16-AD71F4A0F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0863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219D6C-4B5E-42DF-9DFC-40856CEAE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3721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CA7A6E-EE89-4E7C-A0E4-A0D3E684A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3340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Application acceptance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9232DB-9ADA-4EC0-9488-23F6FAAFF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3721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DECIDE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F021EC-EF4B-4696-AC90-EE4C0AB71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9245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510A64-1653-4D80-B5B0-A343D07C1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2914650"/>
            <a:ext cx="3333750" cy="3238500"/>
          </a:xfrm>
          <a:prstGeom xmlns:a="http://schemas.openxmlformats.org/drawingml/2006/main" prst="roundRect">
            <a:avLst>
              <a:gd name="adj" fmla="val 2353"/>
            </a:avLst>
          </a:prstGeom>
          <a:solidFill xmlns:a="http://schemas.openxmlformats.org/drawingml/2006/main">
            <a:srgbClr val="051C2A"/>
          </a:solidFill>
          <a:ln xmlns:a="http://schemas.openxmlformats.org/drawingml/2006/main" w="9525">
            <a:solidFill>
              <a:srgbClr val="051C2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E24CC2-8886-4470-A433-8B2BDCC9A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SCHEMA-BOUND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710502-B50A-464D-8CBF-05C06A018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3860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Structured
output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8057516-ABAC-4FB1-A462-D76649ACD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953000"/>
            <a:ext cx="2381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65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Constrains shape.
Business rules still decide.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74979B-71B7-425A-85CB-FF6AD6AC5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6667500"/>
            <a:ext cx="876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A valid object can still require review when evidence is incomplete.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B353963-99F6-474D-AE9E-6D102866C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1352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A58137A-5475-4121-BA20-053FF731F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800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126838F-9E9E-49AC-8F5A-4888689CD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1534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F2728AD-6B3E-41C8-9959-16F490654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81534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VALIDATION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500A979-B0DA-491D-BECE-B4073BB3C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1534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2345329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7C48A24-E18F-4399-84FF-49EC1D75E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239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NOTEBOOK MISSION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74DED0-BD05-4639-BE3C-BD8A49B9E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39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Fail once, then build the accepted financial object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10C483-A890-47EA-A072-5D9086A14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8575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4E515B-5F3B-40A3-8912-9F85F0FE7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8194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Parse syntactically valid JSON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CF432C-0929-4FB7-9EB4-33A2C51C4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8575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RUN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9A1F7B-8EE0-471C-AA17-75A56716B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4099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F63C6A-1C80-47E2-9174-F44504BE7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6957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21B42D-9ED7-495A-B9A4-706CAD687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36576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Watch financial validation fail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79279A-F56C-43A4-BB61-5DBED2EC9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6957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OBSERVE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DD85C8-4C83-4C3E-8F6A-367A43180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2481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A488D8-189E-4BB9-9C55-CA27344D4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5339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62B6DC-830C-4BC9-8851-A3888182A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4958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Generate a typed AnalystBrief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B92F15-B968-44A2-AC9F-1F44F75B8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339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BIND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9FCC08-CC44-427D-9C16-AD71F4A0F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0863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219D6C-4B5E-42DF-9DFC-40856CEAE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372100"/>
            <a:ext cx="57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CA7A6E-EE89-4E7C-A0E4-A0D3E684A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334000"/>
            <a:ext cx="590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Verify the finance rules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9232DB-9ADA-4EC0-9488-23F6FAAFF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372100"/>
            <a:ext cx="104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PASS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F021EC-EF4B-4696-AC90-EE4C0AB71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924550"/>
            <a:ext cx="7524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510A64-1653-4D80-B5B0-A343D07C1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2914650"/>
            <a:ext cx="3333750" cy="3238500"/>
          </a:xfrm>
          <a:prstGeom xmlns:a="http://schemas.openxmlformats.org/drawingml/2006/main" prst="roundRect">
            <a:avLst>
              <a:gd name="adj" fmla="val 2353"/>
            </a:avLst>
          </a:prstGeom>
          <a:solidFill xmlns:a="http://schemas.openxmlformats.org/drawingml/2006/main">
            <a:srgbClr val="051C2A"/>
          </a:solidFill>
          <a:ln xmlns:a="http://schemas.openxmlformats.org/drawingml/2006/main" w="9525">
            <a:solidFill>
              <a:srgbClr val="051C2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E24CC2-8886-4470-A433-8B2BDCC9A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0"/>
            <a:ext cx="238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NOW RUN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710502-B50A-464D-8CBF-05C06A018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03860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Notebook 02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8057516-ABAC-4FB1-A462-D76649ACD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953000"/>
            <a:ext cx="2381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65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Fail → validate → bind → verify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74979B-71B7-425A-85CB-FF6AD6AC5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6667500"/>
            <a:ext cx="876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373738"/>
                </a:solidFill>
                <a:latin typeface="Calibri"/>
                <a:ea typeface="Calibri"/>
                <a:cs typeface="Calibri"/>
              </a:defRPr>
            </a:pPr>
            <a:r>
              <a:rPr sz="1650">
                <a:solidFill>
                  <a:srgbClr val="373738"/>
                </a:solidFill>
                <a:latin typeface="Calibri"/>
                <a:ea typeface="Calibri"/>
                <a:cs typeface="Calibri"/>
              </a:rPr>
              <a:t>Same notebook code; Ollama or OpenAI selected through configuration.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B353963-99F6-474D-AE9E-6D102866C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13525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6E8"/>
          </a:solidFill>
          <a:ln xmlns:a="http://schemas.openxmlformats.org/drawingml/2006/main" w="9525">
            <a:solidFill>
              <a:srgbClr val="E4E6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A58137A-5475-4121-BA20-053FF731F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905750"/>
            <a:ext cx="800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126838F-9E9E-49AC-8F5A-4888689CD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1534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75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F2728AD-6B3E-41C8-9959-16F490654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815340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NOTEBOOK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500A979-B0DA-491D-BECE-B4073BB3C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0" y="8153400"/>
            <a:ext cx="28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9E9FA2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E9FA2"/>
                </a:solidFill>
                <a:latin typeface="Calibri"/>
                <a:ea typeface="Calibri"/>
                <a:cs typeface="Calibr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22345329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2026-08-15T08:15:45.6200000Z</dcterms:created>
  <dcterms:modified xsi:type="dcterms:W3CDTF">2026-08-15T08:15:45.6200000Z</dcterms:modified>
</coreProperties>
</file>