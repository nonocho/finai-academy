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d4ac3e65b14a4a" /><Relationship Type="http://schemas.openxmlformats.org/officeDocument/2006/relationships/extended-properties" Target="/docProps/app.xml" Id="Rd0d5f6e69f1c4adc" /><Relationship Type="http://schemas.openxmlformats.org/officeDocument/2006/relationships/officeDocument" Target="/ppt/presentation.xml" Id="R0a758a4f55d849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8988c15d6e4d4a"/>
  </p:sldMasterIdLst>
  <p:notesMasterIdLst>
    <p:notesMasterId xmlns:r="http://schemas.openxmlformats.org/officeDocument/2006/relationships" r:id="R4138b46469354d2f"/>
  </p:notesMasterIdLst>
  <p:sldIdLst>
    <p:sldId xmlns:r="http://schemas.openxmlformats.org/officeDocument/2006/relationships" id="256" r:id="Rfc04dd10f4614fd6"/>
    <p:sldId xmlns:r="http://schemas.openxmlformats.org/officeDocument/2006/relationships" id="257" r:id="R82bfb632c2184cca"/>
    <p:sldId xmlns:r="http://schemas.openxmlformats.org/officeDocument/2006/relationships" id="258" r:id="R039921ee26624137"/>
    <p:sldId xmlns:r="http://schemas.openxmlformats.org/officeDocument/2006/relationships" id="259" r:id="R0715dc261b7b4320"/>
    <p:sldId xmlns:r="http://schemas.openxmlformats.org/officeDocument/2006/relationships" id="260" r:id="R19859cf3caaa45fa"/>
    <p:sldId xmlns:r="http://schemas.openxmlformats.org/officeDocument/2006/relationships" id="261" r:id="Rb791b4243fd5467a"/>
    <p:sldId xmlns:r="http://schemas.openxmlformats.org/officeDocument/2006/relationships" id="262" r:id="Ref313dae6a024b63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d6e3133b5f4f9f" /><Relationship Type="http://schemas.openxmlformats.org/officeDocument/2006/relationships/slideMaster" Target="/ppt/slideMasters/slideMaster1.xml" Id="R648988c15d6e4d4a" /><Relationship Type="http://schemas.openxmlformats.org/officeDocument/2006/relationships/notesMaster" Target="/ppt/notesMasters/notesMaster1.xml" Id="R4138b46469354d2f" /><Relationship Type="http://schemas.openxmlformats.org/officeDocument/2006/relationships/presProps" Target="/ppt/presProps.xml" Id="R0dda60d5a16145f8" /><Relationship Type="http://schemas.openxmlformats.org/officeDocument/2006/relationships/tableStyles" Target="/ppt/tableStyles.xml" Id="R6df17e7be8db45b6" /><Relationship Type="http://schemas.openxmlformats.org/officeDocument/2006/relationships/slide" Target="/ppt/slides/slide1.xml" Id="Rfc04dd10f4614fd6" /><Relationship Type="http://schemas.openxmlformats.org/officeDocument/2006/relationships/slide" Target="/ppt/slides/slide2.xml" Id="R82bfb632c2184cca" /><Relationship Type="http://schemas.openxmlformats.org/officeDocument/2006/relationships/slide" Target="/ppt/slides/slide3.xml" Id="R039921ee26624137" /><Relationship Type="http://schemas.openxmlformats.org/officeDocument/2006/relationships/slide" Target="/ppt/slides/slide4.xml" Id="R0715dc261b7b4320" /><Relationship Type="http://schemas.openxmlformats.org/officeDocument/2006/relationships/slide" Target="/ppt/slides/slide5.xml" Id="R19859cf3caaa45fa" /><Relationship Type="http://schemas.openxmlformats.org/officeDocument/2006/relationships/slide" Target="/ppt/slides/slide6.xml" Id="Rb791b4243fd5467a" /><Relationship Type="http://schemas.openxmlformats.org/officeDocument/2006/relationships/slide" Target="/ppt/slides/slide7.xml" Id="Ref313dae6a024b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938988f29643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2530c599f64e77" /><Relationship Type="http://schemas.openxmlformats.org/officeDocument/2006/relationships/notesMaster" Target="/ppt/notesMasters/notesMaster1.xml" Id="R77e5713d02a94d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4970b1f5bd429c" /><Relationship Type="http://schemas.openxmlformats.org/officeDocument/2006/relationships/notesMaster" Target="/ppt/notesMasters/notesMaster1.xml" Id="R01f55a13b83c4e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3d4f02ee7f4ba3" /><Relationship Type="http://schemas.openxmlformats.org/officeDocument/2006/relationships/notesMaster" Target="/ppt/notesMasters/notesMaster1.xml" Id="R6fdc64f67e2649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2bb0e81b8b4d71" /><Relationship Type="http://schemas.openxmlformats.org/officeDocument/2006/relationships/notesMaster" Target="/ppt/notesMasters/notesMaster1.xml" Id="R43ac061cd50148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5e7d50c681409c" /><Relationship Type="http://schemas.openxmlformats.org/officeDocument/2006/relationships/notesMaster" Target="/ppt/notesMasters/notesMaster1.xml" Id="Re5d24277fed14b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69734bced24d17" /><Relationship Type="http://schemas.openxmlformats.org/officeDocument/2006/relationships/notesMaster" Target="/ppt/notesMasters/notesMaster1.xml" Id="R7950ae2ffd9f44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cd58b6ce334311" /><Relationship Type="http://schemas.openxmlformats.org/officeDocument/2006/relationships/notesMaster" Target="/ppt/notesMasters/notesMaster1.xml" Id="Red684fbd68db44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calling this a naive baseline: it is intentionally simple and fully observable.</a:t>
            </a:r>
          </a:p>
          <a:p xmlns:a="http://schemas.openxmlformats.org/drawingml/2006/main">
            <a:r>
              <a:t>The lesson builds the retrieval mechanism; parsing and chunking come next.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six source passages, then the two selected passages.</a:t>
            </a:r>
          </a:p>
          <a:p xmlns:a="http://schemas.openxmlformats.org/drawingml/2006/main">
            <a:r>
              <a:t>Emphasize that retrieval is application code executed before the model call.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pipeline from left to right.</a:t>
            </a:r>
          </a:p>
          <a:p xmlns:a="http://schemas.openxmlformats.org/drawingml/2006/main">
            <a:r>
              <a:t>Ask which stages can be tested without OpenAI or Ollama; the answer is stages one through four.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matrix is a compact teaching view of selected terms; the notebook exposes the live matrix.</a:t>
            </a:r>
          </a:p>
          <a:p xmlns:a="http://schemas.openxmlformats.org/drawingml/2006/main">
            <a:r>
              <a:t>The ranking values shown here are generated by Notebook 04 for the maintained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- https://scikit-learn.org/stable/modules/generated/sklearn.metrics.pairwise.cosine_similarity.html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orange line as the decision boundary.</a:t>
            </a:r>
          </a:p>
          <a:p xmlns:a="http://schemas.openxmlformats.org/drawingml/2006/main">
            <a:r>
              <a:t>For the maintained question, the expected evidence set is NVDA-F1 and NVDA-F2.</a:t>
            </a:r>
          </a:p>
          <a:p xmlns:a="http://schemas.openxmlformats.org/drawingml/2006/main">
            <a:r>
              <a:t>Changing top-k changes both recall and context noise.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https://www.se.com/ww/en/assets/564/document/528237/release-fy-results-2025.pdf?p_File_Name=2025+FY+Results&amp;p_enDocType=Financial+release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Notebook 04 after this slide.</a:t>
            </a:r>
          </a:p>
          <a:p xmlns:a="http://schemas.openxmlformats.org/drawingml/2006/main">
            <a:r>
              <a:t>The notebook produces six figures and checks retrieval separately from grounding.</a:t>
            </a:r>
          </a:p>
          <a:p xmlns:a="http://schemas.openxmlformats.org/drawingml/2006/main">
            <a:r>
              <a:t>The failure query has zero lexical scores and returns NVDA-F1 through the stable identifier tie-break, while the intended evidence is NVDA-F2.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who created the prepared passages and what may have been lost.</a:t>
            </a:r>
          </a:p>
          <a:p xmlns:a="http://schemas.openxmlformats.org/drawingml/2006/main">
            <a:r>
              <a:t>That question opens Lesson 05: raw financial documents, parsing, structure, tables, metadata and chunking.</a:t>
            </a:r>
          </a:p>
          <a:p xmlns:a="http://schemas.openxmlformats.org/drawingml/2006/main">
            <a:r>
              <a:t>Lesson 06 then improves retrieval representation and ranking.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 and copy.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cf2e604c7d41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a6b98c9ec446da" /><Relationship Type="http://schemas.openxmlformats.org/officeDocument/2006/relationships/slideLayout" Target="/ppt/slideLayouts/slideLayout1.xml" Id="R0b24e43ffc7940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24e43ffc7940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d4930d9a843d7" /><Relationship Type="http://schemas.openxmlformats.org/officeDocument/2006/relationships/notesSlide" Target="/ppt/notesSlides/notesSlide1.xml" Id="R4f134bda6df545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16b21ec674043" /><Relationship Type="http://schemas.openxmlformats.org/officeDocument/2006/relationships/notesSlide" Target="/ppt/notesSlides/notesSlide2.xml" Id="R4ca969dfc04c4b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6721c0c004287" /><Relationship Type="http://schemas.openxmlformats.org/officeDocument/2006/relationships/notesSlide" Target="/ppt/notesSlides/notesSlide3.xml" Id="R16060345be4d41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e6d7ce9fb4a28" /><Relationship Type="http://schemas.openxmlformats.org/officeDocument/2006/relationships/notesSlide" Target="/ppt/notesSlides/notesSlide4.xml" Id="R43541b8fa1c549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94d45850a4aec" /><Relationship Type="http://schemas.openxmlformats.org/officeDocument/2006/relationships/notesSlide" Target="/ppt/notesSlides/notesSlide5.xml" Id="R476067b53c404c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5ebe0a21a49ca" /><Relationship Type="http://schemas.openxmlformats.org/officeDocument/2006/relationships/notesSlide" Target="/ppt/notesSlides/notesSlide6.xml" Id="R2ee69fadc47647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0014c1ce4429a" /><Relationship Type="http://schemas.openxmlformats.org/officeDocument/2006/relationships/notesSlide" Target="/ppt/notesSlides/notesSlide7.xml" Id="R68ddfcee2dd247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0DB6A-E971-4614-803B-AE8F3E12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EE95B-C324-413A-BA74-C1EEA52F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18454-19E5-44D8-810D-686826F2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38400"/>
            <a:ext cx="1329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Naive RAG from First Principles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902B13-440D-4A59-9D11-3DBE46D4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04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A transparent retrieval baseline before parsing and chunking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E8F12-0F33-44B5-939E-A27B15B6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04  ·  11:30–12:00  ·  8 MIN CONCEPTS + 22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8144A-C3F6-47D1-BCD1-8642B992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16236503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4CC508-D80F-43CE-AF2B-FFAFDE75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EVIDENCE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B81FF-9717-4ECA-964E-0875263B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RAG decides which evidence the model can see</a:t>
            </a:r>
          </a:p>
        </p:txBody>
      </p:sp>
      <p:sp>
        <p:nvSpPr>
          <p:cNvPr id="3" name="corpus-frame">
            <a:extLst xmlns:a="http://schemas.openxmlformats.org/drawingml/2006/main">
              <a:ext uri="{FF2B5EF4-FFF2-40B4-BE49-F238E27FC236}">
                <a16:creationId xmlns:a16="http://schemas.microsoft.com/office/drawing/2014/main" id="{7373B6A8-37AC-442A-9146-32CC8294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3429000" cy="36766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5FF29-4D50-4C8D-ABD0-14181E23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PREPARED CORPUS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C867F-A514-469A-A27D-6B50ADF2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766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525B0-6952-40DB-AE67-F726C01B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956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9329D-1451-4063-96E6-E318FFF6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36B69-618A-4503-887C-D0560216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528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A1019-D4E9-4D7D-9819-1BD3376C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10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1E400-C954-42F3-BAC9-B22FCA86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100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1E4778-6B3A-47E4-88E4-8FEF7C7D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DCA36D-5E30-4826-B630-3BA389E4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25DA4-F512-4D8D-9291-109E16C8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054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A502F-5210-40CF-9343-31469FB3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244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F64B97-73E8-439C-AA1C-EF642EAE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26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728553-B5C3-494F-9A3D-302BBDD1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816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17" name="ranker">
            <a:extLst xmlns:a="http://schemas.openxmlformats.org/drawingml/2006/main">
              <a:ext uri="{FF2B5EF4-FFF2-40B4-BE49-F238E27FC236}">
                <a16:creationId xmlns:a16="http://schemas.microsoft.com/office/drawing/2014/main" id="{EB80A7E3-EDC6-4175-820F-5E55FCCB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86150"/>
            <a:ext cx="2381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03ABD4-6586-48E9-9EC8-9C7D279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05225"/>
            <a:ext cx="1771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TF-IDF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cosine rank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D6717A-01AB-489C-97D7-8AA75FCB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629150"/>
            <a:ext cx="177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simple top-k</a:t>
            </a:r>
          </a:p>
        </p:txBody>
      </p:sp>
      <p:sp>
        <p:nvSpPr>
          <p:cNvPr id="20" name="selected-evidence">
            <a:extLst xmlns:a="http://schemas.openxmlformats.org/drawingml/2006/main">
              <a:ext uri="{FF2B5EF4-FFF2-40B4-BE49-F238E27FC236}">
                <a16:creationId xmlns:a16="http://schemas.microsoft.com/office/drawing/2014/main" id="{C4C99858-AED1-4666-8E49-2F361C9B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28950"/>
            <a:ext cx="2266950" cy="266700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DB4D59-90A6-461A-83AB-DBEC0F01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SELECTED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4203C3-60E6-4B1A-A9FA-DBE47DB3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886200"/>
            <a:ext cx="165735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D5F68A-6BD0-4828-B0C9-F39EBA7B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933825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7D7A38-3CD9-4F65-8025-86527DE3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514850"/>
            <a:ext cx="165735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A17CFD-0AA2-4A5A-AA38-325F22B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62475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26" name="model-answer">
            <a:extLst xmlns:a="http://schemas.openxmlformats.org/drawingml/2006/main">
              <a:ext uri="{FF2B5EF4-FFF2-40B4-BE49-F238E27FC236}">
                <a16:creationId xmlns:a16="http://schemas.microsoft.com/office/drawing/2014/main" id="{F44EB027-0133-4742-AB44-74315C6D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486150"/>
            <a:ext cx="1581150" cy="179070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1F40C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033B6D-4DC4-4F2C-AC6B-1FBC9F1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3829050"/>
            <a:ext cx="1123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C3425E-3582-4C28-AD40-57BFCFF9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46863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with citations</a:t>
            </a:r>
          </a:p>
        </p:txBody>
      </p:sp>
      <p:cxnSp>
        <p:nvCxnSpPr>
          <p:cNvPr id="66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4419600" y="4381500"/>
            <a:ext cx="127635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7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flipV="1">
            <a:off x="8077200" y="4362450"/>
            <a:ext cx="1276350" cy="19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68" name=""/>
          <p:cNvCxnSpPr>
            <a:stCxn xmlns:a="http://schemas.openxmlformats.org/drawingml/2006/main" id="20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11620500" y="4362450"/>
            <a:ext cx="1143000" cy="19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1F4FC3-E044-4265-8E8F-EE2D9AB9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67056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never receives the complete corpus in this path.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69BE8D-5637-4C44-BA10-BC32D4B1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4798E3-2D0B-4A76-A459-ED0F6CB6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0E8D6F-5A1A-486C-BC40-39EC6040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B4136D-1C95-40D3-92C8-AC6700B6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BOUNDARY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018A45-F04B-4240-9302-1370A4AB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2998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CF7EA2-B73D-4AD4-B06A-D59EB17C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NAIVE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CB195-B256-4DE2-93C3-FA161C81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baseline has five observable stages</a:t>
            </a:r>
          </a:p>
        </p:txBody>
      </p:sp>
      <p:sp>
        <p:nvSpPr>
          <p:cNvPr id="3" name="stage-1">
            <a:extLst xmlns:a="http://schemas.openxmlformats.org/drawingml/2006/main">
              <a:ext uri="{FF2B5EF4-FFF2-40B4-BE49-F238E27FC236}">
                <a16:creationId xmlns:a16="http://schemas.microsoft.com/office/drawing/2014/main" id="{256FFEF6-6758-41CA-A2F4-E56F3BD7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A6E59-C5C7-4BFA-A602-FAA32AEE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D27B7-F096-4B16-8D53-4996D5FF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Prepared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passages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02D83-665A-4C57-A6DA-85F3B37D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7" name="stage-2">
            <a:extLst xmlns:a="http://schemas.openxmlformats.org/drawingml/2006/main">
              <a:ext uri="{FF2B5EF4-FFF2-40B4-BE49-F238E27FC236}">
                <a16:creationId xmlns:a16="http://schemas.microsoft.com/office/drawing/2014/main" id="{C7AF3DB8-0961-4291-9188-8655B83E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CA049-F433-4332-8C48-F3241783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5409E-B517-4EF9-BA08-3D1277FC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TF-IDF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index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995C1-1524-46AE-8449-20E7E3B6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REPRESENT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A6D7CD50-6E83-4150-92FF-C9C37AFA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A6C8D-7A5B-491A-8E56-762283B8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F2BC2D-EBF4-4DDC-82F9-0B9F6443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Cosine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ranking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E1236-3FB7-4BDB-B025-932DE45E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</a:t>
            </a:r>
          </a:p>
        </p:txBody>
      </p:sp>
      <p:sp>
        <p:nvSpPr>
          <p:cNvPr id="15" name="stage-4">
            <a:extLst xmlns:a="http://schemas.openxmlformats.org/drawingml/2006/main">
              <a:ext uri="{FF2B5EF4-FFF2-40B4-BE49-F238E27FC236}">
                <a16:creationId xmlns:a16="http://schemas.microsoft.com/office/drawing/2014/main" id="{6DA443AF-F58B-4FE7-BB9B-64BA7F10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22E62-67F1-422E-BD05-1947E589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A0678-95E7-417B-9A0B-4F1BDF58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Top-k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6A6BB-21EC-48ED-AB6E-33E741E1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SELECT</a:t>
            </a:r>
          </a:p>
        </p:txBody>
      </p:sp>
      <p:sp>
        <p:nvSpPr>
          <p:cNvPr id="19" name="stage-5">
            <a:extLst xmlns:a="http://schemas.openxmlformats.org/drawingml/2006/main">
              <a:ext uri="{FF2B5EF4-FFF2-40B4-BE49-F238E27FC236}">
                <a16:creationId xmlns:a16="http://schemas.microsoft.com/office/drawing/2014/main" id="{C785557B-F984-4202-BA94-42E2D978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B94101-EDFB-4791-8629-922B97FE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69AB67-9813-456C-BA23-475D78D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Grounded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9F2E59-8F15-482D-8778-F89C50BE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GENERATE</a:t>
            </a:r>
          </a:p>
        </p:txBody>
      </p:sp>
      <p:cxnSp>
        <p:nvCxnSpPr>
          <p:cNvPr id="5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575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5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769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5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963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5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7157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D553F1-6719-4532-9826-BA1316A1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191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Only stage 05 requires an LLM. Stages 01–04 are deterministic application logic.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8B6A2-A436-4009-9DBC-3B6DBA9E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97D0D9-3496-4094-B4FA-C00F06D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43C049-7F39-45C8-8D75-46CC41FB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EB295E-1397-4472-AF49-FB476A31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C7DC5B-6E2E-4A34-9CB9-5B080D34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233247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3389EE3-4155-4B6C-B75C-92690373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LEXICAL REPRESENTATION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1CAE9-7E82-40E3-9732-DC7D0E08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TF-IDF overlap becomes a cosine-similarity ranking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92782-12E9-4FD4-9DA4-04086C67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24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TEACHING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54FC3D-B07A-44D7-AFDC-B37C14EA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E4123-D61B-41BB-A5C9-CABD5FF4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391D2-8D09-4CAE-AE07-17BEFFD3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center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F33C9-D54F-409F-B469-5B045433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gaming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4F30A-8484-4D92-B042-5F0C8FC9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management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EFFAF-E14A-43A2-9F88-BD3781CB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9560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CB1F1-07A3-466C-9E5E-F32E976D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D72BB-BA2D-4D42-8779-0A676EB9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B4193-7F82-4F9F-BCC4-D1689164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89B20-12DB-4367-A1D2-0ACDE177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952D1-FA72-4AE0-B21A-B559968A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AD0A5-8039-4800-8B8D-233DAFE3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6232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3D941-2779-4CF3-9BBA-8D8348B7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19301-9BBC-4223-AFCC-9AD61730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6A70D4-1D72-4AD4-BB53-19506644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096A31-0D90-4F34-9CDD-BC380BA3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39095E-DA78-4615-B9B2-49D76F54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4A132-2BD7-4FD8-A47B-05139659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D3F6CC-80E0-40EF-AD1F-27E0F776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CF300E-F8E4-4AFC-9C70-2373EBC7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E75B5F-9B1E-43AF-B23A-1BA1CDBF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7C5AD5-B163-4041-9101-84FBFB75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BD8584-A757-42B9-8A4F-FBAC333A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623555-0E31-4E9B-AF07-AF4B57F4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9577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F4ABA7-1148-4D4D-A95B-A429355D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0A6DBC-11E9-4390-AECF-8CCEC051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F7C67B-FD48-41DB-A646-95653C7D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934396-FBE2-4F29-BE69-E35C25E0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59EFA7-AF06-4FE3-9E92-D1CEF667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1FFBF2-59DA-4FE0-A05F-D04A67EA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61064A-6D97-4EE0-AB11-21661227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D82C33-407D-48BD-83F5-6E42F423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819154-CDF5-4461-8C8D-FFB465B2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465DBE-0ACA-45EA-B2BC-D5EFBA13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D4F66A-8DFB-4D81-A487-DBC76AF7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5B5776-640F-4EDC-A797-88114554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2922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33CE50-79EA-49D4-84A0-CCCD8B4F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599743-3543-497F-94D1-D4A1702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629E4DA-2B50-4A59-B992-C79E2D27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BE5919-A98C-4BA3-8B50-AE257E9D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1B8AAF-8830-4627-8AC1-A69E5F88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EAEC95-FBCD-47E8-9B42-B1FFD062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9595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QUERY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0F8561B-F03A-4BC2-ADB5-BF9462C4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CFF75D-911B-45DE-A844-6B0C9A9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684AFD-CEA3-439C-AF9F-B0377174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696013-B6EA-47BA-B246-8E0144A5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3DB212-0934-4D7A-8663-6FA1C01B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E8244-B52D-429F-916B-7785164C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48325"/>
            <a:ext cx="600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3FA6F2-5856-43FE-9B56-770DE1F7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COSINE RANK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4191EE-2185-4E8E-A18C-C10197D9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956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CFD86C-25BF-4301-9F46-477B0BE0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622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4B34A8F-D8CD-49A6-9E16-15D749EC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62275"/>
            <a:ext cx="341185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783C1D-0EA1-4703-AF81-3CCB296F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28956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0.398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416078-8928-4D1F-9701-E1181BDE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480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D666B59-3ED1-4024-B24D-A44A8C4D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147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C973836-43DC-4312-89F4-EE86BADE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14725"/>
            <a:ext cx="331755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C7CC484-4650-468F-A726-CB0247A4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34480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0.387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7CAF2C-9A8F-43C3-BB93-4D2AE2A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C0FBBF-A9FF-4FEB-87C6-022A4C33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671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2C3182A-5C24-45CE-A982-A3303B3C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67175"/>
            <a:ext cx="201453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838D7C2-1536-4D9C-BC6F-D5664F07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40005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0.235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EE00BE6-7DEA-4139-B4D0-BA1F88D9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529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B9E0A9-C442-4BE9-BB60-12C8186E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6196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D5E0F98-F8EC-446B-BF4E-49082869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619625"/>
            <a:ext cx="17659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033D63D-CF20-4371-A599-329B47C5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45529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0.206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1588E94-AD87-448F-AABD-C68E235D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1054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1FA7C15-F49F-4626-803F-01274FCC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720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7B5629B-D007-4C5D-A49E-51C085F0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72075"/>
            <a:ext cx="106299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B2868EB-AB1F-4336-8BBE-29AC5206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1054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0.124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F977C9-0D5D-41FF-8C07-C112D8D4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6578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9D4E694-C7C8-4913-8973-8186627B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7245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DB79D1B-AAB9-473E-9623-881B7574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724525"/>
            <a:ext cx="54864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1B0241B-8CC5-40B4-86F2-C46168B0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6578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0.064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2B800E6-90ED-4998-849D-6D133344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top-k = 2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2C430B3-83CD-4FAD-9227-9988B36C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918F79C-42E9-484F-9A88-334DF9AE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3ECFDE-FF1E-4EC0-8408-DBD08206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99091F2-E290-4C60-820B-AB7C2FF4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REPRESENTATION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44AB3C2-4687-471A-948C-D0B8B443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406049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E8FC8F-0C64-4E71-828A-7884FA51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 ASSEMBLY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53840-5F70-48EE-9A0D-BA55668F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Top-k is a trade-off between evidence coverage and noise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48062-16EE-4764-A5C0-81E7E688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RANKED CORPUS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A189B-F2F0-46C5-A2E7-FA8D2FB8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710CF-0056-4541-81D6-F1ACCB1D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F9EE9-049E-44CA-B5CD-B39E217E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956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517AE-B622-4370-841C-B0AEB857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147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5DA59-527C-4754-83E0-431A764E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D6A12-F7E6-436B-BADB-BBC16413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480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BDD1CB-8EFB-4F0A-AC88-675850FE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480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0.387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D2052E-0873-4B37-9742-AF0D0EB4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CEB02E-4745-43DA-B937-F0CC0FF1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7E3ED-505F-4C8D-A559-2FC15641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005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C16EE-87F7-4812-BE11-F81D3610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005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B12986-C1BB-4AE0-8897-B3C13D05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96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71885E-93FB-4058-955D-5EF29C14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97D8F7-7912-43D7-9AD4-6E251072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529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D3975-A9FB-413C-B3C3-D310983A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529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8C518B-BDC5-47F4-9971-CFBE2107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EA581C-AF5B-4555-A61E-6E4C5DE7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054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056DC-DFE2-4688-81CE-FEE062AC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1054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4D165-EEE9-48EB-9502-6B3A7295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1054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0.124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C19710-29B3-49C1-946D-3C82BF22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83D257-B9EA-4901-8473-F648662F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578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8B1984-1909-41CC-94D4-DA3041D0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6578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DACE12-ABDD-4744-A1CC-EDA14D52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6578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0.064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EC1051-DB78-4978-87B9-D6CA6D7C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0769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AA7535-C840-4127-A41A-AE9946E4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43350"/>
            <a:ext cx="331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1DFC5A-C538-46CF-B2ED-12FA756A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81425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TOP-K = 2</a:t>
            </a:r>
          </a:p>
        </p:txBody>
      </p:sp>
      <p:sp>
        <p:nvSpPr>
          <p:cNvPr id="30" name="assembled-prompt">
            <a:extLst xmlns:a="http://schemas.openxmlformats.org/drawingml/2006/main">
              <a:ext uri="{FF2B5EF4-FFF2-40B4-BE49-F238E27FC236}">
                <a16:creationId xmlns:a16="http://schemas.microsoft.com/office/drawing/2014/main" id="{A2A50EF2-4598-49B1-B65B-10E75CE6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7277100" cy="3562350"/>
          </a:xfrm>
          <a:prstGeom xmlns:a="http://schemas.openxmlformats.org/drawingml/2006/main" prst="roundRect">
            <a:avLst>
              <a:gd name="adj" fmla="val 3209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0A021B-A641-4F54-B69A-D542EDD2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90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MODEL INPUT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DF2670-1B7C-4E4F-A00C-6665E10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95700"/>
            <a:ext cx="160020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F5803-DE4D-4635-A799-E3DB9CE7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81425"/>
            <a:ext cx="1409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Instructions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19DE5E-5814-4C46-BE37-DEB5ADDD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0002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1F40C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DB9E09-8A29-44B5-8D76-497D188E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81425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NVDA-F1 · total revenue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59F87C-3C9D-470B-9C0F-897C6E8A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95700"/>
            <a:ext cx="20764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2F3D35-0528-4EB5-8FBB-8AB47BF6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81425"/>
            <a:ext cx="1885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NVDA-F2 · Data Center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743B51-7EB0-45F8-894F-6F966D53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3695700"/>
            <a:ext cx="11239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928198-65FF-4E9A-96A2-9D8D6FEC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0650" y="3781425"/>
            <a:ext cx="933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10734C-F244-4B76-8B75-3BB6811B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638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Company · period · section · source URL · stable passage 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7AA135-256D-4BDF-B8EE-924D2F9E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62600"/>
            <a:ext cx="638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Only selected evidence consumes the generation context.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8D3EC-F081-41C0-A3C1-56ADA1A9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68199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k=1 misses total context · k=4 admits extra cross-company evidence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1A283A-281A-4FC4-91CB-3D314747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1B5548-0019-456A-9D38-F9990FDE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700EAF-8EC0-4AF6-AE0E-6E72803B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C938AD-74C3-4AB8-BC11-CC71FB5E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SELECTION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427DF2-F296-4A70-886B-47113575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36384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70E94-0D05-4A89-A3D0-FF51C0CF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C2E0B-F26C-4DAE-8979-A960B441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 and generation can fail independently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89D37-2C06-4379-995B-E34E5E73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985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EEAC2-7FC9-4CCB-B8CF-C877B843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3FE38-451A-4340-9BE5-B242713A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813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19500-37AE-448A-A755-6281CC10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528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Did the expected passages enter the prompt?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B1B01-164C-4DCC-8899-93B6A8E6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4114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Recall = 100%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NVDA-F1 + NVDA-F2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A750E-0856-4EF2-8E64-A798D41C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003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A09F7-A345-4D6A-80D0-738294D8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GROUNDING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701BD-BBDE-4D10-889D-EF03AF92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528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Did the answer use and cite retrieved evidence?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0E4FA-9E0B-486D-900E-4E90CC1D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95750"/>
            <a:ext cx="4686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5 / 5 visible checks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metrics · citations · limitation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59941-A9CB-4435-A7AC-DA1EE9B6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10250"/>
            <a:ext cx="10477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511FB-26BD-4184-8FA1-91AE175A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98170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034F68-4986-48AE-B7A5-12CE4925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286500"/>
            <a:ext cx="988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intent, zero lexical overlap → NVDA-F2 loses top-1 before any model call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DC62F5-084F-4562-B33C-49367D15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F3F72B-1997-4812-9E44-ED9DFEAD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C2704C-F1B9-4CBB-A365-73DD4D42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81549-9DC0-413A-9FDD-93CC68CB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VERIFICATION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2FBF07-296E-4F76-868F-E592B855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693698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BA638A-B023-4BF2-A056-FFB46E5B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LEARNING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6082D-5F6B-44CE-BFA3-52DF64E5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6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This baseline works; the next lessons improve every naive assumption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F8D90-766A-401D-8315-700D1EEE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NAIVE RAG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324B0-0732-4DBB-90EB-4582F8B3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574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MEASURED UPGRADE</a:t>
            </a:r>
          </a:p>
        </p:txBody>
      </p:sp>
      <p:sp>
        <p:nvSpPr>
          <p:cNvPr id="5" name="baseline-0">
            <a:extLst xmlns:a="http://schemas.openxmlformats.org/drawingml/2006/main">
              <a:ext uri="{FF2B5EF4-FFF2-40B4-BE49-F238E27FC236}">
                <a16:creationId xmlns:a16="http://schemas.microsoft.com/office/drawing/2014/main" id="{895F5137-84FF-4C90-B0FC-E268B978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6" name="upgrade-0">
            <a:extLst xmlns:a="http://schemas.openxmlformats.org/drawingml/2006/main">
              <a:ext uri="{FF2B5EF4-FFF2-40B4-BE49-F238E27FC236}">
                <a16:creationId xmlns:a16="http://schemas.microsoft.com/office/drawing/2014/main" id="{EC401402-7804-4B6E-AA08-15B2D736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289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3ACAB-8B60-48AF-AD8F-0A08D52B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242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Prepared passages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34791-42C6-47AB-B32C-A0C8CB2D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242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Parsing + document structure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339A0-7576-4398-BA6B-D67D8802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31242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05</a:t>
            </a:r>
          </a:p>
        </p:txBody>
      </p:sp>
      <p:cxnSp>
        <p:nvCxnSpPr>
          <p:cNvPr id="4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43450" y="33528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1" name="baseline-1">
            <a:extLst xmlns:a="http://schemas.openxmlformats.org/drawingml/2006/main">
              <a:ext uri="{FF2B5EF4-FFF2-40B4-BE49-F238E27FC236}">
                <a16:creationId xmlns:a16="http://schemas.microsoft.com/office/drawing/2014/main" id="{FF886E1F-3898-4E08-8418-C80F953A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195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12" name="upgrade-1">
            <a:extLst xmlns:a="http://schemas.openxmlformats.org/drawingml/2006/main">
              <a:ext uri="{FF2B5EF4-FFF2-40B4-BE49-F238E27FC236}">
                <a16:creationId xmlns:a16="http://schemas.microsoft.com/office/drawing/2014/main" id="{ADBC21E3-9B21-4893-9500-82AD73D2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195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3FD38-F2A7-4C07-A988-14027B32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Naive boundaries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673EB9-2816-4CAA-81C9-173A86F9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148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Chunking strategies +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F06B1-B55F-4E2B-81F4-9AAD0996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41148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05</a:t>
            </a:r>
          </a:p>
        </p:txBody>
      </p:sp>
      <p:cxnSp>
        <p:nvCxnSpPr>
          <p:cNvPr id="5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743450" y="43434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7" name="baseline-2">
            <a:extLst xmlns:a="http://schemas.openxmlformats.org/drawingml/2006/main">
              <a:ext uri="{FF2B5EF4-FFF2-40B4-BE49-F238E27FC236}">
                <a16:creationId xmlns:a16="http://schemas.microsoft.com/office/drawing/2014/main" id="{85362029-8430-4FAE-9E34-54FE5D06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01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18" name="upgrade-2">
            <a:extLst xmlns:a="http://schemas.openxmlformats.org/drawingml/2006/main">
              <a:ext uri="{FF2B5EF4-FFF2-40B4-BE49-F238E27FC236}">
                <a16:creationId xmlns:a16="http://schemas.microsoft.com/office/drawing/2014/main" id="{1662781E-A5EE-4A3D-B555-4488AE39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0101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E51189-1AA4-4AE6-BBCD-30617907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Lexical TF-IDF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8F1E49-4DFF-4C59-BA1E-73DF3D30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054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Embeddings + hybrid retrieval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EEDA3A-263E-4D4D-8F38-B32768AD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51054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06</a:t>
            </a:r>
          </a:p>
        </p:txBody>
      </p:sp>
      <p:cxnSp>
        <p:nvCxnSpPr>
          <p:cNvPr id="56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4743450" y="53340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23" name="baseline-3">
            <a:extLst xmlns:a="http://schemas.openxmlformats.org/drawingml/2006/main">
              <a:ext uri="{FF2B5EF4-FFF2-40B4-BE49-F238E27FC236}">
                <a16:creationId xmlns:a16="http://schemas.microsoft.com/office/drawing/2014/main" id="{C2B9D0AA-CB2B-457E-824C-B0D9010F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007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4" name="upgrade-3">
            <a:extLst xmlns:a="http://schemas.openxmlformats.org/drawingml/2006/main">
              <a:ext uri="{FF2B5EF4-FFF2-40B4-BE49-F238E27FC236}">
                <a16:creationId xmlns:a16="http://schemas.microsoft.com/office/drawing/2014/main" id="{09A13213-E15B-4285-8E7E-25162392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0007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BB5BB3-021D-4EDB-9006-82FF0217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0960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Simple top-k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1A16E0-414D-4D5A-83D2-16AB9129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0960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Filtering + reranking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672AE-E0C8-42B5-9574-9A5B37DA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60960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06</a:t>
            </a:r>
          </a:p>
        </p:txBody>
      </p: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4743450" y="63246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D344CF-2838-4D77-B556-8BE61F32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181850"/>
            <a:ext cx="1158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 question: who created the passages, and what financial structure was lost?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93E902-753B-4BDF-90B6-C4200D82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E5C7E-9B67-4886-97A2-606078E5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AA2C3B-1E5B-4407-99C5-1FC9CCCB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1533B1-3267-4BE8-92CA-5FD9F71E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ROADMAP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8CC1D8-7EF0-44CE-80F8-C9E82632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999002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2026-08-15T09:32:36.1540000Z</dcterms:created>
  <dcterms:modified xsi:type="dcterms:W3CDTF">2026-08-15T09:32:36.1540000Z</dcterms:modified>
</coreProperties>
</file>