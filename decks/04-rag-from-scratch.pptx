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d950f5f4e54bb0" /><Relationship Type="http://schemas.openxmlformats.org/officeDocument/2006/relationships/extended-properties" Target="/docProps/app.xml" Id="Ra07305420d2d408c" /><Relationship Type="http://schemas.openxmlformats.org/officeDocument/2006/relationships/officeDocument" Target="/ppt/presentation.xml" Id="R35efab398b7f4784" /></Relationships>
</file>

<file path=ppt/presentation.xml><?xml version="1.0" encoding="utf-8"?>
<p:presentation xmlns:p="http://schemas.openxmlformats.org/presentationml/2006/main">
  <p:sldMasterIdLst>
    <p:sldMasterId xmlns:r="http://schemas.openxmlformats.org/officeDocument/2006/relationships" id="2147483648" r:id="R06c9d592268c43f6"/>
  </p:sldMasterIdLst>
  <p:notesMasterIdLst>
    <p:notesMasterId xmlns:r="http://schemas.openxmlformats.org/officeDocument/2006/relationships" r:id="R484cdd2ec9524589"/>
  </p:notesMasterIdLst>
  <p:sldIdLst>
    <p:sldId xmlns:r="http://schemas.openxmlformats.org/officeDocument/2006/relationships" id="256" r:id="Re1d108df42234114"/>
    <p:sldId xmlns:r="http://schemas.openxmlformats.org/officeDocument/2006/relationships" id="257" r:id="R3bb3772465114f3d"/>
    <p:sldId xmlns:r="http://schemas.openxmlformats.org/officeDocument/2006/relationships" id="258" r:id="R09de5f52f05d49d7"/>
    <p:sldId xmlns:r="http://schemas.openxmlformats.org/officeDocument/2006/relationships" id="259" r:id="R0c56462a82964065"/>
    <p:sldId xmlns:r="http://schemas.openxmlformats.org/officeDocument/2006/relationships" id="260" r:id="R7ccdfa78a7424bfb"/>
    <p:sldId xmlns:r="http://schemas.openxmlformats.org/officeDocument/2006/relationships" id="261" r:id="Rb1a79e26f43c43ed"/>
    <p:sldId xmlns:r="http://schemas.openxmlformats.org/officeDocument/2006/relationships" id="262" r:id="R4cee8d42e61f4a00"/>
    <p:sldId xmlns:r="http://schemas.openxmlformats.org/officeDocument/2006/relationships" id="263" r:id="R87a1af2f2f8641cf"/>
    <p:sldId xmlns:r="http://schemas.openxmlformats.org/officeDocument/2006/relationships" id="264" r:id="Rdeac813d90e64da1"/>
    <p:sldId xmlns:r="http://schemas.openxmlformats.org/officeDocument/2006/relationships" id="265" r:id="R57b007e3de24493a"/>
    <p:sldId xmlns:r="http://schemas.openxmlformats.org/officeDocument/2006/relationships" id="266" r:id="R60ba80ff17d14a28"/>
    <p:sldId xmlns:r="http://schemas.openxmlformats.org/officeDocument/2006/relationships" id="267" r:id="R7a6ff53333674388"/>
    <p:sldId xmlns:r="http://schemas.openxmlformats.org/officeDocument/2006/relationships" id="268" r:id="R6ef638bcd8dd4b8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e586278d6b44a0" /><Relationship Type="http://schemas.openxmlformats.org/officeDocument/2006/relationships/slideMaster" Target="/ppt/slideMasters/slideMaster1.xml" Id="R06c9d592268c43f6" /><Relationship Type="http://schemas.openxmlformats.org/officeDocument/2006/relationships/notesMaster" Target="/ppt/notesMasters/notesMaster1.xml" Id="R484cdd2ec9524589" /><Relationship Type="http://schemas.openxmlformats.org/officeDocument/2006/relationships/presProps" Target="/ppt/presProps.xml" Id="R3d20f5be39764c07" /><Relationship Type="http://schemas.openxmlformats.org/officeDocument/2006/relationships/tableStyles" Target="/ppt/tableStyles.xml" Id="Rf8e760afaec343e3" /><Relationship Type="http://schemas.openxmlformats.org/officeDocument/2006/relationships/slide" Target="/ppt/slides/slide1.xml" Id="Re1d108df42234114" /><Relationship Type="http://schemas.openxmlformats.org/officeDocument/2006/relationships/slide" Target="/ppt/slides/slide2.xml" Id="R3bb3772465114f3d" /><Relationship Type="http://schemas.openxmlformats.org/officeDocument/2006/relationships/slide" Target="/ppt/slides/slide3.xml" Id="R09de5f52f05d49d7" /><Relationship Type="http://schemas.openxmlformats.org/officeDocument/2006/relationships/slide" Target="/ppt/slides/slide4.xml" Id="R0c56462a82964065" /><Relationship Type="http://schemas.openxmlformats.org/officeDocument/2006/relationships/slide" Target="/ppt/slides/slide5.xml" Id="R7ccdfa78a7424bfb" /><Relationship Type="http://schemas.openxmlformats.org/officeDocument/2006/relationships/slide" Target="/ppt/slides/slide6.xml" Id="Rb1a79e26f43c43ed" /><Relationship Type="http://schemas.openxmlformats.org/officeDocument/2006/relationships/slide" Target="/ppt/slides/slide7.xml" Id="R4cee8d42e61f4a00" /><Relationship Type="http://schemas.openxmlformats.org/officeDocument/2006/relationships/slide" Target="/ppt/slides/slide8.xml" Id="R87a1af2f2f8641cf" /><Relationship Type="http://schemas.openxmlformats.org/officeDocument/2006/relationships/slide" Target="/ppt/slides/slide9.xml" Id="Rdeac813d90e64da1" /><Relationship Type="http://schemas.openxmlformats.org/officeDocument/2006/relationships/slide" Target="/ppt/slides/slide10.xml" Id="R57b007e3de24493a" /><Relationship Type="http://schemas.openxmlformats.org/officeDocument/2006/relationships/slide" Target="/ppt/slides/slide11.xml" Id="R60ba80ff17d14a28" /><Relationship Type="http://schemas.openxmlformats.org/officeDocument/2006/relationships/slide" Target="/ppt/slides/slide12.xml" Id="R7a6ff53333674388" /><Relationship Type="http://schemas.openxmlformats.org/officeDocument/2006/relationships/slide" Target="/ppt/slides/slide13.xml" Id="R6ef638bcd8dd4b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1a6b78b7c644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8e5943cf284c7b" /><Relationship Type="http://schemas.openxmlformats.org/officeDocument/2006/relationships/notesMaster" Target="/ppt/notesMasters/notesMaster1.xml" Id="Rc35ee7deb70346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aa50e56952409d" /><Relationship Type="http://schemas.openxmlformats.org/officeDocument/2006/relationships/notesMaster" Target="/ppt/notesMasters/notesMaster1.xml" Id="Rb346b2edb7a144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5d1ad70bbf4979" /><Relationship Type="http://schemas.openxmlformats.org/officeDocument/2006/relationships/notesMaster" Target="/ppt/notesMasters/notesMaster1.xml" Id="Rc494904373ea4f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09291ae79648d0" /><Relationship Type="http://schemas.openxmlformats.org/officeDocument/2006/relationships/notesMaster" Target="/ppt/notesMasters/notesMaster1.xml" Id="Re5a7652ae95344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8286bbd8f94250" /><Relationship Type="http://schemas.openxmlformats.org/officeDocument/2006/relationships/notesMaster" Target="/ppt/notesMasters/notesMaster1.xml" Id="Rb0ee26060ccd40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dfcd3d0f07458e" /><Relationship Type="http://schemas.openxmlformats.org/officeDocument/2006/relationships/notesMaster" Target="/ppt/notesMasters/notesMaster1.xml" Id="R2a201a60a3244f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008eff5dab4895" /><Relationship Type="http://schemas.openxmlformats.org/officeDocument/2006/relationships/notesMaster" Target="/ppt/notesMasters/notesMaster1.xml" Id="R3d051287b56d45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2511d02ea24e03" /><Relationship Type="http://schemas.openxmlformats.org/officeDocument/2006/relationships/notesMaster" Target="/ppt/notesMasters/notesMaster1.xml" Id="Rd107c0a17a8542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f20b945d124a94" /><Relationship Type="http://schemas.openxmlformats.org/officeDocument/2006/relationships/notesMaster" Target="/ppt/notesMasters/notesMaster1.xml" Id="Rcb75e954b8314d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fb9b2157f3f425a" /><Relationship Type="http://schemas.openxmlformats.org/officeDocument/2006/relationships/notesMaster" Target="/ppt/notesMasters/notesMaster1.xml" Id="R51909dd9022c49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51bce0f7994d4a" /><Relationship Type="http://schemas.openxmlformats.org/officeDocument/2006/relationships/notesMaster" Target="/ppt/notesMasters/notesMaster1.xml" Id="R68e4a93fe08640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cf848b4e574b63" /><Relationship Type="http://schemas.openxmlformats.org/officeDocument/2006/relationships/notesMaster" Target="/ppt/notesMasters/notesMaster1.xml" Id="Rb3ccb7668ac34d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e2fc1032b8e4d16" /><Relationship Type="http://schemas.openxmlformats.org/officeDocument/2006/relationships/notesMaster" Target="/ppt/notesMasters/notesMaster1.xml" Id="Rcadf2aabcd3440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problem: one answer needs a few passages, not an entire filing. RAG is the application decision that selects evidence before generation.</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 https://arxiv.org/abs/2005.11401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filing becomes roughly 90,105 estimated text tokens after naive flattening. The 250-token answer bar is an illustrative teaching budget, not a provider limit. The point is that evidence selection and model capacity answer different questions.</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Lewis et al. introduced RAG as a combination of a parametric generator and a non-parametric document memory accessed through retrieval. The course baseline uses TF-IDF rather than their trained dense retriever, but the evidence-before-generation boundary is the same.</a:t>
            </a:r>
          </a:p>
          <a:p xmlns:a="http://schemas.openxmlformats.org/drawingml/2006/main">
            <a:r>
              <a:t/>
            </a:r>
          </a:p>
          <a:p xmlns:a="http://schemas.openxmlformats.org/drawingml/2006/main">
            <a:r>
              <a:t>[Sources]</a:t>
            </a:r>
          </a:p>
          <a:p xmlns:a="http://schemas.openxmlformats.org/drawingml/2006/main">
            <a:r>
              <a:t>- https://arxiv.org/abs/2005.11401</a:t>
            </a:r>
          </a:p>
          <a:p xmlns:a="http://schemas.openxmlformats.org/drawingml/2006/main">
            <a:r>
              <a:t>- https://arxiv.org/pdf/2005.11401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standard enterprise RAG system has two distinct moments. First, internal documents and business data are indexed. At question time, the application retrieves a small set of relevant evidence and supplies it to the model as grounding context. The model is not retrained on every document update.</a:t>
            </a:r>
          </a:p>
          <a:p xmlns:a="http://schemas.openxmlformats.org/drawingml/2006/main">
            <a:r>
              <a:t/>
            </a:r>
          </a:p>
          <a:p xmlns:a="http://schemas.openxmlformats.org/drawingml/2006/main">
            <a:r>
              <a:t>This pattern is widely used because knowledge can stay current independently of the model; retrieved passages can carry citations; and retrieval can apply identity and permission filters. Those controls are design responsibilities, not automatic guarantees.</a:t>
            </a:r>
          </a:p>
          <a:p xmlns:a="http://schemas.openxmlformats.org/drawingml/2006/main">
            <a:r>
              <a:t/>
            </a:r>
          </a:p>
          <a:p xmlns:a="http://schemas.openxmlformats.org/drawingml/2006/main">
            <a:r>
              <a:t>[Sources]</a:t>
            </a:r>
          </a:p>
          <a:p xmlns:a="http://schemas.openxmlformats.org/drawingml/2006/main">
            <a:r>
              <a:t>- https://learn.microsoft.com/en-us/azure/architecture/ai-ml/guide/secure-multitenant-rag</a:t>
            </a:r>
          </a:p>
          <a:p xmlns:a="http://schemas.openxmlformats.org/drawingml/2006/main">
            <a:r>
              <a:t>- https://docs.aws.amazon.com/prescriptive-guidance/latest/retrieval-augmented-generation-options/what-is-rag.html</a:t>
            </a:r>
          </a:p>
          <a:p xmlns:a="http://schemas.openxmlformats.org/drawingml/2006/main">
            <a:r>
              <a:t>- https://docs.aws.amazon.com/prescriptive-guidance/latest/agentic-ai-serverless/grounding-and-rag.html</a:t>
            </a:r>
          </a:p>
          <a:p xmlns:a="http://schemas.openxmlformats.org/drawingml/2006/main">
            <a:r>
              <a:t>- https://arxiv.org/abs/2005.11401</a:t>
            </a:r>
          </a:p>
          <a:p xmlns:a="http://schemas.openxmlformats.org/drawingml/2006/main">
            <a:r>
              <a:t>- Visual generated with the built-in OpenAI image generation tool; no brands, logos, or real evidence depicted.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Revenue by End Market table reports fiscal 2026 Data Center revenue of $193,737 million and total revenue of $215,938 million. This is the exact source the notebook parses; it is not a manually written fact card.</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 https://www.sec.gov/Archives/edgar/data/1045810/000104581026000021/0001045810-26-000021-index.htm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filing contains 64 HTML tables and no semantic h1-h6 heading elements. The lesson's naive parser removes markup and collapses visible text. It keeps lexical evidence but discards explicit table and hierarchy boundaries.</a:t>
            </a:r>
          </a:p>
          <a:p xmlns:a="http://schemas.openxmlformats.org/drawingml/2006/main">
            <a:r>
              <a:t/>
            </a:r>
          </a:p>
          <a:p xmlns:a="http://schemas.openxmlformats.org/drawingml/2006/main">
            <a:r>
              <a:t>[Sources]</a:t>
            </a:r>
          </a:p>
          <a:p xmlns:a="http://schemas.openxmlformats.org/drawingml/2006/main">
            <a:r>
              <a:t>- https://www.sec.gov/Archives/edgar/data/1045810/000104581026000021/nvda-20260125.htm</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deterministic policy uses 1,600-character windows with 200-character overlap and produces 258 candidates from the flattened filing. Overlap reduces abrupt boundary loss but does not create document understanding.</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maintained growth question, the deterministic TF-IDF ranking selects NVDA-C152 and NVDA-C160. Cosine similarity is a ranking signal, not probability or calibrated confidence. Top-k is an application boundary.</a:t>
            </a:r>
          </a:p>
          <a:p xmlns:a="http://schemas.openxmlformats.org/drawingml/2006/main">
            <a:r>
              <a:t/>
            </a:r>
          </a:p>
          <a:p xmlns:a="http://schemas.openxmlformats.org/drawingml/2006/main">
            <a:r>
              <a:t>[Sources]</a:t>
            </a:r>
          </a:p>
          <a:p xmlns:a="http://schemas.openxmlformats.org/drawingml/2006/main">
            <a:r>
              <a:t>- https://scikit-learn.org/stable/modules/generated/sklearn.feature_extraction.text.TfidfVectorizer.html</a:t>
            </a:r>
          </a:p>
          <a:p xmlns:a="http://schemas.openxmlformats.org/drawingml/2006/main">
            <a:r>
              <a:t>- https://scikit-learn.org/stable/modules/generated/sklearn.metrics.pairwise.cosine_similarity.html</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is an application pipeline. The application transforms the query, ranks the corpus, applies top-k, assembles provenance-bearing evidence, and only then invokes the model. The live notebook run uses gpt-5.6-luna through the shared gateway.</a:t>
            </a:r>
          </a:p>
          <a:p xmlns:a="http://schemas.openxmlformats.org/drawingml/2006/main">
            <a:r>
              <a:t/>
            </a:r>
          </a:p>
          <a:p xmlns:a="http://schemas.openxmlformats.org/drawingml/2006/main">
            <a:r>
              <a:t>[Sources]</a:t>
            </a:r>
          </a:p>
          <a:p xmlns:a="http://schemas.openxmlformats.org/drawingml/2006/main">
            <a:r>
              <a:t>- https://arxiv.org/abs/2005.11401</a:t>
            </a:r>
          </a:p>
          <a:p xmlns:a="http://schemas.openxmlformats.org/drawingml/2006/main">
            <a:r>
              <a:t>- https://developers.openai.com/api/docs/models/gpt-5.6-luna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maintained precise-revenue question, the window containing $193,737 million ranks 21st under the fixed TF-IDF policy. Because top-k is two, the table is absent from the prompt. The earliest measured failure is retrieval, influenced by flattened parsing and naive chunk construction; changing the generator cannot restore unseen evidence.</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 https://www.sec.gov/Archives/edgar/data/1045810/000104581026000021/nvda-20260125.htm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Lesson 05 holds retrieval simple and improves the units created by parsing and chunking. Lesson 06 holds those evidence units stable and upgrades representation, filtering, fusion and reranking. Diagnose the stage before changing the stack.</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 chapters/05-document-and-chunking-lab.md</a:t>
            </a:r>
          </a:p>
          <a:p xmlns:a="http://schemas.openxmlformats.org/drawingml/2006/main">
            <a:r>
              <a:t>- chapters/06-hybrid-retrieval.md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quiz to verify the causal chain: the application selects evidence, naive parsing flattens financial structure, and a table below top-k is a retrieval failure before generation.</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diagnostic habit: inspect parsing, chunking and retrieval before blaming the model.</a:t>
            </a:r>
          </a:p>
          <a:p xmlns:a="http://schemas.openxmlformats.org/drawingml/2006/main">
            <a:r>
              <a:t/>
            </a:r>
          </a:p>
          <a:p xmlns:a="http://schemas.openxmlformats.org/drawingml/2006/main">
            <a:r>
              <a:t>[Sources]</a:t>
            </a:r>
          </a:p>
          <a:p xmlns:a="http://schemas.openxmlformats.org/drawingml/2006/main">
            <a:r>
              <a:t>- chapters/04-rag-from-scratch.md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d44721a3a643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6688e56fd14ba0" /><Relationship Type="http://schemas.openxmlformats.org/officeDocument/2006/relationships/slideLayout" Target="/ppt/slideLayouts/slideLayout1.xml" Id="Rcb6ad21c3b8642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6ad21c3b8642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3c9a5c9208498c" /><Relationship Type="http://schemas.openxmlformats.org/officeDocument/2006/relationships/notesSlide" Target="/ppt/notesSlides/notesSlide1.xml" Id="R91fbc8b3470a4c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8d32014a9b4078" /><Relationship Type="http://schemas.openxmlformats.org/officeDocument/2006/relationships/notesSlide" Target="/ppt/notesSlides/notesSlide2.xml" Id="R61650933540d42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5ff0a23b7864cbc" /><Relationship Type="http://schemas.openxmlformats.org/officeDocument/2006/relationships/image" Target="/ppt/media/image.png" Id="R00e4ac00c85243f6" /><Relationship Type="http://schemas.openxmlformats.org/officeDocument/2006/relationships/notesSlide" Target="/ppt/notesSlides/notesSlide3.xml" Id="R3962dd25797e44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84ba066b9140a1" /><Relationship Type="http://schemas.openxmlformats.org/officeDocument/2006/relationships/image" Target="/ppt/media/image2.png" Id="R605ea3438ec84faa" /><Relationship Type="http://schemas.openxmlformats.org/officeDocument/2006/relationships/notesSlide" Target="/ppt/notesSlides/notesSlide4.xml" Id="Rc45c85c74a4041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b4f2f8521fe428b" /><Relationship Type="http://schemas.openxmlformats.org/officeDocument/2006/relationships/image" Target="/ppt/media/image.jpeg" Id="Rad758c1cd8e64d93" /><Relationship Type="http://schemas.openxmlformats.org/officeDocument/2006/relationships/notesSlide" Target="/ppt/notesSlides/notesSlide5.xml" Id="R54583b2da4ef44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2fd2f7b1e184b23" /><Relationship Type="http://schemas.openxmlformats.org/officeDocument/2006/relationships/notesSlide" Target="/ppt/notesSlides/notesSlide6.xml" Id="R919f8d88cf2343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c63ac74f73b4de4" /><Relationship Type="http://schemas.openxmlformats.org/officeDocument/2006/relationships/notesSlide" Target="/ppt/notesSlides/notesSlide7.xml" Id="R337ee9d935f142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81a92b60ce48ae" /><Relationship Type="http://schemas.openxmlformats.org/officeDocument/2006/relationships/notesSlide" Target="/ppt/notesSlides/notesSlide8.xml" Id="Rf3264a85d3ab40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83143850cd84d27" /><Relationship Type="http://schemas.openxmlformats.org/officeDocument/2006/relationships/notesSlide" Target="/ppt/notesSlides/notesSlide9.xml" Id="Ra3e59ad95b354a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ad95c9ff8bb43e7" /><Relationship Type="http://schemas.openxmlformats.org/officeDocument/2006/relationships/notesSlide" Target="/ppt/notesSlides/notesSlide10.xml" Id="R7409dd0fe4734c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27b9ca8fe0048af" /><Relationship Type="http://schemas.openxmlformats.org/officeDocument/2006/relationships/notesSlide" Target="/ppt/notesSlides/notesSlide11.xml" Id="R3d95f9c3a6ac47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3da24d71a74296" /><Relationship Type="http://schemas.openxmlformats.org/officeDocument/2006/relationships/notesSlide" Target="/ppt/notesSlides/notesSlide12.xml" Id="R6474babe018144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2740a41bc06498c" /><Relationship Type="http://schemas.openxmlformats.org/officeDocument/2006/relationships/notesSlide" Target="/ppt/notesSlides/notesSlide13.xml" Id="R37cb001c8ffa4aec" /></Relationships>
</file>

<file path=ppt/slides/slide1.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70DB6A-E971-4614-803B-AE8F3E121CB1}"/>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2" name="">
            <a:extLst xmlns:a="http://schemas.openxmlformats.org/drawingml/2006/main">
              <a:ext uri="{FF2B5EF4-FFF2-40B4-BE49-F238E27FC236}">
                <a16:creationId xmlns:a16="http://schemas.microsoft.com/office/drawing/2014/main" id="{210EE95B-C324-413A-BA74-C1EEA52FBF33}"/>
              </a:ext>
            </a:extLst>
          </p:cNvPr>
          <p:cNvSpPr>
            <a:spLocks xmlns:a="http://schemas.openxmlformats.org/drawingml/2006/main" noGrp="1"/>
          </p:cNvSpPr>
          <p:nvPr/>
        </p:nvSpPr>
        <p:spPr>
          <a:xfrm xmlns:a="http://schemas.openxmlformats.org/drawingml/2006/main">
            <a:off x="971550" y="106680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75" b="1">
                <a:solidFill>
                  <a:srgbClr val="1F40CB"/>
                </a:solidFill>
                <a:latin typeface="Calibri"/>
                <a:ea typeface="Calibri"/>
                <a:cs typeface="Calibri"/>
              </a:defRPr>
            </a:pPr>
            <a:r>
              <a:rPr sz="1575"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01418454-19E5-44D8-810D-686826F2EC13}"/>
              </a:ext>
            </a:extLst>
          </p:cNvPr>
          <p:cNvSpPr>
            <a:spLocks xmlns:a="http://schemas.openxmlformats.org/drawingml/2006/main" noGrp="1"/>
          </p:cNvSpPr>
          <p:nvPr/>
        </p:nvSpPr>
        <p:spPr>
          <a:xfrm xmlns:a="http://schemas.openxmlformats.org/drawingml/2006/main">
            <a:off x="971550" y="2438400"/>
            <a:ext cx="1329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4800" b="1">
                <a:solidFill>
                  <a:srgbClr val="051C2A"/>
                </a:solidFill>
                <a:latin typeface="Calibri"/>
                <a:ea typeface="Calibri"/>
                <a:cs typeface="Calibri"/>
              </a:defRPr>
            </a:pPr>
            <a:r>
              <a:rPr sz="4800" b="1">
                <a:solidFill>
                  <a:srgbClr val="051C2A"/>
                </a:solidFill>
                <a:latin typeface="Calibri"/>
                <a:ea typeface="Calibri"/>
                <a:cs typeface="Calibri"/>
              </a:rPr>
              <a:t>How RAG Chooses Evidence</a:t>
            </a:r>
          </a:p>
        </p:txBody>
      </p:sp>
      <p:sp>
        <p:nvSpPr>
          <p:cNvPr id="4" name="">
            <a:extLst xmlns:a="http://schemas.openxmlformats.org/drawingml/2006/main">
              <a:ext uri="{FF2B5EF4-FFF2-40B4-BE49-F238E27FC236}">
                <a16:creationId xmlns:a16="http://schemas.microsoft.com/office/drawing/2014/main" id="{7D902B13-440D-4A59-9D11-3DBE46D45B12}"/>
              </a:ext>
            </a:extLst>
          </p:cNvPr>
          <p:cNvSpPr>
            <a:spLocks xmlns:a="http://schemas.openxmlformats.org/drawingml/2006/main" noGrp="1"/>
          </p:cNvSpPr>
          <p:nvPr/>
        </p:nvSpPr>
        <p:spPr>
          <a:xfrm xmlns:a="http://schemas.openxmlformats.org/drawingml/2006/main">
            <a:off x="971550" y="3600450"/>
            <a:ext cx="11239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400" b="0">
                <a:solidFill>
                  <a:srgbClr val="3F3F42"/>
                </a:solidFill>
                <a:latin typeface="Calibri"/>
                <a:ea typeface="Calibri"/>
                <a:cs typeface="Calibri"/>
              </a:defRPr>
            </a:pPr>
            <a:r>
              <a:rPr sz="2400" b="0">
                <a:solidFill>
                  <a:srgbClr val="3F3F42"/>
                </a:solidFill>
                <a:latin typeface="Calibri"/>
                <a:ea typeface="Calibri"/>
                <a:cs typeface="Calibri"/>
              </a:rPr>
              <a:t>Why retrieval exists—and how it can fail before generation</a:t>
            </a:r>
          </a:p>
        </p:txBody>
      </p:sp>
      <p:sp>
        <p:nvSpPr>
          <p:cNvPr id="5" name="">
            <a:extLst xmlns:a="http://schemas.openxmlformats.org/drawingml/2006/main">
              <a:ext uri="{FF2B5EF4-FFF2-40B4-BE49-F238E27FC236}">
                <a16:creationId xmlns:a16="http://schemas.microsoft.com/office/drawing/2014/main" id="{557E8F12-0F33-44B5-939E-A27B15B6D2DE}"/>
              </a:ext>
            </a:extLst>
          </p:cNvPr>
          <p:cNvSpPr>
            <a:spLocks xmlns:a="http://schemas.openxmlformats.org/drawingml/2006/main" noGrp="1"/>
          </p:cNvSpPr>
          <p:nvPr/>
        </p:nvSpPr>
        <p:spPr>
          <a:xfrm xmlns:a="http://schemas.openxmlformats.org/drawingml/2006/main">
            <a:off x="971550" y="64770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a:solidFill>
                  <a:srgbClr val="1F40CB"/>
                </a:solidFill>
                <a:latin typeface="Calibri"/>
                <a:ea typeface="Calibri"/>
                <a:cs typeface="Calibri"/>
              </a:defRPr>
            </a:pPr>
            <a:r>
              <a:rPr sz="1350" b="1">
                <a:solidFill>
                  <a:srgbClr val="1F40CB"/>
                </a:solidFill>
                <a:latin typeface="Calibri"/>
                <a:ea typeface="Calibri"/>
                <a:cs typeface="Calibri"/>
              </a:rPr>
              <a:t>SESSION 04  ·  11:30–12:00  ·  10 MIN CONCEPTS + 20 MIN NOTEBOOK</a:t>
            </a:r>
          </a:p>
        </p:txBody>
      </p:sp>
      <p:sp>
        <p:nvSpPr>
          <p:cNvPr id="6" name="">
            <a:extLst xmlns:a="http://schemas.openxmlformats.org/drawingml/2006/main">
              <a:ext uri="{FF2B5EF4-FFF2-40B4-BE49-F238E27FC236}">
                <a16:creationId xmlns:a16="http://schemas.microsoft.com/office/drawing/2014/main" id="{A778144A-C3F6-47D1-BCD1-8642B99299AA}"/>
              </a:ext>
            </a:extLst>
          </p:cNvPr>
          <p:cNvSpPr>
            <a:spLocks xmlns:a="http://schemas.openxmlformats.org/drawingml/2006/main" noGrp="1"/>
          </p:cNvSpPr>
          <p:nvPr/>
        </p:nvSpPr>
        <p:spPr>
          <a:xfrm xmlns:a="http://schemas.openxmlformats.org/drawingml/2006/main">
            <a:off x="971550" y="70675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0">
                <a:solidFill>
                  <a:srgbClr val="051C2A"/>
                </a:solidFill>
                <a:latin typeface="Calibri"/>
                <a:ea typeface="Calibri"/>
                <a:cs typeface="Calibri"/>
              </a:defRPr>
            </a:pPr>
            <a:r>
              <a:rPr sz="1725" b="0">
                <a:solidFill>
                  <a:srgbClr val="051C2A"/>
                </a:solidFill>
                <a:latin typeface="Calibri"/>
                <a:ea typeface="Calibri"/>
                <a:cs typeface="Calibri"/>
              </a:rPr>
              <a:t>First Finance - Arnaud Demes</a:t>
            </a:r>
          </a:p>
        </p:txBody>
      </p:sp>
    </p:spTree>
    <p:extLst>
      <p:ext uri="{BB962C8B-B14F-4D97-AF65-F5344CB8AC3E}">
        <p14:creationId xmlns:p14="http://schemas.microsoft.com/office/powerpoint/2010/main" val="1623650356"/>
      </p:ext>
    </p:extLst>
  </p:cSld>
</p:sld>
</file>

<file path=ppt/slides/slide2.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5DE8FC8F-0C64-4E71-828A-7884FA51194D}"/>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WHY RETRIEVAL</a:t>
            </a:r>
          </a:p>
        </p:txBody>
      </p:sp>
      <p:sp>
        <p:nvSpPr>
          <p:cNvPr id="2" name="">
            <a:extLst xmlns:a="http://schemas.openxmlformats.org/drawingml/2006/main">
              <a:ext uri="{FF2B5EF4-FFF2-40B4-BE49-F238E27FC236}">
                <a16:creationId xmlns:a16="http://schemas.microsoft.com/office/drawing/2014/main" id="{EC653840-5F70-48EE-9A0D-BA55668F6D90}"/>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One answer should not inherit an entire filing</a:t>
            </a:r>
          </a:p>
        </p:txBody>
      </p:sp>
      <p:sp>
        <p:nvSpPr>
          <p:cNvPr id="43" name="">
            <a:extLst xmlns:a="http://schemas.openxmlformats.org/drawingml/2006/main">
              <a:ext uri="{FF2B5EF4-FFF2-40B4-BE49-F238E27FC236}">
                <a16:creationId xmlns:a16="http://schemas.microsoft.com/office/drawing/2014/main" id="{D51A283A-281A-4FC4-91CB-3D3147476CD1}"/>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44" name="">
            <a:extLst xmlns:a="http://schemas.openxmlformats.org/drawingml/2006/main">
              <a:ext uri="{FF2B5EF4-FFF2-40B4-BE49-F238E27FC236}">
                <a16:creationId xmlns:a16="http://schemas.microsoft.com/office/drawing/2014/main" id="{6F1B5548-0019-456A-9D38-F9990FDE2754}"/>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45" name="">
            <a:extLst xmlns:a="http://schemas.openxmlformats.org/drawingml/2006/main">
              <a:ext uri="{FF2B5EF4-FFF2-40B4-BE49-F238E27FC236}">
                <a16:creationId xmlns:a16="http://schemas.microsoft.com/office/drawing/2014/main" id="{24700EAF-8EC0-4AF6-AE0E-6E72803BE99B}"/>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46" name="">
            <a:extLst xmlns:a="http://schemas.openxmlformats.org/drawingml/2006/main">
              <a:ext uri="{FF2B5EF4-FFF2-40B4-BE49-F238E27FC236}">
                <a16:creationId xmlns:a16="http://schemas.microsoft.com/office/drawing/2014/main" id="{7CC938AD-74C3-4AB8-BC11-CC71FB5E525C}"/>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WHY RAG</a:t>
            </a:r>
          </a:p>
        </p:txBody>
      </p:sp>
      <p:sp>
        <p:nvSpPr>
          <p:cNvPr id="47" name="">
            <a:extLst xmlns:a="http://schemas.openxmlformats.org/drawingml/2006/main">
              <a:ext uri="{FF2B5EF4-FFF2-40B4-BE49-F238E27FC236}">
                <a16:creationId xmlns:a16="http://schemas.microsoft.com/office/drawing/2014/main" id="{F8427DF2-F296-4A70-886B-4711357594F4}"/>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02</a:t>
            </a:r>
          </a:p>
        </p:txBody>
      </p:sp>
      <p:sp>
        <p:nvSpPr>
          <p:cNvPr id="49" name="filing-label">
            <a:extLst xmlns:a="http://schemas.openxmlformats.org/drawingml/2006/main">
              <a:ext uri="{FF2B5EF4-FFF2-40B4-BE49-F238E27FC236}">
                <a16:creationId xmlns:a16="http://schemas.microsoft.com/office/drawing/2014/main" id="{BD2E80F7-6844-425C-8F64-00944B2B96CB}"/>
              </a:ext>
            </a:extLst>
          </p:cNvPr>
          <p:cNvSpPr>
            <a:spLocks xmlns:a="http://schemas.openxmlformats.org/drawingml/2006/main" noGrp="1"/>
          </p:cNvSpPr>
          <p:nvPr/>
        </p:nvSpPr>
        <p:spPr>
          <a:xfrm xmlns:a="http://schemas.openxmlformats.org/drawingml/2006/main">
            <a:off x="1047750" y="2533650"/>
            <a:ext cx="514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475569"/>
                </a:solidFill>
              </a:defRPr>
            </a:pPr>
            <a:r>
              <a:rPr sz="1275" b="1">
                <a:solidFill>
                  <a:srgbClr val="475569"/>
                </a:solidFill>
              </a:rPr>
              <a:t>COMPLETE NVIDIA FY2026 10-K</a:t>
            </a:r>
          </a:p>
        </p:txBody>
      </p:sp>
      <p:sp>
        <p:nvSpPr>
          <p:cNvPr id="50" name="filing-bar">
            <a:extLst xmlns:a="http://schemas.openxmlformats.org/drawingml/2006/main">
              <a:ext uri="{FF2B5EF4-FFF2-40B4-BE49-F238E27FC236}">
                <a16:creationId xmlns:a16="http://schemas.microsoft.com/office/drawing/2014/main" id="{7DE7F5BD-D56B-48D3-B58E-5C62A8FCD9B8}"/>
              </a:ext>
            </a:extLst>
          </p:cNvPr>
          <p:cNvSpPr>
            <a:spLocks xmlns:a="http://schemas.openxmlformats.org/drawingml/2006/main" noGrp="1"/>
          </p:cNvSpPr>
          <p:nvPr/>
        </p:nvSpPr>
        <p:spPr>
          <a:xfrm xmlns:a="http://schemas.openxmlformats.org/drawingml/2006/main">
            <a:off x="1047750" y="3790950"/>
            <a:ext cx="11811000" cy="76200"/>
          </a:xfrm>
          <a:prstGeom xmlns:a="http://schemas.openxmlformats.org/drawingml/2006/main" prst="rect">
            <a:avLst/>
          </a:prstGeom>
          <a:solidFill xmlns:a="http://schemas.openxmlformats.org/drawingml/2006/main">
            <a:srgbClr val="082F49"/>
          </a:solidFill>
          <a:ln xmlns:a="http://schemas.openxmlformats.org/drawingml/2006/main" w="0">
            <a:solidFill>
              <a:srgbClr val="082F49"/>
            </a:solidFill>
            <a:prstDash val="solid"/>
          </a:ln>
        </p:spPr>
      </p:sp>
      <p:sp>
        <p:nvSpPr>
          <p:cNvPr id="51" name="filing-value">
            <a:extLst xmlns:a="http://schemas.openxmlformats.org/drawingml/2006/main">
              <a:ext uri="{FF2B5EF4-FFF2-40B4-BE49-F238E27FC236}">
                <a16:creationId xmlns:a16="http://schemas.microsoft.com/office/drawing/2014/main" id="{A5D37A17-5AEF-421A-97D8-979D8251E6FF}"/>
              </a:ext>
            </a:extLst>
          </p:cNvPr>
          <p:cNvSpPr>
            <a:spLocks xmlns:a="http://schemas.openxmlformats.org/drawingml/2006/main" noGrp="1"/>
          </p:cNvSpPr>
          <p:nvPr/>
        </p:nvSpPr>
        <p:spPr>
          <a:xfrm xmlns:a="http://schemas.openxmlformats.org/drawingml/2006/main">
            <a:off x="1428750" y="321945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082F49"/>
                </a:solidFill>
              </a:defRPr>
            </a:pPr>
            <a:r>
              <a:rPr sz="2100" b="1">
                <a:solidFill>
                  <a:srgbClr val="082F49"/>
                </a:solidFill>
              </a:rPr>
              <a:t>~90,105 estimated tokens</a:t>
            </a:r>
          </a:p>
        </p:txBody>
      </p:sp>
      <p:sp>
        <p:nvSpPr>
          <p:cNvPr id="52" name="answer-label">
            <a:extLst xmlns:a="http://schemas.openxmlformats.org/drawingml/2006/main">
              <a:ext uri="{FF2B5EF4-FFF2-40B4-BE49-F238E27FC236}">
                <a16:creationId xmlns:a16="http://schemas.microsoft.com/office/drawing/2014/main" id="{98DCBBEB-BCE7-4887-B213-407FAF310309}"/>
              </a:ext>
            </a:extLst>
          </p:cNvPr>
          <p:cNvSpPr>
            <a:spLocks xmlns:a="http://schemas.openxmlformats.org/drawingml/2006/main" noGrp="1"/>
          </p:cNvSpPr>
          <p:nvPr/>
        </p:nvSpPr>
        <p:spPr>
          <a:xfrm xmlns:a="http://schemas.openxmlformats.org/drawingml/2006/main">
            <a:off x="1047750" y="44005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475569"/>
                </a:solidFill>
              </a:defRPr>
            </a:pPr>
            <a:r>
              <a:rPr sz="1275" b="1">
                <a:solidFill>
                  <a:srgbClr val="475569"/>
                </a:solidFill>
              </a:rPr>
              <a:t>ONE CONCISE ANSWER</a:t>
            </a:r>
          </a:p>
        </p:txBody>
      </p:sp>
      <p:sp>
        <p:nvSpPr>
          <p:cNvPr id="53" name="answer-bar">
            <a:extLst xmlns:a="http://schemas.openxmlformats.org/drawingml/2006/main">
              <a:ext uri="{FF2B5EF4-FFF2-40B4-BE49-F238E27FC236}">
                <a16:creationId xmlns:a16="http://schemas.microsoft.com/office/drawing/2014/main" id="{5D933464-913C-4654-89E7-66840FBA40BE}"/>
              </a:ext>
            </a:extLst>
          </p:cNvPr>
          <p:cNvSpPr>
            <a:spLocks xmlns:a="http://schemas.openxmlformats.org/drawingml/2006/main" noGrp="1"/>
          </p:cNvSpPr>
          <p:nvPr/>
        </p:nvSpPr>
        <p:spPr>
          <a:xfrm xmlns:a="http://schemas.openxmlformats.org/drawingml/2006/main">
            <a:off x="1047750" y="4876800"/>
            <a:ext cx="1143000" cy="666750"/>
          </a:xfrm>
          <a:prstGeom xmlns:a="http://schemas.openxmlformats.org/drawingml/2006/main" prst="roundRect">
            <a:avLst>
              <a:gd name="adj" fmla="val 17143"/>
            </a:avLst>
          </a:prstGeom>
          <a:solidFill xmlns:a="http://schemas.openxmlformats.org/drawingml/2006/main">
            <a:srgbClr val="F97316"/>
          </a:solidFill>
          <a:ln xmlns:a="http://schemas.openxmlformats.org/drawingml/2006/main" w="9525">
            <a:solidFill>
              <a:srgbClr val="F97316"/>
            </a:solidFill>
            <a:prstDash val="solid"/>
          </a:ln>
        </p:spPr>
      </p:sp>
      <p:sp>
        <p:nvSpPr>
          <p:cNvPr id="54" name="answer-value">
            <a:extLst xmlns:a="http://schemas.openxmlformats.org/drawingml/2006/main">
              <a:ext uri="{FF2B5EF4-FFF2-40B4-BE49-F238E27FC236}">
                <a16:creationId xmlns:a16="http://schemas.microsoft.com/office/drawing/2014/main" id="{8CDEA957-192C-4CDB-9AD1-E3404DC4EB8C}"/>
              </a:ext>
            </a:extLst>
          </p:cNvPr>
          <p:cNvSpPr>
            <a:spLocks xmlns:a="http://schemas.openxmlformats.org/drawingml/2006/main" noGrp="1"/>
          </p:cNvSpPr>
          <p:nvPr/>
        </p:nvSpPr>
        <p:spPr>
          <a:xfrm xmlns:a="http://schemas.openxmlformats.org/drawingml/2006/main">
            <a:off x="1143000" y="5029200"/>
            <a:ext cx="95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FFFFFF"/>
                </a:solidFill>
              </a:defRPr>
            </a:pPr>
            <a:r>
              <a:rPr sz="1725" b="1">
                <a:solidFill>
                  <a:srgbClr val="FFFFFF"/>
                </a:solidFill>
              </a:rPr>
              <a:t>~250</a:t>
            </a:r>
          </a:p>
        </p:txBody>
      </p:sp>
      <p:sp>
        <p:nvSpPr>
          <p:cNvPr id="55" name="selection-arrow">
            <a:extLst xmlns:a="http://schemas.openxmlformats.org/drawingml/2006/main">
              <a:ext uri="{FF2B5EF4-FFF2-40B4-BE49-F238E27FC236}">
                <a16:creationId xmlns:a16="http://schemas.microsoft.com/office/drawing/2014/main" id="{21BF57CC-1559-405A-9D0B-37151D90EDE8}"/>
              </a:ext>
            </a:extLst>
          </p:cNvPr>
          <p:cNvSpPr>
            <a:spLocks xmlns:a="http://schemas.openxmlformats.org/drawingml/2006/main" noGrp="1"/>
          </p:cNvSpPr>
          <p:nvPr/>
        </p:nvSpPr>
        <p:spPr>
          <a:xfrm xmlns:a="http://schemas.openxmlformats.org/drawingml/2006/main">
            <a:off x="2381250" y="4933950"/>
            <a:ext cx="2238375" cy="552450"/>
          </a:xfrm>
          <a:prstGeom xmlns:a="http://schemas.openxmlformats.org/drawingml/2006/main" prst="rightArrow">
            <a:avLst/>
          </a:prstGeom>
          <a:solidFill xmlns:a="http://schemas.openxmlformats.org/drawingml/2006/main">
            <a:srgbClr val="06B6D4"/>
          </a:solidFill>
          <a:ln xmlns:a="http://schemas.openxmlformats.org/drawingml/2006/main" w="0">
            <a:solidFill>
              <a:srgbClr val="06B6D4"/>
            </a:solidFill>
            <a:prstDash val="solid"/>
          </a:ln>
        </p:spPr>
      </p:sp>
      <p:sp>
        <p:nvSpPr>
          <p:cNvPr id="56" name="rag-result">
            <a:extLst xmlns:a="http://schemas.openxmlformats.org/drawingml/2006/main">
              <a:ext uri="{FF2B5EF4-FFF2-40B4-BE49-F238E27FC236}">
                <a16:creationId xmlns:a16="http://schemas.microsoft.com/office/drawing/2014/main" id="{B305DC35-9706-4088-A846-D65B49CE9DA4}"/>
              </a:ext>
            </a:extLst>
          </p:cNvPr>
          <p:cNvSpPr>
            <a:spLocks xmlns:a="http://schemas.openxmlformats.org/drawingml/2006/main" noGrp="1"/>
          </p:cNvSpPr>
          <p:nvPr/>
        </p:nvSpPr>
        <p:spPr>
          <a:xfrm xmlns:a="http://schemas.openxmlformats.org/drawingml/2006/main">
            <a:off x="4953000" y="4629150"/>
            <a:ext cx="7905750" cy="1123950"/>
          </a:xfrm>
          <a:prstGeom xmlns:a="http://schemas.openxmlformats.org/drawingml/2006/main" prst="roundRect">
            <a:avLst>
              <a:gd name="adj" fmla="val 10169"/>
            </a:avLst>
          </a:prstGeom>
          <a:noFill xmlns:a="http://schemas.openxmlformats.org/drawingml/2006/main"/>
          <a:ln xmlns:a="http://schemas.openxmlformats.org/drawingml/2006/main" w="9525">
            <a:solidFill>
              <a:srgbClr val="06B6D4"/>
            </a:solidFill>
            <a:prstDash val="solid"/>
          </a:ln>
        </p:spPr>
      </p:sp>
      <p:sp>
        <p:nvSpPr>
          <p:cNvPr id="57" name="rag-result-title">
            <a:extLst xmlns:a="http://schemas.openxmlformats.org/drawingml/2006/main">
              <a:ext uri="{FF2B5EF4-FFF2-40B4-BE49-F238E27FC236}">
                <a16:creationId xmlns:a16="http://schemas.microsoft.com/office/drawing/2014/main" id="{C0AD6F08-7AD2-45DB-A0C6-9F009DCB1BA7}"/>
              </a:ext>
            </a:extLst>
          </p:cNvPr>
          <p:cNvSpPr>
            <a:spLocks xmlns:a="http://schemas.openxmlformats.org/drawingml/2006/main" noGrp="1"/>
          </p:cNvSpPr>
          <p:nvPr/>
        </p:nvSpPr>
        <p:spPr>
          <a:xfrm xmlns:a="http://schemas.openxmlformats.org/drawingml/2006/main">
            <a:off x="5334000" y="4838700"/>
            <a:ext cx="714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082F49"/>
                </a:solidFill>
              </a:defRPr>
            </a:pPr>
            <a:r>
              <a:rPr sz="1875" b="1">
                <a:solidFill>
                  <a:srgbClr val="082F49"/>
                </a:solidFill>
              </a:rPr>
              <a:t>RAG selects a small, testable evidence set before the model call</a:t>
            </a:r>
          </a:p>
        </p:txBody>
      </p:sp>
      <p:sp>
        <p:nvSpPr>
          <p:cNvPr id="58" name="rag-result-sub">
            <a:extLst xmlns:a="http://schemas.openxmlformats.org/drawingml/2006/main">
              <a:ext uri="{FF2B5EF4-FFF2-40B4-BE49-F238E27FC236}">
                <a16:creationId xmlns:a16="http://schemas.microsoft.com/office/drawing/2014/main" id="{D1B0D5E2-3AA4-4755-A39E-0371B4837D4E}"/>
              </a:ext>
            </a:extLst>
          </p:cNvPr>
          <p:cNvSpPr>
            <a:spLocks xmlns:a="http://schemas.openxmlformats.org/drawingml/2006/main" noGrp="1"/>
          </p:cNvSpPr>
          <p:nvPr/>
        </p:nvSpPr>
        <p:spPr>
          <a:xfrm xmlns:a="http://schemas.openxmlformats.org/drawingml/2006/main">
            <a:off x="5334000" y="5314950"/>
            <a:ext cx="704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a:solidFill>
                  <a:srgbClr val="475569"/>
                </a:solidFill>
              </a:defRPr>
            </a:pPr>
            <a:r>
              <a:rPr sz="1350">
                <a:solidFill>
                  <a:srgbClr val="475569"/>
                </a:solidFill>
              </a:rPr>
              <a:t>Focus · lower input volume · citations · separate retrieval checks</a:t>
            </a:r>
          </a:p>
        </p:txBody>
      </p:sp>
      <p:sp>
        <p:nvSpPr>
          <p:cNvPr id="59" name="capacity-note">
            <a:extLst xmlns:a="http://schemas.openxmlformats.org/drawingml/2006/main">
              <a:ext uri="{FF2B5EF4-FFF2-40B4-BE49-F238E27FC236}">
                <a16:creationId xmlns:a16="http://schemas.microsoft.com/office/drawing/2014/main" id="{4F0769C6-3E31-4A93-9872-DBC4E84CA7EF}"/>
              </a:ext>
            </a:extLst>
          </p:cNvPr>
          <p:cNvSpPr>
            <a:spLocks xmlns:a="http://schemas.openxmlformats.org/drawingml/2006/main" noGrp="1"/>
          </p:cNvSpPr>
          <p:nvPr/>
        </p:nvSpPr>
        <p:spPr>
          <a:xfrm xmlns:a="http://schemas.openxmlformats.org/drawingml/2006/main">
            <a:off x="1047750" y="6419850"/>
            <a:ext cx="11811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A large context window answers “can it fit?” RAG answers “what evidence should this question receive?”</a:t>
            </a:r>
          </a:p>
        </p:txBody>
      </p:sp>
    </p:spTree>
    <p:extLst>
      <p:ext uri="{BB962C8B-B14F-4D97-AF65-F5344CB8AC3E}">
        <p14:creationId xmlns:p14="http://schemas.microsoft.com/office/powerpoint/2010/main" val="93638437"/>
      </p:ext>
    </p:extLst>
  </p:cSld>
</p:sld>
</file>

<file path=ppt/slides/slide3.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83" name="">
            <a:extLst xmlns:a="http://schemas.openxmlformats.org/drawingml/2006/main">
              <a:ext uri="{FF2B5EF4-FFF2-40B4-BE49-F238E27FC236}">
                <a16:creationId xmlns:a16="http://schemas.microsoft.com/office/drawing/2014/main" id="{A3389EE3-4155-4B6C-B75C-92690373C37D}"/>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ORIGINAL ARCHITECTURE</a:t>
            </a:r>
          </a:p>
        </p:txBody>
      </p:sp>
      <p:sp>
        <p:nvSpPr>
          <p:cNvPr id="2" name="">
            <a:extLst xmlns:a="http://schemas.openxmlformats.org/drawingml/2006/main">
              <a:ext uri="{FF2B5EF4-FFF2-40B4-BE49-F238E27FC236}">
                <a16:creationId xmlns:a16="http://schemas.microsoft.com/office/drawing/2014/main" id="{94A1CAE9-7E82-40E3-9732-DC7D0E0804B0}"/>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RAG combines external memory with generation</a:t>
            </a:r>
          </a:p>
        </p:txBody>
      </p:sp>
      <p:sp>
        <p:nvSpPr>
          <p:cNvPr id="78" name="">
            <a:extLst xmlns:a="http://schemas.openxmlformats.org/drawingml/2006/main">
              <a:ext uri="{FF2B5EF4-FFF2-40B4-BE49-F238E27FC236}">
                <a16:creationId xmlns:a16="http://schemas.microsoft.com/office/drawing/2014/main" id="{82C430B3-83CD-4FAD-9227-9988B36CD1C0}"/>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79" name="">
            <a:extLst xmlns:a="http://schemas.openxmlformats.org/drawingml/2006/main">
              <a:ext uri="{FF2B5EF4-FFF2-40B4-BE49-F238E27FC236}">
                <a16:creationId xmlns:a16="http://schemas.microsoft.com/office/drawing/2014/main" id="{0918F79C-42E9-484F-9A88-334DF9AE50A3}"/>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80" name="">
            <a:extLst xmlns:a="http://schemas.openxmlformats.org/drawingml/2006/main">
              <a:ext uri="{FF2B5EF4-FFF2-40B4-BE49-F238E27FC236}">
                <a16:creationId xmlns:a16="http://schemas.microsoft.com/office/drawing/2014/main" id="{EE3ECFDE-FF1E-4EC0-8408-DBD082065554}"/>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81" name="">
            <a:extLst xmlns:a="http://schemas.openxmlformats.org/drawingml/2006/main">
              <a:ext uri="{FF2B5EF4-FFF2-40B4-BE49-F238E27FC236}">
                <a16:creationId xmlns:a16="http://schemas.microsoft.com/office/drawing/2014/main" id="{C99091F2-E290-4C60-820B-AB7C2FF44A8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ARCHITECTURE</a:t>
            </a:r>
          </a:p>
        </p:txBody>
      </p:sp>
      <p:sp>
        <p:nvSpPr>
          <p:cNvPr id="82" name="">
            <a:extLst xmlns:a="http://schemas.openxmlformats.org/drawingml/2006/main">
              <a:ext uri="{FF2B5EF4-FFF2-40B4-BE49-F238E27FC236}">
                <a16:creationId xmlns:a16="http://schemas.microsoft.com/office/drawing/2014/main" id="{644AB3C2-4687-471A-948C-D0B8B4431C33}"/>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03</a:t>
            </a:r>
          </a:p>
        </p:txBody>
      </p:sp>
      <p:pic>
        <p:nvPicPr>
          <p:cNvPr id="97" name=""/>
          <p:cNvPicPr>
            <a:picLocks xmlns:a="http://schemas.openxmlformats.org/drawingml/2006/main" noChangeAspect="1"/>
          </p:cNvPicPr>
          <p:nvPr/>
        </p:nvPicPr>
        <p:blipFill>
          <a:blip xmlns:r="http://schemas.openxmlformats.org/officeDocument/2006/relationships" xmlns:a="http://schemas.openxmlformats.org/drawingml/2006/main" r:embed="R00e4ac00c85243f6"/>
          <a:stretch xmlns:a="http://schemas.openxmlformats.org/drawingml/2006/main"/>
        </p:blipFill>
        <p:spPr>
          <a:xfrm xmlns:a="http://schemas.openxmlformats.org/drawingml/2006/main">
            <a:off x="1571625" y="2333625"/>
            <a:ext cx="9715500" cy="4857750"/>
          </a:xfrm>
          <a:prstGeom xmlns:a="http://schemas.openxmlformats.org/drawingml/2006/main" prst="roundRect">
            <a:avLst>
              <a:gd name="adj" fmla="val 2353"/>
            </a:avLst>
          </a:prstGeom>
        </p:spPr>
      </p:pic>
      <p:sp>
        <p:nvSpPr>
          <p:cNvPr id="85" name="architecture-callout">
            <a:extLst xmlns:a="http://schemas.openxmlformats.org/drawingml/2006/main">
              <a:ext uri="{FF2B5EF4-FFF2-40B4-BE49-F238E27FC236}">
                <a16:creationId xmlns:a16="http://schemas.microsoft.com/office/drawing/2014/main" id="{8C10E44C-25E2-42A8-B46A-3CC78621086B}"/>
              </a:ext>
            </a:extLst>
          </p:cNvPr>
          <p:cNvSpPr>
            <a:spLocks xmlns:a="http://schemas.openxmlformats.org/drawingml/2006/main" noGrp="1"/>
          </p:cNvSpPr>
          <p:nvPr/>
        </p:nvSpPr>
        <p:spPr>
          <a:xfrm xmlns:a="http://schemas.openxmlformats.org/drawingml/2006/main">
            <a:off x="12001500" y="2857500"/>
            <a:ext cx="2333625" cy="3143250"/>
          </a:xfrm>
          <a:prstGeom xmlns:a="http://schemas.openxmlformats.org/drawingml/2006/main" prst="roundRect">
            <a:avLst>
              <a:gd name="adj" fmla="val 4898"/>
            </a:avLst>
          </a:prstGeom>
          <a:noFill xmlns:a="http://schemas.openxmlformats.org/drawingml/2006/main"/>
          <a:ln xmlns:a="http://schemas.openxmlformats.org/drawingml/2006/main" w="9525">
            <a:solidFill>
              <a:srgbClr val="06B6D4"/>
            </a:solidFill>
            <a:prstDash val="solid"/>
          </a:ln>
        </p:spPr>
      </p:sp>
      <p:sp>
        <p:nvSpPr>
          <p:cNvPr id="86" name="architecture-callout-title">
            <a:extLst xmlns:a="http://schemas.openxmlformats.org/drawingml/2006/main">
              <a:ext uri="{FF2B5EF4-FFF2-40B4-BE49-F238E27FC236}">
                <a16:creationId xmlns:a16="http://schemas.microsoft.com/office/drawing/2014/main" id="{22CCC9A2-066A-4210-B75A-93B18DFF957E}"/>
              </a:ext>
            </a:extLst>
          </p:cNvPr>
          <p:cNvSpPr>
            <a:spLocks xmlns:a="http://schemas.openxmlformats.org/drawingml/2006/main" noGrp="1"/>
          </p:cNvSpPr>
          <p:nvPr/>
        </p:nvSpPr>
        <p:spPr>
          <a:xfrm xmlns:a="http://schemas.openxmlformats.org/drawingml/2006/main">
            <a:off x="12287250" y="3143250"/>
            <a:ext cx="1762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2563EB"/>
                </a:solidFill>
              </a:defRPr>
            </a:pPr>
            <a:r>
              <a:rPr sz="1725" b="1">
                <a:solidFill>
                  <a:srgbClr val="2563EB"/>
                </a:solidFill>
              </a:rPr>
              <a:t>The enduring idea</a:t>
            </a:r>
          </a:p>
        </p:txBody>
      </p:sp>
      <p:sp>
        <p:nvSpPr>
          <p:cNvPr id="87" name="architecture-callout-body">
            <a:extLst xmlns:a="http://schemas.openxmlformats.org/drawingml/2006/main">
              <a:ext uri="{FF2B5EF4-FFF2-40B4-BE49-F238E27FC236}">
                <a16:creationId xmlns:a16="http://schemas.microsoft.com/office/drawing/2014/main" id="{AC110250-77FB-4934-AB25-4D58355350CD}"/>
              </a:ext>
            </a:extLst>
          </p:cNvPr>
          <p:cNvSpPr>
            <a:spLocks xmlns:a="http://schemas.openxmlformats.org/drawingml/2006/main" noGrp="1"/>
          </p:cNvSpPr>
          <p:nvPr/>
        </p:nvSpPr>
        <p:spPr>
          <a:xfrm xmlns:a="http://schemas.openxmlformats.org/drawingml/2006/main">
            <a:off x="12382500" y="3810000"/>
            <a:ext cx="1571625"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Query</a:t>
            </a:r>
          </a:p>
          <a:p xmlns:a="http://schemas.openxmlformats.org/drawingml/2006/main">
            <a:pPr algn="ctr">
              <a:buNone/>
              <a:defRPr sz="1650" b="1">
                <a:solidFill>
                  <a:srgbClr val="082F49"/>
                </a:solidFill>
              </a:defRPr>
            </a:pPr>
            <a:r>
              <a:rPr sz="1650" b="1">
                <a:solidFill>
                  <a:srgbClr val="082F49"/>
                </a:solidFill>
              </a:rPr>
              <a:t>↓</a:t>
            </a:r>
          </a:p>
          <a:p xmlns:a="http://schemas.openxmlformats.org/drawingml/2006/main">
            <a:pPr algn="ctr">
              <a:buNone/>
              <a:defRPr sz="1650" b="1">
                <a:solidFill>
                  <a:srgbClr val="082F49"/>
                </a:solidFill>
              </a:defRPr>
            </a:pPr>
            <a:r>
              <a:rPr sz="1650" b="1">
                <a:solidFill>
                  <a:srgbClr val="082F49"/>
                </a:solidFill>
              </a:rPr>
              <a:t>Retrieve top-k</a:t>
            </a:r>
          </a:p>
          <a:p xmlns:a="http://schemas.openxmlformats.org/drawingml/2006/main">
            <a:pPr algn="ctr">
              <a:buNone/>
              <a:defRPr sz="1650" b="1">
                <a:solidFill>
                  <a:srgbClr val="082F49"/>
                </a:solidFill>
              </a:defRPr>
            </a:pPr>
            <a:r>
              <a:rPr sz="1650" b="1">
                <a:solidFill>
                  <a:srgbClr val="082F49"/>
                </a:solidFill>
              </a:rPr>
              <a:t>↓</a:t>
            </a:r>
          </a:p>
          <a:p xmlns:a="http://schemas.openxmlformats.org/drawingml/2006/main">
            <a:pPr algn="ctr">
              <a:buNone/>
              <a:defRPr sz="1650" b="1">
                <a:solidFill>
                  <a:srgbClr val="082F49"/>
                </a:solidFill>
              </a:defRPr>
            </a:pPr>
            <a:r>
              <a:rPr sz="1650" b="1">
                <a:solidFill>
                  <a:srgbClr val="082F49"/>
                </a:solidFill>
              </a:rPr>
              <a:t>Generate with evidence</a:t>
            </a:r>
          </a:p>
        </p:txBody>
      </p:sp>
      <p:sp>
        <p:nvSpPr>
          <p:cNvPr id="88" name="architecture-source">
            <a:extLst xmlns:a="http://schemas.openxmlformats.org/drawingml/2006/main">
              <a:ext uri="{FF2B5EF4-FFF2-40B4-BE49-F238E27FC236}">
                <a16:creationId xmlns:a16="http://schemas.microsoft.com/office/drawing/2014/main" id="{4162660C-C59F-4D71-85C8-B86A7F0EFE5A}"/>
              </a:ext>
            </a:extLst>
          </p:cNvPr>
          <p:cNvSpPr>
            <a:spLocks xmlns:a="http://schemas.openxmlformats.org/drawingml/2006/main" noGrp="1"/>
          </p:cNvSpPr>
          <p:nvPr/>
        </p:nvSpPr>
        <p:spPr>
          <a:xfrm xmlns:a="http://schemas.openxmlformats.org/drawingml/2006/main">
            <a:off x="12001500" y="6381750"/>
            <a:ext cx="2333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a:solidFill>
                  <a:srgbClr val="475569"/>
                </a:solidFill>
              </a:defRPr>
            </a:pPr>
            <a:r>
              <a:rPr sz="1125">
                <a:solidFill>
                  <a:srgbClr val="475569"/>
                </a:solidFill>
              </a:rPr>
              <a:t>Lewis et al., NeurIPS 2020 · Figure 1</a:t>
            </a:r>
          </a:p>
        </p:txBody>
      </p:sp>
    </p:spTree>
    <p:extLst>
      <p:ext uri="{BB962C8B-B14F-4D97-AF65-F5344CB8AC3E}">
        <p14:creationId xmlns:p14="http://schemas.microsoft.com/office/powerpoint/2010/main" val="1140604967"/>
      </p:ext>
    </p:extLst>
  </p:cSld>
</p:sld>
</file>

<file path=ppt/slides/slide4.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83" name="">
            <a:extLst xmlns:a="http://schemas.openxmlformats.org/drawingml/2006/main">
              <a:ext uri="{FF2B5EF4-FFF2-40B4-BE49-F238E27FC236}">
                <a16:creationId xmlns:a16="http://schemas.microsoft.com/office/drawing/2014/main" id="{A3389EE3-4155-4B6C-B75C-92690373C37D}"/>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ENTERPRISE RAG</a:t>
            </a:r>
          </a:p>
        </p:txBody>
      </p:sp>
      <p:sp>
        <p:nvSpPr>
          <p:cNvPr id="2" name="">
            <a:extLst xmlns:a="http://schemas.openxmlformats.org/drawingml/2006/main">
              <a:ext uri="{FF2B5EF4-FFF2-40B4-BE49-F238E27FC236}">
                <a16:creationId xmlns:a16="http://schemas.microsoft.com/office/drawing/2014/main" id="{94A1CAE9-7E82-40E3-9732-DC7D0E0804B0}"/>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RAG connects internal knowledge to AI—without retraining</a:t>
            </a:r>
          </a:p>
        </p:txBody>
      </p:sp>
      <p:sp>
        <p:nvSpPr>
          <p:cNvPr id="78" name="">
            <a:extLst xmlns:a="http://schemas.openxmlformats.org/drawingml/2006/main">
              <a:ext uri="{FF2B5EF4-FFF2-40B4-BE49-F238E27FC236}">
                <a16:creationId xmlns:a16="http://schemas.microsoft.com/office/drawing/2014/main" id="{82C430B3-83CD-4FAD-9227-9988B36CD1C0}"/>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79" name="">
            <a:extLst xmlns:a="http://schemas.openxmlformats.org/drawingml/2006/main">
              <a:ext uri="{FF2B5EF4-FFF2-40B4-BE49-F238E27FC236}">
                <a16:creationId xmlns:a16="http://schemas.microsoft.com/office/drawing/2014/main" id="{0918F79C-42E9-484F-9A88-334DF9AE50A3}"/>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80" name="">
            <a:extLst xmlns:a="http://schemas.openxmlformats.org/drawingml/2006/main">
              <a:ext uri="{FF2B5EF4-FFF2-40B4-BE49-F238E27FC236}">
                <a16:creationId xmlns:a16="http://schemas.microsoft.com/office/drawing/2014/main" id="{EE3ECFDE-FF1E-4EC0-8408-DBD082065554}"/>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81" name="">
            <a:extLst xmlns:a="http://schemas.openxmlformats.org/drawingml/2006/main">
              <a:ext uri="{FF2B5EF4-FFF2-40B4-BE49-F238E27FC236}">
                <a16:creationId xmlns:a16="http://schemas.microsoft.com/office/drawing/2014/main" id="{C99091F2-E290-4C60-820B-AB7C2FF44A8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9891"/>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INTERNAL KNOWLEDGE</a:t>
            </a:r>
          </a:p>
        </p:txBody>
      </p:sp>
      <p:sp>
        <p:nvSpPr>
          <p:cNvPr id="82" name="">
            <a:extLst xmlns:a="http://schemas.openxmlformats.org/drawingml/2006/main">
              <a:ext uri="{FF2B5EF4-FFF2-40B4-BE49-F238E27FC236}">
                <a16:creationId xmlns:a16="http://schemas.microsoft.com/office/drawing/2014/main" id="{644AB3C2-4687-471A-948C-D0B8B4431C33}"/>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04</a:t>
            </a:r>
          </a:p>
        </p:txBody>
      </p:sp>
      <p:sp>
        <p:nvSpPr>
          <p:cNvPr id="85" name="architecture-callout">
            <a:extLst xmlns:a="http://schemas.openxmlformats.org/drawingml/2006/main">
              <a:ext uri="{FF2B5EF4-FFF2-40B4-BE49-F238E27FC236}">
                <a16:creationId xmlns:a16="http://schemas.microsoft.com/office/drawing/2014/main" id="{8C10E44C-25E2-42A8-B46A-3CC78621086B}"/>
              </a:ext>
            </a:extLst>
          </p:cNvPr>
          <p:cNvSpPr>
            <a:spLocks xmlns:a="http://schemas.openxmlformats.org/drawingml/2006/main" noGrp="1"/>
          </p:cNvSpPr>
          <p:nvPr/>
        </p:nvSpPr>
        <p:spPr>
          <a:xfrm xmlns:a="http://schemas.openxmlformats.org/drawingml/2006/main">
            <a:off x="12001500" y="2857500"/>
            <a:ext cx="2333625" cy="3143250"/>
          </a:xfrm>
          <a:prstGeom xmlns:a="http://schemas.openxmlformats.org/drawingml/2006/main" prst="roundRect">
            <a:avLst>
              <a:gd name="adj" fmla="val 4898"/>
            </a:avLst>
          </a:prstGeom>
          <a:noFill xmlns:a="http://schemas.openxmlformats.org/drawingml/2006/main"/>
          <a:ln xmlns:a="http://schemas.openxmlformats.org/drawingml/2006/main" w="9525">
            <a:solidFill>
              <a:srgbClr val="06B6D4"/>
            </a:solidFill>
            <a:prstDash val="solid"/>
          </a:ln>
        </p:spPr>
      </p:sp>
      <p:sp>
        <p:nvSpPr>
          <p:cNvPr id="86" name="architecture-callout-title">
            <a:extLst xmlns:a="http://schemas.openxmlformats.org/drawingml/2006/main">
              <a:ext uri="{FF2B5EF4-FFF2-40B4-BE49-F238E27FC236}">
                <a16:creationId xmlns:a16="http://schemas.microsoft.com/office/drawing/2014/main" id="{22CCC9A2-066A-4210-B75A-93B18DFF957E}"/>
              </a:ext>
            </a:extLst>
          </p:cNvPr>
          <p:cNvSpPr>
            <a:spLocks xmlns:a="http://schemas.openxmlformats.org/drawingml/2006/main" noGrp="1"/>
          </p:cNvSpPr>
          <p:nvPr/>
        </p:nvSpPr>
        <p:spPr>
          <a:xfrm xmlns:a="http://schemas.openxmlformats.org/drawingml/2006/main">
            <a:off x="12287250" y="3143250"/>
            <a:ext cx="1762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2563EB"/>
                </a:solidFill>
              </a:defRPr>
            </a:pPr>
            <a:r>
              <a:rPr sz="1725" b="1">
                <a:solidFill>
                  <a:srgbClr val="2563EB"/>
                </a:solidFill>
              </a:rPr>
              <a:t>Why teams use it</a:t>
            </a:r>
          </a:p>
        </p:txBody>
      </p:sp>
      <p:sp>
        <p:nvSpPr>
          <p:cNvPr id="87" name="architecture-callout-body">
            <a:extLst xmlns:a="http://schemas.openxmlformats.org/drawingml/2006/main">
              <a:ext uri="{FF2B5EF4-FFF2-40B4-BE49-F238E27FC236}">
                <a16:creationId xmlns:a16="http://schemas.microsoft.com/office/drawing/2014/main" id="{AC110250-77FB-4934-AB25-4D58355350CD}"/>
              </a:ext>
            </a:extLst>
          </p:cNvPr>
          <p:cNvSpPr>
            <a:spLocks xmlns:a="http://schemas.openxmlformats.org/drawingml/2006/main" noGrp="1"/>
          </p:cNvSpPr>
          <p:nvPr/>
        </p:nvSpPr>
        <p:spPr>
          <a:xfrm xmlns:a="http://schemas.openxmlformats.org/drawingml/2006/main">
            <a:off x="12382500" y="3810000"/>
            <a:ext cx="1571625"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Fresh content</a:t>
            </a:r>
          </a:p>
          <a:p xmlns:a="http://schemas.openxmlformats.org/drawingml/2006/main">
            <a:pPr algn="ctr">
              <a:buNone/>
              <a:defRPr sz="1650" b="1">
                <a:solidFill>
                  <a:srgbClr val="082F49"/>
                </a:solidFill>
              </a:defRPr>
            </a:pPr>
            <a:r>
              <a:rPr sz="1650" b="1">
                <a:solidFill>
                  <a:srgbClr val="082F49"/>
                </a:solidFill>
              </a:rPr>
              <a:t>No retraining</a:t>
            </a:r>
          </a:p>
          <a:p xmlns:a="http://schemas.openxmlformats.org/drawingml/2006/main">
            <a:pPr algn="ctr">
              <a:buNone/>
              <a:defRPr sz="1650" b="1">
                <a:solidFill>
                  <a:srgbClr val="082F49"/>
                </a:solidFill>
              </a:defRPr>
            </a:pPr>
            <a:r>
              <a:rPr sz="1650" b="1">
                <a:solidFill>
                  <a:srgbClr val="082F49"/>
                </a:solidFill>
              </a:rPr>
              <a:t>Citations</a:t>
            </a:r>
          </a:p>
          <a:p xmlns:a="http://schemas.openxmlformats.org/drawingml/2006/main">
            <a:pPr algn="ctr">
              <a:buNone/>
              <a:defRPr sz="1650" b="1">
                <a:solidFill>
                  <a:srgbClr val="082F49"/>
                </a:solidFill>
              </a:defRPr>
            </a:pPr>
            <a:r>
              <a:rPr sz="1650" b="1">
                <a:solidFill>
                  <a:srgbClr val="082F49"/>
                </a:solidFill>
              </a:rPr>
              <a:t>Access rules</a:t>
            </a:r>
          </a:p>
        </p:txBody>
      </p:sp>
      <p:sp>
        <p:nvSpPr>
          <p:cNvPr id="88" name="architecture-source">
            <a:extLst xmlns:a="http://schemas.openxmlformats.org/drawingml/2006/main">
              <a:ext uri="{FF2B5EF4-FFF2-40B4-BE49-F238E27FC236}">
                <a16:creationId xmlns:a16="http://schemas.microsoft.com/office/drawing/2014/main" id="{4162660C-C59F-4D71-85C8-B86A7F0EFE5A}"/>
              </a:ext>
            </a:extLst>
          </p:cNvPr>
          <p:cNvSpPr>
            <a:spLocks xmlns:a="http://schemas.openxmlformats.org/drawingml/2006/main" noGrp="1"/>
          </p:cNvSpPr>
          <p:nvPr/>
        </p:nvSpPr>
        <p:spPr>
          <a:xfrm xmlns:a="http://schemas.openxmlformats.org/drawingml/2006/main">
            <a:off x="12001500" y="6381750"/>
            <a:ext cx="2333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a:solidFill>
                  <a:srgbClr val="475569"/>
                </a:solidFill>
              </a:defRPr>
            </a:pPr>
            <a:r>
              <a:rPr sz="1125">
                <a:solidFill>
                  <a:srgbClr val="475569"/>
                </a:solidFill>
              </a:rPr>
              <a:t>Microsoft Learn · AWS guidance</a:t>
            </a:r>
          </a:p>
        </p:txBody>
      </p:sp>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605ea3438ec84faa"/>
          <a:srcRect xmlns:a="http://schemas.openxmlformats.org/drawingml/2006/main" l="0" t="5579" r="0" b="5579"/>
          <a:stretch xmlns:a="http://schemas.openxmlformats.org/drawingml/2006/main">
            <a:fillRect l="0" t="0" r="0" b="0"/>
          </a:stretch>
        </p:blipFill>
        <p:spPr>
          <a:xfrm xmlns:a="http://schemas.openxmlformats.org/drawingml/2006/main">
            <a:off x="1571625" y="2333625"/>
            <a:ext cx="9715500" cy="4857750"/>
          </a:xfrm>
          <a:prstGeom xmlns:a="http://schemas.openxmlformats.org/drawingml/2006/main" prst="roundRect">
            <a:avLst>
              <a:gd name="adj" fmla="val 2353"/>
            </a:avLst>
          </a:prstGeom>
        </p:spPr>
      </p:pic>
    </p:spTree>
    <p:extLst>
      <p:ext uri="{BB962C8B-B14F-4D97-AF65-F5344CB8AC3E}">
        <p14:creationId xmlns:p14="http://schemas.microsoft.com/office/powerpoint/2010/main" val="1140604967"/>
      </p:ext>
    </p:extLst>
  </p:cSld>
</p:sld>
</file>

<file path=ppt/slides/slide5.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83" name="">
            <a:extLst xmlns:a="http://schemas.openxmlformats.org/drawingml/2006/main">
              <a:ext uri="{FF2B5EF4-FFF2-40B4-BE49-F238E27FC236}">
                <a16:creationId xmlns:a16="http://schemas.microsoft.com/office/drawing/2014/main" id="{A3389EE3-4155-4B6C-B75C-92690373C37D}"/>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REAL SOURCE</a:t>
            </a:r>
          </a:p>
        </p:txBody>
      </p:sp>
      <p:sp>
        <p:nvSpPr>
          <p:cNvPr id="2" name="">
            <a:extLst xmlns:a="http://schemas.openxmlformats.org/drawingml/2006/main">
              <a:ext uri="{FF2B5EF4-FFF2-40B4-BE49-F238E27FC236}">
                <a16:creationId xmlns:a16="http://schemas.microsoft.com/office/drawing/2014/main" id="{94A1CAE9-7E82-40E3-9732-DC7D0E0804B0}"/>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The answer lives inside an official SEC filing</a:t>
            </a:r>
          </a:p>
        </p:txBody>
      </p:sp>
      <p:sp>
        <p:nvSpPr>
          <p:cNvPr id="78" name="">
            <a:extLst xmlns:a="http://schemas.openxmlformats.org/drawingml/2006/main">
              <a:ext uri="{FF2B5EF4-FFF2-40B4-BE49-F238E27FC236}">
                <a16:creationId xmlns:a16="http://schemas.microsoft.com/office/drawing/2014/main" id="{82C430B3-83CD-4FAD-9227-9988B36CD1C0}"/>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79" name="">
            <a:extLst xmlns:a="http://schemas.openxmlformats.org/drawingml/2006/main">
              <a:ext uri="{FF2B5EF4-FFF2-40B4-BE49-F238E27FC236}">
                <a16:creationId xmlns:a16="http://schemas.microsoft.com/office/drawing/2014/main" id="{0918F79C-42E9-484F-9A88-334DF9AE50A3}"/>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80" name="">
            <a:extLst xmlns:a="http://schemas.openxmlformats.org/drawingml/2006/main">
              <a:ext uri="{FF2B5EF4-FFF2-40B4-BE49-F238E27FC236}">
                <a16:creationId xmlns:a16="http://schemas.microsoft.com/office/drawing/2014/main" id="{EE3ECFDE-FF1E-4EC0-8408-DBD082065554}"/>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81" name="">
            <a:extLst xmlns:a="http://schemas.openxmlformats.org/drawingml/2006/main">
              <a:ext uri="{FF2B5EF4-FFF2-40B4-BE49-F238E27FC236}">
                <a16:creationId xmlns:a16="http://schemas.microsoft.com/office/drawing/2014/main" id="{C99091F2-E290-4C60-820B-AB7C2FF44A8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SOURCE</a:t>
            </a:r>
          </a:p>
        </p:txBody>
      </p:sp>
      <p:sp>
        <p:nvSpPr>
          <p:cNvPr id="82" name="">
            <a:extLst xmlns:a="http://schemas.openxmlformats.org/drawingml/2006/main">
              <a:ext uri="{FF2B5EF4-FFF2-40B4-BE49-F238E27FC236}">
                <a16:creationId xmlns:a16="http://schemas.microsoft.com/office/drawing/2014/main" id="{644AB3C2-4687-471A-948C-D0B8B4431C33}"/>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05</a:t>
            </a:r>
          </a:p>
        </p:txBody>
      </p:sp>
      <p:sp>
        <p:nvSpPr>
          <p:cNvPr id="84" name="sec-frame">
            <a:extLst xmlns:a="http://schemas.openxmlformats.org/drawingml/2006/main">
              <a:ext uri="{FF2B5EF4-FFF2-40B4-BE49-F238E27FC236}">
                <a16:creationId xmlns:a16="http://schemas.microsoft.com/office/drawing/2014/main" id="{5E231C45-0C6A-407E-8942-9A8B3EEAD6B0}"/>
              </a:ext>
            </a:extLst>
          </p:cNvPr>
          <p:cNvSpPr>
            <a:spLocks xmlns:a="http://schemas.openxmlformats.org/drawingml/2006/main" noGrp="1"/>
          </p:cNvSpPr>
          <p:nvPr/>
        </p:nvSpPr>
        <p:spPr>
          <a:xfrm xmlns:a="http://schemas.openxmlformats.org/drawingml/2006/main">
            <a:off x="952500" y="2381250"/>
            <a:ext cx="9620250" cy="4095750"/>
          </a:xfrm>
          <a:prstGeom xmlns:a="http://schemas.openxmlformats.org/drawingml/2006/main" prst="roundRect">
            <a:avLst>
              <a:gd name="adj" fmla="val 2791"/>
            </a:avLst>
          </a:prstGeom>
          <a:noFill xmlns:a="http://schemas.openxmlformats.org/drawingml/2006/main"/>
          <a:ln xmlns:a="http://schemas.openxmlformats.org/drawingml/2006/main" w="9525">
            <a:solidFill>
              <a:srgbClr val="CBD5E1"/>
            </a:solidFill>
            <a:prstDash val="solid"/>
          </a:ln>
        </p:spPr>
      </p:sp>
      <p:pic>
        <p:nvPicPr>
          <p:cNvPr id="103" name=""/>
          <p:cNvPicPr>
            <a:picLocks xmlns:a="http://schemas.openxmlformats.org/drawingml/2006/main" noChangeAspect="1"/>
          </p:cNvPicPr>
          <p:nvPr/>
        </p:nvPicPr>
        <p:blipFill>
          <a:blip xmlns:r="http://schemas.openxmlformats.org/officeDocument/2006/relationships" xmlns:a="http://schemas.openxmlformats.org/drawingml/2006/main" r:embed="Rad758c1cd8e64d93"/>
          <a:stretch xmlns:a="http://schemas.openxmlformats.org/drawingml/2006/main"/>
        </p:blipFill>
        <p:spPr>
          <a:xfrm xmlns:a="http://schemas.openxmlformats.org/drawingml/2006/main">
            <a:off x="1190625" y="2982686"/>
            <a:ext cx="9144000" cy="2416629"/>
          </a:xfrm>
          <a:prstGeom xmlns:a="http://schemas.openxmlformats.org/drawingml/2006/main" prst="roundRect">
            <a:avLst>
              <a:gd name="adj" fmla="val 3871"/>
            </a:avLst>
          </a:prstGeom>
        </p:spPr>
      </p:pic>
      <p:sp>
        <p:nvSpPr>
          <p:cNvPr id="86" name="sec-caption">
            <a:extLst xmlns:a="http://schemas.openxmlformats.org/drawingml/2006/main">
              <a:ext uri="{FF2B5EF4-FFF2-40B4-BE49-F238E27FC236}">
                <a16:creationId xmlns:a16="http://schemas.microsoft.com/office/drawing/2014/main" id="{2B2FF153-703F-4D8D-BA90-282D72B21D48}"/>
              </a:ext>
            </a:extLst>
          </p:cNvPr>
          <p:cNvSpPr>
            <a:spLocks xmlns:a="http://schemas.openxmlformats.org/drawingml/2006/main" noGrp="1"/>
          </p:cNvSpPr>
          <p:nvPr/>
        </p:nvSpPr>
        <p:spPr>
          <a:xfrm xmlns:a="http://schemas.openxmlformats.org/drawingml/2006/main">
            <a:off x="1333500" y="59055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475569"/>
                </a:solidFill>
              </a:defRPr>
            </a:pPr>
            <a:r>
              <a:rPr sz="1275">
                <a:solidFill>
                  <a:srgbClr val="475569"/>
                </a:solidFill>
              </a:rPr>
              <a:t>Official filing · Revenue by End Market · $ in millions</a:t>
            </a:r>
          </a:p>
        </p:txBody>
      </p:sp>
      <p:sp>
        <p:nvSpPr>
          <p:cNvPr id="87" name="dc-metric">
            <a:extLst xmlns:a="http://schemas.openxmlformats.org/drawingml/2006/main">
              <a:ext uri="{FF2B5EF4-FFF2-40B4-BE49-F238E27FC236}">
                <a16:creationId xmlns:a16="http://schemas.microsoft.com/office/drawing/2014/main" id="{D6756945-AC85-4383-8963-BDEF84B6EC5E}"/>
              </a:ext>
            </a:extLst>
          </p:cNvPr>
          <p:cNvSpPr>
            <a:spLocks xmlns:a="http://schemas.openxmlformats.org/drawingml/2006/main" noGrp="1"/>
          </p:cNvSpPr>
          <p:nvPr/>
        </p:nvSpPr>
        <p:spPr>
          <a:xfrm xmlns:a="http://schemas.openxmlformats.org/drawingml/2006/main">
            <a:off x="11049000" y="2619375"/>
            <a:ext cx="3143250" cy="1571625"/>
          </a:xfrm>
          <a:prstGeom xmlns:a="http://schemas.openxmlformats.org/drawingml/2006/main" prst="roundRect">
            <a:avLst>
              <a:gd name="adj" fmla="val 7273"/>
            </a:avLst>
          </a:prstGeom>
          <a:noFill xmlns:a="http://schemas.openxmlformats.org/drawingml/2006/main"/>
          <a:ln xmlns:a="http://schemas.openxmlformats.org/drawingml/2006/main" w="9525">
            <a:solidFill>
              <a:srgbClr val="082F49"/>
            </a:solidFill>
            <a:prstDash val="solid"/>
          </a:ln>
        </p:spPr>
      </p:sp>
      <p:sp>
        <p:nvSpPr>
          <p:cNvPr id="88" name="dc-value">
            <a:extLst xmlns:a="http://schemas.openxmlformats.org/drawingml/2006/main">
              <a:ext uri="{FF2B5EF4-FFF2-40B4-BE49-F238E27FC236}">
                <a16:creationId xmlns:a16="http://schemas.microsoft.com/office/drawing/2014/main" id="{02CE3D4D-FC48-4941-B7D6-459C277D8891}"/>
              </a:ext>
            </a:extLst>
          </p:cNvPr>
          <p:cNvSpPr>
            <a:spLocks xmlns:a="http://schemas.openxmlformats.org/drawingml/2006/main" noGrp="1"/>
          </p:cNvSpPr>
          <p:nvPr/>
        </p:nvSpPr>
        <p:spPr>
          <a:xfrm xmlns:a="http://schemas.openxmlformats.org/drawingml/2006/main">
            <a:off x="11382375" y="2905125"/>
            <a:ext cx="247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82F49"/>
                </a:solidFill>
              </a:defRPr>
            </a:pPr>
            <a:r>
              <a:rPr sz="3000" b="1">
                <a:solidFill>
                  <a:srgbClr val="082F49"/>
                </a:solidFill>
              </a:rPr>
              <a:t>$193.7B</a:t>
            </a:r>
          </a:p>
        </p:txBody>
      </p:sp>
      <p:sp>
        <p:nvSpPr>
          <p:cNvPr id="89" name="dc-label">
            <a:extLst xmlns:a="http://schemas.openxmlformats.org/drawingml/2006/main">
              <a:ext uri="{FF2B5EF4-FFF2-40B4-BE49-F238E27FC236}">
                <a16:creationId xmlns:a16="http://schemas.microsoft.com/office/drawing/2014/main" id="{032BAD8A-712D-4E68-AA57-8771BE4772D5}"/>
              </a:ext>
            </a:extLst>
          </p:cNvPr>
          <p:cNvSpPr>
            <a:spLocks xmlns:a="http://schemas.openxmlformats.org/drawingml/2006/main" noGrp="1"/>
          </p:cNvSpPr>
          <p:nvPr/>
        </p:nvSpPr>
        <p:spPr>
          <a:xfrm xmlns:a="http://schemas.openxmlformats.org/drawingml/2006/main">
            <a:off x="11382375" y="3571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a:solidFill>
                  <a:srgbClr val="082F49"/>
                </a:solidFill>
              </a:defRPr>
            </a:pPr>
            <a:r>
              <a:rPr sz="1425">
                <a:solidFill>
                  <a:srgbClr val="082F49"/>
                </a:solidFill>
              </a:rPr>
              <a:t>Data Center revenue</a:t>
            </a:r>
          </a:p>
        </p:txBody>
      </p:sp>
      <p:sp>
        <p:nvSpPr>
          <p:cNvPr id="90" name="total-metric">
            <a:extLst xmlns:a="http://schemas.openxmlformats.org/drawingml/2006/main">
              <a:ext uri="{FF2B5EF4-FFF2-40B4-BE49-F238E27FC236}">
                <a16:creationId xmlns:a16="http://schemas.microsoft.com/office/drawing/2014/main" id="{92DC7BB4-AD3D-4EC2-AFE8-846984C377ED}"/>
              </a:ext>
            </a:extLst>
          </p:cNvPr>
          <p:cNvSpPr>
            <a:spLocks xmlns:a="http://schemas.openxmlformats.org/drawingml/2006/main" noGrp="1"/>
          </p:cNvSpPr>
          <p:nvPr/>
        </p:nvSpPr>
        <p:spPr>
          <a:xfrm xmlns:a="http://schemas.openxmlformats.org/drawingml/2006/main">
            <a:off x="11049000" y="4524375"/>
            <a:ext cx="3143250" cy="1571625"/>
          </a:xfrm>
          <a:prstGeom xmlns:a="http://schemas.openxmlformats.org/drawingml/2006/main" prst="roundRect">
            <a:avLst>
              <a:gd name="adj" fmla="val 7273"/>
            </a:avLst>
          </a:prstGeom>
          <a:noFill xmlns:a="http://schemas.openxmlformats.org/drawingml/2006/main"/>
          <a:ln xmlns:a="http://schemas.openxmlformats.org/drawingml/2006/main" w="9525">
            <a:solidFill>
              <a:srgbClr val="F97316"/>
            </a:solidFill>
            <a:prstDash val="solid"/>
          </a:ln>
        </p:spPr>
      </p:sp>
      <p:sp>
        <p:nvSpPr>
          <p:cNvPr id="91" name="total-value">
            <a:extLst xmlns:a="http://schemas.openxmlformats.org/drawingml/2006/main">
              <a:ext uri="{FF2B5EF4-FFF2-40B4-BE49-F238E27FC236}">
                <a16:creationId xmlns:a16="http://schemas.microsoft.com/office/drawing/2014/main" id="{7C27BD97-34E8-478F-A2E5-39E9EC1A59ED}"/>
              </a:ext>
            </a:extLst>
          </p:cNvPr>
          <p:cNvSpPr>
            <a:spLocks xmlns:a="http://schemas.openxmlformats.org/drawingml/2006/main" noGrp="1"/>
          </p:cNvSpPr>
          <p:nvPr/>
        </p:nvSpPr>
        <p:spPr>
          <a:xfrm xmlns:a="http://schemas.openxmlformats.org/drawingml/2006/main">
            <a:off x="11382375" y="4810125"/>
            <a:ext cx="247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F97316"/>
                </a:solidFill>
              </a:defRPr>
            </a:pPr>
            <a:r>
              <a:rPr sz="3000" b="1">
                <a:solidFill>
                  <a:srgbClr val="F97316"/>
                </a:solidFill>
              </a:rPr>
              <a:t>$215.9B</a:t>
            </a:r>
          </a:p>
        </p:txBody>
      </p:sp>
      <p:sp>
        <p:nvSpPr>
          <p:cNvPr id="92" name="total-label">
            <a:extLst xmlns:a="http://schemas.openxmlformats.org/drawingml/2006/main">
              <a:ext uri="{FF2B5EF4-FFF2-40B4-BE49-F238E27FC236}">
                <a16:creationId xmlns:a16="http://schemas.microsoft.com/office/drawing/2014/main" id="{EB579117-B9C1-436B-9BCD-F22ADB6778C9}"/>
              </a:ext>
            </a:extLst>
          </p:cNvPr>
          <p:cNvSpPr>
            <a:spLocks xmlns:a="http://schemas.openxmlformats.org/drawingml/2006/main" noGrp="1"/>
          </p:cNvSpPr>
          <p:nvPr/>
        </p:nvSpPr>
        <p:spPr>
          <a:xfrm xmlns:a="http://schemas.openxmlformats.org/drawingml/2006/main">
            <a:off x="11382375" y="5476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a:solidFill>
                  <a:srgbClr val="F97316"/>
                </a:solidFill>
              </a:defRPr>
            </a:pPr>
            <a:r>
              <a:rPr sz="1425">
                <a:solidFill>
                  <a:srgbClr val="F97316"/>
                </a:solidFill>
              </a:rPr>
              <a:t>Total revenue</a:t>
            </a:r>
          </a:p>
        </p:txBody>
      </p:sp>
      <p:sp>
        <p:nvSpPr>
          <p:cNvPr id="93" name="source-point">
            <a:extLst xmlns:a="http://schemas.openxmlformats.org/drawingml/2006/main">
              <a:ext uri="{FF2B5EF4-FFF2-40B4-BE49-F238E27FC236}">
                <a16:creationId xmlns:a16="http://schemas.microsoft.com/office/drawing/2014/main" id="{F3E5039C-32A4-4BAF-A0A4-CAF033E19D90}"/>
              </a:ext>
            </a:extLst>
          </p:cNvPr>
          <p:cNvSpPr>
            <a:spLocks xmlns:a="http://schemas.openxmlformats.org/drawingml/2006/main" noGrp="1"/>
          </p:cNvSpPr>
          <p:nvPr/>
        </p:nvSpPr>
        <p:spPr>
          <a:xfrm xmlns:a="http://schemas.openxmlformats.org/drawingml/2006/main">
            <a:off x="1714500" y="6810375"/>
            <a:ext cx="11811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The facts are present. The engineering question is whether parsing and retrieval preserve them.</a:t>
            </a:r>
          </a:p>
        </p:txBody>
      </p:sp>
    </p:spTree>
    <p:extLst>
      <p:ext uri="{BB962C8B-B14F-4D97-AF65-F5344CB8AC3E}">
        <p14:creationId xmlns:p14="http://schemas.microsoft.com/office/powerpoint/2010/main" val="1140604967"/>
      </p:ext>
    </p:extLst>
  </p:cSld>
</p:sld>
</file>

<file path=ppt/slides/slide6.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2670E94-0D05-4A89-A3D0-FF51C0CF5992}"/>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NAIVE PARSING</a:t>
            </a:r>
          </a:p>
        </p:txBody>
      </p:sp>
      <p:sp>
        <p:nvSpPr>
          <p:cNvPr id="2" name="">
            <a:extLst xmlns:a="http://schemas.openxmlformats.org/drawingml/2006/main">
              <a:ext uri="{FF2B5EF4-FFF2-40B4-BE49-F238E27FC236}">
                <a16:creationId xmlns:a16="http://schemas.microsoft.com/office/drawing/2014/main" id="{E4DC2E0B-F26C-4DAE-8979-A960B441A9A6}"/>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Flattening preserves words—but destroys financial structure</a:t>
            </a:r>
          </a:p>
        </p:txBody>
      </p:sp>
      <p:sp>
        <p:nvSpPr>
          <p:cNvPr id="15" name="">
            <a:extLst xmlns:a="http://schemas.openxmlformats.org/drawingml/2006/main">
              <a:ext uri="{FF2B5EF4-FFF2-40B4-BE49-F238E27FC236}">
                <a16:creationId xmlns:a16="http://schemas.microsoft.com/office/drawing/2014/main" id="{CFDC62F5-084F-4562-B33C-49367D15ADC5}"/>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16" name="">
            <a:extLst xmlns:a="http://schemas.openxmlformats.org/drawingml/2006/main">
              <a:ext uri="{FF2B5EF4-FFF2-40B4-BE49-F238E27FC236}">
                <a16:creationId xmlns:a16="http://schemas.microsoft.com/office/drawing/2014/main" id="{9DF3F72B-1997-4812-9E44-ED9DFEAD7A32}"/>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17" name="">
            <a:extLst xmlns:a="http://schemas.openxmlformats.org/drawingml/2006/main">
              <a:ext uri="{FF2B5EF4-FFF2-40B4-BE49-F238E27FC236}">
                <a16:creationId xmlns:a16="http://schemas.microsoft.com/office/drawing/2014/main" id="{9EC2704C-F1B9-4CBB-A365-73DD4D42C00D}"/>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18" name="">
            <a:extLst xmlns:a="http://schemas.openxmlformats.org/drawingml/2006/main">
              <a:ext uri="{FF2B5EF4-FFF2-40B4-BE49-F238E27FC236}">
                <a16:creationId xmlns:a16="http://schemas.microsoft.com/office/drawing/2014/main" id="{65581549-9DC0-413A-9FDD-93CC68CB37F0}"/>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PARSING</a:t>
            </a:r>
          </a:p>
        </p:txBody>
      </p:sp>
      <p:sp>
        <p:nvSpPr>
          <p:cNvPr id="19" name="">
            <a:extLst xmlns:a="http://schemas.openxmlformats.org/drawingml/2006/main">
              <a:ext uri="{FF2B5EF4-FFF2-40B4-BE49-F238E27FC236}">
                <a16:creationId xmlns:a16="http://schemas.microsoft.com/office/drawing/2014/main" id="{792FBF07-296E-4F76-868F-E592B8553191}"/>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06</a:t>
            </a:r>
          </a:p>
        </p:txBody>
      </p:sp>
      <p:sp>
        <p:nvSpPr>
          <p:cNvPr id="21" name="html-side">
            <a:extLst xmlns:a="http://schemas.openxmlformats.org/drawingml/2006/main">
              <a:ext uri="{FF2B5EF4-FFF2-40B4-BE49-F238E27FC236}">
                <a16:creationId xmlns:a16="http://schemas.microsoft.com/office/drawing/2014/main" id="{FAFB5354-0F58-416F-B922-F38EABD0729A}"/>
              </a:ext>
            </a:extLst>
          </p:cNvPr>
          <p:cNvSpPr>
            <a:spLocks xmlns:a="http://schemas.openxmlformats.org/drawingml/2006/main" noGrp="1"/>
          </p:cNvSpPr>
          <p:nvPr/>
        </p:nvSpPr>
        <p:spPr>
          <a:xfrm xmlns:a="http://schemas.openxmlformats.org/drawingml/2006/main">
            <a:off x="1000125" y="2571750"/>
            <a:ext cx="5524500" cy="3524250"/>
          </a:xfrm>
          <a:prstGeom xmlns:a="http://schemas.openxmlformats.org/drawingml/2006/main" prst="roundRect">
            <a:avLst>
              <a:gd name="adj" fmla="val 3243"/>
            </a:avLst>
          </a:prstGeom>
          <a:noFill xmlns:a="http://schemas.openxmlformats.org/drawingml/2006/main"/>
          <a:ln xmlns:a="http://schemas.openxmlformats.org/drawingml/2006/main" w="9525">
            <a:solidFill>
              <a:srgbClr val="06B6D4"/>
            </a:solidFill>
            <a:prstDash val="solid"/>
          </a:ln>
        </p:spPr>
      </p:sp>
      <p:sp>
        <p:nvSpPr>
          <p:cNvPr id="22" name="html-label">
            <a:extLst xmlns:a="http://schemas.openxmlformats.org/drawingml/2006/main">
              <a:ext uri="{FF2B5EF4-FFF2-40B4-BE49-F238E27FC236}">
                <a16:creationId xmlns:a16="http://schemas.microsoft.com/office/drawing/2014/main" id="{E44C5D37-95E3-45F1-B7A4-CCAD7A3D58F4}"/>
              </a:ext>
            </a:extLst>
          </p:cNvPr>
          <p:cNvSpPr>
            <a:spLocks xmlns:a="http://schemas.openxmlformats.org/drawingml/2006/main" noGrp="1"/>
          </p:cNvSpPr>
          <p:nvPr/>
        </p:nvSpPr>
        <p:spPr>
          <a:xfrm xmlns:a="http://schemas.openxmlformats.org/drawingml/2006/main">
            <a:off x="1476375" y="28575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OFFICIAL HTML/XBRL</a:t>
            </a:r>
          </a:p>
        </p:txBody>
      </p:sp>
      <p:sp>
        <p:nvSpPr>
          <p:cNvPr id="23" name="html-count">
            <a:extLst xmlns:a="http://schemas.openxmlformats.org/drawingml/2006/main">
              <a:ext uri="{FF2B5EF4-FFF2-40B4-BE49-F238E27FC236}">
                <a16:creationId xmlns:a16="http://schemas.microsoft.com/office/drawing/2014/main" id="{4BAFCD70-5101-4243-99AB-D5B290ABCC3C}"/>
              </a:ext>
            </a:extLst>
          </p:cNvPr>
          <p:cNvSpPr>
            <a:spLocks xmlns:a="http://schemas.openxmlformats.org/drawingml/2006/main" noGrp="1"/>
          </p:cNvSpPr>
          <p:nvPr/>
        </p:nvSpPr>
        <p:spPr>
          <a:xfrm xmlns:a="http://schemas.openxmlformats.org/drawingml/2006/main">
            <a:off x="1714500" y="3524250"/>
            <a:ext cx="4095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082F49"/>
                </a:solidFill>
              </a:defRPr>
            </a:pPr>
            <a:r>
              <a:rPr sz="3000" b="1">
                <a:solidFill>
                  <a:srgbClr val="082F49"/>
                </a:solidFill>
              </a:rPr>
              <a:t>64 tables</a:t>
            </a:r>
          </a:p>
        </p:txBody>
      </p:sp>
      <p:sp>
        <p:nvSpPr>
          <p:cNvPr id="24" name="html-relations">
            <a:extLst xmlns:a="http://schemas.openxmlformats.org/drawingml/2006/main">
              <a:ext uri="{FF2B5EF4-FFF2-40B4-BE49-F238E27FC236}">
                <a16:creationId xmlns:a16="http://schemas.microsoft.com/office/drawing/2014/main" id="{D06DC835-19F7-49CB-955E-8D6992BF6863}"/>
              </a:ext>
            </a:extLst>
          </p:cNvPr>
          <p:cNvSpPr>
            <a:spLocks xmlns:a="http://schemas.openxmlformats.org/drawingml/2006/main" noGrp="1"/>
          </p:cNvSpPr>
          <p:nvPr/>
        </p:nvSpPr>
        <p:spPr>
          <a:xfrm xmlns:a="http://schemas.openxmlformats.org/drawingml/2006/main">
            <a:off x="1524000" y="4476750"/>
            <a:ext cx="4476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a:solidFill>
                  <a:srgbClr val="475569"/>
                </a:solidFill>
              </a:defRPr>
            </a:pPr>
            <a:r>
              <a:rPr sz="1725">
                <a:solidFill>
                  <a:srgbClr val="475569"/>
                </a:solidFill>
              </a:rPr>
              <a:t>row · column · period · unit</a:t>
            </a:r>
          </a:p>
          <a:p xmlns:a="http://schemas.openxmlformats.org/drawingml/2006/main">
            <a:pPr algn="ctr">
              <a:buNone/>
              <a:defRPr sz="1725">
                <a:solidFill>
                  <a:srgbClr val="475569"/>
                </a:solidFill>
              </a:defRPr>
            </a:pPr>
            <a:r>
              <a:rPr sz="1725">
                <a:solidFill>
                  <a:srgbClr val="475569"/>
                </a:solidFill>
              </a:rPr>
              <a:t>section · footnote · hierarchy</a:t>
            </a:r>
          </a:p>
        </p:txBody>
      </p:sp>
      <p:sp>
        <p:nvSpPr>
          <p:cNvPr id="25" name="flatten-arrow">
            <a:extLst xmlns:a="http://schemas.openxmlformats.org/drawingml/2006/main">
              <a:ext uri="{FF2B5EF4-FFF2-40B4-BE49-F238E27FC236}">
                <a16:creationId xmlns:a16="http://schemas.microsoft.com/office/drawing/2014/main" id="{2763D7CB-C2DF-485C-A436-7BEA48EE9D04}"/>
              </a:ext>
            </a:extLst>
          </p:cNvPr>
          <p:cNvSpPr>
            <a:spLocks xmlns:a="http://schemas.openxmlformats.org/drawingml/2006/main" noGrp="1"/>
          </p:cNvSpPr>
          <p:nvPr/>
        </p:nvSpPr>
        <p:spPr>
          <a:xfrm xmlns:a="http://schemas.openxmlformats.org/drawingml/2006/main">
            <a:off x="6858000" y="3857625"/>
            <a:ext cx="1428750" cy="78105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26" name="flatten-label">
            <a:extLst xmlns:a="http://schemas.openxmlformats.org/drawingml/2006/main">
              <a:ext uri="{FF2B5EF4-FFF2-40B4-BE49-F238E27FC236}">
                <a16:creationId xmlns:a16="http://schemas.microsoft.com/office/drawing/2014/main" id="{BFCD56D5-3DF4-435E-8259-44C93498BA73}"/>
              </a:ext>
            </a:extLst>
          </p:cNvPr>
          <p:cNvSpPr>
            <a:spLocks xmlns:a="http://schemas.openxmlformats.org/drawingml/2006/main" noGrp="1"/>
          </p:cNvSpPr>
          <p:nvPr/>
        </p:nvSpPr>
        <p:spPr>
          <a:xfrm xmlns:a="http://schemas.openxmlformats.org/drawingml/2006/main">
            <a:off x="6858000" y="47625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F97316"/>
                </a:solidFill>
              </a:defRPr>
            </a:pPr>
            <a:r>
              <a:rPr sz="1350" b="1">
                <a:solidFill>
                  <a:srgbClr val="F97316"/>
                </a:solidFill>
              </a:rPr>
              <a:t>strip tags</a:t>
            </a:r>
          </a:p>
        </p:txBody>
      </p:sp>
      <p:sp>
        <p:nvSpPr>
          <p:cNvPr id="27" name="text-side">
            <a:extLst xmlns:a="http://schemas.openxmlformats.org/drawingml/2006/main">
              <a:ext uri="{FF2B5EF4-FFF2-40B4-BE49-F238E27FC236}">
                <a16:creationId xmlns:a16="http://schemas.microsoft.com/office/drawing/2014/main" id="{41B73BEC-703E-4401-9B4D-9EF5C919AAC2}"/>
              </a:ext>
            </a:extLst>
          </p:cNvPr>
          <p:cNvSpPr>
            <a:spLocks xmlns:a="http://schemas.openxmlformats.org/drawingml/2006/main" noGrp="1"/>
          </p:cNvSpPr>
          <p:nvPr/>
        </p:nvSpPr>
        <p:spPr>
          <a:xfrm xmlns:a="http://schemas.openxmlformats.org/drawingml/2006/main">
            <a:off x="8667750" y="2571750"/>
            <a:ext cx="5524500" cy="3524250"/>
          </a:xfrm>
          <a:prstGeom xmlns:a="http://schemas.openxmlformats.org/drawingml/2006/main" prst="roundRect">
            <a:avLst>
              <a:gd name="adj" fmla="val 3243"/>
            </a:avLst>
          </a:prstGeom>
          <a:noFill xmlns:a="http://schemas.openxmlformats.org/drawingml/2006/main"/>
          <a:ln xmlns:a="http://schemas.openxmlformats.org/drawingml/2006/main" w="9525">
            <a:solidFill>
              <a:srgbClr val="082F49"/>
            </a:solidFill>
            <a:prstDash val="solid"/>
          </a:ln>
        </p:spPr>
      </p:sp>
      <p:sp>
        <p:nvSpPr>
          <p:cNvPr id="28" name="text-label">
            <a:extLst xmlns:a="http://schemas.openxmlformats.org/drawingml/2006/main">
              <a:ext uri="{FF2B5EF4-FFF2-40B4-BE49-F238E27FC236}">
                <a16:creationId xmlns:a16="http://schemas.microsoft.com/office/drawing/2014/main" id="{F74E6AD5-8B04-4FB8-ABE3-31B28C485648}"/>
              </a:ext>
            </a:extLst>
          </p:cNvPr>
          <p:cNvSpPr>
            <a:spLocks xmlns:a="http://schemas.openxmlformats.org/drawingml/2006/main" noGrp="1"/>
          </p:cNvSpPr>
          <p:nvPr/>
        </p:nvSpPr>
        <p:spPr>
          <a:xfrm xmlns:a="http://schemas.openxmlformats.org/drawingml/2006/main">
            <a:off x="9144000" y="28575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6B6D4"/>
                </a:solidFill>
              </a:defRPr>
            </a:pPr>
            <a:r>
              <a:rPr sz="1350" b="1">
                <a:solidFill>
                  <a:srgbClr val="06B6D4"/>
                </a:solidFill>
              </a:rPr>
              <a:t>ONE FLAT TEXT STREAM</a:t>
            </a:r>
          </a:p>
        </p:txBody>
      </p:sp>
      <p:sp>
        <p:nvSpPr>
          <p:cNvPr id="29" name="flat-sample">
            <a:extLst xmlns:a="http://schemas.openxmlformats.org/drawingml/2006/main">
              <a:ext uri="{FF2B5EF4-FFF2-40B4-BE49-F238E27FC236}">
                <a16:creationId xmlns:a16="http://schemas.microsoft.com/office/drawing/2014/main" id="{0EF838D7-473D-4F49-8AFF-1F2E56D58627}"/>
              </a:ext>
            </a:extLst>
          </p:cNvPr>
          <p:cNvSpPr>
            <a:spLocks xmlns:a="http://schemas.openxmlformats.org/drawingml/2006/main" noGrp="1"/>
          </p:cNvSpPr>
          <p:nvPr/>
        </p:nvSpPr>
        <p:spPr>
          <a:xfrm xmlns:a="http://schemas.openxmlformats.org/drawingml/2006/main">
            <a:off x="9191625" y="3619500"/>
            <a:ext cx="44767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a:solidFill>
                  <a:srgbClr val="082F49"/>
                </a:solidFill>
              </a:defRPr>
            </a:pPr>
            <a:r>
              <a:rPr sz="1800">
                <a:solidFill>
                  <a:srgbClr val="082F49"/>
                </a:solidFill>
              </a:rPr>
              <a:t>Data Center $ 193,737 $ 115,186 … Gaming 16,042 … Total revenue $ 215,938 …</a:t>
            </a:r>
          </a:p>
        </p:txBody>
      </p:sp>
      <p:sp>
        <p:nvSpPr>
          <p:cNvPr id="30" name="lost-label">
            <a:extLst xmlns:a="http://schemas.openxmlformats.org/drawingml/2006/main">
              <a:ext uri="{FF2B5EF4-FFF2-40B4-BE49-F238E27FC236}">
                <a16:creationId xmlns:a16="http://schemas.microsoft.com/office/drawing/2014/main" id="{C65EB20E-2EA2-46A4-BF65-4E2E479E17AA}"/>
              </a:ext>
            </a:extLst>
          </p:cNvPr>
          <p:cNvSpPr>
            <a:spLocks xmlns:a="http://schemas.openxmlformats.org/drawingml/2006/main" noGrp="1"/>
          </p:cNvSpPr>
          <p:nvPr/>
        </p:nvSpPr>
        <p:spPr>
          <a:xfrm xmlns:a="http://schemas.openxmlformats.org/drawingml/2006/main">
            <a:off x="9144000" y="5238750"/>
            <a:ext cx="457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F97316"/>
                </a:solidFill>
              </a:defRPr>
            </a:pPr>
            <a:r>
              <a:rPr sz="1500" b="1">
                <a:solidFill>
                  <a:srgbClr val="F97316"/>
                </a:solidFill>
              </a:rPr>
              <a:t>The values remain; their relationships become implicit.</a:t>
            </a:r>
          </a:p>
        </p:txBody>
      </p:sp>
      <p:sp>
        <p:nvSpPr>
          <p:cNvPr id="31" name="parsing-point">
            <a:extLst xmlns:a="http://schemas.openxmlformats.org/drawingml/2006/main">
              <a:ext uri="{FF2B5EF4-FFF2-40B4-BE49-F238E27FC236}">
                <a16:creationId xmlns:a16="http://schemas.microsoft.com/office/drawing/2014/main" id="{7D7C8BB0-04C1-4927-BFEF-05A68FE88E9B}"/>
              </a:ext>
            </a:extLst>
          </p:cNvPr>
          <p:cNvSpPr>
            <a:spLocks xmlns:a="http://schemas.openxmlformats.org/drawingml/2006/main" noGrp="1"/>
          </p:cNvSpPr>
          <p:nvPr/>
        </p:nvSpPr>
        <p:spPr>
          <a:xfrm xmlns:a="http://schemas.openxmlformats.org/drawingml/2006/main">
            <a:off x="1809750" y="6667500"/>
            <a:ext cx="1162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DC2626"/>
                </a:solidFill>
              </a:defRPr>
            </a:pPr>
            <a:r>
              <a:rPr sz="1800" b="1">
                <a:solidFill>
                  <a:srgbClr val="DC2626"/>
                </a:solidFill>
              </a:rPr>
              <a:t>Retrieval cannot recover a relationship the parser no longer represents explicitly.</a:t>
            </a:r>
          </a:p>
        </p:txBody>
      </p:sp>
    </p:spTree>
    <p:extLst>
      <p:ext uri="{BB962C8B-B14F-4D97-AF65-F5344CB8AC3E}">
        <p14:creationId xmlns:p14="http://schemas.microsoft.com/office/powerpoint/2010/main" val="869369835"/>
      </p:ext>
    </p:extLst>
  </p:cSld>
</p:sld>
</file>

<file path=ppt/slides/slide7.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CCF7EA2-B73D-4AD4-B06A-D59EB17C18D1}"/>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NAIVE CHUNKING</a:t>
            </a:r>
          </a:p>
        </p:txBody>
      </p:sp>
      <p:sp>
        <p:nvSpPr>
          <p:cNvPr id="2" name="">
            <a:extLst xmlns:a="http://schemas.openxmlformats.org/drawingml/2006/main">
              <a:ext uri="{FF2B5EF4-FFF2-40B4-BE49-F238E27FC236}">
                <a16:creationId xmlns:a16="http://schemas.microsoft.com/office/drawing/2014/main" id="{187CB195-B256-4DE2-93C3-FA161C8102C4}"/>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89286"/>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Character windows ignore where financial meaning begins and ends</a:t>
            </a:r>
          </a:p>
        </p:txBody>
      </p:sp>
      <p:sp>
        <p:nvSpPr>
          <p:cNvPr id="28" name="">
            <a:extLst xmlns:a="http://schemas.openxmlformats.org/drawingml/2006/main">
              <a:ext uri="{FF2B5EF4-FFF2-40B4-BE49-F238E27FC236}">
                <a16:creationId xmlns:a16="http://schemas.microsoft.com/office/drawing/2014/main" id="{05A8B6A2-A436-4009-9DBC-3B6DBA9E20A7}"/>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29" name="">
            <a:extLst xmlns:a="http://schemas.openxmlformats.org/drawingml/2006/main">
              <a:ext uri="{FF2B5EF4-FFF2-40B4-BE49-F238E27FC236}">
                <a16:creationId xmlns:a16="http://schemas.microsoft.com/office/drawing/2014/main" id="{4697D0D9-3496-4094-B4FA-C00F06D3070F}"/>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30" name="">
            <a:extLst xmlns:a="http://schemas.openxmlformats.org/drawingml/2006/main">
              <a:ext uri="{FF2B5EF4-FFF2-40B4-BE49-F238E27FC236}">
                <a16:creationId xmlns:a16="http://schemas.microsoft.com/office/drawing/2014/main" id="{5743C049-7F39-45C8-8D75-46CC41FBD441}"/>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31" name="">
            <a:extLst xmlns:a="http://schemas.openxmlformats.org/drawingml/2006/main">
              <a:ext uri="{FF2B5EF4-FFF2-40B4-BE49-F238E27FC236}">
                <a16:creationId xmlns:a16="http://schemas.microsoft.com/office/drawing/2014/main" id="{B3EB295E-1397-4472-AF49-FB476A31BC9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CHUNKING</a:t>
            </a:r>
          </a:p>
        </p:txBody>
      </p:sp>
      <p:sp>
        <p:nvSpPr>
          <p:cNvPr id="32" name="">
            <a:extLst xmlns:a="http://schemas.openxmlformats.org/drawingml/2006/main">
              <a:ext uri="{FF2B5EF4-FFF2-40B4-BE49-F238E27FC236}">
                <a16:creationId xmlns:a16="http://schemas.microsoft.com/office/drawing/2014/main" id="{9EC7DC5B-6E2E-4A34-9CB9-5B080D34E638}"/>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07</a:t>
            </a:r>
          </a:p>
        </p:txBody>
      </p:sp>
      <p:sp>
        <p:nvSpPr>
          <p:cNvPr id="34" name="window-1">
            <a:extLst xmlns:a="http://schemas.openxmlformats.org/drawingml/2006/main">
              <a:ext uri="{FF2B5EF4-FFF2-40B4-BE49-F238E27FC236}">
                <a16:creationId xmlns:a16="http://schemas.microsoft.com/office/drawing/2014/main" id="{F0B2A178-6690-437E-ACB9-4DB825E74A6E}"/>
              </a:ext>
            </a:extLst>
          </p:cNvPr>
          <p:cNvSpPr>
            <a:spLocks xmlns:a="http://schemas.openxmlformats.org/drawingml/2006/main" noGrp="1"/>
          </p:cNvSpPr>
          <p:nvPr/>
        </p:nvSpPr>
        <p:spPr>
          <a:xfrm xmlns:a="http://schemas.openxmlformats.org/drawingml/2006/main">
            <a:off x="1095375" y="3000375"/>
            <a:ext cx="3143250" cy="514350"/>
          </a:xfrm>
          <a:prstGeom xmlns:a="http://schemas.openxmlformats.org/drawingml/2006/main" prst="roundRect">
            <a:avLst>
              <a:gd name="adj" fmla="val 22222"/>
            </a:avLst>
          </a:prstGeom>
          <a:solidFill xmlns:a="http://schemas.openxmlformats.org/drawingml/2006/main">
            <a:srgbClr val="2563EB"/>
          </a:solidFill>
          <a:ln xmlns:a="http://schemas.openxmlformats.org/drawingml/2006/main" w="9525">
            <a:solidFill>
              <a:srgbClr val="2563EB"/>
            </a:solidFill>
            <a:prstDash val="solid"/>
          </a:ln>
        </p:spPr>
      </p:sp>
      <p:sp>
        <p:nvSpPr>
          <p:cNvPr id="35" name="window-label-1">
            <a:extLst xmlns:a="http://schemas.openxmlformats.org/drawingml/2006/main">
              <a:ext uri="{FF2B5EF4-FFF2-40B4-BE49-F238E27FC236}">
                <a16:creationId xmlns:a16="http://schemas.microsoft.com/office/drawing/2014/main" id="{E5C2AFA6-0F36-4029-9C9B-3F2240A479F7}"/>
              </a:ext>
            </a:extLst>
          </p:cNvPr>
          <p:cNvSpPr>
            <a:spLocks xmlns:a="http://schemas.openxmlformats.org/drawingml/2006/main" noGrp="1"/>
          </p:cNvSpPr>
          <p:nvPr/>
        </p:nvSpPr>
        <p:spPr>
          <a:xfrm xmlns:a="http://schemas.openxmlformats.org/drawingml/2006/main">
            <a:off x="1304925" y="3086100"/>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C001</a:t>
            </a:r>
          </a:p>
        </p:txBody>
      </p:sp>
      <p:sp>
        <p:nvSpPr>
          <p:cNvPr id="36" name="window-2">
            <a:extLst xmlns:a="http://schemas.openxmlformats.org/drawingml/2006/main">
              <a:ext uri="{FF2B5EF4-FFF2-40B4-BE49-F238E27FC236}">
                <a16:creationId xmlns:a16="http://schemas.microsoft.com/office/drawing/2014/main" id="{5476837C-C4C2-4644-BB4F-9AAD5234B2DC}"/>
              </a:ext>
            </a:extLst>
          </p:cNvPr>
          <p:cNvSpPr>
            <a:spLocks xmlns:a="http://schemas.openxmlformats.org/drawingml/2006/main" noGrp="1"/>
          </p:cNvSpPr>
          <p:nvPr/>
        </p:nvSpPr>
        <p:spPr>
          <a:xfrm xmlns:a="http://schemas.openxmlformats.org/drawingml/2006/main">
            <a:off x="3048000" y="3429000"/>
            <a:ext cx="3143250" cy="514350"/>
          </a:xfrm>
          <a:prstGeom xmlns:a="http://schemas.openxmlformats.org/drawingml/2006/main" prst="roundRect">
            <a:avLst>
              <a:gd name="adj" fmla="val 22222"/>
            </a:avLst>
          </a:prstGeom>
          <a:solidFill xmlns:a="http://schemas.openxmlformats.org/drawingml/2006/main">
            <a:srgbClr val="06B6D4"/>
          </a:solidFill>
          <a:ln xmlns:a="http://schemas.openxmlformats.org/drawingml/2006/main" w="9525">
            <a:solidFill>
              <a:srgbClr val="06B6D4"/>
            </a:solidFill>
            <a:prstDash val="solid"/>
          </a:ln>
        </p:spPr>
      </p:sp>
      <p:sp>
        <p:nvSpPr>
          <p:cNvPr id="37" name="window-label-2">
            <a:extLst xmlns:a="http://schemas.openxmlformats.org/drawingml/2006/main">
              <a:ext uri="{FF2B5EF4-FFF2-40B4-BE49-F238E27FC236}">
                <a16:creationId xmlns:a16="http://schemas.microsoft.com/office/drawing/2014/main" id="{169D38A0-0EA8-4865-A06C-C5C682A7ED48}"/>
              </a:ext>
            </a:extLst>
          </p:cNvPr>
          <p:cNvSpPr>
            <a:spLocks xmlns:a="http://schemas.openxmlformats.org/drawingml/2006/main" noGrp="1"/>
          </p:cNvSpPr>
          <p:nvPr/>
        </p:nvSpPr>
        <p:spPr>
          <a:xfrm xmlns:a="http://schemas.openxmlformats.org/drawingml/2006/main">
            <a:off x="3257550" y="3514725"/>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C002</a:t>
            </a:r>
          </a:p>
        </p:txBody>
      </p:sp>
      <p:sp>
        <p:nvSpPr>
          <p:cNvPr id="38" name="window-3">
            <a:extLst xmlns:a="http://schemas.openxmlformats.org/drawingml/2006/main">
              <a:ext uri="{FF2B5EF4-FFF2-40B4-BE49-F238E27FC236}">
                <a16:creationId xmlns:a16="http://schemas.microsoft.com/office/drawing/2014/main" id="{A6161068-F057-4164-AF12-ABBF74F25441}"/>
              </a:ext>
            </a:extLst>
          </p:cNvPr>
          <p:cNvSpPr>
            <a:spLocks xmlns:a="http://schemas.openxmlformats.org/drawingml/2006/main" noGrp="1"/>
          </p:cNvSpPr>
          <p:nvPr/>
        </p:nvSpPr>
        <p:spPr>
          <a:xfrm xmlns:a="http://schemas.openxmlformats.org/drawingml/2006/main">
            <a:off x="5000625" y="3857625"/>
            <a:ext cx="3143250" cy="514350"/>
          </a:xfrm>
          <a:prstGeom xmlns:a="http://schemas.openxmlformats.org/drawingml/2006/main" prst="roundRect">
            <a:avLst>
              <a:gd name="adj" fmla="val 22222"/>
            </a:avLst>
          </a:prstGeom>
          <a:solidFill xmlns:a="http://schemas.openxmlformats.org/drawingml/2006/main">
            <a:srgbClr val="2563EB"/>
          </a:solidFill>
          <a:ln xmlns:a="http://schemas.openxmlformats.org/drawingml/2006/main" w="9525">
            <a:solidFill>
              <a:srgbClr val="2563EB"/>
            </a:solidFill>
            <a:prstDash val="solid"/>
          </a:ln>
        </p:spPr>
      </p:sp>
      <p:sp>
        <p:nvSpPr>
          <p:cNvPr id="39" name="window-label-3">
            <a:extLst xmlns:a="http://schemas.openxmlformats.org/drawingml/2006/main">
              <a:ext uri="{FF2B5EF4-FFF2-40B4-BE49-F238E27FC236}">
                <a16:creationId xmlns:a16="http://schemas.microsoft.com/office/drawing/2014/main" id="{F9C90A8E-A8A0-4586-A488-11F125D881E9}"/>
              </a:ext>
            </a:extLst>
          </p:cNvPr>
          <p:cNvSpPr>
            <a:spLocks xmlns:a="http://schemas.openxmlformats.org/drawingml/2006/main" noGrp="1"/>
          </p:cNvSpPr>
          <p:nvPr/>
        </p:nvSpPr>
        <p:spPr>
          <a:xfrm xmlns:a="http://schemas.openxmlformats.org/drawingml/2006/main">
            <a:off x="5210175" y="3943350"/>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C003</a:t>
            </a:r>
          </a:p>
        </p:txBody>
      </p:sp>
      <p:sp>
        <p:nvSpPr>
          <p:cNvPr id="40" name="window-4">
            <a:extLst xmlns:a="http://schemas.openxmlformats.org/drawingml/2006/main">
              <a:ext uri="{FF2B5EF4-FFF2-40B4-BE49-F238E27FC236}">
                <a16:creationId xmlns:a16="http://schemas.microsoft.com/office/drawing/2014/main" id="{7E72CA4A-5820-4E4F-9637-C800C481D5C5}"/>
              </a:ext>
            </a:extLst>
          </p:cNvPr>
          <p:cNvSpPr>
            <a:spLocks xmlns:a="http://schemas.openxmlformats.org/drawingml/2006/main" noGrp="1"/>
          </p:cNvSpPr>
          <p:nvPr/>
        </p:nvSpPr>
        <p:spPr>
          <a:xfrm xmlns:a="http://schemas.openxmlformats.org/drawingml/2006/main">
            <a:off x="6953250" y="4286250"/>
            <a:ext cx="3143250" cy="514350"/>
          </a:xfrm>
          <a:prstGeom xmlns:a="http://schemas.openxmlformats.org/drawingml/2006/main" prst="roundRect">
            <a:avLst>
              <a:gd name="adj" fmla="val 22222"/>
            </a:avLst>
          </a:prstGeom>
          <a:solidFill xmlns:a="http://schemas.openxmlformats.org/drawingml/2006/main">
            <a:srgbClr val="06B6D4"/>
          </a:solidFill>
          <a:ln xmlns:a="http://schemas.openxmlformats.org/drawingml/2006/main" w="9525">
            <a:solidFill>
              <a:srgbClr val="06B6D4"/>
            </a:solidFill>
            <a:prstDash val="solid"/>
          </a:ln>
        </p:spPr>
      </p:sp>
      <p:sp>
        <p:nvSpPr>
          <p:cNvPr id="41" name="window-label-4">
            <a:extLst xmlns:a="http://schemas.openxmlformats.org/drawingml/2006/main">
              <a:ext uri="{FF2B5EF4-FFF2-40B4-BE49-F238E27FC236}">
                <a16:creationId xmlns:a16="http://schemas.microsoft.com/office/drawing/2014/main" id="{7FC6E2B8-4BB3-40A1-92AC-D100EAA09BD6}"/>
              </a:ext>
            </a:extLst>
          </p:cNvPr>
          <p:cNvSpPr>
            <a:spLocks xmlns:a="http://schemas.openxmlformats.org/drawingml/2006/main" noGrp="1"/>
          </p:cNvSpPr>
          <p:nvPr/>
        </p:nvSpPr>
        <p:spPr>
          <a:xfrm xmlns:a="http://schemas.openxmlformats.org/drawingml/2006/main">
            <a:off x="7162800" y="4371975"/>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C004</a:t>
            </a:r>
          </a:p>
        </p:txBody>
      </p:sp>
      <p:sp>
        <p:nvSpPr>
          <p:cNvPr id="42" name="window-5">
            <a:extLst xmlns:a="http://schemas.openxmlformats.org/drawingml/2006/main">
              <a:ext uri="{FF2B5EF4-FFF2-40B4-BE49-F238E27FC236}">
                <a16:creationId xmlns:a16="http://schemas.microsoft.com/office/drawing/2014/main" id="{265D8968-BD6C-426E-8AA2-A4194279D8C8}"/>
              </a:ext>
            </a:extLst>
          </p:cNvPr>
          <p:cNvSpPr>
            <a:spLocks xmlns:a="http://schemas.openxmlformats.org/drawingml/2006/main" noGrp="1"/>
          </p:cNvSpPr>
          <p:nvPr/>
        </p:nvSpPr>
        <p:spPr>
          <a:xfrm xmlns:a="http://schemas.openxmlformats.org/drawingml/2006/main">
            <a:off x="8905875" y="4714875"/>
            <a:ext cx="3143250" cy="514350"/>
          </a:xfrm>
          <a:prstGeom xmlns:a="http://schemas.openxmlformats.org/drawingml/2006/main" prst="roundRect">
            <a:avLst>
              <a:gd name="adj" fmla="val 22222"/>
            </a:avLst>
          </a:prstGeom>
          <a:solidFill xmlns:a="http://schemas.openxmlformats.org/drawingml/2006/main">
            <a:srgbClr val="2563EB"/>
          </a:solidFill>
          <a:ln xmlns:a="http://schemas.openxmlformats.org/drawingml/2006/main" w="9525">
            <a:solidFill>
              <a:srgbClr val="2563EB"/>
            </a:solidFill>
            <a:prstDash val="solid"/>
          </a:ln>
        </p:spPr>
      </p:sp>
      <p:sp>
        <p:nvSpPr>
          <p:cNvPr id="43" name="window-label-5">
            <a:extLst xmlns:a="http://schemas.openxmlformats.org/drawingml/2006/main">
              <a:ext uri="{FF2B5EF4-FFF2-40B4-BE49-F238E27FC236}">
                <a16:creationId xmlns:a16="http://schemas.microsoft.com/office/drawing/2014/main" id="{912160D6-23E3-4D62-8135-7059BC510E28}"/>
              </a:ext>
            </a:extLst>
          </p:cNvPr>
          <p:cNvSpPr>
            <a:spLocks xmlns:a="http://schemas.openxmlformats.org/drawingml/2006/main" noGrp="1"/>
          </p:cNvSpPr>
          <p:nvPr/>
        </p:nvSpPr>
        <p:spPr>
          <a:xfrm xmlns:a="http://schemas.openxmlformats.org/drawingml/2006/main">
            <a:off x="9115425" y="4800600"/>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C005</a:t>
            </a:r>
          </a:p>
        </p:txBody>
      </p:sp>
      <p:sp>
        <p:nvSpPr>
          <p:cNvPr id="44" name="window-6">
            <a:extLst xmlns:a="http://schemas.openxmlformats.org/drawingml/2006/main">
              <a:ext uri="{FF2B5EF4-FFF2-40B4-BE49-F238E27FC236}">
                <a16:creationId xmlns:a16="http://schemas.microsoft.com/office/drawing/2014/main" id="{3A070F21-86B4-42E7-86D4-6CD32D1320E1}"/>
              </a:ext>
            </a:extLst>
          </p:cNvPr>
          <p:cNvSpPr>
            <a:spLocks xmlns:a="http://schemas.openxmlformats.org/drawingml/2006/main" noGrp="1"/>
          </p:cNvSpPr>
          <p:nvPr/>
        </p:nvSpPr>
        <p:spPr>
          <a:xfrm xmlns:a="http://schemas.openxmlformats.org/drawingml/2006/main">
            <a:off x="10858500" y="5143500"/>
            <a:ext cx="3143250" cy="514350"/>
          </a:xfrm>
          <a:prstGeom xmlns:a="http://schemas.openxmlformats.org/drawingml/2006/main" prst="roundRect">
            <a:avLst>
              <a:gd name="adj" fmla="val 22222"/>
            </a:avLst>
          </a:prstGeom>
          <a:solidFill xmlns:a="http://schemas.openxmlformats.org/drawingml/2006/main">
            <a:srgbClr val="06B6D4"/>
          </a:solidFill>
          <a:ln xmlns:a="http://schemas.openxmlformats.org/drawingml/2006/main" w="9525">
            <a:solidFill>
              <a:srgbClr val="06B6D4"/>
            </a:solidFill>
            <a:prstDash val="solid"/>
          </a:ln>
        </p:spPr>
      </p:sp>
      <p:sp>
        <p:nvSpPr>
          <p:cNvPr id="45" name="window-label-6">
            <a:extLst xmlns:a="http://schemas.openxmlformats.org/drawingml/2006/main">
              <a:ext uri="{FF2B5EF4-FFF2-40B4-BE49-F238E27FC236}">
                <a16:creationId xmlns:a16="http://schemas.microsoft.com/office/drawing/2014/main" id="{12BF1033-BC37-44DA-810B-46B9C23EC0B0}"/>
              </a:ext>
            </a:extLst>
          </p:cNvPr>
          <p:cNvSpPr>
            <a:spLocks xmlns:a="http://schemas.openxmlformats.org/drawingml/2006/main" noGrp="1"/>
          </p:cNvSpPr>
          <p:nvPr/>
        </p:nvSpPr>
        <p:spPr>
          <a:xfrm xmlns:a="http://schemas.openxmlformats.org/drawingml/2006/main">
            <a:off x="11068050" y="5229225"/>
            <a:ext cx="952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C006</a:t>
            </a:r>
          </a:p>
        </p:txBody>
      </p:sp>
      <p:sp>
        <p:nvSpPr>
          <p:cNvPr id="46" name="window-size">
            <a:extLst xmlns:a="http://schemas.openxmlformats.org/drawingml/2006/main">
              <a:ext uri="{FF2B5EF4-FFF2-40B4-BE49-F238E27FC236}">
                <a16:creationId xmlns:a16="http://schemas.microsoft.com/office/drawing/2014/main" id="{78234885-25D4-4C22-93DF-249A61FB881E}"/>
              </a:ext>
            </a:extLst>
          </p:cNvPr>
          <p:cNvSpPr>
            <a:spLocks xmlns:a="http://schemas.openxmlformats.org/drawingml/2006/main" noGrp="1"/>
          </p:cNvSpPr>
          <p:nvPr/>
        </p:nvSpPr>
        <p:spPr>
          <a:xfrm xmlns:a="http://schemas.openxmlformats.org/drawingml/2006/main">
            <a:off x="1190625" y="247650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475569"/>
                </a:solidFill>
              </a:defRPr>
            </a:pPr>
            <a:r>
              <a:rPr sz="1500" b="1">
                <a:solidFill>
                  <a:srgbClr val="475569"/>
                </a:solidFill>
              </a:rPr>
              <a:t>1,600 characters per window</a:t>
            </a:r>
          </a:p>
        </p:txBody>
      </p:sp>
      <p:sp>
        <p:nvSpPr>
          <p:cNvPr id="47" name="window-overlap">
            <a:extLst xmlns:a="http://schemas.openxmlformats.org/drawingml/2006/main">
              <a:ext uri="{FF2B5EF4-FFF2-40B4-BE49-F238E27FC236}">
                <a16:creationId xmlns:a16="http://schemas.microsoft.com/office/drawing/2014/main" id="{46C07803-3226-484F-9F6C-63A06A3FC51A}"/>
              </a:ext>
            </a:extLst>
          </p:cNvPr>
          <p:cNvSpPr>
            <a:spLocks xmlns:a="http://schemas.openxmlformats.org/drawingml/2006/main" noGrp="1"/>
          </p:cNvSpPr>
          <p:nvPr/>
        </p:nvSpPr>
        <p:spPr>
          <a:xfrm xmlns:a="http://schemas.openxmlformats.org/drawingml/2006/main">
            <a:off x="10287000" y="6429375"/>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F97316"/>
                </a:solidFill>
              </a:defRPr>
            </a:pPr>
            <a:r>
              <a:rPr sz="1500" b="1">
                <a:solidFill>
                  <a:srgbClr val="F97316"/>
                </a:solidFill>
              </a:rPr>
              <a:t>200-character overlap</a:t>
            </a:r>
          </a:p>
        </p:txBody>
      </p:sp>
      <p:sp>
        <p:nvSpPr>
          <p:cNvPr id="48" name="overlap-rule">
            <a:extLst xmlns:a="http://schemas.openxmlformats.org/drawingml/2006/main">
              <a:ext uri="{FF2B5EF4-FFF2-40B4-BE49-F238E27FC236}">
                <a16:creationId xmlns:a16="http://schemas.microsoft.com/office/drawing/2014/main" id="{EF635F36-7C0A-47F2-BEC8-ADAAA90E8D27}"/>
              </a:ext>
            </a:extLst>
          </p:cNvPr>
          <p:cNvSpPr>
            <a:spLocks xmlns:a="http://schemas.openxmlformats.org/drawingml/2006/main" noGrp="1"/>
          </p:cNvSpPr>
          <p:nvPr/>
        </p:nvSpPr>
        <p:spPr>
          <a:xfrm xmlns:a="http://schemas.openxmlformats.org/drawingml/2006/main">
            <a:off x="10763250" y="6191250"/>
            <a:ext cx="2000250" cy="76200"/>
          </a:xfrm>
          <a:prstGeom xmlns:a="http://schemas.openxmlformats.org/drawingml/2006/main" prst="rect">
            <a:avLst/>
          </a:prstGeom>
          <a:solidFill xmlns:a="http://schemas.openxmlformats.org/drawingml/2006/main">
            <a:srgbClr val="F97316"/>
          </a:solidFill>
          <a:ln xmlns:a="http://schemas.openxmlformats.org/drawingml/2006/main" w="0">
            <a:solidFill>
              <a:srgbClr val="F97316"/>
            </a:solidFill>
            <a:prstDash val="solid"/>
          </a:ln>
        </p:spPr>
      </p:sp>
      <p:sp>
        <p:nvSpPr>
          <p:cNvPr id="49" name="window-count">
            <a:extLst xmlns:a="http://schemas.openxmlformats.org/drawingml/2006/main">
              <a:ext uri="{FF2B5EF4-FFF2-40B4-BE49-F238E27FC236}">
                <a16:creationId xmlns:a16="http://schemas.microsoft.com/office/drawing/2014/main" id="{80B676BE-BB05-458C-85DA-EBCE927F92DA}"/>
              </a:ext>
            </a:extLst>
          </p:cNvPr>
          <p:cNvSpPr>
            <a:spLocks xmlns:a="http://schemas.openxmlformats.org/drawingml/2006/main" noGrp="1"/>
          </p:cNvSpPr>
          <p:nvPr/>
        </p:nvSpPr>
        <p:spPr>
          <a:xfrm xmlns:a="http://schemas.openxmlformats.org/drawingml/2006/main">
            <a:off x="1143000" y="6429375"/>
            <a:ext cx="2857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82F49"/>
                </a:solidFill>
              </a:defRPr>
            </a:pPr>
            <a:r>
              <a:rPr sz="2550" b="1">
                <a:solidFill>
                  <a:srgbClr val="082F49"/>
                </a:solidFill>
              </a:rPr>
              <a:t>258 windows</a:t>
            </a:r>
          </a:p>
        </p:txBody>
      </p:sp>
      <p:sp>
        <p:nvSpPr>
          <p:cNvPr id="50" name="window-warning">
            <a:extLst xmlns:a="http://schemas.openxmlformats.org/drawingml/2006/main">
              <a:ext uri="{FF2B5EF4-FFF2-40B4-BE49-F238E27FC236}">
                <a16:creationId xmlns:a16="http://schemas.microsoft.com/office/drawing/2014/main" id="{EB426C4C-293F-445D-80D8-2222B7C9FA6C}"/>
              </a:ext>
            </a:extLst>
          </p:cNvPr>
          <p:cNvSpPr>
            <a:spLocks xmlns:a="http://schemas.openxmlformats.org/drawingml/2006/main" noGrp="1"/>
          </p:cNvSpPr>
          <p:nvPr/>
        </p:nvSpPr>
        <p:spPr>
          <a:xfrm xmlns:a="http://schemas.openxmlformats.org/drawingml/2006/main">
            <a:off x="4762500" y="6619875"/>
            <a:ext cx="571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DC2626"/>
                </a:solidFill>
              </a:defRPr>
            </a:pPr>
            <a:r>
              <a:rPr sz="1575" b="1">
                <a:solidFill>
                  <a:srgbClr val="DC2626"/>
                </a:solidFill>
              </a:rPr>
              <a:t>Overlap softens the cut. It does not understand tables, headings or units.</a:t>
            </a:r>
          </a:p>
        </p:txBody>
      </p:sp>
    </p:spTree>
    <p:extLst>
      <p:ext uri="{BB962C8B-B14F-4D97-AF65-F5344CB8AC3E}">
        <p14:creationId xmlns:p14="http://schemas.microsoft.com/office/powerpoint/2010/main" val="1423324769"/>
      </p:ext>
    </p:extLst>
  </p:cSld>
</p:sld>
</file>

<file path=ppt/slides/slide8.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83" name="">
            <a:extLst xmlns:a="http://schemas.openxmlformats.org/drawingml/2006/main">
              <a:ext uri="{FF2B5EF4-FFF2-40B4-BE49-F238E27FC236}">
                <a16:creationId xmlns:a16="http://schemas.microsoft.com/office/drawing/2014/main" id="{A3389EE3-4155-4B6C-B75C-92690373C37D}"/>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RETRIEVAL</a:t>
            </a:r>
          </a:p>
        </p:txBody>
      </p:sp>
      <p:sp>
        <p:nvSpPr>
          <p:cNvPr id="2" name="">
            <a:extLst xmlns:a="http://schemas.openxmlformats.org/drawingml/2006/main">
              <a:ext uri="{FF2B5EF4-FFF2-40B4-BE49-F238E27FC236}">
                <a16:creationId xmlns:a16="http://schemas.microsoft.com/office/drawing/2014/main" id="{94A1CAE9-7E82-40E3-9732-DC7D0E0804B0}"/>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Top-k becomes the model's evidence boundary</a:t>
            </a:r>
          </a:p>
        </p:txBody>
      </p:sp>
      <p:sp>
        <p:nvSpPr>
          <p:cNvPr id="78" name="">
            <a:extLst xmlns:a="http://schemas.openxmlformats.org/drawingml/2006/main">
              <a:ext uri="{FF2B5EF4-FFF2-40B4-BE49-F238E27FC236}">
                <a16:creationId xmlns:a16="http://schemas.microsoft.com/office/drawing/2014/main" id="{82C430B3-83CD-4FAD-9227-9988B36CD1C0}"/>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79" name="">
            <a:extLst xmlns:a="http://schemas.openxmlformats.org/drawingml/2006/main">
              <a:ext uri="{FF2B5EF4-FFF2-40B4-BE49-F238E27FC236}">
                <a16:creationId xmlns:a16="http://schemas.microsoft.com/office/drawing/2014/main" id="{0918F79C-42E9-484F-9A88-334DF9AE50A3}"/>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80" name="">
            <a:extLst xmlns:a="http://schemas.openxmlformats.org/drawingml/2006/main">
              <a:ext uri="{FF2B5EF4-FFF2-40B4-BE49-F238E27FC236}">
                <a16:creationId xmlns:a16="http://schemas.microsoft.com/office/drawing/2014/main" id="{EE3ECFDE-FF1E-4EC0-8408-DBD082065554}"/>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81" name="">
            <a:extLst xmlns:a="http://schemas.openxmlformats.org/drawingml/2006/main">
              <a:ext uri="{FF2B5EF4-FFF2-40B4-BE49-F238E27FC236}">
                <a16:creationId xmlns:a16="http://schemas.microsoft.com/office/drawing/2014/main" id="{C99091F2-E290-4C60-820B-AB7C2FF44A8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RANKING</a:t>
            </a:r>
          </a:p>
        </p:txBody>
      </p:sp>
      <p:sp>
        <p:nvSpPr>
          <p:cNvPr id="82" name="">
            <a:extLst xmlns:a="http://schemas.openxmlformats.org/drawingml/2006/main">
              <a:ext uri="{FF2B5EF4-FFF2-40B4-BE49-F238E27FC236}">
                <a16:creationId xmlns:a16="http://schemas.microsoft.com/office/drawing/2014/main" id="{644AB3C2-4687-471A-948C-D0B8B4431C33}"/>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08</a:t>
            </a:r>
          </a:p>
        </p:txBody>
      </p:sp>
      <p:sp>
        <p:nvSpPr>
          <p:cNvPr id="84" name="rank-id-0">
            <a:extLst xmlns:a="http://schemas.openxmlformats.org/drawingml/2006/main">
              <a:ext uri="{FF2B5EF4-FFF2-40B4-BE49-F238E27FC236}">
                <a16:creationId xmlns:a16="http://schemas.microsoft.com/office/drawing/2014/main" id="{7BB9B6FF-9098-4EB7-ACD8-E5456169EFD5}"/>
              </a:ext>
            </a:extLst>
          </p:cNvPr>
          <p:cNvSpPr>
            <a:spLocks xmlns:a="http://schemas.openxmlformats.org/drawingml/2006/main" noGrp="1"/>
          </p:cNvSpPr>
          <p:nvPr/>
        </p:nvSpPr>
        <p:spPr>
          <a:xfrm xmlns:a="http://schemas.openxmlformats.org/drawingml/2006/main">
            <a:off x="1428750" y="24765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97316"/>
                </a:solidFill>
              </a:defRPr>
            </a:pPr>
            <a:r>
              <a:rPr sz="1350" b="1">
                <a:solidFill>
                  <a:srgbClr val="F97316"/>
                </a:solidFill>
              </a:rPr>
              <a:t>C152</a:t>
            </a:r>
          </a:p>
        </p:txBody>
      </p:sp>
      <p:sp>
        <p:nvSpPr>
          <p:cNvPr id="85" name="rank-bg-0">
            <a:extLst xmlns:a="http://schemas.openxmlformats.org/drawingml/2006/main">
              <a:ext uri="{FF2B5EF4-FFF2-40B4-BE49-F238E27FC236}">
                <a16:creationId xmlns:a16="http://schemas.microsoft.com/office/drawing/2014/main" id="{3D635FCF-2161-4F49-8BED-24DC1792958A}"/>
              </a:ext>
            </a:extLst>
          </p:cNvPr>
          <p:cNvSpPr>
            <a:spLocks xmlns:a="http://schemas.openxmlformats.org/drawingml/2006/main" noGrp="1"/>
          </p:cNvSpPr>
          <p:nvPr/>
        </p:nvSpPr>
        <p:spPr>
          <a:xfrm xmlns:a="http://schemas.openxmlformats.org/drawingml/2006/main">
            <a:off x="2619375" y="25241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86" name="rank-bar-0">
            <a:extLst xmlns:a="http://schemas.openxmlformats.org/drawingml/2006/main">
              <a:ext uri="{FF2B5EF4-FFF2-40B4-BE49-F238E27FC236}">
                <a16:creationId xmlns:a16="http://schemas.microsoft.com/office/drawing/2014/main" id="{6FDFFE1F-9FD8-4E15-87BC-5687DD12BF5E}"/>
              </a:ext>
            </a:extLst>
          </p:cNvPr>
          <p:cNvSpPr>
            <a:spLocks xmlns:a="http://schemas.openxmlformats.org/drawingml/2006/main" noGrp="1"/>
          </p:cNvSpPr>
          <p:nvPr/>
        </p:nvSpPr>
        <p:spPr>
          <a:xfrm xmlns:a="http://schemas.openxmlformats.org/drawingml/2006/main">
            <a:off x="2619375" y="2524125"/>
            <a:ext cx="7810500" cy="190500"/>
          </a:xfrm>
          <a:prstGeom xmlns:a="http://schemas.openxmlformats.org/drawingml/2006/main" prst="rect">
            <a:avLst/>
          </a:prstGeom>
          <a:solidFill xmlns:a="http://schemas.openxmlformats.org/drawingml/2006/main">
            <a:srgbClr val="F97316"/>
          </a:solidFill>
          <a:ln xmlns:a="http://schemas.openxmlformats.org/drawingml/2006/main" w="0">
            <a:solidFill>
              <a:srgbClr val="F97316"/>
            </a:solidFill>
            <a:prstDash val="solid"/>
          </a:ln>
        </p:spPr>
      </p:sp>
      <p:sp>
        <p:nvSpPr>
          <p:cNvPr id="87" name="rank-score-0">
            <a:extLst xmlns:a="http://schemas.openxmlformats.org/drawingml/2006/main">
              <a:ext uri="{FF2B5EF4-FFF2-40B4-BE49-F238E27FC236}">
                <a16:creationId xmlns:a16="http://schemas.microsoft.com/office/drawing/2014/main" id="{4B158E0D-B655-4661-8790-8C1B37CA64F6}"/>
              </a:ext>
            </a:extLst>
          </p:cNvPr>
          <p:cNvSpPr>
            <a:spLocks xmlns:a="http://schemas.openxmlformats.org/drawingml/2006/main" noGrp="1"/>
          </p:cNvSpPr>
          <p:nvPr/>
        </p:nvSpPr>
        <p:spPr>
          <a:xfrm xmlns:a="http://schemas.openxmlformats.org/drawingml/2006/main">
            <a:off x="10668000" y="24765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0.289</a:t>
            </a:r>
          </a:p>
        </p:txBody>
      </p:sp>
      <p:sp>
        <p:nvSpPr>
          <p:cNvPr id="88" name="rank-id-1">
            <a:extLst xmlns:a="http://schemas.openxmlformats.org/drawingml/2006/main">
              <a:ext uri="{FF2B5EF4-FFF2-40B4-BE49-F238E27FC236}">
                <a16:creationId xmlns:a16="http://schemas.microsoft.com/office/drawing/2014/main" id="{145BA646-8E76-426B-B09F-7E62C70C51D1}"/>
              </a:ext>
            </a:extLst>
          </p:cNvPr>
          <p:cNvSpPr>
            <a:spLocks xmlns:a="http://schemas.openxmlformats.org/drawingml/2006/main" noGrp="1"/>
          </p:cNvSpPr>
          <p:nvPr/>
        </p:nvSpPr>
        <p:spPr>
          <a:xfrm xmlns:a="http://schemas.openxmlformats.org/drawingml/2006/main">
            <a:off x="1428750" y="29337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97316"/>
                </a:solidFill>
              </a:defRPr>
            </a:pPr>
            <a:r>
              <a:rPr sz="1350" b="1">
                <a:solidFill>
                  <a:srgbClr val="F97316"/>
                </a:solidFill>
              </a:rPr>
              <a:t>C160</a:t>
            </a:r>
          </a:p>
        </p:txBody>
      </p:sp>
      <p:sp>
        <p:nvSpPr>
          <p:cNvPr id="89" name="rank-bg-1">
            <a:extLst xmlns:a="http://schemas.openxmlformats.org/drawingml/2006/main">
              <a:ext uri="{FF2B5EF4-FFF2-40B4-BE49-F238E27FC236}">
                <a16:creationId xmlns:a16="http://schemas.microsoft.com/office/drawing/2014/main" id="{69D7968F-FC6D-4BFA-B173-D76FD2C511DF}"/>
              </a:ext>
            </a:extLst>
          </p:cNvPr>
          <p:cNvSpPr>
            <a:spLocks xmlns:a="http://schemas.openxmlformats.org/drawingml/2006/main" noGrp="1"/>
          </p:cNvSpPr>
          <p:nvPr/>
        </p:nvSpPr>
        <p:spPr>
          <a:xfrm xmlns:a="http://schemas.openxmlformats.org/drawingml/2006/main">
            <a:off x="2619375" y="29813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90" name="rank-bar-1">
            <a:extLst xmlns:a="http://schemas.openxmlformats.org/drawingml/2006/main">
              <a:ext uri="{FF2B5EF4-FFF2-40B4-BE49-F238E27FC236}">
                <a16:creationId xmlns:a16="http://schemas.microsoft.com/office/drawing/2014/main" id="{C472F323-5670-419D-9718-8E6796260889}"/>
              </a:ext>
            </a:extLst>
          </p:cNvPr>
          <p:cNvSpPr>
            <a:spLocks xmlns:a="http://schemas.openxmlformats.org/drawingml/2006/main" noGrp="1"/>
          </p:cNvSpPr>
          <p:nvPr/>
        </p:nvSpPr>
        <p:spPr>
          <a:xfrm xmlns:a="http://schemas.openxmlformats.org/drawingml/2006/main">
            <a:off x="2619375" y="2981325"/>
            <a:ext cx="7053773" cy="190500"/>
          </a:xfrm>
          <a:prstGeom xmlns:a="http://schemas.openxmlformats.org/drawingml/2006/main" prst="rect">
            <a:avLst/>
          </a:prstGeom>
          <a:solidFill xmlns:a="http://schemas.openxmlformats.org/drawingml/2006/main">
            <a:srgbClr val="F97316"/>
          </a:solidFill>
          <a:ln xmlns:a="http://schemas.openxmlformats.org/drawingml/2006/main" w="0">
            <a:solidFill>
              <a:srgbClr val="F97316"/>
            </a:solidFill>
            <a:prstDash val="solid"/>
          </a:ln>
        </p:spPr>
      </p:sp>
      <p:sp>
        <p:nvSpPr>
          <p:cNvPr id="91" name="rank-score-1">
            <a:extLst xmlns:a="http://schemas.openxmlformats.org/drawingml/2006/main">
              <a:ext uri="{FF2B5EF4-FFF2-40B4-BE49-F238E27FC236}">
                <a16:creationId xmlns:a16="http://schemas.microsoft.com/office/drawing/2014/main" id="{7B625802-0124-40D9-A47A-B43997329A78}"/>
              </a:ext>
            </a:extLst>
          </p:cNvPr>
          <p:cNvSpPr>
            <a:spLocks xmlns:a="http://schemas.openxmlformats.org/drawingml/2006/main" noGrp="1"/>
          </p:cNvSpPr>
          <p:nvPr/>
        </p:nvSpPr>
        <p:spPr>
          <a:xfrm xmlns:a="http://schemas.openxmlformats.org/drawingml/2006/main">
            <a:off x="10668000" y="29337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0.261</a:t>
            </a:r>
          </a:p>
        </p:txBody>
      </p:sp>
      <p:sp>
        <p:nvSpPr>
          <p:cNvPr id="92" name="rank-id-2">
            <a:extLst xmlns:a="http://schemas.openxmlformats.org/drawingml/2006/main">
              <a:ext uri="{FF2B5EF4-FFF2-40B4-BE49-F238E27FC236}">
                <a16:creationId xmlns:a16="http://schemas.microsoft.com/office/drawing/2014/main" id="{F0A2B294-53EE-4E36-A399-9174CF9F571D}"/>
              </a:ext>
            </a:extLst>
          </p:cNvPr>
          <p:cNvSpPr>
            <a:spLocks xmlns:a="http://schemas.openxmlformats.org/drawingml/2006/main" noGrp="1"/>
          </p:cNvSpPr>
          <p:nvPr/>
        </p:nvSpPr>
        <p:spPr>
          <a:xfrm xmlns:a="http://schemas.openxmlformats.org/drawingml/2006/main">
            <a:off x="1428750" y="33909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C225</a:t>
            </a:r>
          </a:p>
        </p:txBody>
      </p:sp>
      <p:sp>
        <p:nvSpPr>
          <p:cNvPr id="93" name="rank-bg-2">
            <a:extLst xmlns:a="http://schemas.openxmlformats.org/drawingml/2006/main">
              <a:ext uri="{FF2B5EF4-FFF2-40B4-BE49-F238E27FC236}">
                <a16:creationId xmlns:a16="http://schemas.microsoft.com/office/drawing/2014/main" id="{09ACAFD2-97EA-49D0-AE05-AB143DD8B2FC}"/>
              </a:ext>
            </a:extLst>
          </p:cNvPr>
          <p:cNvSpPr>
            <a:spLocks xmlns:a="http://schemas.openxmlformats.org/drawingml/2006/main" noGrp="1"/>
          </p:cNvSpPr>
          <p:nvPr/>
        </p:nvSpPr>
        <p:spPr>
          <a:xfrm xmlns:a="http://schemas.openxmlformats.org/drawingml/2006/main">
            <a:off x="2619375" y="34385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94" name="rank-bar-2">
            <a:extLst xmlns:a="http://schemas.openxmlformats.org/drawingml/2006/main">
              <a:ext uri="{FF2B5EF4-FFF2-40B4-BE49-F238E27FC236}">
                <a16:creationId xmlns:a16="http://schemas.microsoft.com/office/drawing/2014/main" id="{01741C63-4A32-462E-9A69-13700A4013D5}"/>
              </a:ext>
            </a:extLst>
          </p:cNvPr>
          <p:cNvSpPr>
            <a:spLocks xmlns:a="http://schemas.openxmlformats.org/drawingml/2006/main" noGrp="1"/>
          </p:cNvSpPr>
          <p:nvPr/>
        </p:nvSpPr>
        <p:spPr>
          <a:xfrm xmlns:a="http://schemas.openxmlformats.org/drawingml/2006/main">
            <a:off x="2619375" y="3438525"/>
            <a:ext cx="6837566"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95" name="rank-score-2">
            <a:extLst xmlns:a="http://schemas.openxmlformats.org/drawingml/2006/main">
              <a:ext uri="{FF2B5EF4-FFF2-40B4-BE49-F238E27FC236}">
                <a16:creationId xmlns:a16="http://schemas.microsoft.com/office/drawing/2014/main" id="{786DA711-3B34-4DE5-B49A-53BEAA102260}"/>
              </a:ext>
            </a:extLst>
          </p:cNvPr>
          <p:cNvSpPr>
            <a:spLocks xmlns:a="http://schemas.openxmlformats.org/drawingml/2006/main" noGrp="1"/>
          </p:cNvSpPr>
          <p:nvPr/>
        </p:nvSpPr>
        <p:spPr>
          <a:xfrm xmlns:a="http://schemas.openxmlformats.org/drawingml/2006/main">
            <a:off x="10668000" y="33909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0.253</a:t>
            </a:r>
          </a:p>
        </p:txBody>
      </p:sp>
      <p:sp>
        <p:nvSpPr>
          <p:cNvPr id="96" name="rank-id-3">
            <a:extLst xmlns:a="http://schemas.openxmlformats.org/drawingml/2006/main">
              <a:ext uri="{FF2B5EF4-FFF2-40B4-BE49-F238E27FC236}">
                <a16:creationId xmlns:a16="http://schemas.microsoft.com/office/drawing/2014/main" id="{FAF388C0-BBCE-4215-94CF-EAC0E2937B8D}"/>
              </a:ext>
            </a:extLst>
          </p:cNvPr>
          <p:cNvSpPr>
            <a:spLocks xmlns:a="http://schemas.openxmlformats.org/drawingml/2006/main" noGrp="1"/>
          </p:cNvSpPr>
          <p:nvPr/>
        </p:nvSpPr>
        <p:spPr>
          <a:xfrm xmlns:a="http://schemas.openxmlformats.org/drawingml/2006/main">
            <a:off x="1428750" y="38481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C162</a:t>
            </a:r>
          </a:p>
        </p:txBody>
      </p:sp>
      <p:sp>
        <p:nvSpPr>
          <p:cNvPr id="97" name="rank-bg-3">
            <a:extLst xmlns:a="http://schemas.openxmlformats.org/drawingml/2006/main">
              <a:ext uri="{FF2B5EF4-FFF2-40B4-BE49-F238E27FC236}">
                <a16:creationId xmlns:a16="http://schemas.microsoft.com/office/drawing/2014/main" id="{46360099-38E2-40B8-9E5C-DF2404DF2323}"/>
              </a:ext>
            </a:extLst>
          </p:cNvPr>
          <p:cNvSpPr>
            <a:spLocks xmlns:a="http://schemas.openxmlformats.org/drawingml/2006/main" noGrp="1"/>
          </p:cNvSpPr>
          <p:nvPr/>
        </p:nvSpPr>
        <p:spPr>
          <a:xfrm xmlns:a="http://schemas.openxmlformats.org/drawingml/2006/main">
            <a:off x="2619375" y="38957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98" name="rank-bar-3">
            <a:extLst xmlns:a="http://schemas.openxmlformats.org/drawingml/2006/main">
              <a:ext uri="{FF2B5EF4-FFF2-40B4-BE49-F238E27FC236}">
                <a16:creationId xmlns:a16="http://schemas.microsoft.com/office/drawing/2014/main" id="{98338520-5508-4FBA-BD6D-3928A3D1F9CE}"/>
              </a:ext>
            </a:extLst>
          </p:cNvPr>
          <p:cNvSpPr>
            <a:spLocks xmlns:a="http://schemas.openxmlformats.org/drawingml/2006/main" noGrp="1"/>
          </p:cNvSpPr>
          <p:nvPr/>
        </p:nvSpPr>
        <p:spPr>
          <a:xfrm xmlns:a="http://schemas.openxmlformats.org/drawingml/2006/main">
            <a:off x="2619375" y="3895725"/>
            <a:ext cx="6324073"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99" name="rank-score-3">
            <a:extLst xmlns:a="http://schemas.openxmlformats.org/drawingml/2006/main">
              <a:ext uri="{FF2B5EF4-FFF2-40B4-BE49-F238E27FC236}">
                <a16:creationId xmlns:a16="http://schemas.microsoft.com/office/drawing/2014/main" id="{F8981146-AB65-485D-9D17-E87138433313}"/>
              </a:ext>
            </a:extLst>
          </p:cNvPr>
          <p:cNvSpPr>
            <a:spLocks xmlns:a="http://schemas.openxmlformats.org/drawingml/2006/main" noGrp="1"/>
          </p:cNvSpPr>
          <p:nvPr/>
        </p:nvSpPr>
        <p:spPr>
          <a:xfrm xmlns:a="http://schemas.openxmlformats.org/drawingml/2006/main">
            <a:off x="10668000" y="38481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0.234</a:t>
            </a:r>
          </a:p>
        </p:txBody>
      </p:sp>
      <p:sp>
        <p:nvSpPr>
          <p:cNvPr id="100" name="rank-id-4">
            <a:extLst xmlns:a="http://schemas.openxmlformats.org/drawingml/2006/main">
              <a:ext uri="{FF2B5EF4-FFF2-40B4-BE49-F238E27FC236}">
                <a16:creationId xmlns:a16="http://schemas.microsoft.com/office/drawing/2014/main" id="{ECEA0C55-6CB8-4C1A-ADFC-E07F975271F7}"/>
              </a:ext>
            </a:extLst>
          </p:cNvPr>
          <p:cNvSpPr>
            <a:spLocks xmlns:a="http://schemas.openxmlformats.org/drawingml/2006/main" noGrp="1"/>
          </p:cNvSpPr>
          <p:nvPr/>
        </p:nvSpPr>
        <p:spPr>
          <a:xfrm xmlns:a="http://schemas.openxmlformats.org/drawingml/2006/main">
            <a:off x="1428750" y="43053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C163</a:t>
            </a:r>
          </a:p>
        </p:txBody>
      </p:sp>
      <p:sp>
        <p:nvSpPr>
          <p:cNvPr id="101" name="rank-bg-4">
            <a:extLst xmlns:a="http://schemas.openxmlformats.org/drawingml/2006/main">
              <a:ext uri="{FF2B5EF4-FFF2-40B4-BE49-F238E27FC236}">
                <a16:creationId xmlns:a16="http://schemas.microsoft.com/office/drawing/2014/main" id="{6B842EE6-D942-4A24-A5B2-DBB76E5871D2}"/>
              </a:ext>
            </a:extLst>
          </p:cNvPr>
          <p:cNvSpPr>
            <a:spLocks xmlns:a="http://schemas.openxmlformats.org/drawingml/2006/main" noGrp="1"/>
          </p:cNvSpPr>
          <p:nvPr/>
        </p:nvSpPr>
        <p:spPr>
          <a:xfrm xmlns:a="http://schemas.openxmlformats.org/drawingml/2006/main">
            <a:off x="2619375" y="43529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02" name="rank-bar-4">
            <a:extLst xmlns:a="http://schemas.openxmlformats.org/drawingml/2006/main">
              <a:ext uri="{FF2B5EF4-FFF2-40B4-BE49-F238E27FC236}">
                <a16:creationId xmlns:a16="http://schemas.microsoft.com/office/drawing/2014/main" id="{ECEF3348-92A9-4FB5-9A41-9DD5990D0660}"/>
              </a:ext>
            </a:extLst>
          </p:cNvPr>
          <p:cNvSpPr>
            <a:spLocks xmlns:a="http://schemas.openxmlformats.org/drawingml/2006/main" noGrp="1"/>
          </p:cNvSpPr>
          <p:nvPr/>
        </p:nvSpPr>
        <p:spPr>
          <a:xfrm xmlns:a="http://schemas.openxmlformats.org/drawingml/2006/main">
            <a:off x="2619375" y="4352925"/>
            <a:ext cx="6242995"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03" name="rank-score-4">
            <a:extLst xmlns:a="http://schemas.openxmlformats.org/drawingml/2006/main">
              <a:ext uri="{FF2B5EF4-FFF2-40B4-BE49-F238E27FC236}">
                <a16:creationId xmlns:a16="http://schemas.microsoft.com/office/drawing/2014/main" id="{63C3F859-B68E-493A-A240-E9D4584A656C}"/>
              </a:ext>
            </a:extLst>
          </p:cNvPr>
          <p:cNvSpPr>
            <a:spLocks xmlns:a="http://schemas.openxmlformats.org/drawingml/2006/main" noGrp="1"/>
          </p:cNvSpPr>
          <p:nvPr/>
        </p:nvSpPr>
        <p:spPr>
          <a:xfrm xmlns:a="http://schemas.openxmlformats.org/drawingml/2006/main">
            <a:off x="10668000" y="43053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0.231</a:t>
            </a:r>
          </a:p>
        </p:txBody>
      </p:sp>
      <p:sp>
        <p:nvSpPr>
          <p:cNvPr id="104" name="rank-id-5">
            <a:extLst xmlns:a="http://schemas.openxmlformats.org/drawingml/2006/main">
              <a:ext uri="{FF2B5EF4-FFF2-40B4-BE49-F238E27FC236}">
                <a16:creationId xmlns:a16="http://schemas.microsoft.com/office/drawing/2014/main" id="{41612556-00EF-4E46-8B83-9B8AF121F2E3}"/>
              </a:ext>
            </a:extLst>
          </p:cNvPr>
          <p:cNvSpPr>
            <a:spLocks xmlns:a="http://schemas.openxmlformats.org/drawingml/2006/main" noGrp="1"/>
          </p:cNvSpPr>
          <p:nvPr/>
        </p:nvSpPr>
        <p:spPr>
          <a:xfrm xmlns:a="http://schemas.openxmlformats.org/drawingml/2006/main">
            <a:off x="1428750" y="47625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C247</a:t>
            </a:r>
          </a:p>
        </p:txBody>
      </p:sp>
      <p:sp>
        <p:nvSpPr>
          <p:cNvPr id="105" name="rank-bg-5">
            <a:extLst xmlns:a="http://schemas.openxmlformats.org/drawingml/2006/main">
              <a:ext uri="{FF2B5EF4-FFF2-40B4-BE49-F238E27FC236}">
                <a16:creationId xmlns:a16="http://schemas.microsoft.com/office/drawing/2014/main" id="{6AA3B1BD-14FE-4229-A098-82FD80D2E68F}"/>
              </a:ext>
            </a:extLst>
          </p:cNvPr>
          <p:cNvSpPr>
            <a:spLocks xmlns:a="http://schemas.openxmlformats.org/drawingml/2006/main" noGrp="1"/>
          </p:cNvSpPr>
          <p:nvPr/>
        </p:nvSpPr>
        <p:spPr>
          <a:xfrm xmlns:a="http://schemas.openxmlformats.org/drawingml/2006/main">
            <a:off x="2619375" y="48101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06" name="rank-bar-5">
            <a:extLst xmlns:a="http://schemas.openxmlformats.org/drawingml/2006/main">
              <a:ext uri="{FF2B5EF4-FFF2-40B4-BE49-F238E27FC236}">
                <a16:creationId xmlns:a16="http://schemas.microsoft.com/office/drawing/2014/main" id="{314DD7BD-597E-490E-9440-D39A593C8C6E}"/>
              </a:ext>
            </a:extLst>
          </p:cNvPr>
          <p:cNvSpPr>
            <a:spLocks xmlns:a="http://schemas.openxmlformats.org/drawingml/2006/main" noGrp="1"/>
          </p:cNvSpPr>
          <p:nvPr/>
        </p:nvSpPr>
        <p:spPr>
          <a:xfrm xmlns:a="http://schemas.openxmlformats.org/drawingml/2006/main">
            <a:off x="2619375" y="4810125"/>
            <a:ext cx="6026787"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07" name="rank-score-5">
            <a:extLst xmlns:a="http://schemas.openxmlformats.org/drawingml/2006/main">
              <a:ext uri="{FF2B5EF4-FFF2-40B4-BE49-F238E27FC236}">
                <a16:creationId xmlns:a16="http://schemas.microsoft.com/office/drawing/2014/main" id="{C3E5E95D-B029-4CE5-86CD-CBE2209AAFF1}"/>
              </a:ext>
            </a:extLst>
          </p:cNvPr>
          <p:cNvSpPr>
            <a:spLocks xmlns:a="http://schemas.openxmlformats.org/drawingml/2006/main" noGrp="1"/>
          </p:cNvSpPr>
          <p:nvPr/>
        </p:nvSpPr>
        <p:spPr>
          <a:xfrm xmlns:a="http://schemas.openxmlformats.org/drawingml/2006/main">
            <a:off x="10668000" y="47625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0.223</a:t>
            </a:r>
          </a:p>
        </p:txBody>
      </p:sp>
      <p:sp>
        <p:nvSpPr>
          <p:cNvPr id="108" name="rank-id-6">
            <a:extLst xmlns:a="http://schemas.openxmlformats.org/drawingml/2006/main">
              <a:ext uri="{FF2B5EF4-FFF2-40B4-BE49-F238E27FC236}">
                <a16:creationId xmlns:a16="http://schemas.microsoft.com/office/drawing/2014/main" id="{EA5CAED5-1452-4ECA-9B3B-F20A11D8FE5F}"/>
              </a:ext>
            </a:extLst>
          </p:cNvPr>
          <p:cNvSpPr>
            <a:spLocks xmlns:a="http://schemas.openxmlformats.org/drawingml/2006/main" noGrp="1"/>
          </p:cNvSpPr>
          <p:nvPr/>
        </p:nvSpPr>
        <p:spPr>
          <a:xfrm xmlns:a="http://schemas.openxmlformats.org/drawingml/2006/main">
            <a:off x="1428750" y="52197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C161</a:t>
            </a:r>
          </a:p>
        </p:txBody>
      </p:sp>
      <p:sp>
        <p:nvSpPr>
          <p:cNvPr id="109" name="rank-bg-6">
            <a:extLst xmlns:a="http://schemas.openxmlformats.org/drawingml/2006/main">
              <a:ext uri="{FF2B5EF4-FFF2-40B4-BE49-F238E27FC236}">
                <a16:creationId xmlns:a16="http://schemas.microsoft.com/office/drawing/2014/main" id="{257B1DF8-8E7E-4028-A1A8-296AF92DC7A3}"/>
              </a:ext>
            </a:extLst>
          </p:cNvPr>
          <p:cNvSpPr>
            <a:spLocks xmlns:a="http://schemas.openxmlformats.org/drawingml/2006/main" noGrp="1"/>
          </p:cNvSpPr>
          <p:nvPr/>
        </p:nvSpPr>
        <p:spPr>
          <a:xfrm xmlns:a="http://schemas.openxmlformats.org/drawingml/2006/main">
            <a:off x="2619375" y="52673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10" name="rank-bar-6">
            <a:extLst xmlns:a="http://schemas.openxmlformats.org/drawingml/2006/main">
              <a:ext uri="{FF2B5EF4-FFF2-40B4-BE49-F238E27FC236}">
                <a16:creationId xmlns:a16="http://schemas.microsoft.com/office/drawing/2014/main" id="{DEC45B7A-F2FB-4551-B7CB-F0EA0174C4DB}"/>
              </a:ext>
            </a:extLst>
          </p:cNvPr>
          <p:cNvSpPr>
            <a:spLocks xmlns:a="http://schemas.openxmlformats.org/drawingml/2006/main" noGrp="1"/>
          </p:cNvSpPr>
          <p:nvPr/>
        </p:nvSpPr>
        <p:spPr>
          <a:xfrm xmlns:a="http://schemas.openxmlformats.org/drawingml/2006/main">
            <a:off x="2619375" y="5267325"/>
            <a:ext cx="5486268"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11" name="rank-score-6">
            <a:extLst xmlns:a="http://schemas.openxmlformats.org/drawingml/2006/main">
              <a:ext uri="{FF2B5EF4-FFF2-40B4-BE49-F238E27FC236}">
                <a16:creationId xmlns:a16="http://schemas.microsoft.com/office/drawing/2014/main" id="{EEA4CB5E-794D-403F-B5FE-C5B03A6CB6E8}"/>
              </a:ext>
            </a:extLst>
          </p:cNvPr>
          <p:cNvSpPr>
            <a:spLocks xmlns:a="http://schemas.openxmlformats.org/drawingml/2006/main" noGrp="1"/>
          </p:cNvSpPr>
          <p:nvPr/>
        </p:nvSpPr>
        <p:spPr>
          <a:xfrm xmlns:a="http://schemas.openxmlformats.org/drawingml/2006/main">
            <a:off x="10668000" y="52197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0.203</a:t>
            </a:r>
          </a:p>
        </p:txBody>
      </p:sp>
      <p:sp>
        <p:nvSpPr>
          <p:cNvPr id="112" name="rank-id-7">
            <a:extLst xmlns:a="http://schemas.openxmlformats.org/drawingml/2006/main">
              <a:ext uri="{FF2B5EF4-FFF2-40B4-BE49-F238E27FC236}">
                <a16:creationId xmlns:a16="http://schemas.microsoft.com/office/drawing/2014/main" id="{3223AAEB-2397-4EBA-8016-717A1D3C7CCC}"/>
              </a:ext>
            </a:extLst>
          </p:cNvPr>
          <p:cNvSpPr>
            <a:spLocks xmlns:a="http://schemas.openxmlformats.org/drawingml/2006/main" noGrp="1"/>
          </p:cNvSpPr>
          <p:nvPr/>
        </p:nvSpPr>
        <p:spPr>
          <a:xfrm xmlns:a="http://schemas.openxmlformats.org/drawingml/2006/main">
            <a:off x="1428750" y="56769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C147</a:t>
            </a:r>
          </a:p>
        </p:txBody>
      </p:sp>
      <p:sp>
        <p:nvSpPr>
          <p:cNvPr id="113" name="rank-bg-7">
            <a:extLst xmlns:a="http://schemas.openxmlformats.org/drawingml/2006/main">
              <a:ext uri="{FF2B5EF4-FFF2-40B4-BE49-F238E27FC236}">
                <a16:creationId xmlns:a16="http://schemas.microsoft.com/office/drawing/2014/main" id="{5178A593-106C-4C97-B2B1-213C5CD2FF16}"/>
              </a:ext>
            </a:extLst>
          </p:cNvPr>
          <p:cNvSpPr>
            <a:spLocks xmlns:a="http://schemas.openxmlformats.org/drawingml/2006/main" noGrp="1"/>
          </p:cNvSpPr>
          <p:nvPr/>
        </p:nvSpPr>
        <p:spPr>
          <a:xfrm xmlns:a="http://schemas.openxmlformats.org/drawingml/2006/main">
            <a:off x="2619375" y="57245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14" name="rank-bar-7">
            <a:extLst xmlns:a="http://schemas.openxmlformats.org/drawingml/2006/main">
              <a:ext uri="{FF2B5EF4-FFF2-40B4-BE49-F238E27FC236}">
                <a16:creationId xmlns:a16="http://schemas.microsoft.com/office/drawing/2014/main" id="{36A29D46-7FF4-456B-A1C7-D19D01ED0E52}"/>
              </a:ext>
            </a:extLst>
          </p:cNvPr>
          <p:cNvSpPr>
            <a:spLocks xmlns:a="http://schemas.openxmlformats.org/drawingml/2006/main" noGrp="1"/>
          </p:cNvSpPr>
          <p:nvPr/>
        </p:nvSpPr>
        <p:spPr>
          <a:xfrm xmlns:a="http://schemas.openxmlformats.org/drawingml/2006/main">
            <a:off x="2619375" y="5724525"/>
            <a:ext cx="4864671"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15" name="rank-score-7">
            <a:extLst xmlns:a="http://schemas.openxmlformats.org/drawingml/2006/main">
              <a:ext uri="{FF2B5EF4-FFF2-40B4-BE49-F238E27FC236}">
                <a16:creationId xmlns:a16="http://schemas.microsoft.com/office/drawing/2014/main" id="{0446C742-95EA-4089-8791-EFFA88EF4C37}"/>
              </a:ext>
            </a:extLst>
          </p:cNvPr>
          <p:cNvSpPr>
            <a:spLocks xmlns:a="http://schemas.openxmlformats.org/drawingml/2006/main" noGrp="1"/>
          </p:cNvSpPr>
          <p:nvPr/>
        </p:nvSpPr>
        <p:spPr>
          <a:xfrm xmlns:a="http://schemas.openxmlformats.org/drawingml/2006/main">
            <a:off x="10668000" y="56769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0.180</a:t>
            </a:r>
          </a:p>
        </p:txBody>
      </p:sp>
      <p:sp>
        <p:nvSpPr>
          <p:cNvPr id="116" name="rank-id-8">
            <a:extLst xmlns:a="http://schemas.openxmlformats.org/drawingml/2006/main">
              <a:ext uri="{FF2B5EF4-FFF2-40B4-BE49-F238E27FC236}">
                <a16:creationId xmlns:a16="http://schemas.microsoft.com/office/drawing/2014/main" id="{46FCC5B0-F2C2-42D4-BE35-44AD4D352717}"/>
              </a:ext>
            </a:extLst>
          </p:cNvPr>
          <p:cNvSpPr>
            <a:spLocks xmlns:a="http://schemas.openxmlformats.org/drawingml/2006/main" noGrp="1"/>
          </p:cNvSpPr>
          <p:nvPr/>
        </p:nvSpPr>
        <p:spPr>
          <a:xfrm xmlns:a="http://schemas.openxmlformats.org/drawingml/2006/main">
            <a:off x="1428750" y="61341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C170</a:t>
            </a:r>
          </a:p>
        </p:txBody>
      </p:sp>
      <p:sp>
        <p:nvSpPr>
          <p:cNvPr id="117" name="rank-bg-8">
            <a:extLst xmlns:a="http://schemas.openxmlformats.org/drawingml/2006/main">
              <a:ext uri="{FF2B5EF4-FFF2-40B4-BE49-F238E27FC236}">
                <a16:creationId xmlns:a16="http://schemas.microsoft.com/office/drawing/2014/main" id="{92278BE2-109B-4C6B-9F7B-666C92D61E99}"/>
              </a:ext>
            </a:extLst>
          </p:cNvPr>
          <p:cNvSpPr>
            <a:spLocks xmlns:a="http://schemas.openxmlformats.org/drawingml/2006/main" noGrp="1"/>
          </p:cNvSpPr>
          <p:nvPr/>
        </p:nvSpPr>
        <p:spPr>
          <a:xfrm xmlns:a="http://schemas.openxmlformats.org/drawingml/2006/main">
            <a:off x="2619375" y="61817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18" name="rank-bar-8">
            <a:extLst xmlns:a="http://schemas.openxmlformats.org/drawingml/2006/main">
              <a:ext uri="{FF2B5EF4-FFF2-40B4-BE49-F238E27FC236}">
                <a16:creationId xmlns:a16="http://schemas.microsoft.com/office/drawing/2014/main" id="{5A9A3393-63A2-4E8D-A42C-579A228CBBEF}"/>
              </a:ext>
            </a:extLst>
          </p:cNvPr>
          <p:cNvSpPr>
            <a:spLocks xmlns:a="http://schemas.openxmlformats.org/drawingml/2006/main" noGrp="1"/>
          </p:cNvSpPr>
          <p:nvPr/>
        </p:nvSpPr>
        <p:spPr>
          <a:xfrm xmlns:a="http://schemas.openxmlformats.org/drawingml/2006/main">
            <a:off x="2619375" y="6181725"/>
            <a:ext cx="4810619"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19" name="rank-score-8">
            <a:extLst xmlns:a="http://schemas.openxmlformats.org/drawingml/2006/main">
              <a:ext uri="{FF2B5EF4-FFF2-40B4-BE49-F238E27FC236}">
                <a16:creationId xmlns:a16="http://schemas.microsoft.com/office/drawing/2014/main" id="{6565BFF3-0FAF-44B1-B5AB-E202CECD0191}"/>
              </a:ext>
            </a:extLst>
          </p:cNvPr>
          <p:cNvSpPr>
            <a:spLocks xmlns:a="http://schemas.openxmlformats.org/drawingml/2006/main" noGrp="1"/>
          </p:cNvSpPr>
          <p:nvPr/>
        </p:nvSpPr>
        <p:spPr>
          <a:xfrm xmlns:a="http://schemas.openxmlformats.org/drawingml/2006/main">
            <a:off x="10668000" y="61341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0.178</a:t>
            </a:r>
          </a:p>
        </p:txBody>
      </p:sp>
      <p:sp>
        <p:nvSpPr>
          <p:cNvPr id="120" name="rank-id-9">
            <a:extLst xmlns:a="http://schemas.openxmlformats.org/drawingml/2006/main">
              <a:ext uri="{FF2B5EF4-FFF2-40B4-BE49-F238E27FC236}">
                <a16:creationId xmlns:a16="http://schemas.microsoft.com/office/drawing/2014/main" id="{EFD2E58A-5C34-47E5-82E5-97DC0295AD1D}"/>
              </a:ext>
            </a:extLst>
          </p:cNvPr>
          <p:cNvSpPr>
            <a:spLocks xmlns:a="http://schemas.openxmlformats.org/drawingml/2006/main" noGrp="1"/>
          </p:cNvSpPr>
          <p:nvPr/>
        </p:nvSpPr>
        <p:spPr>
          <a:xfrm xmlns:a="http://schemas.openxmlformats.org/drawingml/2006/main">
            <a:off x="1428750" y="659130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475569"/>
                </a:solidFill>
              </a:defRPr>
            </a:pPr>
            <a:r>
              <a:rPr sz="1350" b="0">
                <a:solidFill>
                  <a:srgbClr val="475569"/>
                </a:solidFill>
              </a:rPr>
              <a:t>C248</a:t>
            </a:r>
          </a:p>
        </p:txBody>
      </p:sp>
      <p:sp>
        <p:nvSpPr>
          <p:cNvPr id="121" name="rank-bg-9">
            <a:extLst xmlns:a="http://schemas.openxmlformats.org/drawingml/2006/main">
              <a:ext uri="{FF2B5EF4-FFF2-40B4-BE49-F238E27FC236}">
                <a16:creationId xmlns:a16="http://schemas.microsoft.com/office/drawing/2014/main" id="{69BC4443-6974-4E62-8864-286A3C569E95}"/>
              </a:ext>
            </a:extLst>
          </p:cNvPr>
          <p:cNvSpPr>
            <a:spLocks xmlns:a="http://schemas.openxmlformats.org/drawingml/2006/main" noGrp="1"/>
          </p:cNvSpPr>
          <p:nvPr/>
        </p:nvSpPr>
        <p:spPr>
          <a:xfrm xmlns:a="http://schemas.openxmlformats.org/drawingml/2006/main">
            <a:off x="2619375" y="6638925"/>
            <a:ext cx="7810500" cy="1905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prstDash val="solid"/>
          </a:ln>
        </p:spPr>
      </p:sp>
      <p:sp>
        <p:nvSpPr>
          <p:cNvPr id="122" name="rank-bar-9">
            <a:extLst xmlns:a="http://schemas.openxmlformats.org/drawingml/2006/main">
              <a:ext uri="{FF2B5EF4-FFF2-40B4-BE49-F238E27FC236}">
                <a16:creationId xmlns:a16="http://schemas.microsoft.com/office/drawing/2014/main" id="{2922EA43-17CD-4F14-B8CF-1CEE03902C97}"/>
              </a:ext>
            </a:extLst>
          </p:cNvPr>
          <p:cNvSpPr>
            <a:spLocks xmlns:a="http://schemas.openxmlformats.org/drawingml/2006/main" noGrp="1"/>
          </p:cNvSpPr>
          <p:nvPr/>
        </p:nvSpPr>
        <p:spPr>
          <a:xfrm xmlns:a="http://schemas.openxmlformats.org/drawingml/2006/main">
            <a:off x="2619375" y="6638925"/>
            <a:ext cx="4621438" cy="190500"/>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123" name="rank-score-9">
            <a:extLst xmlns:a="http://schemas.openxmlformats.org/drawingml/2006/main">
              <a:ext uri="{FF2B5EF4-FFF2-40B4-BE49-F238E27FC236}">
                <a16:creationId xmlns:a16="http://schemas.microsoft.com/office/drawing/2014/main" id="{4954B61F-CBCB-4A16-84C0-23B66278AD0C}"/>
              </a:ext>
            </a:extLst>
          </p:cNvPr>
          <p:cNvSpPr>
            <a:spLocks xmlns:a="http://schemas.openxmlformats.org/drawingml/2006/main" noGrp="1"/>
          </p:cNvSpPr>
          <p:nvPr/>
        </p:nvSpPr>
        <p:spPr>
          <a:xfrm xmlns:a="http://schemas.openxmlformats.org/drawingml/2006/main">
            <a:off x="10668000" y="6591300"/>
            <a:ext cx="85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75569"/>
                </a:solidFill>
              </a:defRPr>
            </a:pPr>
            <a:r>
              <a:rPr sz="1275">
                <a:solidFill>
                  <a:srgbClr val="475569"/>
                </a:solidFill>
              </a:rPr>
              <a:t>0.171</a:t>
            </a:r>
          </a:p>
        </p:txBody>
      </p:sp>
      <p:sp>
        <p:nvSpPr>
          <p:cNvPr id="124" name="topk-line">
            <a:extLst xmlns:a="http://schemas.openxmlformats.org/drawingml/2006/main">
              <a:ext uri="{FF2B5EF4-FFF2-40B4-BE49-F238E27FC236}">
                <a16:creationId xmlns:a16="http://schemas.microsoft.com/office/drawing/2014/main" id="{EB0DED6A-53A3-4659-B0AF-DF42A3D61308}"/>
              </a:ext>
            </a:extLst>
          </p:cNvPr>
          <p:cNvSpPr>
            <a:spLocks xmlns:a="http://schemas.openxmlformats.org/drawingml/2006/main" noGrp="1"/>
          </p:cNvSpPr>
          <p:nvPr/>
        </p:nvSpPr>
        <p:spPr>
          <a:xfrm xmlns:a="http://schemas.openxmlformats.org/drawingml/2006/main">
            <a:off x="1238250" y="3381375"/>
            <a:ext cx="10668000" cy="38100"/>
          </a:xfrm>
          <a:prstGeom xmlns:a="http://schemas.openxmlformats.org/drawingml/2006/main" prst="rect">
            <a:avLst/>
          </a:prstGeom>
          <a:solidFill xmlns:a="http://schemas.openxmlformats.org/drawingml/2006/main">
            <a:srgbClr val="F97316"/>
          </a:solidFill>
          <a:ln xmlns:a="http://schemas.openxmlformats.org/drawingml/2006/main" w="0">
            <a:solidFill>
              <a:srgbClr val="F97316"/>
            </a:solidFill>
            <a:prstDash val="solid"/>
          </a:ln>
        </p:spPr>
      </p:sp>
      <p:sp>
        <p:nvSpPr>
          <p:cNvPr id="125" name="topk-label">
            <a:extLst xmlns:a="http://schemas.openxmlformats.org/drawingml/2006/main">
              <a:ext uri="{FF2B5EF4-FFF2-40B4-BE49-F238E27FC236}">
                <a16:creationId xmlns:a16="http://schemas.microsoft.com/office/drawing/2014/main" id="{3708B521-5EF9-4595-B20B-4C088CB205C2}"/>
              </a:ext>
            </a:extLst>
          </p:cNvPr>
          <p:cNvSpPr>
            <a:spLocks xmlns:a="http://schemas.openxmlformats.org/drawingml/2006/main" noGrp="1"/>
          </p:cNvSpPr>
          <p:nvPr/>
        </p:nvSpPr>
        <p:spPr>
          <a:xfrm xmlns:a="http://schemas.openxmlformats.org/drawingml/2006/main">
            <a:off x="12096750" y="31813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F97316"/>
                </a:solidFill>
              </a:defRPr>
            </a:pPr>
            <a:r>
              <a:rPr sz="1800" b="1">
                <a:solidFill>
                  <a:srgbClr val="F97316"/>
                </a:solidFill>
              </a:rPr>
              <a:t>TOP-K = 2</a:t>
            </a:r>
          </a:p>
        </p:txBody>
      </p:sp>
      <p:sp>
        <p:nvSpPr>
          <p:cNvPr id="126" name="visible-box">
            <a:extLst xmlns:a="http://schemas.openxmlformats.org/drawingml/2006/main">
              <a:ext uri="{FF2B5EF4-FFF2-40B4-BE49-F238E27FC236}">
                <a16:creationId xmlns:a16="http://schemas.microsoft.com/office/drawing/2014/main" id="{A2656DBF-DBB0-4C39-90BF-0C857E8AC630}"/>
              </a:ext>
            </a:extLst>
          </p:cNvPr>
          <p:cNvSpPr>
            <a:spLocks xmlns:a="http://schemas.openxmlformats.org/drawingml/2006/main" noGrp="1"/>
          </p:cNvSpPr>
          <p:nvPr/>
        </p:nvSpPr>
        <p:spPr>
          <a:xfrm xmlns:a="http://schemas.openxmlformats.org/drawingml/2006/main">
            <a:off x="12096750" y="4000500"/>
            <a:ext cx="2143125" cy="1619250"/>
          </a:xfrm>
          <a:prstGeom xmlns:a="http://schemas.openxmlformats.org/drawingml/2006/main" prst="roundRect">
            <a:avLst>
              <a:gd name="adj" fmla="val 7059"/>
            </a:avLst>
          </a:prstGeom>
          <a:noFill xmlns:a="http://schemas.openxmlformats.org/drawingml/2006/main"/>
          <a:ln xmlns:a="http://schemas.openxmlformats.org/drawingml/2006/main" w="9525">
            <a:solidFill>
              <a:srgbClr val="082F49"/>
            </a:solidFill>
            <a:prstDash val="solid"/>
          </a:ln>
        </p:spPr>
      </p:sp>
      <p:sp>
        <p:nvSpPr>
          <p:cNvPr id="127" name="visible-title">
            <a:extLst xmlns:a="http://schemas.openxmlformats.org/drawingml/2006/main">
              <a:ext uri="{FF2B5EF4-FFF2-40B4-BE49-F238E27FC236}">
                <a16:creationId xmlns:a16="http://schemas.microsoft.com/office/drawing/2014/main" id="{14E73889-9CCD-429D-8C15-0E083FB9D4F4}"/>
              </a:ext>
            </a:extLst>
          </p:cNvPr>
          <p:cNvSpPr>
            <a:spLocks xmlns:a="http://schemas.openxmlformats.org/drawingml/2006/main" noGrp="1"/>
          </p:cNvSpPr>
          <p:nvPr/>
        </p:nvSpPr>
        <p:spPr>
          <a:xfrm xmlns:a="http://schemas.openxmlformats.org/drawingml/2006/main">
            <a:off x="12382500" y="42672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6B6D4"/>
                </a:solidFill>
              </a:defRPr>
            </a:pPr>
            <a:r>
              <a:rPr sz="1350" b="1">
                <a:solidFill>
                  <a:srgbClr val="06B6D4"/>
                </a:solidFill>
              </a:rPr>
              <a:t>MODEL SEES</a:t>
            </a:r>
          </a:p>
        </p:txBody>
      </p:sp>
      <p:sp>
        <p:nvSpPr>
          <p:cNvPr id="128" name="visible-ids">
            <a:extLst xmlns:a="http://schemas.openxmlformats.org/drawingml/2006/main">
              <a:ext uri="{FF2B5EF4-FFF2-40B4-BE49-F238E27FC236}">
                <a16:creationId xmlns:a16="http://schemas.microsoft.com/office/drawing/2014/main" id="{3F93F5AA-91EE-4E22-8183-E5E268275B18}"/>
              </a:ext>
            </a:extLst>
          </p:cNvPr>
          <p:cNvSpPr>
            <a:spLocks xmlns:a="http://schemas.openxmlformats.org/drawingml/2006/main" noGrp="1"/>
          </p:cNvSpPr>
          <p:nvPr/>
        </p:nvSpPr>
        <p:spPr>
          <a:xfrm xmlns:a="http://schemas.openxmlformats.org/drawingml/2006/main">
            <a:off x="12382500" y="4762500"/>
            <a:ext cx="15716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82F49"/>
                </a:solidFill>
              </a:defRPr>
            </a:pPr>
            <a:r>
              <a:rPr sz="1725" b="1">
                <a:solidFill>
                  <a:srgbClr val="082F49"/>
                </a:solidFill>
              </a:rPr>
              <a:t>NVDA-C152</a:t>
            </a:r>
          </a:p>
          <a:p xmlns:a="http://schemas.openxmlformats.org/drawingml/2006/main">
            <a:pPr algn="ctr">
              <a:buNone/>
              <a:defRPr sz="1725" b="1">
                <a:solidFill>
                  <a:srgbClr val="082F49"/>
                </a:solidFill>
              </a:defRPr>
            </a:pPr>
            <a:r>
              <a:rPr sz="1725" b="1">
                <a:solidFill>
                  <a:srgbClr val="082F49"/>
                </a:solidFill>
              </a:rPr>
              <a:t>NVDA-C160</a:t>
            </a:r>
          </a:p>
        </p:txBody>
      </p:sp>
      <p:sp>
        <p:nvSpPr>
          <p:cNvPr id="129" name="ranking-point">
            <a:extLst xmlns:a="http://schemas.openxmlformats.org/drawingml/2006/main">
              <a:ext uri="{FF2B5EF4-FFF2-40B4-BE49-F238E27FC236}">
                <a16:creationId xmlns:a16="http://schemas.microsoft.com/office/drawing/2014/main" id="{5EAD4261-8783-4FA2-A9F4-4B2DDF2DF0EB}"/>
              </a:ext>
            </a:extLst>
          </p:cNvPr>
          <p:cNvSpPr>
            <a:spLocks xmlns:a="http://schemas.openxmlformats.org/drawingml/2006/main" noGrp="1"/>
          </p:cNvSpPr>
          <p:nvPr/>
        </p:nvSpPr>
        <p:spPr>
          <a:xfrm xmlns:a="http://schemas.openxmlformats.org/drawingml/2006/main">
            <a:off x="2095500" y="7124700"/>
            <a:ext cx="1104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563EB"/>
                </a:solidFill>
              </a:defRPr>
            </a:pPr>
            <a:r>
              <a:rPr sz="1650" b="1">
                <a:solidFill>
                  <a:srgbClr val="2563EB"/>
                </a:solidFill>
              </a:rPr>
              <a:t>Everything below the line remains in the corpus—but is absent from generation.</a:t>
            </a:r>
          </a:p>
        </p:txBody>
      </p:sp>
    </p:spTree>
    <p:extLst>
      <p:ext uri="{BB962C8B-B14F-4D97-AF65-F5344CB8AC3E}">
        <p14:creationId xmlns:p14="http://schemas.microsoft.com/office/powerpoint/2010/main" val="1140604967"/>
      </p:ext>
    </p:extLst>
  </p:cSld>
</p:sld>
</file>

<file path=ppt/slides/slide9.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ED4CC508-D80F-43CE-AF2B-FFAFDE750341}"/>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CONTROLLED CONTEXT</a:t>
            </a:r>
          </a:p>
        </p:txBody>
      </p:sp>
      <p:sp>
        <p:nvSpPr>
          <p:cNvPr id="2" name="">
            <a:extLst xmlns:a="http://schemas.openxmlformats.org/drawingml/2006/main">
              <a:ext uri="{FF2B5EF4-FFF2-40B4-BE49-F238E27FC236}">
                <a16:creationId xmlns:a16="http://schemas.microsoft.com/office/drawing/2014/main" id="{198B81FF-9717-4ECA-964E-0875263BD92C}"/>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RAG constructs a new prompt from selected evidence</a:t>
            </a:r>
          </a:p>
        </p:txBody>
      </p:sp>
      <p:sp>
        <p:nvSpPr>
          <p:cNvPr id="33" name="">
            <a:extLst xmlns:a="http://schemas.openxmlformats.org/drawingml/2006/main">
              <a:ext uri="{FF2B5EF4-FFF2-40B4-BE49-F238E27FC236}">
                <a16:creationId xmlns:a16="http://schemas.microsoft.com/office/drawing/2014/main" id="{BB69BE8D-5637-4C44-BA10-BC32D4B11B79}"/>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34" name="">
            <a:extLst xmlns:a="http://schemas.openxmlformats.org/drawingml/2006/main">
              <a:ext uri="{FF2B5EF4-FFF2-40B4-BE49-F238E27FC236}">
                <a16:creationId xmlns:a16="http://schemas.microsoft.com/office/drawing/2014/main" id="{804798E3-2D0B-4A76-A459-ED0F6CB6276B}"/>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35" name="">
            <a:extLst xmlns:a="http://schemas.openxmlformats.org/drawingml/2006/main">
              <a:ext uri="{FF2B5EF4-FFF2-40B4-BE49-F238E27FC236}">
                <a16:creationId xmlns:a16="http://schemas.microsoft.com/office/drawing/2014/main" id="{D70E8D6F-5A1A-486C-BC40-39EC60408B10}"/>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36" name="">
            <a:extLst xmlns:a="http://schemas.openxmlformats.org/drawingml/2006/main">
              <a:ext uri="{FF2B5EF4-FFF2-40B4-BE49-F238E27FC236}">
                <a16:creationId xmlns:a16="http://schemas.microsoft.com/office/drawing/2014/main" id="{8BB4136D-1C95-40D3-92C8-AC6700B6FD24}"/>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PROMPT</a:t>
            </a:r>
          </a:p>
        </p:txBody>
      </p:sp>
      <p:sp>
        <p:nvSpPr>
          <p:cNvPr id="37" name="">
            <a:extLst xmlns:a="http://schemas.openxmlformats.org/drawingml/2006/main">
              <a:ext uri="{FF2B5EF4-FFF2-40B4-BE49-F238E27FC236}">
                <a16:creationId xmlns:a16="http://schemas.microsoft.com/office/drawing/2014/main" id="{A7018A45-F04B-4240-9302-1370A4ABF668}"/>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09</a:t>
            </a:r>
          </a:p>
        </p:txBody>
      </p:sp>
      <p:sp>
        <p:nvSpPr>
          <p:cNvPr id="39" name="a-1">
            <a:extLst xmlns:a="http://schemas.openxmlformats.org/drawingml/2006/main">
              <a:ext uri="{FF2B5EF4-FFF2-40B4-BE49-F238E27FC236}">
                <a16:creationId xmlns:a16="http://schemas.microsoft.com/office/drawing/2014/main" id="{EFC599C0-9B9F-4E84-AD70-9DA805CAA2BC}"/>
              </a:ext>
            </a:extLst>
          </p:cNvPr>
          <p:cNvSpPr>
            <a:spLocks xmlns:a="http://schemas.openxmlformats.org/drawingml/2006/main" noGrp="1"/>
          </p:cNvSpPr>
          <p:nvPr/>
        </p:nvSpPr>
        <p:spPr>
          <a:xfrm xmlns:a="http://schemas.openxmlformats.org/drawingml/2006/main">
            <a:off x="3000375" y="4114800"/>
            <a:ext cx="952500" cy="60960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40" name="a-2">
            <a:extLst xmlns:a="http://schemas.openxmlformats.org/drawingml/2006/main">
              <a:ext uri="{FF2B5EF4-FFF2-40B4-BE49-F238E27FC236}">
                <a16:creationId xmlns:a16="http://schemas.microsoft.com/office/drawing/2014/main" id="{B0EC5DB3-E2AB-421E-820B-9CD6209FA7DA}"/>
              </a:ext>
            </a:extLst>
          </p:cNvPr>
          <p:cNvSpPr>
            <a:spLocks xmlns:a="http://schemas.openxmlformats.org/drawingml/2006/main" noGrp="1"/>
          </p:cNvSpPr>
          <p:nvPr/>
        </p:nvSpPr>
        <p:spPr>
          <a:xfrm xmlns:a="http://schemas.openxmlformats.org/drawingml/2006/main">
            <a:off x="5953125" y="4114800"/>
            <a:ext cx="952500" cy="60960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41" name="a-3">
            <a:extLst xmlns:a="http://schemas.openxmlformats.org/drawingml/2006/main">
              <a:ext uri="{FF2B5EF4-FFF2-40B4-BE49-F238E27FC236}">
                <a16:creationId xmlns:a16="http://schemas.microsoft.com/office/drawing/2014/main" id="{C56AECF6-89F6-4292-82C0-C06EB7853D84}"/>
              </a:ext>
            </a:extLst>
          </p:cNvPr>
          <p:cNvSpPr>
            <a:spLocks xmlns:a="http://schemas.openxmlformats.org/drawingml/2006/main" noGrp="1"/>
          </p:cNvSpPr>
          <p:nvPr/>
        </p:nvSpPr>
        <p:spPr>
          <a:xfrm xmlns:a="http://schemas.openxmlformats.org/drawingml/2006/main">
            <a:off x="8905875" y="4114800"/>
            <a:ext cx="952500" cy="60960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42" name="a-4">
            <a:extLst xmlns:a="http://schemas.openxmlformats.org/drawingml/2006/main">
              <a:ext uri="{FF2B5EF4-FFF2-40B4-BE49-F238E27FC236}">
                <a16:creationId xmlns:a16="http://schemas.microsoft.com/office/drawing/2014/main" id="{CA9F0FA5-EAEF-42A5-808A-9D9D05067803}"/>
              </a:ext>
            </a:extLst>
          </p:cNvPr>
          <p:cNvSpPr>
            <a:spLocks xmlns:a="http://schemas.openxmlformats.org/drawingml/2006/main" noGrp="1"/>
          </p:cNvSpPr>
          <p:nvPr/>
        </p:nvSpPr>
        <p:spPr>
          <a:xfrm xmlns:a="http://schemas.openxmlformats.org/drawingml/2006/main">
            <a:off x="11858625" y="4114800"/>
            <a:ext cx="952500" cy="60960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43" name="node-0">
            <a:extLst xmlns:a="http://schemas.openxmlformats.org/drawingml/2006/main">
              <a:ext uri="{FF2B5EF4-FFF2-40B4-BE49-F238E27FC236}">
                <a16:creationId xmlns:a16="http://schemas.microsoft.com/office/drawing/2014/main" id="{8829F4A2-96E4-4487-A24C-C75898C81F64}"/>
              </a:ext>
            </a:extLst>
          </p:cNvPr>
          <p:cNvSpPr>
            <a:spLocks xmlns:a="http://schemas.openxmlformats.org/drawingml/2006/main" noGrp="1"/>
          </p:cNvSpPr>
          <p:nvPr/>
        </p:nvSpPr>
        <p:spPr>
          <a:xfrm xmlns:a="http://schemas.openxmlformats.org/drawingml/2006/main">
            <a:off x="1047750" y="3333750"/>
            <a:ext cx="2000250" cy="2190750"/>
          </a:xfrm>
          <a:prstGeom xmlns:a="http://schemas.openxmlformats.org/drawingml/2006/main" prst="roundRect">
            <a:avLst>
              <a:gd name="adj" fmla="val 5714"/>
            </a:avLst>
          </a:prstGeom>
          <a:noFill xmlns:a="http://schemas.openxmlformats.org/drawingml/2006/main"/>
          <a:ln xmlns:a="http://schemas.openxmlformats.org/drawingml/2006/main" w="9525">
            <a:solidFill>
              <a:srgbClr val="CBD5E1"/>
            </a:solidFill>
            <a:prstDash val="solid"/>
          </a:ln>
        </p:spPr>
      </p:sp>
      <p:sp>
        <p:nvSpPr>
          <p:cNvPr id="44" name="node-label-0">
            <a:extLst xmlns:a="http://schemas.openxmlformats.org/drawingml/2006/main">
              <a:ext uri="{FF2B5EF4-FFF2-40B4-BE49-F238E27FC236}">
                <a16:creationId xmlns:a16="http://schemas.microsoft.com/office/drawing/2014/main" id="{50CE43C7-39D2-46EC-8CD7-B8CD4D4C0C5F}"/>
              </a:ext>
            </a:extLst>
          </p:cNvPr>
          <p:cNvSpPr>
            <a:spLocks xmlns:a="http://schemas.openxmlformats.org/drawingml/2006/main" noGrp="1"/>
          </p:cNvSpPr>
          <p:nvPr/>
        </p:nvSpPr>
        <p:spPr>
          <a:xfrm xmlns:a="http://schemas.openxmlformats.org/drawingml/2006/main">
            <a:off x="1285875" y="3619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QUESTION</a:t>
            </a:r>
          </a:p>
        </p:txBody>
      </p:sp>
      <p:sp>
        <p:nvSpPr>
          <p:cNvPr id="45" name="node-body-0">
            <a:extLst xmlns:a="http://schemas.openxmlformats.org/drawingml/2006/main">
              <a:ext uri="{FF2B5EF4-FFF2-40B4-BE49-F238E27FC236}">
                <a16:creationId xmlns:a16="http://schemas.microsoft.com/office/drawing/2014/main" id="{8668CED6-0024-42C0-AF18-15A59C15AE1B}"/>
              </a:ext>
            </a:extLst>
          </p:cNvPr>
          <p:cNvSpPr>
            <a:spLocks xmlns:a="http://schemas.openxmlformats.org/drawingml/2006/main" noGrp="1"/>
          </p:cNvSpPr>
          <p:nvPr/>
        </p:nvSpPr>
        <p:spPr>
          <a:xfrm xmlns:a="http://schemas.openxmlformats.org/drawingml/2006/main">
            <a:off x="1238250" y="4286250"/>
            <a:ext cx="161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82F49"/>
                </a:solidFill>
              </a:defRPr>
            </a:pPr>
            <a:r>
              <a:rPr sz="1500" b="1">
                <a:solidFill>
                  <a:srgbClr val="082F49"/>
                </a:solidFill>
              </a:rPr>
              <a:t>What drove</a:t>
            </a:r>
          </a:p>
          <a:p xmlns:a="http://schemas.openxmlformats.org/drawingml/2006/main">
            <a:pPr algn="ctr">
              <a:buNone/>
              <a:defRPr sz="1500" b="1">
                <a:solidFill>
                  <a:srgbClr val="082F49"/>
                </a:solidFill>
              </a:defRPr>
            </a:pPr>
            <a:r>
              <a:rPr sz="1500" b="1">
                <a:solidFill>
                  <a:srgbClr val="082F49"/>
                </a:solidFill>
              </a:rPr>
              <a:t>FY2026 growth?</a:t>
            </a:r>
          </a:p>
        </p:txBody>
      </p:sp>
      <p:sp>
        <p:nvSpPr>
          <p:cNvPr id="46" name="node-1">
            <a:extLst xmlns:a="http://schemas.openxmlformats.org/drawingml/2006/main">
              <a:ext uri="{FF2B5EF4-FFF2-40B4-BE49-F238E27FC236}">
                <a16:creationId xmlns:a16="http://schemas.microsoft.com/office/drawing/2014/main" id="{F0524181-1F6F-445E-83AA-C5B4CC25E0C8}"/>
              </a:ext>
            </a:extLst>
          </p:cNvPr>
          <p:cNvSpPr>
            <a:spLocks xmlns:a="http://schemas.openxmlformats.org/drawingml/2006/main" noGrp="1"/>
          </p:cNvSpPr>
          <p:nvPr/>
        </p:nvSpPr>
        <p:spPr>
          <a:xfrm xmlns:a="http://schemas.openxmlformats.org/drawingml/2006/main">
            <a:off x="4000500" y="3333750"/>
            <a:ext cx="2000250" cy="2190750"/>
          </a:xfrm>
          <a:prstGeom xmlns:a="http://schemas.openxmlformats.org/drawingml/2006/main" prst="roundRect">
            <a:avLst>
              <a:gd name="adj" fmla="val 5714"/>
            </a:avLst>
          </a:prstGeom>
          <a:noFill xmlns:a="http://schemas.openxmlformats.org/drawingml/2006/main"/>
          <a:ln xmlns:a="http://schemas.openxmlformats.org/drawingml/2006/main" w="9525">
            <a:solidFill>
              <a:srgbClr val="CBD5E1"/>
            </a:solidFill>
            <a:prstDash val="solid"/>
          </a:ln>
        </p:spPr>
      </p:sp>
      <p:sp>
        <p:nvSpPr>
          <p:cNvPr id="47" name="node-label-1">
            <a:extLst xmlns:a="http://schemas.openxmlformats.org/drawingml/2006/main">
              <a:ext uri="{FF2B5EF4-FFF2-40B4-BE49-F238E27FC236}">
                <a16:creationId xmlns:a16="http://schemas.microsoft.com/office/drawing/2014/main" id="{E0D61877-9F1C-44EB-9415-CE60E8542CBB}"/>
              </a:ext>
            </a:extLst>
          </p:cNvPr>
          <p:cNvSpPr>
            <a:spLocks xmlns:a="http://schemas.openxmlformats.org/drawingml/2006/main" noGrp="1"/>
          </p:cNvSpPr>
          <p:nvPr/>
        </p:nvSpPr>
        <p:spPr>
          <a:xfrm xmlns:a="http://schemas.openxmlformats.org/drawingml/2006/main">
            <a:off x="4238625" y="3619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RANK</a:t>
            </a:r>
          </a:p>
        </p:txBody>
      </p:sp>
      <p:sp>
        <p:nvSpPr>
          <p:cNvPr id="48" name="node-body-1">
            <a:extLst xmlns:a="http://schemas.openxmlformats.org/drawingml/2006/main">
              <a:ext uri="{FF2B5EF4-FFF2-40B4-BE49-F238E27FC236}">
                <a16:creationId xmlns:a16="http://schemas.microsoft.com/office/drawing/2014/main" id="{FFB0BB16-53D8-4401-8BA1-F764AA61BF29}"/>
              </a:ext>
            </a:extLst>
          </p:cNvPr>
          <p:cNvSpPr>
            <a:spLocks xmlns:a="http://schemas.openxmlformats.org/drawingml/2006/main" noGrp="1"/>
          </p:cNvSpPr>
          <p:nvPr/>
        </p:nvSpPr>
        <p:spPr>
          <a:xfrm xmlns:a="http://schemas.openxmlformats.org/drawingml/2006/main">
            <a:off x="4191000" y="4286250"/>
            <a:ext cx="161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82F49"/>
                </a:solidFill>
              </a:defRPr>
            </a:pPr>
            <a:r>
              <a:rPr sz="1500" b="1">
                <a:solidFill>
                  <a:srgbClr val="082F49"/>
                </a:solidFill>
              </a:rPr>
              <a:t>TF-IDF + cosine</a:t>
            </a:r>
          </a:p>
          <a:p xmlns:a="http://schemas.openxmlformats.org/drawingml/2006/main">
            <a:pPr algn="ctr">
              <a:buNone/>
              <a:defRPr sz="1500" b="1">
                <a:solidFill>
                  <a:srgbClr val="082F49"/>
                </a:solidFill>
              </a:defRPr>
            </a:pPr>
            <a:r>
              <a:rPr sz="1500" b="1">
                <a:solidFill>
                  <a:srgbClr val="082F49"/>
                </a:solidFill>
              </a:rPr>
              <a:t>258 windows</a:t>
            </a:r>
          </a:p>
        </p:txBody>
      </p:sp>
      <p:sp>
        <p:nvSpPr>
          <p:cNvPr id="49" name="node-2">
            <a:extLst xmlns:a="http://schemas.openxmlformats.org/drawingml/2006/main">
              <a:ext uri="{FF2B5EF4-FFF2-40B4-BE49-F238E27FC236}">
                <a16:creationId xmlns:a16="http://schemas.microsoft.com/office/drawing/2014/main" id="{424BBDC6-BC96-470E-A664-188B7EE0EAAE}"/>
              </a:ext>
            </a:extLst>
          </p:cNvPr>
          <p:cNvSpPr>
            <a:spLocks xmlns:a="http://schemas.openxmlformats.org/drawingml/2006/main" noGrp="1"/>
          </p:cNvSpPr>
          <p:nvPr/>
        </p:nvSpPr>
        <p:spPr>
          <a:xfrm xmlns:a="http://schemas.openxmlformats.org/drawingml/2006/main">
            <a:off x="6953250" y="3333750"/>
            <a:ext cx="2000250" cy="2190750"/>
          </a:xfrm>
          <a:prstGeom xmlns:a="http://schemas.openxmlformats.org/drawingml/2006/main" prst="roundRect">
            <a:avLst>
              <a:gd name="adj" fmla="val 5714"/>
            </a:avLst>
          </a:prstGeom>
          <a:noFill xmlns:a="http://schemas.openxmlformats.org/drawingml/2006/main"/>
          <a:ln xmlns:a="http://schemas.openxmlformats.org/drawingml/2006/main" w="9525">
            <a:solidFill>
              <a:srgbClr val="F97316"/>
            </a:solidFill>
            <a:prstDash val="solid"/>
          </a:ln>
        </p:spPr>
      </p:sp>
      <p:sp>
        <p:nvSpPr>
          <p:cNvPr id="50" name="node-label-2">
            <a:extLst xmlns:a="http://schemas.openxmlformats.org/drawingml/2006/main">
              <a:ext uri="{FF2B5EF4-FFF2-40B4-BE49-F238E27FC236}">
                <a16:creationId xmlns:a16="http://schemas.microsoft.com/office/drawing/2014/main" id="{2B1A6C27-5FC6-43A0-A60F-9E85AA7DC1AB}"/>
              </a:ext>
            </a:extLst>
          </p:cNvPr>
          <p:cNvSpPr>
            <a:spLocks xmlns:a="http://schemas.openxmlformats.org/drawingml/2006/main" noGrp="1"/>
          </p:cNvSpPr>
          <p:nvPr/>
        </p:nvSpPr>
        <p:spPr>
          <a:xfrm xmlns:a="http://schemas.openxmlformats.org/drawingml/2006/main">
            <a:off x="7191375" y="3619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SELECT</a:t>
            </a:r>
          </a:p>
        </p:txBody>
      </p:sp>
      <p:sp>
        <p:nvSpPr>
          <p:cNvPr id="51" name="node-body-2">
            <a:extLst xmlns:a="http://schemas.openxmlformats.org/drawingml/2006/main">
              <a:ext uri="{FF2B5EF4-FFF2-40B4-BE49-F238E27FC236}">
                <a16:creationId xmlns:a16="http://schemas.microsoft.com/office/drawing/2014/main" id="{3AA0B6AA-E01F-4716-A9B7-2954CC435B1F}"/>
              </a:ext>
            </a:extLst>
          </p:cNvPr>
          <p:cNvSpPr>
            <a:spLocks xmlns:a="http://schemas.openxmlformats.org/drawingml/2006/main" noGrp="1"/>
          </p:cNvSpPr>
          <p:nvPr/>
        </p:nvSpPr>
        <p:spPr>
          <a:xfrm xmlns:a="http://schemas.openxmlformats.org/drawingml/2006/main">
            <a:off x="7143750" y="4286250"/>
            <a:ext cx="161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F97316"/>
                </a:solidFill>
              </a:defRPr>
            </a:pPr>
            <a:r>
              <a:rPr sz="1500" b="1">
                <a:solidFill>
                  <a:srgbClr val="F97316"/>
                </a:solidFill>
              </a:rPr>
              <a:t>C152 + C160</a:t>
            </a:r>
          </a:p>
          <a:p xmlns:a="http://schemas.openxmlformats.org/drawingml/2006/main">
            <a:pPr algn="ctr">
              <a:buNone/>
              <a:defRPr sz="1500" b="1">
                <a:solidFill>
                  <a:srgbClr val="F97316"/>
                </a:solidFill>
              </a:defRPr>
            </a:pPr>
            <a:r>
              <a:rPr sz="1500" b="1">
                <a:solidFill>
                  <a:srgbClr val="F97316"/>
                </a:solidFill>
              </a:rPr>
              <a:t>top-k = 2</a:t>
            </a:r>
          </a:p>
        </p:txBody>
      </p:sp>
      <p:sp>
        <p:nvSpPr>
          <p:cNvPr id="52" name="node-3">
            <a:extLst xmlns:a="http://schemas.openxmlformats.org/drawingml/2006/main">
              <a:ext uri="{FF2B5EF4-FFF2-40B4-BE49-F238E27FC236}">
                <a16:creationId xmlns:a16="http://schemas.microsoft.com/office/drawing/2014/main" id="{1278B7D0-EE2B-47FD-AC98-5FD9B6AFC406}"/>
              </a:ext>
            </a:extLst>
          </p:cNvPr>
          <p:cNvSpPr>
            <a:spLocks xmlns:a="http://schemas.openxmlformats.org/drawingml/2006/main" noGrp="1"/>
          </p:cNvSpPr>
          <p:nvPr/>
        </p:nvSpPr>
        <p:spPr>
          <a:xfrm xmlns:a="http://schemas.openxmlformats.org/drawingml/2006/main">
            <a:off x="9906000" y="3333750"/>
            <a:ext cx="2000250" cy="2190750"/>
          </a:xfrm>
          <a:prstGeom xmlns:a="http://schemas.openxmlformats.org/drawingml/2006/main" prst="roundRect">
            <a:avLst>
              <a:gd name="adj" fmla="val 5714"/>
            </a:avLst>
          </a:prstGeom>
          <a:noFill xmlns:a="http://schemas.openxmlformats.org/drawingml/2006/main"/>
          <a:ln xmlns:a="http://schemas.openxmlformats.org/drawingml/2006/main" w="9525">
            <a:solidFill>
              <a:srgbClr val="CBD5E1"/>
            </a:solidFill>
            <a:prstDash val="solid"/>
          </a:ln>
        </p:spPr>
      </p:sp>
      <p:sp>
        <p:nvSpPr>
          <p:cNvPr id="53" name="node-label-3">
            <a:extLst xmlns:a="http://schemas.openxmlformats.org/drawingml/2006/main">
              <a:ext uri="{FF2B5EF4-FFF2-40B4-BE49-F238E27FC236}">
                <a16:creationId xmlns:a16="http://schemas.microsoft.com/office/drawing/2014/main" id="{379DED41-5954-46F5-AA0B-E4AEFF1746D3}"/>
              </a:ext>
            </a:extLst>
          </p:cNvPr>
          <p:cNvSpPr>
            <a:spLocks xmlns:a="http://schemas.openxmlformats.org/drawingml/2006/main" noGrp="1"/>
          </p:cNvSpPr>
          <p:nvPr/>
        </p:nvSpPr>
        <p:spPr>
          <a:xfrm xmlns:a="http://schemas.openxmlformats.org/drawingml/2006/main">
            <a:off x="10144125" y="3619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ASSEMBLE</a:t>
            </a:r>
          </a:p>
        </p:txBody>
      </p:sp>
      <p:sp>
        <p:nvSpPr>
          <p:cNvPr id="54" name="node-body-3">
            <a:extLst xmlns:a="http://schemas.openxmlformats.org/drawingml/2006/main">
              <a:ext uri="{FF2B5EF4-FFF2-40B4-BE49-F238E27FC236}">
                <a16:creationId xmlns:a16="http://schemas.microsoft.com/office/drawing/2014/main" id="{3695F59D-BB1F-41D6-A664-4212DF5BE14B}"/>
              </a:ext>
            </a:extLst>
          </p:cNvPr>
          <p:cNvSpPr>
            <a:spLocks xmlns:a="http://schemas.openxmlformats.org/drawingml/2006/main" noGrp="1"/>
          </p:cNvSpPr>
          <p:nvPr/>
        </p:nvSpPr>
        <p:spPr>
          <a:xfrm xmlns:a="http://schemas.openxmlformats.org/drawingml/2006/main">
            <a:off x="10096500" y="4286250"/>
            <a:ext cx="161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82F49"/>
                </a:solidFill>
              </a:defRPr>
            </a:pPr>
            <a:r>
              <a:rPr sz="1500" b="1">
                <a:solidFill>
                  <a:srgbClr val="082F49"/>
                </a:solidFill>
              </a:rPr>
              <a:t>instructions + IDs</a:t>
            </a:r>
          </a:p>
          <a:p xmlns:a="http://schemas.openxmlformats.org/drawingml/2006/main">
            <a:pPr algn="ctr">
              <a:buNone/>
              <a:defRPr sz="1500" b="1">
                <a:solidFill>
                  <a:srgbClr val="082F49"/>
                </a:solidFill>
              </a:defRPr>
            </a:pPr>
            <a:r>
              <a:rPr sz="1500" b="1">
                <a:solidFill>
                  <a:srgbClr val="082F49"/>
                </a:solidFill>
              </a:rPr>
              <a:t>source URL + question</a:t>
            </a:r>
          </a:p>
        </p:txBody>
      </p:sp>
      <p:sp>
        <p:nvSpPr>
          <p:cNvPr id="55" name="node-4">
            <a:extLst xmlns:a="http://schemas.openxmlformats.org/drawingml/2006/main">
              <a:ext uri="{FF2B5EF4-FFF2-40B4-BE49-F238E27FC236}">
                <a16:creationId xmlns:a16="http://schemas.microsoft.com/office/drawing/2014/main" id="{C69E6813-84D5-4A94-97C4-28A538572683}"/>
              </a:ext>
            </a:extLst>
          </p:cNvPr>
          <p:cNvSpPr>
            <a:spLocks xmlns:a="http://schemas.openxmlformats.org/drawingml/2006/main" noGrp="1"/>
          </p:cNvSpPr>
          <p:nvPr/>
        </p:nvSpPr>
        <p:spPr>
          <a:xfrm xmlns:a="http://schemas.openxmlformats.org/drawingml/2006/main">
            <a:off x="12858750" y="3333750"/>
            <a:ext cx="2000250" cy="2190750"/>
          </a:xfrm>
          <a:prstGeom xmlns:a="http://schemas.openxmlformats.org/drawingml/2006/main" prst="roundRect">
            <a:avLst>
              <a:gd name="adj" fmla="val 5714"/>
            </a:avLst>
          </a:prstGeom>
          <a:noFill xmlns:a="http://schemas.openxmlformats.org/drawingml/2006/main"/>
          <a:ln xmlns:a="http://schemas.openxmlformats.org/drawingml/2006/main" w="9525">
            <a:solidFill>
              <a:srgbClr val="CBD5E1"/>
            </a:solidFill>
            <a:prstDash val="solid"/>
          </a:ln>
        </p:spPr>
      </p:sp>
      <p:sp>
        <p:nvSpPr>
          <p:cNvPr id="56" name="node-label-4">
            <a:extLst xmlns:a="http://schemas.openxmlformats.org/drawingml/2006/main">
              <a:ext uri="{FF2B5EF4-FFF2-40B4-BE49-F238E27FC236}">
                <a16:creationId xmlns:a16="http://schemas.microsoft.com/office/drawing/2014/main" id="{664779E5-7B09-4A00-A229-89EF8E7F7A00}"/>
              </a:ext>
            </a:extLst>
          </p:cNvPr>
          <p:cNvSpPr>
            <a:spLocks xmlns:a="http://schemas.openxmlformats.org/drawingml/2006/main" noGrp="1"/>
          </p:cNvSpPr>
          <p:nvPr/>
        </p:nvSpPr>
        <p:spPr>
          <a:xfrm xmlns:a="http://schemas.openxmlformats.org/drawingml/2006/main">
            <a:off x="13096875" y="3619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6B6D4"/>
                </a:solidFill>
              </a:defRPr>
            </a:pPr>
            <a:r>
              <a:rPr sz="1350" b="1">
                <a:solidFill>
                  <a:srgbClr val="06B6D4"/>
                </a:solidFill>
              </a:rPr>
              <a:t>GENERATE</a:t>
            </a:r>
          </a:p>
        </p:txBody>
      </p:sp>
      <p:sp>
        <p:nvSpPr>
          <p:cNvPr id="57" name="node-body-4">
            <a:extLst xmlns:a="http://schemas.openxmlformats.org/drawingml/2006/main">
              <a:ext uri="{FF2B5EF4-FFF2-40B4-BE49-F238E27FC236}">
                <a16:creationId xmlns:a16="http://schemas.microsoft.com/office/drawing/2014/main" id="{6510AE5B-7927-48A0-9425-1233FFE62389}"/>
              </a:ext>
            </a:extLst>
          </p:cNvPr>
          <p:cNvSpPr>
            <a:spLocks xmlns:a="http://schemas.openxmlformats.org/drawingml/2006/main" noGrp="1"/>
          </p:cNvSpPr>
          <p:nvPr/>
        </p:nvSpPr>
        <p:spPr>
          <a:xfrm xmlns:a="http://schemas.openxmlformats.org/drawingml/2006/main">
            <a:off x="13049250" y="4286250"/>
            <a:ext cx="161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082F49"/>
                </a:solidFill>
              </a:defRPr>
            </a:pPr>
            <a:r>
              <a:rPr sz="1500" b="1">
                <a:solidFill>
                  <a:srgbClr val="082F49"/>
                </a:solidFill>
              </a:rPr>
              <a:t>Luna answer</a:t>
            </a:r>
          </a:p>
          <a:p xmlns:a="http://schemas.openxmlformats.org/drawingml/2006/main">
            <a:pPr algn="ctr">
              <a:buNone/>
              <a:defRPr sz="1500" b="1">
                <a:solidFill>
                  <a:srgbClr val="082F49"/>
                </a:solidFill>
              </a:defRPr>
            </a:pPr>
            <a:r>
              <a:rPr sz="1500" b="1">
                <a:solidFill>
                  <a:srgbClr val="082F49"/>
                </a:solidFill>
              </a:rPr>
              <a:t>with citations</a:t>
            </a:r>
          </a:p>
        </p:txBody>
      </p:sp>
      <p:sp>
        <p:nvSpPr>
          <p:cNvPr id="58" name="prompt-point">
            <a:extLst xmlns:a="http://schemas.openxmlformats.org/drawingml/2006/main">
              <a:ext uri="{FF2B5EF4-FFF2-40B4-BE49-F238E27FC236}">
                <a16:creationId xmlns:a16="http://schemas.microsoft.com/office/drawing/2014/main" id="{F6BBA5C3-B49B-4E9F-918E-1E726CD8A793}"/>
              </a:ext>
            </a:extLst>
          </p:cNvPr>
          <p:cNvSpPr>
            <a:spLocks xmlns:a="http://schemas.openxmlformats.org/drawingml/2006/main" noGrp="1"/>
          </p:cNvSpPr>
          <p:nvPr/>
        </p:nvSpPr>
        <p:spPr>
          <a:xfrm xmlns:a="http://schemas.openxmlformats.org/drawingml/2006/main">
            <a:off x="1619250" y="6524625"/>
            <a:ext cx="1200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DC2626"/>
                </a:solidFill>
              </a:defRPr>
            </a:pPr>
            <a:r>
              <a:rPr sz="1875" b="1">
                <a:solidFill>
                  <a:srgbClr val="DC2626"/>
                </a:solidFill>
              </a:rPr>
              <a:t>The model does not search the filing. It receives the prompt the application assembled.</a:t>
            </a:r>
          </a:p>
        </p:txBody>
      </p:sp>
    </p:spTree>
    <p:extLst>
      <p:ext uri="{BB962C8B-B14F-4D97-AF65-F5344CB8AC3E}">
        <p14:creationId xmlns:p14="http://schemas.microsoft.com/office/powerpoint/2010/main" val="82998112"/>
      </p:ext>
    </p:extLst>
  </p:cSld>
</p:sld>
</file>

<file path=ppt/slides/slide10.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2670E94-0D05-4A89-A3D0-FF51C0CF5992}"/>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FAILURE LAB</a:t>
            </a:r>
          </a:p>
        </p:txBody>
      </p:sp>
      <p:sp>
        <p:nvSpPr>
          <p:cNvPr id="2" name="">
            <a:extLst xmlns:a="http://schemas.openxmlformats.org/drawingml/2006/main">
              <a:ext uri="{FF2B5EF4-FFF2-40B4-BE49-F238E27FC236}">
                <a16:creationId xmlns:a16="http://schemas.microsoft.com/office/drawing/2014/main" id="{E4DC2E0B-F26C-4DAE-8979-A960B441A9A6}"/>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The correct table ranks #21—so generation never sees it</a:t>
            </a:r>
          </a:p>
        </p:txBody>
      </p:sp>
      <p:sp>
        <p:nvSpPr>
          <p:cNvPr id="15" name="">
            <a:extLst xmlns:a="http://schemas.openxmlformats.org/drawingml/2006/main">
              <a:ext uri="{FF2B5EF4-FFF2-40B4-BE49-F238E27FC236}">
                <a16:creationId xmlns:a16="http://schemas.microsoft.com/office/drawing/2014/main" id="{CFDC62F5-084F-4562-B33C-49367D15ADC5}"/>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16" name="">
            <a:extLst xmlns:a="http://schemas.openxmlformats.org/drawingml/2006/main">
              <a:ext uri="{FF2B5EF4-FFF2-40B4-BE49-F238E27FC236}">
                <a16:creationId xmlns:a16="http://schemas.microsoft.com/office/drawing/2014/main" id="{9DF3F72B-1997-4812-9E44-ED9DFEAD7A32}"/>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17" name="">
            <a:extLst xmlns:a="http://schemas.openxmlformats.org/drawingml/2006/main">
              <a:ext uri="{FF2B5EF4-FFF2-40B4-BE49-F238E27FC236}">
                <a16:creationId xmlns:a16="http://schemas.microsoft.com/office/drawing/2014/main" id="{9EC2704C-F1B9-4CBB-A365-73DD4D42C00D}"/>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18" name="">
            <a:extLst xmlns:a="http://schemas.openxmlformats.org/drawingml/2006/main">
              <a:ext uri="{FF2B5EF4-FFF2-40B4-BE49-F238E27FC236}">
                <a16:creationId xmlns:a16="http://schemas.microsoft.com/office/drawing/2014/main" id="{65581549-9DC0-413A-9FDD-93CC68CB37F0}"/>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DIAGNOSE</a:t>
            </a:r>
          </a:p>
        </p:txBody>
      </p:sp>
      <p:sp>
        <p:nvSpPr>
          <p:cNvPr id="19" name="">
            <a:extLst xmlns:a="http://schemas.openxmlformats.org/drawingml/2006/main">
              <a:ext uri="{FF2B5EF4-FFF2-40B4-BE49-F238E27FC236}">
                <a16:creationId xmlns:a16="http://schemas.microsoft.com/office/drawing/2014/main" id="{792FBF07-296E-4F76-868F-E592B8553191}"/>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10</a:t>
            </a:r>
          </a:p>
        </p:txBody>
      </p:sp>
      <p:sp>
        <p:nvSpPr>
          <p:cNvPr id="21" name="rank-axis">
            <a:extLst xmlns:a="http://schemas.openxmlformats.org/drawingml/2006/main">
              <a:ext uri="{FF2B5EF4-FFF2-40B4-BE49-F238E27FC236}">
                <a16:creationId xmlns:a16="http://schemas.microsoft.com/office/drawing/2014/main" id="{DE96B80D-1156-482E-8818-A1BB0DD9993C}"/>
              </a:ext>
            </a:extLst>
          </p:cNvPr>
          <p:cNvSpPr>
            <a:spLocks xmlns:a="http://schemas.openxmlformats.org/drawingml/2006/main" noGrp="1"/>
          </p:cNvSpPr>
          <p:nvPr/>
        </p:nvSpPr>
        <p:spPr>
          <a:xfrm xmlns:a="http://schemas.openxmlformats.org/drawingml/2006/main">
            <a:off x="1428750" y="3905250"/>
            <a:ext cx="11144250" cy="476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prstDash val="solid"/>
          </a:ln>
        </p:spPr>
      </p:sp>
      <p:sp>
        <p:nvSpPr>
          <p:cNvPr id="22" name="topk-zone">
            <a:extLst xmlns:a="http://schemas.openxmlformats.org/drawingml/2006/main">
              <a:ext uri="{FF2B5EF4-FFF2-40B4-BE49-F238E27FC236}">
                <a16:creationId xmlns:a16="http://schemas.microsoft.com/office/drawing/2014/main" id="{814B4F52-3B5C-4BF5-9912-71F78C95A8ED}"/>
              </a:ext>
            </a:extLst>
          </p:cNvPr>
          <p:cNvSpPr>
            <a:spLocks xmlns:a="http://schemas.openxmlformats.org/drawingml/2006/main" noGrp="1"/>
          </p:cNvSpPr>
          <p:nvPr/>
        </p:nvSpPr>
        <p:spPr>
          <a:xfrm xmlns:a="http://schemas.openxmlformats.org/drawingml/2006/main">
            <a:off x="1428750" y="3333750"/>
            <a:ext cx="1000125" cy="1190625"/>
          </a:xfrm>
          <a:prstGeom xmlns:a="http://schemas.openxmlformats.org/drawingml/2006/main" prst="roundRect">
            <a:avLst>
              <a:gd name="adj" fmla="val 11429"/>
            </a:avLst>
          </a:prstGeom>
          <a:solidFill xmlns:a="http://schemas.openxmlformats.org/drawingml/2006/main">
            <a:srgbClr val="FFF7ED"/>
          </a:solidFill>
          <a:ln xmlns:a="http://schemas.openxmlformats.org/drawingml/2006/main" w="9525">
            <a:solidFill>
              <a:srgbClr val="F97316"/>
            </a:solidFill>
            <a:prstDash val="solid"/>
          </a:ln>
        </p:spPr>
      </p:sp>
      <p:sp>
        <p:nvSpPr>
          <p:cNvPr id="23" name="topk-zone-label">
            <a:extLst xmlns:a="http://schemas.openxmlformats.org/drawingml/2006/main">
              <a:ext uri="{FF2B5EF4-FFF2-40B4-BE49-F238E27FC236}">
                <a16:creationId xmlns:a16="http://schemas.microsoft.com/office/drawing/2014/main" id="{390F1D31-0D15-43A3-96F5-4FF922069741}"/>
              </a:ext>
            </a:extLst>
          </p:cNvPr>
          <p:cNvSpPr>
            <a:spLocks xmlns:a="http://schemas.openxmlformats.org/drawingml/2006/main" noGrp="1"/>
          </p:cNvSpPr>
          <p:nvPr/>
        </p:nvSpPr>
        <p:spPr>
          <a:xfrm xmlns:a="http://schemas.openxmlformats.org/drawingml/2006/main">
            <a:off x="1524000" y="3371850"/>
            <a:ext cx="809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F97316"/>
                </a:solidFill>
              </a:defRPr>
            </a:pPr>
            <a:r>
              <a:rPr sz="1500" b="1">
                <a:solidFill>
                  <a:srgbClr val="F97316"/>
                </a:solidFill>
              </a:rPr>
              <a:t>TOP 2</a:t>
            </a:r>
          </a:p>
        </p:txBody>
      </p:sp>
      <p:sp>
        <p:nvSpPr>
          <p:cNvPr id="24" name="rank-dot-1">
            <a:extLst xmlns:a="http://schemas.openxmlformats.org/drawingml/2006/main">
              <a:ext uri="{FF2B5EF4-FFF2-40B4-BE49-F238E27FC236}">
                <a16:creationId xmlns:a16="http://schemas.microsoft.com/office/drawing/2014/main" id="{B858AA63-B599-43AE-A69B-7A1E24AECFEB}"/>
              </a:ext>
            </a:extLst>
          </p:cNvPr>
          <p:cNvSpPr>
            <a:spLocks xmlns:a="http://schemas.openxmlformats.org/drawingml/2006/main" noGrp="1"/>
          </p:cNvSpPr>
          <p:nvPr/>
        </p:nvSpPr>
        <p:spPr>
          <a:xfrm xmlns:a="http://schemas.openxmlformats.org/drawingml/2006/main">
            <a:off x="1428750"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25" name="rank-dot-2">
            <a:extLst xmlns:a="http://schemas.openxmlformats.org/drawingml/2006/main">
              <a:ext uri="{FF2B5EF4-FFF2-40B4-BE49-F238E27FC236}">
                <a16:creationId xmlns:a16="http://schemas.microsoft.com/office/drawing/2014/main" id="{EC07315D-FDA4-4327-8487-AB5411F325F9}"/>
              </a:ext>
            </a:extLst>
          </p:cNvPr>
          <p:cNvSpPr>
            <a:spLocks xmlns:a="http://schemas.openxmlformats.org/drawingml/2006/main" noGrp="1"/>
          </p:cNvSpPr>
          <p:nvPr/>
        </p:nvSpPr>
        <p:spPr>
          <a:xfrm xmlns:a="http://schemas.openxmlformats.org/drawingml/2006/main">
            <a:off x="1952625"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26" name="rank-dot-4">
            <a:extLst xmlns:a="http://schemas.openxmlformats.org/drawingml/2006/main">
              <a:ext uri="{FF2B5EF4-FFF2-40B4-BE49-F238E27FC236}">
                <a16:creationId xmlns:a16="http://schemas.microsoft.com/office/drawing/2014/main" id="{9DF2166D-8AC7-4683-BBFC-6C661B092316}"/>
              </a:ext>
            </a:extLst>
          </p:cNvPr>
          <p:cNvSpPr>
            <a:spLocks xmlns:a="http://schemas.openxmlformats.org/drawingml/2006/main" noGrp="1"/>
          </p:cNvSpPr>
          <p:nvPr/>
        </p:nvSpPr>
        <p:spPr>
          <a:xfrm xmlns:a="http://schemas.openxmlformats.org/drawingml/2006/main">
            <a:off x="3000375"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27" name="rank-dot-6">
            <a:extLst xmlns:a="http://schemas.openxmlformats.org/drawingml/2006/main">
              <a:ext uri="{FF2B5EF4-FFF2-40B4-BE49-F238E27FC236}">
                <a16:creationId xmlns:a16="http://schemas.microsoft.com/office/drawing/2014/main" id="{AA7137E5-8C27-438F-9465-AE0608C2CFC3}"/>
              </a:ext>
            </a:extLst>
          </p:cNvPr>
          <p:cNvSpPr>
            <a:spLocks xmlns:a="http://schemas.openxmlformats.org/drawingml/2006/main" noGrp="1"/>
          </p:cNvSpPr>
          <p:nvPr/>
        </p:nvSpPr>
        <p:spPr>
          <a:xfrm xmlns:a="http://schemas.openxmlformats.org/drawingml/2006/main">
            <a:off x="4048125"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28" name="rank-dot-9">
            <a:extLst xmlns:a="http://schemas.openxmlformats.org/drawingml/2006/main">
              <a:ext uri="{FF2B5EF4-FFF2-40B4-BE49-F238E27FC236}">
                <a16:creationId xmlns:a16="http://schemas.microsoft.com/office/drawing/2014/main" id="{B428FC4A-4805-4D94-96E5-F070BF2DD407}"/>
              </a:ext>
            </a:extLst>
          </p:cNvPr>
          <p:cNvSpPr>
            <a:spLocks xmlns:a="http://schemas.openxmlformats.org/drawingml/2006/main" noGrp="1"/>
          </p:cNvSpPr>
          <p:nvPr/>
        </p:nvSpPr>
        <p:spPr>
          <a:xfrm xmlns:a="http://schemas.openxmlformats.org/drawingml/2006/main">
            <a:off x="5619750"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29" name="rank-dot-12">
            <a:extLst xmlns:a="http://schemas.openxmlformats.org/drawingml/2006/main">
              <a:ext uri="{FF2B5EF4-FFF2-40B4-BE49-F238E27FC236}">
                <a16:creationId xmlns:a16="http://schemas.microsoft.com/office/drawing/2014/main" id="{951FAF31-CC19-49CE-8F79-76D925F7216A}"/>
              </a:ext>
            </a:extLst>
          </p:cNvPr>
          <p:cNvSpPr>
            <a:spLocks xmlns:a="http://schemas.openxmlformats.org/drawingml/2006/main" noGrp="1"/>
          </p:cNvSpPr>
          <p:nvPr/>
        </p:nvSpPr>
        <p:spPr>
          <a:xfrm xmlns:a="http://schemas.openxmlformats.org/drawingml/2006/main">
            <a:off x="7191375" y="3733800"/>
            <a:ext cx="266700" cy="266700"/>
          </a:xfrm>
          <a:prstGeom xmlns:a="http://schemas.openxmlformats.org/drawingml/2006/main" prst="roundRect">
            <a:avLst>
              <a:gd name="adj" fmla="val 50000"/>
            </a:avLst>
          </a:prstGeom>
          <a:solidFill xmlns:a="http://schemas.openxmlformats.org/drawingml/2006/main">
            <a:srgbClr val="CBD5E1"/>
          </a:solidFill>
          <a:ln xmlns:a="http://schemas.openxmlformats.org/drawingml/2006/main" w="9525">
            <a:solidFill>
              <a:srgbClr val="082F49"/>
            </a:solidFill>
            <a:prstDash val="solid"/>
          </a:ln>
        </p:spPr>
      </p:sp>
      <p:sp>
        <p:nvSpPr>
          <p:cNvPr id="30" name="rank-21">
            <a:extLst xmlns:a="http://schemas.openxmlformats.org/drawingml/2006/main">
              <a:ext uri="{FF2B5EF4-FFF2-40B4-BE49-F238E27FC236}">
                <a16:creationId xmlns:a16="http://schemas.microsoft.com/office/drawing/2014/main" id="{03F16070-A3E5-4108-B49E-012E5F540109}"/>
              </a:ext>
            </a:extLst>
          </p:cNvPr>
          <p:cNvSpPr>
            <a:spLocks xmlns:a="http://schemas.openxmlformats.org/drawingml/2006/main" noGrp="1"/>
          </p:cNvSpPr>
          <p:nvPr/>
        </p:nvSpPr>
        <p:spPr>
          <a:xfrm xmlns:a="http://schemas.openxmlformats.org/drawingml/2006/main">
            <a:off x="11906250" y="3562350"/>
            <a:ext cx="590550" cy="590550"/>
          </a:xfrm>
          <a:prstGeom xmlns:a="http://schemas.openxmlformats.org/drawingml/2006/main" prst="roundRect">
            <a:avLst>
              <a:gd name="adj" fmla="val 50000"/>
            </a:avLst>
          </a:prstGeom>
          <a:solidFill xmlns:a="http://schemas.openxmlformats.org/drawingml/2006/main">
            <a:srgbClr val="DC2626"/>
          </a:solidFill>
          <a:ln xmlns:a="http://schemas.openxmlformats.org/drawingml/2006/main" w="9525">
            <a:solidFill>
              <a:srgbClr val="DC2626"/>
            </a:solidFill>
            <a:prstDash val="solid"/>
          </a:ln>
        </p:spPr>
      </p:sp>
      <p:sp>
        <p:nvSpPr>
          <p:cNvPr id="31" name="rank-21-text">
            <a:extLst xmlns:a="http://schemas.openxmlformats.org/drawingml/2006/main">
              <a:ext uri="{FF2B5EF4-FFF2-40B4-BE49-F238E27FC236}">
                <a16:creationId xmlns:a16="http://schemas.microsoft.com/office/drawing/2014/main" id="{3470832C-B6F3-40F1-AE87-CB0EB83B476F}"/>
              </a:ext>
            </a:extLst>
          </p:cNvPr>
          <p:cNvSpPr>
            <a:spLocks xmlns:a="http://schemas.openxmlformats.org/drawingml/2006/main" noGrp="1"/>
          </p:cNvSpPr>
          <p:nvPr/>
        </p:nvSpPr>
        <p:spPr>
          <a:xfrm xmlns:a="http://schemas.openxmlformats.org/drawingml/2006/main">
            <a:off x="11953875" y="3676650"/>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FFFFFF"/>
                </a:solidFill>
              </a:defRPr>
            </a:pPr>
            <a:r>
              <a:rPr sz="1875" b="1">
                <a:solidFill>
                  <a:srgbClr val="FFFFFF"/>
                </a:solidFill>
              </a:rPr>
              <a:t>21</a:t>
            </a:r>
          </a:p>
        </p:txBody>
      </p:sp>
      <p:sp>
        <p:nvSpPr>
          <p:cNvPr id="32" name="rank-21-label">
            <a:extLst xmlns:a="http://schemas.openxmlformats.org/drawingml/2006/main">
              <a:ext uri="{FF2B5EF4-FFF2-40B4-BE49-F238E27FC236}">
                <a16:creationId xmlns:a16="http://schemas.microsoft.com/office/drawing/2014/main" id="{87AC07E5-E335-4D1C-BE62-D9E72A401158}"/>
              </a:ext>
            </a:extLst>
          </p:cNvPr>
          <p:cNvSpPr>
            <a:spLocks xmlns:a="http://schemas.openxmlformats.org/drawingml/2006/main" noGrp="1"/>
          </p:cNvSpPr>
          <p:nvPr/>
        </p:nvSpPr>
        <p:spPr>
          <a:xfrm xmlns:a="http://schemas.openxmlformats.org/drawingml/2006/main">
            <a:off x="10953750" y="4381500"/>
            <a:ext cx="247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C2626"/>
                </a:solidFill>
              </a:defRPr>
            </a:pPr>
            <a:r>
              <a:rPr sz="1350" b="1">
                <a:solidFill>
                  <a:srgbClr val="DC2626"/>
                </a:solidFill>
              </a:rPr>
              <a:t>precise revenue table</a:t>
            </a:r>
          </a:p>
        </p:txBody>
      </p:sp>
      <p:sp>
        <p:nvSpPr>
          <p:cNvPr id="33" name="stage-label-PARSE">
            <a:extLst xmlns:a="http://schemas.openxmlformats.org/drawingml/2006/main">
              <a:ext uri="{FF2B5EF4-FFF2-40B4-BE49-F238E27FC236}">
                <a16:creationId xmlns:a16="http://schemas.microsoft.com/office/drawing/2014/main" id="{F01834F4-83B7-4275-A947-B195FCF4A022}"/>
              </a:ext>
            </a:extLst>
          </p:cNvPr>
          <p:cNvSpPr>
            <a:spLocks xmlns:a="http://schemas.openxmlformats.org/drawingml/2006/main" noGrp="1"/>
          </p:cNvSpPr>
          <p:nvPr/>
        </p:nvSpPr>
        <p:spPr>
          <a:xfrm xmlns:a="http://schemas.openxmlformats.org/drawingml/2006/main">
            <a:off x="11430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F97316"/>
                </a:solidFill>
              </a:defRPr>
            </a:pPr>
            <a:r>
              <a:rPr sz="1350" b="1">
                <a:solidFill>
                  <a:srgbClr val="F97316"/>
                </a:solidFill>
              </a:rPr>
              <a:t>PARSE</a:t>
            </a:r>
          </a:p>
        </p:txBody>
      </p:sp>
      <p:sp>
        <p:nvSpPr>
          <p:cNvPr id="34" name="stage-mark-PARSE">
            <a:extLst xmlns:a="http://schemas.openxmlformats.org/drawingml/2006/main">
              <a:ext uri="{FF2B5EF4-FFF2-40B4-BE49-F238E27FC236}">
                <a16:creationId xmlns:a16="http://schemas.microsoft.com/office/drawing/2014/main" id="{F57DB090-4703-442C-BA57-4F438E084238}"/>
              </a:ext>
            </a:extLst>
          </p:cNvPr>
          <p:cNvSpPr>
            <a:spLocks xmlns:a="http://schemas.openxmlformats.org/drawingml/2006/main" noGrp="1"/>
          </p:cNvSpPr>
          <p:nvPr/>
        </p:nvSpPr>
        <p:spPr>
          <a:xfrm xmlns:a="http://schemas.openxmlformats.org/drawingml/2006/main">
            <a:off x="1143000" y="5905500"/>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F97316"/>
                </a:solidFill>
              </a:defRPr>
            </a:pPr>
            <a:r>
              <a:rPr sz="3000" b="1">
                <a:solidFill>
                  <a:srgbClr val="F97316"/>
                </a:solidFill>
              </a:rPr>
              <a:t>△</a:t>
            </a:r>
          </a:p>
        </p:txBody>
      </p:sp>
      <p:sp>
        <p:nvSpPr>
          <p:cNvPr id="35" name="stage-body-PARSE">
            <a:extLst xmlns:a="http://schemas.openxmlformats.org/drawingml/2006/main">
              <a:ext uri="{FF2B5EF4-FFF2-40B4-BE49-F238E27FC236}">
                <a16:creationId xmlns:a16="http://schemas.microsoft.com/office/drawing/2014/main" id="{535E2653-0E55-4FD0-8C33-BA0F1AF7EED9}"/>
              </a:ext>
            </a:extLst>
          </p:cNvPr>
          <p:cNvSpPr>
            <a:spLocks xmlns:a="http://schemas.openxmlformats.org/drawingml/2006/main" noGrp="1"/>
          </p:cNvSpPr>
          <p:nvPr/>
        </p:nvSpPr>
        <p:spPr>
          <a:xfrm xmlns:a="http://schemas.openxmlformats.org/drawingml/2006/main">
            <a:off x="1143000" y="6524625"/>
            <a:ext cx="247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defRPr>
            </a:pPr>
            <a:r>
              <a:rPr sz="1350">
                <a:solidFill>
                  <a:srgbClr val="475569"/>
                </a:solidFill>
              </a:rPr>
              <a:t>values kept</a:t>
            </a:r>
          </a:p>
          <a:p xmlns:a="http://schemas.openxmlformats.org/drawingml/2006/main">
            <a:pPr algn="ctr">
              <a:buNone/>
              <a:defRPr sz="1350">
                <a:solidFill>
                  <a:srgbClr val="475569"/>
                </a:solidFill>
              </a:defRPr>
            </a:pPr>
            <a:r>
              <a:rPr sz="1350">
                <a:solidFill>
                  <a:srgbClr val="475569"/>
                </a:solidFill>
              </a:rPr>
              <a:t>structure flattened</a:t>
            </a:r>
          </a:p>
        </p:txBody>
      </p:sp>
      <p:sp>
        <p:nvSpPr>
          <p:cNvPr id="36" name="stage-label-CHUNK">
            <a:extLst xmlns:a="http://schemas.openxmlformats.org/drawingml/2006/main">
              <a:ext uri="{FF2B5EF4-FFF2-40B4-BE49-F238E27FC236}">
                <a16:creationId xmlns:a16="http://schemas.microsoft.com/office/drawing/2014/main" id="{0B86BA14-FB7E-44C6-92AC-1D9718621B3F}"/>
              </a:ext>
            </a:extLst>
          </p:cNvPr>
          <p:cNvSpPr>
            <a:spLocks xmlns:a="http://schemas.openxmlformats.org/drawingml/2006/main" noGrp="1"/>
          </p:cNvSpPr>
          <p:nvPr/>
        </p:nvSpPr>
        <p:spPr>
          <a:xfrm xmlns:a="http://schemas.openxmlformats.org/drawingml/2006/main">
            <a:off x="45720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F97316"/>
                </a:solidFill>
              </a:defRPr>
            </a:pPr>
            <a:r>
              <a:rPr sz="1350" b="1">
                <a:solidFill>
                  <a:srgbClr val="F97316"/>
                </a:solidFill>
              </a:rPr>
              <a:t>CHUNK</a:t>
            </a:r>
          </a:p>
        </p:txBody>
      </p:sp>
      <p:sp>
        <p:nvSpPr>
          <p:cNvPr id="37" name="stage-mark-CHUNK">
            <a:extLst xmlns:a="http://schemas.openxmlformats.org/drawingml/2006/main">
              <a:ext uri="{FF2B5EF4-FFF2-40B4-BE49-F238E27FC236}">
                <a16:creationId xmlns:a16="http://schemas.microsoft.com/office/drawing/2014/main" id="{1AE82D25-214A-4483-BCBA-E9473DDE30A9}"/>
              </a:ext>
            </a:extLst>
          </p:cNvPr>
          <p:cNvSpPr>
            <a:spLocks xmlns:a="http://schemas.openxmlformats.org/drawingml/2006/main" noGrp="1"/>
          </p:cNvSpPr>
          <p:nvPr/>
        </p:nvSpPr>
        <p:spPr>
          <a:xfrm xmlns:a="http://schemas.openxmlformats.org/drawingml/2006/main">
            <a:off x="4572000" y="5905500"/>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F97316"/>
                </a:solidFill>
              </a:defRPr>
            </a:pPr>
            <a:r>
              <a:rPr sz="3000" b="1">
                <a:solidFill>
                  <a:srgbClr val="F97316"/>
                </a:solidFill>
              </a:rPr>
              <a:t>△</a:t>
            </a:r>
          </a:p>
        </p:txBody>
      </p:sp>
      <p:sp>
        <p:nvSpPr>
          <p:cNvPr id="38" name="stage-body-CHUNK">
            <a:extLst xmlns:a="http://schemas.openxmlformats.org/drawingml/2006/main">
              <a:ext uri="{FF2B5EF4-FFF2-40B4-BE49-F238E27FC236}">
                <a16:creationId xmlns:a16="http://schemas.microsoft.com/office/drawing/2014/main" id="{CA3F29A7-D2A5-405A-AB13-CCE62904AE86}"/>
              </a:ext>
            </a:extLst>
          </p:cNvPr>
          <p:cNvSpPr>
            <a:spLocks xmlns:a="http://schemas.openxmlformats.org/drawingml/2006/main" noGrp="1"/>
          </p:cNvSpPr>
          <p:nvPr/>
        </p:nvSpPr>
        <p:spPr>
          <a:xfrm xmlns:a="http://schemas.openxmlformats.org/drawingml/2006/main">
            <a:off x="4572000" y="6524625"/>
            <a:ext cx="247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defRPr>
            </a:pPr>
            <a:r>
              <a:rPr sz="1350">
                <a:solidFill>
                  <a:srgbClr val="475569"/>
                </a:solidFill>
              </a:rPr>
              <a:t>character window</a:t>
            </a:r>
          </a:p>
          <a:p xmlns:a="http://schemas.openxmlformats.org/drawingml/2006/main">
            <a:pPr algn="ctr">
              <a:buNone/>
              <a:defRPr sz="1350">
                <a:solidFill>
                  <a:srgbClr val="475569"/>
                </a:solidFill>
              </a:defRPr>
            </a:pPr>
            <a:r>
              <a:rPr sz="1350">
                <a:solidFill>
                  <a:srgbClr val="475569"/>
                </a:solidFill>
              </a:rPr>
              <a:t>ignores table boundary</a:t>
            </a:r>
          </a:p>
        </p:txBody>
      </p:sp>
      <p:sp>
        <p:nvSpPr>
          <p:cNvPr id="39" name="stage-label-RETRIEVE">
            <a:extLst xmlns:a="http://schemas.openxmlformats.org/drawingml/2006/main">
              <a:ext uri="{FF2B5EF4-FFF2-40B4-BE49-F238E27FC236}">
                <a16:creationId xmlns:a16="http://schemas.microsoft.com/office/drawing/2014/main" id="{7B94784F-F000-40F0-B0EB-1786C1EC20DD}"/>
              </a:ext>
            </a:extLst>
          </p:cNvPr>
          <p:cNvSpPr>
            <a:spLocks xmlns:a="http://schemas.openxmlformats.org/drawingml/2006/main" noGrp="1"/>
          </p:cNvSpPr>
          <p:nvPr/>
        </p:nvSpPr>
        <p:spPr>
          <a:xfrm xmlns:a="http://schemas.openxmlformats.org/drawingml/2006/main">
            <a:off x="80010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C2626"/>
                </a:solidFill>
              </a:defRPr>
            </a:pPr>
            <a:r>
              <a:rPr sz="1350" b="1">
                <a:solidFill>
                  <a:srgbClr val="DC2626"/>
                </a:solidFill>
              </a:rPr>
              <a:t>RETRIEVE</a:t>
            </a:r>
          </a:p>
        </p:txBody>
      </p:sp>
      <p:sp>
        <p:nvSpPr>
          <p:cNvPr id="40" name="stage-mark-RETRIEVE">
            <a:extLst xmlns:a="http://schemas.openxmlformats.org/drawingml/2006/main">
              <a:ext uri="{FF2B5EF4-FFF2-40B4-BE49-F238E27FC236}">
                <a16:creationId xmlns:a16="http://schemas.microsoft.com/office/drawing/2014/main" id="{5D0B6FAF-9A70-4F51-89E9-39BD74AAEBBD}"/>
              </a:ext>
            </a:extLst>
          </p:cNvPr>
          <p:cNvSpPr>
            <a:spLocks xmlns:a="http://schemas.openxmlformats.org/drawingml/2006/main" noGrp="1"/>
          </p:cNvSpPr>
          <p:nvPr/>
        </p:nvSpPr>
        <p:spPr>
          <a:xfrm xmlns:a="http://schemas.openxmlformats.org/drawingml/2006/main">
            <a:off x="8001000" y="5905500"/>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DC2626"/>
                </a:solidFill>
              </a:defRPr>
            </a:pPr>
            <a:r>
              <a:rPr sz="3000" b="1">
                <a:solidFill>
                  <a:srgbClr val="DC2626"/>
                </a:solidFill>
              </a:rPr>
              <a:t>✕</a:t>
            </a:r>
          </a:p>
        </p:txBody>
      </p:sp>
      <p:sp>
        <p:nvSpPr>
          <p:cNvPr id="41" name="stage-body-RETRIEVE">
            <a:extLst xmlns:a="http://schemas.openxmlformats.org/drawingml/2006/main">
              <a:ext uri="{FF2B5EF4-FFF2-40B4-BE49-F238E27FC236}">
                <a16:creationId xmlns:a16="http://schemas.microsoft.com/office/drawing/2014/main" id="{D6865B6D-3AFA-4F8B-A709-A0D0F03B3F6C}"/>
              </a:ext>
            </a:extLst>
          </p:cNvPr>
          <p:cNvSpPr>
            <a:spLocks xmlns:a="http://schemas.openxmlformats.org/drawingml/2006/main" noGrp="1"/>
          </p:cNvSpPr>
          <p:nvPr/>
        </p:nvSpPr>
        <p:spPr>
          <a:xfrm xmlns:a="http://schemas.openxmlformats.org/drawingml/2006/main">
            <a:off x="8001000" y="6524625"/>
            <a:ext cx="247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defRPr>
            </a:pPr>
            <a:r>
              <a:rPr sz="1350">
                <a:solidFill>
                  <a:srgbClr val="475569"/>
                </a:solidFill>
              </a:rPr>
              <a:t>required window</a:t>
            </a:r>
          </a:p>
          <a:p xmlns:a="http://schemas.openxmlformats.org/drawingml/2006/main">
            <a:pPr algn="ctr">
              <a:buNone/>
              <a:defRPr sz="1350">
                <a:solidFill>
                  <a:srgbClr val="475569"/>
                </a:solidFill>
              </a:defRPr>
            </a:pPr>
            <a:r>
              <a:rPr sz="1350">
                <a:solidFill>
                  <a:srgbClr val="475569"/>
                </a:solidFill>
              </a:rPr>
              <a:t>outside top-k</a:t>
            </a:r>
          </a:p>
        </p:txBody>
      </p:sp>
      <p:sp>
        <p:nvSpPr>
          <p:cNvPr id="42" name="stage-label-GENERATE">
            <a:extLst xmlns:a="http://schemas.openxmlformats.org/drawingml/2006/main">
              <a:ext uri="{FF2B5EF4-FFF2-40B4-BE49-F238E27FC236}">
                <a16:creationId xmlns:a16="http://schemas.microsoft.com/office/drawing/2014/main" id="{0555A5C0-0A19-4D57-871F-6D5C0702AEF9}"/>
              </a:ext>
            </a:extLst>
          </p:cNvPr>
          <p:cNvSpPr>
            <a:spLocks xmlns:a="http://schemas.openxmlformats.org/drawingml/2006/main" noGrp="1"/>
          </p:cNvSpPr>
          <p:nvPr/>
        </p:nvSpPr>
        <p:spPr>
          <a:xfrm xmlns:a="http://schemas.openxmlformats.org/drawingml/2006/main">
            <a:off x="114300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475569"/>
                </a:solidFill>
              </a:defRPr>
            </a:pPr>
            <a:r>
              <a:rPr sz="1350" b="1">
                <a:solidFill>
                  <a:srgbClr val="475569"/>
                </a:solidFill>
              </a:rPr>
              <a:t>GENERATE</a:t>
            </a:r>
          </a:p>
        </p:txBody>
      </p:sp>
      <p:sp>
        <p:nvSpPr>
          <p:cNvPr id="43" name="stage-mark-GENERATE">
            <a:extLst xmlns:a="http://schemas.openxmlformats.org/drawingml/2006/main">
              <a:ext uri="{FF2B5EF4-FFF2-40B4-BE49-F238E27FC236}">
                <a16:creationId xmlns:a16="http://schemas.microsoft.com/office/drawing/2014/main" id="{058BBABF-FDB9-441F-893F-90A535C8109A}"/>
              </a:ext>
            </a:extLst>
          </p:cNvPr>
          <p:cNvSpPr>
            <a:spLocks xmlns:a="http://schemas.openxmlformats.org/drawingml/2006/main" noGrp="1"/>
          </p:cNvSpPr>
          <p:nvPr/>
        </p:nvSpPr>
        <p:spPr>
          <a:xfrm xmlns:a="http://schemas.openxmlformats.org/drawingml/2006/main">
            <a:off x="11430000" y="5905500"/>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000" b="1">
                <a:solidFill>
                  <a:srgbClr val="475569"/>
                </a:solidFill>
              </a:defRPr>
            </a:pPr>
            <a:r>
              <a:rPr sz="3000" b="1">
                <a:solidFill>
                  <a:srgbClr val="475569"/>
                </a:solidFill>
              </a:rPr>
              <a:t>—</a:t>
            </a:r>
          </a:p>
        </p:txBody>
      </p:sp>
      <p:sp>
        <p:nvSpPr>
          <p:cNvPr id="44" name="stage-body-GENERATE">
            <a:extLst xmlns:a="http://schemas.openxmlformats.org/drawingml/2006/main">
              <a:ext uri="{FF2B5EF4-FFF2-40B4-BE49-F238E27FC236}">
                <a16:creationId xmlns:a16="http://schemas.microsoft.com/office/drawing/2014/main" id="{39CF0E92-5DC8-4177-8F63-7F3D725A092C}"/>
              </a:ext>
            </a:extLst>
          </p:cNvPr>
          <p:cNvSpPr>
            <a:spLocks xmlns:a="http://schemas.openxmlformats.org/drawingml/2006/main" noGrp="1"/>
          </p:cNvSpPr>
          <p:nvPr/>
        </p:nvSpPr>
        <p:spPr>
          <a:xfrm xmlns:a="http://schemas.openxmlformats.org/drawingml/2006/main">
            <a:off x="11430000" y="6524625"/>
            <a:ext cx="2476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defRPr>
            </a:pPr>
            <a:r>
              <a:rPr sz="1350">
                <a:solidFill>
                  <a:srgbClr val="475569"/>
                </a:solidFill>
              </a:rPr>
              <a:t>not responsible</a:t>
            </a:r>
          </a:p>
          <a:p xmlns:a="http://schemas.openxmlformats.org/drawingml/2006/main">
            <a:pPr algn="ctr">
              <a:buNone/>
              <a:defRPr sz="1350">
                <a:solidFill>
                  <a:srgbClr val="475569"/>
                </a:solidFill>
              </a:defRPr>
            </a:pPr>
            <a:r>
              <a:rPr sz="1350">
                <a:solidFill>
                  <a:srgbClr val="475569"/>
                </a:solidFill>
              </a:rPr>
              <a:t>evidence never arrived</a:t>
            </a:r>
          </a:p>
        </p:txBody>
      </p:sp>
    </p:spTree>
    <p:extLst>
      <p:ext uri="{BB962C8B-B14F-4D97-AF65-F5344CB8AC3E}">
        <p14:creationId xmlns:p14="http://schemas.microsoft.com/office/powerpoint/2010/main" val="869369835"/>
      </p:ext>
    </p:extLst>
  </p:cSld>
</p:sld>
</file>

<file path=ppt/slides/slide11.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BBA638A-B023-4BF2-A056-FFB46E5BAA98}"/>
              </a:ext>
            </a:extLst>
          </p:cNvPr>
          <p:cNvSpPr>
            <a:spLocks xmlns:a="http://schemas.openxmlformats.org/drawingml/2006/main" noGrp="1"/>
          </p:cNvSpPr>
          <p:nvPr/>
        </p:nvSpPr>
        <p:spPr>
          <a:xfrm xmlns:a="http://schemas.openxmlformats.org/drawingml/2006/main">
            <a:off x="971550" y="666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425" b="1">
                <a:solidFill>
                  <a:srgbClr val="1F40CB"/>
                </a:solidFill>
                <a:latin typeface="Calibri"/>
                <a:ea typeface="Calibri"/>
                <a:cs typeface="Calibri"/>
              </a:defRPr>
            </a:pPr>
            <a:r>
              <a:rPr sz="1425" b="1">
                <a:solidFill>
                  <a:srgbClr val="1F40CB"/>
                </a:solidFill>
                <a:latin typeface="Calibri"/>
                <a:ea typeface="Calibri"/>
                <a:cs typeface="Calibri"/>
              </a:rPr>
              <a:t>LEARNING PROGRESSION</a:t>
            </a:r>
          </a:p>
        </p:txBody>
      </p:sp>
      <p:sp>
        <p:nvSpPr>
          <p:cNvPr id="2" name="">
            <a:extLst xmlns:a="http://schemas.openxmlformats.org/drawingml/2006/main">
              <a:ext uri="{FF2B5EF4-FFF2-40B4-BE49-F238E27FC236}">
                <a16:creationId xmlns:a16="http://schemas.microsoft.com/office/drawing/2014/main" id="{CA26082D-5F6B-44CE-BFA3-52DF64E5D4DE}"/>
              </a:ext>
            </a:extLst>
          </p:cNvPr>
          <p:cNvSpPr>
            <a:spLocks xmlns:a="http://schemas.openxmlformats.org/drawingml/2006/main" noGrp="1"/>
          </p:cNvSpPr>
          <p:nvPr/>
        </p:nvSpPr>
        <p:spPr>
          <a:xfrm xmlns:a="http://schemas.openxmlformats.org/drawingml/2006/main">
            <a:off x="971550" y="1181100"/>
            <a:ext cx="13296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3600" b="1">
                <a:solidFill>
                  <a:srgbClr val="051C2A"/>
                </a:solidFill>
                <a:latin typeface="Calibri"/>
                <a:ea typeface="Calibri"/>
                <a:cs typeface="Calibri"/>
              </a:defRPr>
            </a:pPr>
            <a:r>
              <a:rPr sz="3600" b="1">
                <a:solidFill>
                  <a:srgbClr val="051C2A"/>
                </a:solidFill>
                <a:latin typeface="Calibri"/>
                <a:ea typeface="Calibri"/>
                <a:cs typeface="Calibri"/>
              </a:rPr>
              <a:t>Improve the stage that produced the measured weakness</a:t>
            </a:r>
          </a:p>
        </p:txBody>
      </p:sp>
      <p:sp>
        <p:nvSpPr>
          <p:cNvPr id="30" name="">
            <a:extLst xmlns:a="http://schemas.openxmlformats.org/drawingml/2006/main">
              <a:ext uri="{FF2B5EF4-FFF2-40B4-BE49-F238E27FC236}">
                <a16:creationId xmlns:a16="http://schemas.microsoft.com/office/drawing/2014/main" id="{D493E902-753B-4BDF-90B6-C4200D82933B}"/>
              </a:ext>
            </a:extLst>
          </p:cNvPr>
          <p:cNvSpPr>
            <a:spLocks xmlns:a="http://schemas.openxmlformats.org/drawingml/2006/main" noGrp="1"/>
          </p:cNvSpPr>
          <p:nvPr/>
        </p:nvSpPr>
        <p:spPr>
          <a:xfrm xmlns:a="http://schemas.openxmlformats.org/drawingml/2006/main">
            <a:off x="857250" y="7896225"/>
            <a:ext cx="13525500" cy="28575"/>
          </a:xfrm>
          <a:prstGeom xmlns:a="http://schemas.openxmlformats.org/drawingml/2006/main" prst="rect">
            <a:avLst/>
          </a:prstGeom>
          <a:solidFill xmlns:a="http://schemas.openxmlformats.org/drawingml/2006/main">
            <a:srgbClr val="E4E7E9"/>
          </a:solidFill>
          <a:ln xmlns:a="http://schemas.openxmlformats.org/drawingml/2006/main" w="0">
            <a:solidFill>
              <a:srgbClr val="E4E7E9"/>
            </a:solidFill>
            <a:prstDash val="solid"/>
          </a:ln>
        </p:spPr>
      </p:sp>
      <p:sp>
        <p:nvSpPr>
          <p:cNvPr id="31" name="">
            <a:extLst xmlns:a="http://schemas.openxmlformats.org/drawingml/2006/main">
              <a:ext uri="{FF2B5EF4-FFF2-40B4-BE49-F238E27FC236}">
                <a16:creationId xmlns:a16="http://schemas.microsoft.com/office/drawing/2014/main" id="{C1FE5C7E-9B67-4886-97A2-606078E50AE1}"/>
              </a:ext>
            </a:extLst>
          </p:cNvPr>
          <p:cNvSpPr>
            <a:spLocks xmlns:a="http://schemas.openxmlformats.org/drawingml/2006/main" noGrp="1"/>
          </p:cNvSpPr>
          <p:nvPr/>
        </p:nvSpPr>
        <p:spPr>
          <a:xfrm xmlns:a="http://schemas.openxmlformats.org/drawingml/2006/main">
            <a:off x="857250" y="7896225"/>
            <a:ext cx="8001000" cy="381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32" name="">
            <a:extLst xmlns:a="http://schemas.openxmlformats.org/drawingml/2006/main">
              <a:ext uri="{FF2B5EF4-FFF2-40B4-BE49-F238E27FC236}">
                <a16:creationId xmlns:a16="http://schemas.microsoft.com/office/drawing/2014/main" id="{B7AA2C3B-1E5B-4407-99C5-1FC9CCCB7559}"/>
              </a:ext>
            </a:extLst>
          </p:cNvPr>
          <p:cNvSpPr>
            <a:spLocks xmlns:a="http://schemas.openxmlformats.org/drawingml/2006/main" noGrp="1"/>
          </p:cNvSpPr>
          <p:nvPr/>
        </p:nvSpPr>
        <p:spPr>
          <a:xfrm xmlns:a="http://schemas.openxmlformats.org/drawingml/2006/main">
            <a:off x="971550" y="80581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00" b="0">
                <a:solidFill>
                  <a:srgbClr val="9A9A9F"/>
                </a:solidFill>
                <a:latin typeface="Calibri"/>
                <a:ea typeface="Calibri"/>
                <a:cs typeface="Calibri"/>
              </a:defRPr>
            </a:pPr>
            <a:r>
              <a:rPr sz="1200" b="0">
                <a:solidFill>
                  <a:srgbClr val="9A9A9F"/>
                </a:solidFill>
                <a:latin typeface="Calibri"/>
                <a:ea typeface="Calibri"/>
                <a:cs typeface="Calibri"/>
              </a:rPr>
              <a:t>First Finance - Arnaud Demes</a:t>
            </a:r>
          </a:p>
        </p:txBody>
      </p:sp>
      <p:sp>
        <p:nvSpPr>
          <p:cNvPr id="33" name="">
            <a:extLst xmlns:a="http://schemas.openxmlformats.org/drawingml/2006/main">
              <a:ext uri="{FF2B5EF4-FFF2-40B4-BE49-F238E27FC236}">
                <a16:creationId xmlns:a16="http://schemas.microsoft.com/office/drawing/2014/main" id="{101533B1-3267-4BE8-92CA-5FD9F71ECDE8}"/>
              </a:ext>
            </a:extLst>
          </p:cNvPr>
          <p:cNvSpPr>
            <a:spLocks xmlns:a="http://schemas.openxmlformats.org/drawingml/2006/main" noGrp="1"/>
          </p:cNvSpPr>
          <p:nvPr/>
        </p:nvSpPr>
        <p:spPr>
          <a:xfrm xmlns:a="http://schemas.openxmlformats.org/drawingml/2006/main">
            <a:off x="12192000" y="805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NEXT</a:t>
            </a:r>
          </a:p>
        </p:txBody>
      </p:sp>
      <p:sp>
        <p:nvSpPr>
          <p:cNvPr id="34" name="">
            <a:extLst xmlns:a="http://schemas.openxmlformats.org/drawingml/2006/main">
              <a:ext uri="{FF2B5EF4-FFF2-40B4-BE49-F238E27FC236}">
                <a16:creationId xmlns:a16="http://schemas.microsoft.com/office/drawing/2014/main" id="{6C8CC1D8-7EF0-44CE-80F8-C9E826329960}"/>
              </a:ext>
            </a:extLst>
          </p:cNvPr>
          <p:cNvSpPr>
            <a:spLocks xmlns:a="http://schemas.openxmlformats.org/drawingml/2006/main" noGrp="1"/>
          </p:cNvSpPr>
          <p:nvPr/>
        </p:nvSpPr>
        <p:spPr>
          <a:xfrm xmlns:a="http://schemas.openxmlformats.org/drawingml/2006/main">
            <a:off x="14135100" y="8058150"/>
            <a:ext cx="26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200" b="1">
                <a:solidFill>
                  <a:srgbClr val="9A9A9F"/>
                </a:solidFill>
                <a:latin typeface="Calibri"/>
                <a:ea typeface="Calibri"/>
                <a:cs typeface="Calibri"/>
              </a:defRPr>
            </a:pPr>
            <a:r>
              <a:rPr sz="1200" b="1">
                <a:solidFill>
                  <a:srgbClr val="9A9A9F"/>
                </a:solidFill>
                <a:latin typeface="Calibri"/>
                <a:ea typeface="Calibri"/>
                <a:cs typeface="Calibri"/>
              </a:rPr>
              <a:t>11</a:t>
            </a:r>
          </a:p>
        </p:txBody>
      </p:sp>
      <p:sp>
        <p:nvSpPr>
          <p:cNvPr id="36" name="before-0">
            <a:extLst xmlns:a="http://schemas.openxmlformats.org/drawingml/2006/main">
              <a:ext uri="{FF2B5EF4-FFF2-40B4-BE49-F238E27FC236}">
                <a16:creationId xmlns:a16="http://schemas.microsoft.com/office/drawing/2014/main" id="{527DCA1D-1DC0-4C25-945F-77805B1B79CA}"/>
              </a:ext>
            </a:extLst>
          </p:cNvPr>
          <p:cNvSpPr>
            <a:spLocks xmlns:a="http://schemas.openxmlformats.org/drawingml/2006/main" noGrp="1"/>
          </p:cNvSpPr>
          <p:nvPr/>
        </p:nvSpPr>
        <p:spPr>
          <a:xfrm xmlns:a="http://schemas.openxmlformats.org/drawingml/2006/main">
            <a:off x="1238250" y="2619375"/>
            <a:ext cx="4095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CBD5E1"/>
            </a:solidFill>
            <a:prstDash val="solid"/>
          </a:ln>
        </p:spPr>
      </p:sp>
      <p:sp>
        <p:nvSpPr>
          <p:cNvPr id="37" name="before-text-0">
            <a:extLst xmlns:a="http://schemas.openxmlformats.org/drawingml/2006/main">
              <a:ext uri="{FF2B5EF4-FFF2-40B4-BE49-F238E27FC236}">
                <a16:creationId xmlns:a16="http://schemas.microsoft.com/office/drawing/2014/main" id="{1E8F53FE-812C-4428-8E5C-F2596D0DBB2D}"/>
              </a:ext>
            </a:extLst>
          </p:cNvPr>
          <p:cNvSpPr>
            <a:spLocks xmlns:a="http://schemas.openxmlformats.org/drawingml/2006/main" noGrp="1"/>
          </p:cNvSpPr>
          <p:nvPr/>
        </p:nvSpPr>
        <p:spPr>
          <a:xfrm xmlns:a="http://schemas.openxmlformats.org/drawingml/2006/main">
            <a:off x="1571625" y="2828925"/>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475569"/>
                </a:solidFill>
              </a:defRPr>
            </a:pPr>
            <a:r>
              <a:rPr sz="1650" b="1">
                <a:solidFill>
                  <a:srgbClr val="475569"/>
                </a:solidFill>
              </a:rPr>
              <a:t>Flattened HTML</a:t>
            </a:r>
          </a:p>
        </p:txBody>
      </p:sp>
      <p:sp>
        <p:nvSpPr>
          <p:cNvPr id="38" name="upgrade-arrow-0">
            <a:extLst xmlns:a="http://schemas.openxmlformats.org/drawingml/2006/main">
              <a:ext uri="{FF2B5EF4-FFF2-40B4-BE49-F238E27FC236}">
                <a16:creationId xmlns:a16="http://schemas.microsoft.com/office/drawing/2014/main" id="{78A47E53-3AF3-45C1-8DB6-567B60225E79}"/>
              </a:ext>
            </a:extLst>
          </p:cNvPr>
          <p:cNvSpPr>
            <a:spLocks xmlns:a="http://schemas.openxmlformats.org/drawingml/2006/main" noGrp="1"/>
          </p:cNvSpPr>
          <p:nvPr/>
        </p:nvSpPr>
        <p:spPr>
          <a:xfrm xmlns:a="http://schemas.openxmlformats.org/drawingml/2006/main">
            <a:off x="5810250" y="2733675"/>
            <a:ext cx="1524000" cy="55245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39" name="after-0">
            <a:extLst xmlns:a="http://schemas.openxmlformats.org/drawingml/2006/main">
              <a:ext uri="{FF2B5EF4-FFF2-40B4-BE49-F238E27FC236}">
                <a16:creationId xmlns:a16="http://schemas.microsoft.com/office/drawing/2014/main" id="{60E5DD55-6280-44E8-967E-3E5AED880FAD}"/>
              </a:ext>
            </a:extLst>
          </p:cNvPr>
          <p:cNvSpPr>
            <a:spLocks xmlns:a="http://schemas.openxmlformats.org/drawingml/2006/main" noGrp="1"/>
          </p:cNvSpPr>
          <p:nvPr/>
        </p:nvSpPr>
        <p:spPr>
          <a:xfrm xmlns:a="http://schemas.openxmlformats.org/drawingml/2006/main">
            <a:off x="7810500" y="2619375"/>
            <a:ext cx="4476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06B6D4"/>
            </a:solidFill>
            <a:prstDash val="solid"/>
          </a:ln>
        </p:spPr>
      </p:sp>
      <p:sp>
        <p:nvSpPr>
          <p:cNvPr id="40" name="after-text-0">
            <a:extLst xmlns:a="http://schemas.openxmlformats.org/drawingml/2006/main">
              <a:ext uri="{FF2B5EF4-FFF2-40B4-BE49-F238E27FC236}">
                <a16:creationId xmlns:a16="http://schemas.microsoft.com/office/drawing/2014/main" id="{07E7440C-287D-4683-AF18-5497408B46E0}"/>
              </a:ext>
            </a:extLst>
          </p:cNvPr>
          <p:cNvSpPr>
            <a:spLocks xmlns:a="http://schemas.openxmlformats.org/drawingml/2006/main" noGrp="1"/>
          </p:cNvSpPr>
          <p:nvPr/>
        </p:nvSpPr>
        <p:spPr>
          <a:xfrm xmlns:a="http://schemas.openxmlformats.org/drawingml/2006/main">
            <a:off x="8096250" y="2828925"/>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Canonical blocks + tables</a:t>
            </a:r>
          </a:p>
        </p:txBody>
      </p:sp>
      <p:sp>
        <p:nvSpPr>
          <p:cNvPr id="41" name="lesson-0">
            <a:extLst xmlns:a="http://schemas.openxmlformats.org/drawingml/2006/main">
              <a:ext uri="{FF2B5EF4-FFF2-40B4-BE49-F238E27FC236}">
                <a16:creationId xmlns:a16="http://schemas.microsoft.com/office/drawing/2014/main" id="{3ECFB103-C43D-426C-8585-61A4A4A6261B}"/>
              </a:ext>
            </a:extLst>
          </p:cNvPr>
          <p:cNvSpPr>
            <a:spLocks xmlns:a="http://schemas.openxmlformats.org/drawingml/2006/main" noGrp="1"/>
          </p:cNvSpPr>
          <p:nvPr/>
        </p:nvSpPr>
        <p:spPr>
          <a:xfrm xmlns:a="http://schemas.openxmlformats.org/drawingml/2006/main">
            <a:off x="12668250" y="2847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6B6D4"/>
                </a:solidFill>
              </a:defRPr>
            </a:pPr>
            <a:r>
              <a:rPr sz="1350" b="1">
                <a:solidFill>
                  <a:srgbClr val="06B6D4"/>
                </a:solidFill>
              </a:rPr>
              <a:t>LESSON 05</a:t>
            </a:r>
          </a:p>
        </p:txBody>
      </p:sp>
      <p:sp>
        <p:nvSpPr>
          <p:cNvPr id="42" name="before-1">
            <a:extLst xmlns:a="http://schemas.openxmlformats.org/drawingml/2006/main">
              <a:ext uri="{FF2B5EF4-FFF2-40B4-BE49-F238E27FC236}">
                <a16:creationId xmlns:a16="http://schemas.microsoft.com/office/drawing/2014/main" id="{A637082D-C40B-4BB0-9D06-0232BCC1F71E}"/>
              </a:ext>
            </a:extLst>
          </p:cNvPr>
          <p:cNvSpPr>
            <a:spLocks xmlns:a="http://schemas.openxmlformats.org/drawingml/2006/main" noGrp="1"/>
          </p:cNvSpPr>
          <p:nvPr/>
        </p:nvSpPr>
        <p:spPr>
          <a:xfrm xmlns:a="http://schemas.openxmlformats.org/drawingml/2006/main">
            <a:off x="1238250" y="3762375"/>
            <a:ext cx="4095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CBD5E1"/>
            </a:solidFill>
            <a:prstDash val="solid"/>
          </a:ln>
        </p:spPr>
      </p:sp>
      <p:sp>
        <p:nvSpPr>
          <p:cNvPr id="43" name="before-text-1">
            <a:extLst xmlns:a="http://schemas.openxmlformats.org/drawingml/2006/main">
              <a:ext uri="{FF2B5EF4-FFF2-40B4-BE49-F238E27FC236}">
                <a16:creationId xmlns:a16="http://schemas.microsoft.com/office/drawing/2014/main" id="{B3869789-D08D-4365-BCA7-DEBE001071B4}"/>
              </a:ext>
            </a:extLst>
          </p:cNvPr>
          <p:cNvSpPr>
            <a:spLocks xmlns:a="http://schemas.openxmlformats.org/drawingml/2006/main" noGrp="1"/>
          </p:cNvSpPr>
          <p:nvPr/>
        </p:nvSpPr>
        <p:spPr>
          <a:xfrm xmlns:a="http://schemas.openxmlformats.org/drawingml/2006/main">
            <a:off x="1571625" y="3971925"/>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475569"/>
                </a:solidFill>
              </a:defRPr>
            </a:pPr>
            <a:r>
              <a:rPr sz="1650" b="1">
                <a:solidFill>
                  <a:srgbClr val="475569"/>
                </a:solidFill>
              </a:rPr>
              <a:t>Character windows</a:t>
            </a:r>
          </a:p>
        </p:txBody>
      </p:sp>
      <p:sp>
        <p:nvSpPr>
          <p:cNvPr id="44" name="upgrade-arrow-1">
            <a:extLst xmlns:a="http://schemas.openxmlformats.org/drawingml/2006/main">
              <a:ext uri="{FF2B5EF4-FFF2-40B4-BE49-F238E27FC236}">
                <a16:creationId xmlns:a16="http://schemas.microsoft.com/office/drawing/2014/main" id="{42944C22-9E8E-4B83-AAC7-86B491DA69B9}"/>
              </a:ext>
            </a:extLst>
          </p:cNvPr>
          <p:cNvSpPr>
            <a:spLocks xmlns:a="http://schemas.openxmlformats.org/drawingml/2006/main" noGrp="1"/>
          </p:cNvSpPr>
          <p:nvPr/>
        </p:nvSpPr>
        <p:spPr>
          <a:xfrm xmlns:a="http://schemas.openxmlformats.org/drawingml/2006/main">
            <a:off x="5810250" y="3876675"/>
            <a:ext cx="1524000" cy="55245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45" name="after-1">
            <a:extLst xmlns:a="http://schemas.openxmlformats.org/drawingml/2006/main">
              <a:ext uri="{FF2B5EF4-FFF2-40B4-BE49-F238E27FC236}">
                <a16:creationId xmlns:a16="http://schemas.microsoft.com/office/drawing/2014/main" id="{48CBF506-37A0-48A9-BDBE-73891E0F6ECB}"/>
              </a:ext>
            </a:extLst>
          </p:cNvPr>
          <p:cNvSpPr>
            <a:spLocks xmlns:a="http://schemas.openxmlformats.org/drawingml/2006/main" noGrp="1"/>
          </p:cNvSpPr>
          <p:nvPr/>
        </p:nvSpPr>
        <p:spPr>
          <a:xfrm xmlns:a="http://schemas.openxmlformats.org/drawingml/2006/main">
            <a:off x="7810500" y="3762375"/>
            <a:ext cx="4476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06B6D4"/>
            </a:solidFill>
            <a:prstDash val="solid"/>
          </a:ln>
        </p:spPr>
      </p:sp>
      <p:sp>
        <p:nvSpPr>
          <p:cNvPr id="46" name="after-text-1">
            <a:extLst xmlns:a="http://schemas.openxmlformats.org/drawingml/2006/main">
              <a:ext uri="{FF2B5EF4-FFF2-40B4-BE49-F238E27FC236}">
                <a16:creationId xmlns:a16="http://schemas.microsoft.com/office/drawing/2014/main" id="{6056C194-0C3F-4F33-A764-877C23A1A94E}"/>
              </a:ext>
            </a:extLst>
          </p:cNvPr>
          <p:cNvSpPr>
            <a:spLocks xmlns:a="http://schemas.openxmlformats.org/drawingml/2006/main" noGrp="1"/>
          </p:cNvSpPr>
          <p:nvPr/>
        </p:nvSpPr>
        <p:spPr>
          <a:xfrm xmlns:a="http://schemas.openxmlformats.org/drawingml/2006/main">
            <a:off x="8096250" y="3971925"/>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Structure-aware chunking</a:t>
            </a:r>
          </a:p>
        </p:txBody>
      </p:sp>
      <p:sp>
        <p:nvSpPr>
          <p:cNvPr id="47" name="lesson-1">
            <a:extLst xmlns:a="http://schemas.openxmlformats.org/drawingml/2006/main">
              <a:ext uri="{FF2B5EF4-FFF2-40B4-BE49-F238E27FC236}">
                <a16:creationId xmlns:a16="http://schemas.microsoft.com/office/drawing/2014/main" id="{D8524DBE-856A-4B21-8E87-B64DE1A3273B}"/>
              </a:ext>
            </a:extLst>
          </p:cNvPr>
          <p:cNvSpPr>
            <a:spLocks xmlns:a="http://schemas.openxmlformats.org/drawingml/2006/main" noGrp="1"/>
          </p:cNvSpPr>
          <p:nvPr/>
        </p:nvSpPr>
        <p:spPr>
          <a:xfrm xmlns:a="http://schemas.openxmlformats.org/drawingml/2006/main">
            <a:off x="12668250" y="3990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6B6D4"/>
                </a:solidFill>
              </a:defRPr>
            </a:pPr>
            <a:r>
              <a:rPr sz="1350" b="1">
                <a:solidFill>
                  <a:srgbClr val="06B6D4"/>
                </a:solidFill>
              </a:rPr>
              <a:t>LESSON 05</a:t>
            </a:r>
          </a:p>
        </p:txBody>
      </p:sp>
      <p:sp>
        <p:nvSpPr>
          <p:cNvPr id="48" name="before-2">
            <a:extLst xmlns:a="http://schemas.openxmlformats.org/drawingml/2006/main">
              <a:ext uri="{FF2B5EF4-FFF2-40B4-BE49-F238E27FC236}">
                <a16:creationId xmlns:a16="http://schemas.microsoft.com/office/drawing/2014/main" id="{30423183-DD85-4E1B-8220-05A3315897AF}"/>
              </a:ext>
            </a:extLst>
          </p:cNvPr>
          <p:cNvSpPr>
            <a:spLocks xmlns:a="http://schemas.openxmlformats.org/drawingml/2006/main" noGrp="1"/>
          </p:cNvSpPr>
          <p:nvPr/>
        </p:nvSpPr>
        <p:spPr>
          <a:xfrm xmlns:a="http://schemas.openxmlformats.org/drawingml/2006/main">
            <a:off x="1238250" y="4905375"/>
            <a:ext cx="4095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CBD5E1"/>
            </a:solidFill>
            <a:prstDash val="solid"/>
          </a:ln>
        </p:spPr>
      </p:sp>
      <p:sp>
        <p:nvSpPr>
          <p:cNvPr id="49" name="before-text-2">
            <a:extLst xmlns:a="http://schemas.openxmlformats.org/drawingml/2006/main">
              <a:ext uri="{FF2B5EF4-FFF2-40B4-BE49-F238E27FC236}">
                <a16:creationId xmlns:a16="http://schemas.microsoft.com/office/drawing/2014/main" id="{B1484621-E9F8-474D-8616-2D662DE4A694}"/>
              </a:ext>
            </a:extLst>
          </p:cNvPr>
          <p:cNvSpPr>
            <a:spLocks xmlns:a="http://schemas.openxmlformats.org/drawingml/2006/main" noGrp="1"/>
          </p:cNvSpPr>
          <p:nvPr/>
        </p:nvSpPr>
        <p:spPr>
          <a:xfrm xmlns:a="http://schemas.openxmlformats.org/drawingml/2006/main">
            <a:off x="1571625" y="5114925"/>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475569"/>
                </a:solidFill>
              </a:defRPr>
            </a:pPr>
            <a:r>
              <a:rPr sz="1650" b="1">
                <a:solidFill>
                  <a:srgbClr val="475569"/>
                </a:solidFill>
              </a:rPr>
              <a:t>Lexical TF-IDF</a:t>
            </a:r>
          </a:p>
        </p:txBody>
      </p:sp>
      <p:sp>
        <p:nvSpPr>
          <p:cNvPr id="50" name="upgrade-arrow-2">
            <a:extLst xmlns:a="http://schemas.openxmlformats.org/drawingml/2006/main">
              <a:ext uri="{FF2B5EF4-FFF2-40B4-BE49-F238E27FC236}">
                <a16:creationId xmlns:a16="http://schemas.microsoft.com/office/drawing/2014/main" id="{9F96BD25-BB3B-4ECB-AA64-8E6841D3C8F2}"/>
              </a:ext>
            </a:extLst>
          </p:cNvPr>
          <p:cNvSpPr>
            <a:spLocks xmlns:a="http://schemas.openxmlformats.org/drawingml/2006/main" noGrp="1"/>
          </p:cNvSpPr>
          <p:nvPr/>
        </p:nvSpPr>
        <p:spPr>
          <a:xfrm xmlns:a="http://schemas.openxmlformats.org/drawingml/2006/main">
            <a:off x="5810250" y="5019675"/>
            <a:ext cx="1524000" cy="55245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51" name="after-2">
            <a:extLst xmlns:a="http://schemas.openxmlformats.org/drawingml/2006/main">
              <a:ext uri="{FF2B5EF4-FFF2-40B4-BE49-F238E27FC236}">
                <a16:creationId xmlns:a16="http://schemas.microsoft.com/office/drawing/2014/main" id="{FAB09400-28FD-4D7E-AD3D-A791DDD90B44}"/>
              </a:ext>
            </a:extLst>
          </p:cNvPr>
          <p:cNvSpPr>
            <a:spLocks xmlns:a="http://schemas.openxmlformats.org/drawingml/2006/main" noGrp="1"/>
          </p:cNvSpPr>
          <p:nvPr/>
        </p:nvSpPr>
        <p:spPr>
          <a:xfrm xmlns:a="http://schemas.openxmlformats.org/drawingml/2006/main">
            <a:off x="7810500" y="4905375"/>
            <a:ext cx="4476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2563EB"/>
            </a:solidFill>
            <a:prstDash val="solid"/>
          </a:ln>
        </p:spPr>
      </p:sp>
      <p:sp>
        <p:nvSpPr>
          <p:cNvPr id="52" name="after-text-2">
            <a:extLst xmlns:a="http://schemas.openxmlformats.org/drawingml/2006/main">
              <a:ext uri="{FF2B5EF4-FFF2-40B4-BE49-F238E27FC236}">
                <a16:creationId xmlns:a16="http://schemas.microsoft.com/office/drawing/2014/main" id="{3197A311-4C9F-4058-9FCB-9A1AA711B257}"/>
              </a:ext>
            </a:extLst>
          </p:cNvPr>
          <p:cNvSpPr>
            <a:spLocks xmlns:a="http://schemas.openxmlformats.org/drawingml/2006/main" noGrp="1"/>
          </p:cNvSpPr>
          <p:nvPr/>
        </p:nvSpPr>
        <p:spPr>
          <a:xfrm xmlns:a="http://schemas.openxmlformats.org/drawingml/2006/main">
            <a:off x="8096250" y="5114925"/>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Embeddings + hybrid retrieval</a:t>
            </a:r>
          </a:p>
        </p:txBody>
      </p:sp>
      <p:sp>
        <p:nvSpPr>
          <p:cNvPr id="53" name="lesson-2">
            <a:extLst xmlns:a="http://schemas.openxmlformats.org/drawingml/2006/main">
              <a:ext uri="{FF2B5EF4-FFF2-40B4-BE49-F238E27FC236}">
                <a16:creationId xmlns:a16="http://schemas.microsoft.com/office/drawing/2014/main" id="{4C099C91-D923-4BED-A13D-2D4C652A04D5}"/>
              </a:ext>
            </a:extLst>
          </p:cNvPr>
          <p:cNvSpPr>
            <a:spLocks xmlns:a="http://schemas.openxmlformats.org/drawingml/2006/main" noGrp="1"/>
          </p:cNvSpPr>
          <p:nvPr/>
        </p:nvSpPr>
        <p:spPr>
          <a:xfrm xmlns:a="http://schemas.openxmlformats.org/drawingml/2006/main">
            <a:off x="12668250" y="5133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LESSON 06</a:t>
            </a:r>
          </a:p>
        </p:txBody>
      </p:sp>
      <p:sp>
        <p:nvSpPr>
          <p:cNvPr id="54" name="before-3">
            <a:extLst xmlns:a="http://schemas.openxmlformats.org/drawingml/2006/main">
              <a:ext uri="{FF2B5EF4-FFF2-40B4-BE49-F238E27FC236}">
                <a16:creationId xmlns:a16="http://schemas.microsoft.com/office/drawing/2014/main" id="{3346021D-C212-4CFC-A03A-36AF66294570}"/>
              </a:ext>
            </a:extLst>
          </p:cNvPr>
          <p:cNvSpPr>
            <a:spLocks xmlns:a="http://schemas.openxmlformats.org/drawingml/2006/main" noGrp="1"/>
          </p:cNvSpPr>
          <p:nvPr/>
        </p:nvSpPr>
        <p:spPr>
          <a:xfrm xmlns:a="http://schemas.openxmlformats.org/drawingml/2006/main">
            <a:off x="1238250" y="6048375"/>
            <a:ext cx="4095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CBD5E1"/>
            </a:solidFill>
            <a:prstDash val="solid"/>
          </a:ln>
        </p:spPr>
      </p:sp>
      <p:sp>
        <p:nvSpPr>
          <p:cNvPr id="55" name="before-text-3">
            <a:extLst xmlns:a="http://schemas.openxmlformats.org/drawingml/2006/main">
              <a:ext uri="{FF2B5EF4-FFF2-40B4-BE49-F238E27FC236}">
                <a16:creationId xmlns:a16="http://schemas.microsoft.com/office/drawing/2014/main" id="{6871ADAF-6F72-41F5-8EA8-AD951CDC2D9F}"/>
              </a:ext>
            </a:extLst>
          </p:cNvPr>
          <p:cNvSpPr>
            <a:spLocks xmlns:a="http://schemas.openxmlformats.org/drawingml/2006/main" noGrp="1"/>
          </p:cNvSpPr>
          <p:nvPr/>
        </p:nvSpPr>
        <p:spPr>
          <a:xfrm xmlns:a="http://schemas.openxmlformats.org/drawingml/2006/main">
            <a:off x="1571625" y="6257925"/>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475569"/>
                </a:solidFill>
              </a:defRPr>
            </a:pPr>
            <a:r>
              <a:rPr sz="1650" b="1">
                <a:solidFill>
                  <a:srgbClr val="475569"/>
                </a:solidFill>
              </a:rPr>
              <a:t>Simple global top-k</a:t>
            </a:r>
          </a:p>
        </p:txBody>
      </p:sp>
      <p:sp>
        <p:nvSpPr>
          <p:cNvPr id="56" name="upgrade-arrow-3">
            <a:extLst xmlns:a="http://schemas.openxmlformats.org/drawingml/2006/main">
              <a:ext uri="{FF2B5EF4-FFF2-40B4-BE49-F238E27FC236}">
                <a16:creationId xmlns:a16="http://schemas.microsoft.com/office/drawing/2014/main" id="{F016CD4E-1F7E-4FC8-8C4D-9AA76AC12566}"/>
              </a:ext>
            </a:extLst>
          </p:cNvPr>
          <p:cNvSpPr>
            <a:spLocks xmlns:a="http://schemas.openxmlformats.org/drawingml/2006/main" noGrp="1"/>
          </p:cNvSpPr>
          <p:nvPr/>
        </p:nvSpPr>
        <p:spPr>
          <a:xfrm xmlns:a="http://schemas.openxmlformats.org/drawingml/2006/main">
            <a:off x="5810250" y="6162675"/>
            <a:ext cx="1524000" cy="552450"/>
          </a:xfrm>
          <a:prstGeom xmlns:a="http://schemas.openxmlformats.org/drawingml/2006/main" prst="rightArrow">
            <a:avLst/>
          </a:prstGeom>
          <a:solidFill xmlns:a="http://schemas.openxmlformats.org/drawingml/2006/main">
            <a:srgbClr val="F97316"/>
          </a:solidFill>
          <a:ln xmlns:a="http://schemas.openxmlformats.org/drawingml/2006/main" w="0">
            <a:solidFill>
              <a:srgbClr val="F97316"/>
            </a:solidFill>
            <a:prstDash val="solid"/>
          </a:ln>
        </p:spPr>
      </p:sp>
      <p:sp>
        <p:nvSpPr>
          <p:cNvPr id="57" name="after-3">
            <a:extLst xmlns:a="http://schemas.openxmlformats.org/drawingml/2006/main">
              <a:ext uri="{FF2B5EF4-FFF2-40B4-BE49-F238E27FC236}">
                <a16:creationId xmlns:a16="http://schemas.microsoft.com/office/drawing/2014/main" id="{2704A56F-86BC-47AF-BEAF-ADF8E9BBCE75}"/>
              </a:ext>
            </a:extLst>
          </p:cNvPr>
          <p:cNvSpPr>
            <a:spLocks xmlns:a="http://schemas.openxmlformats.org/drawingml/2006/main" noGrp="1"/>
          </p:cNvSpPr>
          <p:nvPr/>
        </p:nvSpPr>
        <p:spPr>
          <a:xfrm xmlns:a="http://schemas.openxmlformats.org/drawingml/2006/main">
            <a:off x="7810500" y="6048375"/>
            <a:ext cx="4476750" cy="762000"/>
          </a:xfrm>
          <a:prstGeom xmlns:a="http://schemas.openxmlformats.org/drawingml/2006/main" prst="roundRect">
            <a:avLst>
              <a:gd name="adj" fmla="val 15000"/>
            </a:avLst>
          </a:prstGeom>
          <a:noFill xmlns:a="http://schemas.openxmlformats.org/drawingml/2006/main"/>
          <a:ln xmlns:a="http://schemas.openxmlformats.org/drawingml/2006/main" w="9525">
            <a:solidFill>
              <a:srgbClr val="2563EB"/>
            </a:solidFill>
            <a:prstDash val="solid"/>
          </a:ln>
        </p:spPr>
      </p:sp>
      <p:sp>
        <p:nvSpPr>
          <p:cNvPr id="58" name="after-text-3">
            <a:extLst xmlns:a="http://schemas.openxmlformats.org/drawingml/2006/main">
              <a:ext uri="{FF2B5EF4-FFF2-40B4-BE49-F238E27FC236}">
                <a16:creationId xmlns:a16="http://schemas.microsoft.com/office/drawing/2014/main" id="{45EB20D9-CC37-472C-88B4-244F2040910F}"/>
              </a:ext>
            </a:extLst>
          </p:cNvPr>
          <p:cNvSpPr>
            <a:spLocks xmlns:a="http://schemas.openxmlformats.org/drawingml/2006/main" noGrp="1"/>
          </p:cNvSpPr>
          <p:nvPr/>
        </p:nvSpPr>
        <p:spPr>
          <a:xfrm xmlns:a="http://schemas.openxmlformats.org/drawingml/2006/main">
            <a:off x="8096250" y="6257925"/>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082F49"/>
                </a:solidFill>
              </a:defRPr>
            </a:pPr>
            <a:r>
              <a:rPr sz="1650" b="1">
                <a:solidFill>
                  <a:srgbClr val="082F49"/>
                </a:solidFill>
              </a:rPr>
              <a:t>Filters + fusion + reranking</a:t>
            </a:r>
          </a:p>
        </p:txBody>
      </p:sp>
      <p:sp>
        <p:nvSpPr>
          <p:cNvPr id="59" name="lesson-3">
            <a:extLst xmlns:a="http://schemas.openxmlformats.org/drawingml/2006/main">
              <a:ext uri="{FF2B5EF4-FFF2-40B4-BE49-F238E27FC236}">
                <a16:creationId xmlns:a16="http://schemas.microsoft.com/office/drawing/2014/main" id="{30267D47-052C-423C-A5D8-9EC790D1D792}"/>
              </a:ext>
            </a:extLst>
          </p:cNvPr>
          <p:cNvSpPr>
            <a:spLocks xmlns:a="http://schemas.openxmlformats.org/drawingml/2006/main" noGrp="1"/>
          </p:cNvSpPr>
          <p:nvPr/>
        </p:nvSpPr>
        <p:spPr>
          <a:xfrm xmlns:a="http://schemas.openxmlformats.org/drawingml/2006/main">
            <a:off x="12668250" y="627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63EB"/>
                </a:solidFill>
              </a:defRPr>
            </a:pPr>
            <a:r>
              <a:rPr sz="1350" b="1">
                <a:solidFill>
                  <a:srgbClr val="2563EB"/>
                </a:solidFill>
              </a:rPr>
              <a:t>LESSON 06</a:t>
            </a:r>
          </a:p>
        </p:txBody>
      </p:sp>
      <p:sp>
        <p:nvSpPr>
          <p:cNvPr id="60" name="next-point">
            <a:extLst xmlns:a="http://schemas.openxmlformats.org/drawingml/2006/main">
              <a:ext uri="{FF2B5EF4-FFF2-40B4-BE49-F238E27FC236}">
                <a16:creationId xmlns:a16="http://schemas.microsoft.com/office/drawing/2014/main" id="{4544FA1A-2A05-4D5D-8834-B1E66AEFD7AE}"/>
              </a:ext>
            </a:extLst>
          </p:cNvPr>
          <p:cNvSpPr>
            <a:spLocks xmlns:a="http://schemas.openxmlformats.org/drawingml/2006/main" noGrp="1"/>
          </p:cNvSpPr>
          <p:nvPr/>
        </p:nvSpPr>
        <p:spPr>
          <a:xfrm xmlns:a="http://schemas.openxmlformats.org/drawingml/2006/main">
            <a:off x="2095500" y="7096125"/>
            <a:ext cx="1104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C2626"/>
                </a:solidFill>
              </a:defRPr>
            </a:pPr>
            <a:r>
              <a:rPr sz="1650" b="1">
                <a:solidFill>
                  <a:srgbClr val="DC2626"/>
                </a:solidFill>
              </a:rPr>
              <a:t>Do not call every improvement “better RAG.” Each changes a distinct, testable stage.</a:t>
            </a:r>
          </a:p>
        </p:txBody>
      </p:sp>
    </p:spTree>
    <p:extLst>
      <p:ext uri="{BB962C8B-B14F-4D97-AF65-F5344CB8AC3E}">
        <p14:creationId xmlns:p14="http://schemas.microsoft.com/office/powerpoint/2010/main" val="799900211"/>
      </p:ext>
    </p:extLst>
  </p:cSld>
</p:sld>
</file>

<file path=ppt/slides/slide12.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70DB6A-E971-4614-803B-AE8F3E121CB1}"/>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2" name="">
            <a:extLst xmlns:a="http://schemas.openxmlformats.org/drawingml/2006/main">
              <a:ext uri="{FF2B5EF4-FFF2-40B4-BE49-F238E27FC236}">
                <a16:creationId xmlns:a16="http://schemas.microsoft.com/office/drawing/2014/main" id="{210EE95B-C324-413A-BA74-C1EEA52FBF33}"/>
              </a:ext>
            </a:extLst>
          </p:cNvPr>
          <p:cNvSpPr>
            <a:spLocks xmlns:a="http://schemas.openxmlformats.org/drawingml/2006/main" noGrp="1"/>
          </p:cNvSpPr>
          <p:nvPr/>
        </p:nvSpPr>
        <p:spPr>
          <a:xfrm xmlns:a="http://schemas.openxmlformats.org/drawingml/2006/main">
            <a:off x="971550" y="106680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75" b="1">
                <a:solidFill>
                  <a:srgbClr val="1F40CB"/>
                </a:solidFill>
                <a:latin typeface="Calibri"/>
                <a:ea typeface="Calibri"/>
                <a:cs typeface="Calibri"/>
              </a:defRPr>
            </a:pPr>
            <a:r>
              <a:rPr sz="1575"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01418454-19E5-44D8-810D-686826F2EC13}"/>
              </a:ext>
            </a:extLst>
          </p:cNvPr>
          <p:cNvSpPr>
            <a:spLocks xmlns:a="http://schemas.openxmlformats.org/drawingml/2006/main" noGrp="1"/>
          </p:cNvSpPr>
          <p:nvPr/>
        </p:nvSpPr>
        <p:spPr>
          <a:xfrm xmlns:a="http://schemas.openxmlformats.org/drawingml/2006/main">
            <a:off x="971550" y="2438400"/>
            <a:ext cx="1329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4800" b="1">
                <a:solidFill>
                  <a:srgbClr val="051C2A"/>
                </a:solidFill>
                <a:latin typeface="Calibri"/>
                <a:ea typeface="Calibri"/>
                <a:cs typeface="Calibri"/>
              </a:defRPr>
            </a:pPr>
            <a:r>
              <a:rPr sz="4800" b="1">
                <a:solidFill>
                  <a:srgbClr val="051C2A"/>
                </a:solidFill>
                <a:latin typeface="Calibri"/>
                <a:ea typeface="Calibri"/>
                <a:cs typeface="Calibri"/>
              </a:rPr>
              <a:t>Quick quiz</a:t>
            </a:r>
          </a:p>
        </p:txBody>
      </p:sp>
      <p:sp>
        <p:nvSpPr>
          <p:cNvPr id="4" name="">
            <a:extLst xmlns:a="http://schemas.openxmlformats.org/drawingml/2006/main">
              <a:ext uri="{FF2B5EF4-FFF2-40B4-BE49-F238E27FC236}">
                <a16:creationId xmlns:a16="http://schemas.microsoft.com/office/drawing/2014/main" id="{7D902B13-440D-4A59-9D11-3DBE46D45B12}"/>
              </a:ext>
            </a:extLst>
          </p:cNvPr>
          <p:cNvSpPr>
            <a:spLocks xmlns:a="http://schemas.openxmlformats.org/drawingml/2006/main" noGrp="1"/>
          </p:cNvSpPr>
          <p:nvPr/>
        </p:nvSpPr>
        <p:spPr>
          <a:xfrm xmlns:a="http://schemas.openxmlformats.org/drawingml/2006/main">
            <a:off x="971550" y="3600450"/>
            <a:ext cx="11239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400" b="0">
                <a:solidFill>
                  <a:srgbClr val="3F3F42"/>
                </a:solidFill>
                <a:latin typeface="Calibri"/>
                <a:ea typeface="Calibri"/>
                <a:cs typeface="Calibri"/>
              </a:defRPr>
            </a:pPr>
            <a:r>
              <a:rPr sz="2400" b="0">
                <a:solidFill>
                  <a:srgbClr val="3F3F42"/>
                </a:solidFill>
                <a:latin typeface="Calibri"/>
                <a:ea typeface="Calibri"/>
                <a:cs typeface="Calibri"/>
              </a:rPr>
              <a:t>Choose one answer for each question.</a:t>
            </a:r>
          </a:p>
        </p:txBody>
      </p:sp>
      <p:sp>
        <p:nvSpPr>
          <p:cNvPr id="5" name="">
            <a:extLst xmlns:a="http://schemas.openxmlformats.org/drawingml/2006/main">
              <a:ext uri="{FF2B5EF4-FFF2-40B4-BE49-F238E27FC236}">
                <a16:creationId xmlns:a16="http://schemas.microsoft.com/office/drawing/2014/main" id="{557E8F12-0F33-44B5-939E-A27B15B6D2DE}"/>
              </a:ext>
            </a:extLst>
          </p:cNvPr>
          <p:cNvSpPr>
            <a:spLocks xmlns:a="http://schemas.openxmlformats.org/drawingml/2006/main" noGrp="1"/>
          </p:cNvSpPr>
          <p:nvPr/>
        </p:nvSpPr>
        <p:spPr>
          <a:xfrm xmlns:a="http://schemas.openxmlformats.org/drawingml/2006/main">
            <a:off x="971550" y="64770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a:solidFill>
                  <a:srgbClr val="1F40CB"/>
                </a:solidFill>
                <a:latin typeface="Calibri"/>
                <a:ea typeface="Calibri"/>
                <a:cs typeface="Calibri"/>
              </a:defRPr>
            </a:pPr>
            <a:r>
              <a:rPr sz="1350" b="1">
                <a:solidFill>
                  <a:srgbClr val="1F40CB"/>
                </a:solidFill>
                <a:latin typeface="Calibri"/>
                <a:ea typeface="Calibri"/>
                <a:cs typeface="Calibri"/>
              </a:rPr>
              <a:t>LESSON 04  ·  3 QUESTIONS  ·  3 MINUTES</a:t>
            </a:r>
          </a:p>
        </p:txBody>
      </p:sp>
      <p:sp>
        <p:nvSpPr>
          <p:cNvPr id="6" name="">
            <a:extLst xmlns:a="http://schemas.openxmlformats.org/drawingml/2006/main">
              <a:ext uri="{FF2B5EF4-FFF2-40B4-BE49-F238E27FC236}">
                <a16:creationId xmlns:a16="http://schemas.microsoft.com/office/drawing/2014/main" id="{A778144A-C3F6-47D1-BCD1-8642B99299AA}"/>
              </a:ext>
            </a:extLst>
          </p:cNvPr>
          <p:cNvSpPr>
            <a:spLocks xmlns:a="http://schemas.openxmlformats.org/drawingml/2006/main" noGrp="1"/>
          </p:cNvSpPr>
          <p:nvPr/>
        </p:nvSpPr>
        <p:spPr>
          <a:xfrm xmlns:a="http://schemas.openxmlformats.org/drawingml/2006/main">
            <a:off x="971550" y="70675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0">
                <a:solidFill>
                  <a:srgbClr val="051C2A"/>
                </a:solidFill>
                <a:latin typeface="Calibri"/>
                <a:ea typeface="Calibri"/>
                <a:cs typeface="Calibri"/>
              </a:defRPr>
            </a:pPr>
            <a:r>
              <a:rPr sz="1725" b="0">
                <a:solidFill>
                  <a:srgbClr val="051C2A"/>
                </a:solidFill>
                <a:latin typeface="Calibri"/>
                <a:ea typeface="Calibri"/>
                <a:cs typeface="Calibri"/>
              </a:rPr>
              <a:t>First Finance - Arnaud Demes</a:t>
            </a:r>
          </a:p>
        </p:txBody>
      </p:sp>
      <p:sp>
        <p:nvSpPr>
          <p:cNvPr id="8" name="quiz-question-1">
            <a:extLst xmlns:a="http://schemas.openxmlformats.org/drawingml/2006/main">
              <a:ext uri="{FF2B5EF4-FFF2-40B4-BE49-F238E27FC236}">
                <a16:creationId xmlns:a16="http://schemas.microsoft.com/office/drawing/2014/main" id="{575E9FD0-4ECE-4CD9-9CD2-B517CBB26170}"/>
              </a:ext>
            </a:extLst>
          </p:cNvPr>
          <p:cNvSpPr>
            <a:spLocks xmlns:a="http://schemas.openxmlformats.org/drawingml/2006/main" noGrp="1"/>
          </p:cNvSpPr>
          <p:nvPr/>
        </p:nvSpPr>
        <p:spPr>
          <a:xfrm xmlns:a="http://schemas.openxmlformats.org/drawingml/2006/main">
            <a:off x="971550" y="44005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1. What creates the model's evidence boundary?</a:t>
            </a:r>
          </a:p>
        </p:txBody>
      </p:sp>
      <p:sp>
        <p:nvSpPr>
          <p:cNvPr id="9" name="quiz-options-1">
            <a:extLst xmlns:a="http://schemas.openxmlformats.org/drawingml/2006/main">
              <a:ext uri="{FF2B5EF4-FFF2-40B4-BE49-F238E27FC236}">
                <a16:creationId xmlns:a16="http://schemas.microsoft.com/office/drawing/2014/main" id="{99FC2B8A-9D17-4E41-8099-AA8BA36F19E1}"/>
              </a:ext>
            </a:extLst>
          </p:cNvPr>
          <p:cNvSpPr>
            <a:spLocks xmlns:a="http://schemas.openxmlformats.org/drawingml/2006/main" noGrp="1"/>
          </p:cNvSpPr>
          <p:nvPr/>
        </p:nvSpPr>
        <p:spPr>
          <a:xfrm xmlns:a="http://schemas.openxmlformats.org/drawingml/2006/main">
            <a:off x="1257300" y="47053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Top-k selection     |     B  Temperature     |     C  Fine-tuning</a:t>
            </a:r>
          </a:p>
        </p:txBody>
      </p:sp>
      <p:sp>
        <p:nvSpPr>
          <p:cNvPr id="10" name="quiz-question-2">
            <a:extLst xmlns:a="http://schemas.openxmlformats.org/drawingml/2006/main">
              <a:ext uri="{FF2B5EF4-FFF2-40B4-BE49-F238E27FC236}">
                <a16:creationId xmlns:a16="http://schemas.microsoft.com/office/drawing/2014/main" id="{2C29576F-5730-4B03-A864-5FD3CA55E504}"/>
              </a:ext>
            </a:extLst>
          </p:cNvPr>
          <p:cNvSpPr>
            <a:spLocks xmlns:a="http://schemas.openxmlformats.org/drawingml/2006/main" noGrp="1"/>
          </p:cNvSpPr>
          <p:nvPr/>
        </p:nvSpPr>
        <p:spPr>
          <a:xfrm xmlns:a="http://schemas.openxmlformats.org/drawingml/2006/main">
            <a:off x="971550" y="50863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2. Why is the Lesson 04 parser called naive?</a:t>
            </a:r>
          </a:p>
        </p:txBody>
      </p:sp>
      <p:sp>
        <p:nvSpPr>
          <p:cNvPr id="11" name="quiz-options-2">
            <a:extLst xmlns:a="http://schemas.openxmlformats.org/drawingml/2006/main">
              <a:ext uri="{FF2B5EF4-FFF2-40B4-BE49-F238E27FC236}">
                <a16:creationId xmlns:a16="http://schemas.microsoft.com/office/drawing/2014/main" id="{27D1E1CD-1C76-45B4-9A8B-942E155B5DB5}"/>
              </a:ext>
            </a:extLst>
          </p:cNvPr>
          <p:cNvSpPr>
            <a:spLocks xmlns:a="http://schemas.openxmlformats.org/drawingml/2006/main" noGrp="1"/>
          </p:cNvSpPr>
          <p:nvPr/>
        </p:nvSpPr>
        <p:spPr>
          <a:xfrm xmlns:a="http://schemas.openxmlformats.org/drawingml/2006/main">
            <a:off x="1257300" y="53911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It flattens structure     |     B  It uses HTML     |     C  It keeps URLs</a:t>
            </a:r>
          </a:p>
        </p:txBody>
      </p:sp>
      <p:sp>
        <p:nvSpPr>
          <p:cNvPr id="12" name="quiz-question-3">
            <a:extLst xmlns:a="http://schemas.openxmlformats.org/drawingml/2006/main">
              <a:ext uri="{FF2B5EF4-FFF2-40B4-BE49-F238E27FC236}">
                <a16:creationId xmlns:a16="http://schemas.microsoft.com/office/drawing/2014/main" id="{79B47D28-C2DD-4A2C-A849-83EC3079E45D}"/>
              </a:ext>
            </a:extLst>
          </p:cNvPr>
          <p:cNvSpPr>
            <a:spLocks xmlns:a="http://schemas.openxmlformats.org/drawingml/2006/main" noGrp="1"/>
          </p:cNvSpPr>
          <p:nvPr/>
        </p:nvSpPr>
        <p:spPr>
          <a:xfrm xmlns:a="http://schemas.openxmlformats.org/drawingml/2006/main">
            <a:off x="971550" y="57721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001B2E"/>
                </a:solidFill>
              </a:defRPr>
            </a:pPr>
            <a:r>
              <a:rPr sz="1500" b="1">
                <a:solidFill>
                  <a:srgbClr val="001B2E"/>
                </a:solidFill>
              </a:rPr>
              <a:t>3. The required table ranks #21 with top-k=2. Which stage failed first?</a:t>
            </a:r>
          </a:p>
        </p:txBody>
      </p:sp>
      <p:sp>
        <p:nvSpPr>
          <p:cNvPr id="13" name="quiz-options-3">
            <a:extLst xmlns:a="http://schemas.openxmlformats.org/drawingml/2006/main">
              <a:ext uri="{FF2B5EF4-FFF2-40B4-BE49-F238E27FC236}">
                <a16:creationId xmlns:a16="http://schemas.microsoft.com/office/drawing/2014/main" id="{F39BDFFA-9633-4F2E-831B-7A1B2D4FF330}"/>
              </a:ext>
            </a:extLst>
          </p:cNvPr>
          <p:cNvSpPr>
            <a:spLocks xmlns:a="http://schemas.openxmlformats.org/drawingml/2006/main" noGrp="1"/>
          </p:cNvSpPr>
          <p:nvPr/>
        </p:nvSpPr>
        <p:spPr>
          <a:xfrm xmlns:a="http://schemas.openxmlformats.org/drawingml/2006/main">
            <a:off x="1257300" y="60769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A  Generation     |     B  Retrieval     |     C  Presentation</a:t>
            </a:r>
          </a:p>
        </p:txBody>
      </p:sp>
    </p:spTree>
    <p:extLst>
      <p:ext uri="{BB962C8B-B14F-4D97-AF65-F5344CB8AC3E}">
        <p14:creationId xmlns:p14="http://schemas.microsoft.com/office/powerpoint/2010/main" val="1623650356"/>
      </p:ext>
    </p:extLst>
  </p:cSld>
</p:sld>
</file>

<file path=ppt/slides/slide13.xml><?xml version="1.0" encoding="utf-8"?>
<p:sld xmlns:p="http://schemas.openxmlformats.org/presentationml/2006/main">
  <p:cSld>
    <p:bg>
      <p:bgPr>
        <a:solidFill xmlns:a="http://schemas.openxmlformats.org/drawingml/2006/main">
          <a:srgbClr val="F5F5F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70DB6A-E971-4614-803B-AE8F3E121CB1}"/>
              </a:ext>
            </a:extLst>
          </p:cNvPr>
          <p:cNvSpPr>
            <a:spLocks xmlns:a="http://schemas.openxmlformats.org/drawingml/2006/main" noGrp="1"/>
          </p:cNvSpPr>
          <p:nvPr/>
        </p:nvSpPr>
        <p:spPr>
          <a:xfrm xmlns:a="http://schemas.openxmlformats.org/drawingml/2006/main">
            <a:off x="971550" y="781050"/>
            <a:ext cx="1257300" cy="76200"/>
          </a:xfrm>
          <a:prstGeom xmlns:a="http://schemas.openxmlformats.org/drawingml/2006/main" prst="rect">
            <a:avLst/>
          </a:prstGeom>
          <a:solidFill xmlns:a="http://schemas.openxmlformats.org/drawingml/2006/main">
            <a:srgbClr val="00A2EB"/>
          </a:solidFill>
          <a:ln xmlns:a="http://schemas.openxmlformats.org/drawingml/2006/main" w="0">
            <a:solidFill>
              <a:srgbClr val="00A2EB"/>
            </a:solidFill>
            <a:prstDash val="solid"/>
          </a:ln>
        </p:spPr>
      </p:sp>
      <p:sp>
        <p:nvSpPr>
          <p:cNvPr id="2" name="">
            <a:extLst xmlns:a="http://schemas.openxmlformats.org/drawingml/2006/main">
              <a:ext uri="{FF2B5EF4-FFF2-40B4-BE49-F238E27FC236}">
                <a16:creationId xmlns:a16="http://schemas.microsoft.com/office/drawing/2014/main" id="{210EE95B-C324-413A-BA74-C1EEA52FBF33}"/>
              </a:ext>
            </a:extLst>
          </p:cNvPr>
          <p:cNvSpPr>
            <a:spLocks xmlns:a="http://schemas.openxmlformats.org/drawingml/2006/main" noGrp="1"/>
          </p:cNvSpPr>
          <p:nvPr/>
        </p:nvSpPr>
        <p:spPr>
          <a:xfrm xmlns:a="http://schemas.openxmlformats.org/drawingml/2006/main">
            <a:off x="971550" y="106680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575" b="1">
                <a:solidFill>
                  <a:srgbClr val="1F40CB"/>
                </a:solidFill>
                <a:latin typeface="Calibri"/>
                <a:ea typeface="Calibri"/>
                <a:cs typeface="Calibri"/>
              </a:defRPr>
            </a:pPr>
            <a:r>
              <a:rPr sz="1575" b="1">
                <a:solidFill>
                  <a:srgbClr val="1F40CB"/>
                </a:solidFill>
                <a:latin typeface="Calibri"/>
                <a:ea typeface="Calibri"/>
                <a:cs typeface="Calibri"/>
              </a:rPr>
              <a:t>FIRST FINANCE</a:t>
            </a:r>
          </a:p>
        </p:txBody>
      </p:sp>
      <p:sp>
        <p:nvSpPr>
          <p:cNvPr id="3" name="">
            <a:extLst xmlns:a="http://schemas.openxmlformats.org/drawingml/2006/main">
              <a:ext uri="{FF2B5EF4-FFF2-40B4-BE49-F238E27FC236}">
                <a16:creationId xmlns:a16="http://schemas.microsoft.com/office/drawing/2014/main" id="{01418454-19E5-44D8-810D-686826F2EC13}"/>
              </a:ext>
            </a:extLst>
          </p:cNvPr>
          <p:cNvSpPr>
            <a:spLocks xmlns:a="http://schemas.openxmlformats.org/drawingml/2006/main" noGrp="1"/>
          </p:cNvSpPr>
          <p:nvPr/>
        </p:nvSpPr>
        <p:spPr>
          <a:xfrm xmlns:a="http://schemas.openxmlformats.org/drawingml/2006/main">
            <a:off x="971550" y="2438400"/>
            <a:ext cx="132969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algn="l">
              <a:lnSpc>
                <a:spcPct val="100000"/>
              </a:lnSpc>
              <a:buNone/>
              <a:defRPr sz="4800" b="1">
                <a:solidFill>
                  <a:srgbClr val="051C2A"/>
                </a:solidFill>
                <a:latin typeface="Calibri"/>
                <a:ea typeface="Calibri"/>
                <a:cs typeface="Calibri"/>
              </a:defRPr>
            </a:pPr>
            <a:r>
              <a:rPr sz="4800" b="1">
                <a:solidFill>
                  <a:srgbClr val="051C2A"/>
                </a:solidFill>
                <a:latin typeface="Calibri"/>
                <a:ea typeface="Calibri"/>
                <a:cs typeface="Calibri"/>
              </a:rPr>
              <a:t>Answers</a:t>
            </a:r>
          </a:p>
        </p:txBody>
      </p:sp>
      <p:sp>
        <p:nvSpPr>
          <p:cNvPr id="4" name="">
            <a:extLst xmlns:a="http://schemas.openxmlformats.org/drawingml/2006/main">
              <a:ext uri="{FF2B5EF4-FFF2-40B4-BE49-F238E27FC236}">
                <a16:creationId xmlns:a16="http://schemas.microsoft.com/office/drawing/2014/main" id="{7D902B13-440D-4A59-9D11-3DBE46D45B12}"/>
              </a:ext>
            </a:extLst>
          </p:cNvPr>
          <p:cNvSpPr>
            <a:spLocks xmlns:a="http://schemas.openxmlformats.org/drawingml/2006/main" noGrp="1"/>
          </p:cNvSpPr>
          <p:nvPr/>
        </p:nvSpPr>
        <p:spPr>
          <a:xfrm xmlns:a="http://schemas.openxmlformats.org/drawingml/2006/main">
            <a:off x="971550" y="3600450"/>
            <a:ext cx="11239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2400" b="0">
                <a:solidFill>
                  <a:srgbClr val="3F3F42"/>
                </a:solidFill>
                <a:latin typeface="Calibri"/>
                <a:ea typeface="Calibri"/>
                <a:cs typeface="Calibri"/>
              </a:defRPr>
            </a:pPr>
            <a:r>
              <a:rPr sz="2400" b="0">
                <a:solidFill>
                  <a:srgbClr val="3F3F42"/>
                </a:solidFill>
                <a:latin typeface="Calibri"/>
                <a:ea typeface="Calibri"/>
                <a:cs typeface="Calibri"/>
              </a:rPr>
              <a:t>Check the idea, not only the letter.</a:t>
            </a:r>
          </a:p>
        </p:txBody>
      </p:sp>
      <p:sp>
        <p:nvSpPr>
          <p:cNvPr id="5" name="">
            <a:extLst xmlns:a="http://schemas.openxmlformats.org/drawingml/2006/main">
              <a:ext uri="{FF2B5EF4-FFF2-40B4-BE49-F238E27FC236}">
                <a16:creationId xmlns:a16="http://schemas.microsoft.com/office/drawing/2014/main" id="{557E8F12-0F33-44B5-939E-A27B15B6D2DE}"/>
              </a:ext>
            </a:extLst>
          </p:cNvPr>
          <p:cNvSpPr>
            <a:spLocks xmlns:a="http://schemas.openxmlformats.org/drawingml/2006/main" noGrp="1"/>
          </p:cNvSpPr>
          <p:nvPr/>
        </p:nvSpPr>
        <p:spPr>
          <a:xfrm xmlns:a="http://schemas.openxmlformats.org/drawingml/2006/main">
            <a:off x="971550" y="64770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a:solidFill>
                  <a:srgbClr val="1F40CB"/>
                </a:solidFill>
                <a:latin typeface="Calibri"/>
                <a:ea typeface="Calibri"/>
                <a:cs typeface="Calibri"/>
              </a:defRPr>
            </a:pPr>
            <a:r>
              <a:rPr sz="1350" b="1">
                <a:solidFill>
                  <a:srgbClr val="1F40CB"/>
                </a:solidFill>
                <a:latin typeface="Calibri"/>
                <a:ea typeface="Calibri"/>
                <a:cs typeface="Calibri"/>
              </a:rPr>
              <a:t>LESSON 04  ·  ANSWERS</a:t>
            </a:r>
          </a:p>
        </p:txBody>
      </p:sp>
      <p:sp>
        <p:nvSpPr>
          <p:cNvPr id="6" name="">
            <a:extLst xmlns:a="http://schemas.openxmlformats.org/drawingml/2006/main">
              <a:ext uri="{FF2B5EF4-FFF2-40B4-BE49-F238E27FC236}">
                <a16:creationId xmlns:a16="http://schemas.microsoft.com/office/drawing/2014/main" id="{A778144A-C3F6-47D1-BCD1-8642B99299AA}"/>
              </a:ext>
            </a:extLst>
          </p:cNvPr>
          <p:cNvSpPr>
            <a:spLocks xmlns:a="http://schemas.openxmlformats.org/drawingml/2006/main" noGrp="1"/>
          </p:cNvSpPr>
          <p:nvPr/>
        </p:nvSpPr>
        <p:spPr>
          <a:xfrm xmlns:a="http://schemas.openxmlformats.org/drawingml/2006/main">
            <a:off x="971550" y="70675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0">
                <a:solidFill>
                  <a:srgbClr val="051C2A"/>
                </a:solidFill>
                <a:latin typeface="Calibri"/>
                <a:ea typeface="Calibri"/>
                <a:cs typeface="Calibri"/>
              </a:defRPr>
            </a:pPr>
            <a:r>
              <a:rPr sz="1725" b="0">
                <a:solidFill>
                  <a:srgbClr val="051C2A"/>
                </a:solidFill>
                <a:latin typeface="Calibri"/>
                <a:ea typeface="Calibri"/>
                <a:cs typeface="Calibri"/>
              </a:rPr>
              <a:t>First Finance - Arnaud Demes</a:t>
            </a:r>
          </a:p>
        </p:txBody>
      </p:sp>
      <p:sp>
        <p:nvSpPr>
          <p:cNvPr id="8" name="quiz-answer-1">
            <a:extLst xmlns:a="http://schemas.openxmlformats.org/drawingml/2006/main">
              <a:ext uri="{FF2B5EF4-FFF2-40B4-BE49-F238E27FC236}">
                <a16:creationId xmlns:a16="http://schemas.microsoft.com/office/drawing/2014/main" id="{350D7802-BD6B-4E7B-911D-A8A2C7A3FF1A}"/>
              </a:ext>
            </a:extLst>
          </p:cNvPr>
          <p:cNvSpPr>
            <a:spLocks xmlns:a="http://schemas.openxmlformats.org/drawingml/2006/main" noGrp="1"/>
          </p:cNvSpPr>
          <p:nvPr/>
        </p:nvSpPr>
        <p:spPr>
          <a:xfrm xmlns:a="http://schemas.openxmlformats.org/drawingml/2006/main">
            <a:off x="971550" y="44005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1. A. Top-k selection</a:t>
            </a:r>
          </a:p>
        </p:txBody>
      </p:sp>
      <p:sp>
        <p:nvSpPr>
          <p:cNvPr id="9" name="quiz-explanation-1">
            <a:extLst xmlns:a="http://schemas.openxmlformats.org/drawingml/2006/main">
              <a:ext uri="{FF2B5EF4-FFF2-40B4-BE49-F238E27FC236}">
                <a16:creationId xmlns:a16="http://schemas.microsoft.com/office/drawing/2014/main" id="{66B9B85D-986B-4A51-8ACB-5A6AF10D3CAA}"/>
              </a:ext>
            </a:extLst>
          </p:cNvPr>
          <p:cNvSpPr>
            <a:spLocks xmlns:a="http://schemas.openxmlformats.org/drawingml/2006/main" noGrp="1"/>
          </p:cNvSpPr>
          <p:nvPr/>
        </p:nvSpPr>
        <p:spPr>
          <a:xfrm xmlns:a="http://schemas.openxmlformats.org/drawingml/2006/main">
            <a:off x="1257300" y="47053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Top-k decides which ranked windows enter the model prompt.</a:t>
            </a:r>
          </a:p>
        </p:txBody>
      </p:sp>
      <p:sp>
        <p:nvSpPr>
          <p:cNvPr id="10" name="quiz-answer-2">
            <a:extLst xmlns:a="http://schemas.openxmlformats.org/drawingml/2006/main">
              <a:ext uri="{FF2B5EF4-FFF2-40B4-BE49-F238E27FC236}">
                <a16:creationId xmlns:a16="http://schemas.microsoft.com/office/drawing/2014/main" id="{6B44627A-7EDC-4A85-ADAD-B3C0057CF57F}"/>
              </a:ext>
            </a:extLst>
          </p:cNvPr>
          <p:cNvSpPr>
            <a:spLocks xmlns:a="http://schemas.openxmlformats.org/drawingml/2006/main" noGrp="1"/>
          </p:cNvSpPr>
          <p:nvPr/>
        </p:nvSpPr>
        <p:spPr>
          <a:xfrm xmlns:a="http://schemas.openxmlformats.org/drawingml/2006/main">
            <a:off x="971550" y="50863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2. A. It flattens structure</a:t>
            </a:r>
          </a:p>
        </p:txBody>
      </p:sp>
      <p:sp>
        <p:nvSpPr>
          <p:cNvPr id="11" name="quiz-explanation-2">
            <a:extLst xmlns:a="http://schemas.openxmlformats.org/drawingml/2006/main">
              <a:ext uri="{FF2B5EF4-FFF2-40B4-BE49-F238E27FC236}">
                <a16:creationId xmlns:a16="http://schemas.microsoft.com/office/drawing/2014/main" id="{CEAED3E5-53D0-4DCE-8FDD-ED16FEB4CE55}"/>
              </a:ext>
            </a:extLst>
          </p:cNvPr>
          <p:cNvSpPr>
            <a:spLocks xmlns:a="http://schemas.openxmlformats.org/drawingml/2006/main" noGrp="1"/>
          </p:cNvSpPr>
          <p:nvPr/>
        </p:nvSpPr>
        <p:spPr>
          <a:xfrm xmlns:a="http://schemas.openxmlformats.org/drawingml/2006/main">
            <a:off x="1257300" y="53911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Words survive, but table and hierarchy relationships become implicit.</a:t>
            </a:r>
          </a:p>
        </p:txBody>
      </p:sp>
      <p:sp>
        <p:nvSpPr>
          <p:cNvPr id="12" name="quiz-answer-3">
            <a:extLst xmlns:a="http://schemas.openxmlformats.org/drawingml/2006/main">
              <a:ext uri="{FF2B5EF4-FFF2-40B4-BE49-F238E27FC236}">
                <a16:creationId xmlns:a16="http://schemas.microsoft.com/office/drawing/2014/main" id="{D6719D62-4B24-48D4-B3AD-DE61F102BF6D}"/>
              </a:ext>
            </a:extLst>
          </p:cNvPr>
          <p:cNvSpPr>
            <a:spLocks xmlns:a="http://schemas.openxmlformats.org/drawingml/2006/main" noGrp="1"/>
          </p:cNvSpPr>
          <p:nvPr/>
        </p:nvSpPr>
        <p:spPr>
          <a:xfrm xmlns:a="http://schemas.openxmlformats.org/drawingml/2006/main">
            <a:off x="971550" y="5772150"/>
            <a:ext cx="1329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F40CB"/>
                </a:solidFill>
              </a:defRPr>
            </a:pPr>
            <a:r>
              <a:rPr sz="1500" b="1">
                <a:solidFill>
                  <a:srgbClr val="1F40CB"/>
                </a:solidFill>
              </a:rPr>
              <a:t>3. B. Retrieval</a:t>
            </a:r>
          </a:p>
        </p:txBody>
      </p:sp>
      <p:sp>
        <p:nvSpPr>
          <p:cNvPr id="13" name="quiz-explanation-3">
            <a:extLst xmlns:a="http://schemas.openxmlformats.org/drawingml/2006/main">
              <a:ext uri="{FF2B5EF4-FFF2-40B4-BE49-F238E27FC236}">
                <a16:creationId xmlns:a16="http://schemas.microsoft.com/office/drawing/2014/main" id="{86F44B3F-C2B9-4375-8C1B-B3777C7511F0}"/>
              </a:ext>
            </a:extLst>
          </p:cNvPr>
          <p:cNvSpPr>
            <a:spLocks xmlns:a="http://schemas.openxmlformats.org/drawingml/2006/main" noGrp="1"/>
          </p:cNvSpPr>
          <p:nvPr/>
        </p:nvSpPr>
        <p:spPr>
          <a:xfrm xmlns:a="http://schemas.openxmlformats.org/drawingml/2006/main">
            <a:off x="1257300" y="6076950"/>
            <a:ext cx="13011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a:solidFill>
                  <a:srgbClr val="334155"/>
                </a:solidFill>
              </a:defRPr>
            </a:pPr>
            <a:r>
              <a:rPr sz="1200" b="0">
                <a:solidFill>
                  <a:srgbClr val="334155"/>
                </a:solidFill>
              </a:rPr>
              <a:t>The correct table never entered top-k, so generation never saw it.</a:t>
            </a:r>
          </a:p>
        </p:txBody>
      </p:sp>
    </p:spTree>
    <p:extLst>
      <p:ext uri="{BB962C8B-B14F-4D97-AF65-F5344CB8AC3E}">
        <p14:creationId xmlns:p14="http://schemas.microsoft.com/office/powerpoint/2010/main" val="16236503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2026-08-26T05:44:04.9380000Z</dcterms:created>
  <dcterms:modified xsi:type="dcterms:W3CDTF">2026-08-26T05:44:04.9380000Z</dcterms:modified>
</coreProperties>
</file>