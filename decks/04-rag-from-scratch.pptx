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08a687fac2c4f91" /><Relationship Type="http://schemas.openxmlformats.org/officeDocument/2006/relationships/extended-properties" Target="/docProps/app.xml" Id="R0cb5624bb8d54ba2" /><Relationship Type="http://schemas.openxmlformats.org/officeDocument/2006/relationships/officeDocument" Target="/ppt/presentation.xml" Id="R135e1b2b1e514ba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09bd1bd8afb4497"/>
  </p:sldMasterIdLst>
  <p:notesMasterIdLst>
    <p:notesMasterId xmlns:r="http://schemas.openxmlformats.org/officeDocument/2006/relationships" r:id="R85273deca6114c68"/>
  </p:notesMasterIdLst>
  <p:sldIdLst>
    <p:sldId xmlns:r="http://schemas.openxmlformats.org/officeDocument/2006/relationships" id="256" r:id="R01a4fa96becd404f"/>
    <p:sldId xmlns:r="http://schemas.openxmlformats.org/officeDocument/2006/relationships" id="257" r:id="R640174f9325c498d"/>
    <p:sldId xmlns:r="http://schemas.openxmlformats.org/officeDocument/2006/relationships" id="258" r:id="Rf558d2ec66264049"/>
    <p:sldId xmlns:r="http://schemas.openxmlformats.org/officeDocument/2006/relationships" id="259" r:id="Ra31b6e092f5141b4"/>
    <p:sldId xmlns:r="http://schemas.openxmlformats.org/officeDocument/2006/relationships" id="260" r:id="R48e8c245c9994f5c"/>
    <p:sldId xmlns:r="http://schemas.openxmlformats.org/officeDocument/2006/relationships" id="261" r:id="R0d53fba9bb7e467d"/>
    <p:sldId xmlns:r="http://schemas.openxmlformats.org/officeDocument/2006/relationships" id="262" r:id="R9ec4b9e0e0234075"/>
    <p:sldId xmlns:r="http://schemas.openxmlformats.org/officeDocument/2006/relationships" id="263" r:id="R44d32a8ac5d6408d"/>
    <p:sldId xmlns:r="http://schemas.openxmlformats.org/officeDocument/2006/relationships" id="264" r:id="R49777e4c99fb4c72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3c22755cdd34176" /><Relationship Type="http://schemas.openxmlformats.org/officeDocument/2006/relationships/slideMaster" Target="/ppt/slideMasters/slideMaster1.xml" Id="Rb09bd1bd8afb4497" /><Relationship Type="http://schemas.openxmlformats.org/officeDocument/2006/relationships/notesMaster" Target="/ppt/notesMasters/notesMaster1.xml" Id="R85273deca6114c68" /><Relationship Type="http://schemas.openxmlformats.org/officeDocument/2006/relationships/presProps" Target="/ppt/presProps.xml" Id="R1c4be9c843d24d43" /><Relationship Type="http://schemas.openxmlformats.org/officeDocument/2006/relationships/tableStyles" Target="/ppt/tableStyles.xml" Id="Rb45a8a14e4024187" /><Relationship Type="http://schemas.openxmlformats.org/officeDocument/2006/relationships/slide" Target="/ppt/slides/slide1.xml" Id="R01a4fa96becd404f" /><Relationship Type="http://schemas.openxmlformats.org/officeDocument/2006/relationships/slide" Target="/ppt/slides/slide2.xml" Id="R640174f9325c498d" /><Relationship Type="http://schemas.openxmlformats.org/officeDocument/2006/relationships/slide" Target="/ppt/slides/slide3.xml" Id="Rf558d2ec66264049" /><Relationship Type="http://schemas.openxmlformats.org/officeDocument/2006/relationships/slide" Target="/ppt/slides/slide4.xml" Id="Ra31b6e092f5141b4" /><Relationship Type="http://schemas.openxmlformats.org/officeDocument/2006/relationships/slide" Target="/ppt/slides/slide5.xml" Id="R48e8c245c9994f5c" /><Relationship Type="http://schemas.openxmlformats.org/officeDocument/2006/relationships/slide" Target="/ppt/slides/slide6.xml" Id="R0d53fba9bb7e467d" /><Relationship Type="http://schemas.openxmlformats.org/officeDocument/2006/relationships/slide" Target="/ppt/slides/slide7.xml" Id="R9ec4b9e0e0234075" /><Relationship Type="http://schemas.openxmlformats.org/officeDocument/2006/relationships/slide" Target="/ppt/slides/slide8.xml" Id="R44d32a8ac5d6408d" /><Relationship Type="http://schemas.openxmlformats.org/officeDocument/2006/relationships/slide" Target="/ppt/slides/slide9.xml" Id="R49777e4c99fb4c7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c42e516d115454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00b2f83891849e4" /><Relationship Type="http://schemas.openxmlformats.org/officeDocument/2006/relationships/notesMaster" Target="/ppt/notesMasters/notesMaster1.xml" Id="Rf764b1ffeca54ad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799f50303924cc6" /><Relationship Type="http://schemas.openxmlformats.org/officeDocument/2006/relationships/notesMaster" Target="/ppt/notesMasters/notesMaster1.xml" Id="R5188ca45eed2490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29345dd9f344417" /><Relationship Type="http://schemas.openxmlformats.org/officeDocument/2006/relationships/notesMaster" Target="/ppt/notesMasters/notesMaster1.xml" Id="Re33168401694403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2cbb49c12a44405" /><Relationship Type="http://schemas.openxmlformats.org/officeDocument/2006/relationships/notesMaster" Target="/ppt/notesMasters/notesMaster1.xml" Id="R9195428459f4459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3c758b5cbed40dd" /><Relationship Type="http://schemas.openxmlformats.org/officeDocument/2006/relationships/notesMaster" Target="/ppt/notesMasters/notesMaster1.xml" Id="R2ccd3816410e417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eeb79dc03bd48eb" /><Relationship Type="http://schemas.openxmlformats.org/officeDocument/2006/relationships/notesMaster" Target="/ppt/notesMasters/notesMaster1.xml" Id="R8423a243c4194fd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926555c18db4f6c" /><Relationship Type="http://schemas.openxmlformats.org/officeDocument/2006/relationships/notesMaster" Target="/ppt/notesMasters/notesMaster1.xml" Id="R890c4735aed7469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773fe458c934848" /><Relationship Type="http://schemas.openxmlformats.org/officeDocument/2006/relationships/notesMaster" Target="/ppt/notesMasters/notesMaster1.xml" Id="Rd4471c1fe6ca480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dcdb650da9b43e2" /><Relationship Type="http://schemas.openxmlformats.org/officeDocument/2006/relationships/notesMaster" Target="/ppt/notesMasters/notesMaster1.xml" Id="R8440c4ea4807414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a transparent RAG baseline before raw-document complexity. Every decision remains visible.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https://arxiv.org/abs/2005.11401</a:t>
            </a:r>
          </a:p>
          <a:p xmlns:a="http://schemas.openxmlformats.org/drawingml/2006/main">
            <a:r>
              <a:t>- https://www.sec.gov/Archives/edgar/data/1045810/000104581026000021/nvda-20260125.htm</a:t>
            </a:r>
          </a:p>
          <a:p xmlns:a="http://schemas.openxmlformats.org/drawingml/2006/main">
            <a:r>
              <a:t>- https://www.se.com/ww/en/assets/564/document/528237/release-fy-results-2025.pdf?p_File_Name=2025+FY+Results&amp;p_enDocType=Financial+release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application, not the model, selects evidence. Only the top-k passages enter the generation prompt.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https://arxiv.org/abs/2005.11401</a:t>
            </a:r>
          </a:p>
          <a:p xmlns:a="http://schemas.openxmlformats.org/drawingml/2006/main">
            <a:r>
              <a:t>- https://scikit-learn.org/stable/modules/generated/sklearn.feature_extraction.text.TfidfVectorizer.html</a:t>
            </a:r>
          </a:p>
          <a:p xmlns:a="http://schemas.openxmlformats.org/drawingml/2006/main">
            <a:r>
              <a:t>- https://scikit-learn.org/stable/modules/generated/sklearn.metrics.pairwise.cosine_similarity.html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Hold the question fixed. No context exposes missing evidence; full context exposes all six passages; naive RAG uses a blank-line split, lexical rank and top-k selection.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https://arxiv.org/abs/2005.11401</a:t>
            </a:r>
          </a:p>
          <a:p xmlns:a="http://schemas.openxmlformats.org/drawingml/2006/main">
            <a:r>
              <a:t>- https://scikit-learn.org/stable/modules/generated/sklearn.feature_extraction.text.TfidfVectorizer.html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teaching heatmap and cosine rank together. Similarity is a lexical signal, not probability or financial confidence.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https://scikit-learn.org/stable/modules/generated/sklearn.feature_extraction.text.TfidfVectorizer.html</a:t>
            </a:r>
          </a:p>
          <a:p xmlns:a="http://schemas.openxmlformats.org/drawingml/2006/main">
            <a:r>
              <a:t>- https://scikit-learn.org/stable/modules/generated/sklearn.metrics.pairwise.cosine_similarity.html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Top-k trades evidence coverage against noise, token use and cross-company leakage. Keep stable IDs and URLs in selected context.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https://arxiv.org/abs/2005.11401</a:t>
            </a:r>
          </a:p>
          <a:p xmlns:a="http://schemas.openxmlformats.org/drawingml/2006/main">
            <a:r>
              <a:t>- https://www.sec.gov/Archives/edgar/data/1045810/000104581026000021/nvda-20260125.htm</a:t>
            </a:r>
          </a:p>
          <a:p xmlns:a="http://schemas.openxmlformats.org/drawingml/2006/main">
            <a:r>
              <a:t>- https://www.se.com/ww/en/assets/564/document/528237/release-fy-results-2025.pdf?p_File_Name=2025+FY+Results&amp;p_enDocType=Financial+release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Separate retrieval recall from answer grounding. The semantic failure occurs before any model call.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https://scikit-learn.org/stable/modules/generated/sklearn.feature_extraction.text.TfidfVectorizer.html</a:t>
            </a:r>
          </a:p>
          <a:p xmlns:a="http://schemas.openxmlformats.org/drawingml/2006/main">
            <a:r>
              <a:t>- https://scikit-learn.org/stable/modules/generated/sklearn.metrics.pairwise.cosine_similarity.html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End with the raw-document question: prepared passages and blank-line boundaries hide parsing, tables, hierarchy and semantic choices taught in Lesson 05.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https://www.sec.gov/Archives/edgar/data/1045810/000104581026000021/nvda-20260125.htm</a:t>
            </a:r>
          </a:p>
          <a:p xmlns:a="http://schemas.openxmlformats.org/drawingml/2006/main">
            <a:r>
              <a:t>- https://www.se.com/ww/en/assets/564/document/528237/release-fy-results-2025.pdf?p_File_Name=2025+FY+Results&amp;p_enDocType=Financial+release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Instructor purpose: Check the three core decisions before the lesson closes.</a:t>
            </a:r>
          </a:p>
          <a:p xmlns:a="http://schemas.openxmlformats.org/drawingml/2006/main">
            <a:r>
              <a:t>Planned timing: 3 minutes.</a:t>
            </a:r>
          </a:p>
          <a:p xmlns:a="http://schemas.openxmlformats.org/drawingml/2006/main">
            <a:r>
              <a:t>Facilitation: ask for one letter per question.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chapters/04-rag-from-scratch.md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Instructor purpose: Correct the quiz and restate the practical rule behind each answer.</a:t>
            </a:r>
          </a:p>
          <a:p xmlns:a="http://schemas.openxmlformats.org/drawingml/2006/main">
            <a:r>
              <a:t>Planned timing: 3 minutes.</a:t>
            </a:r>
          </a:p>
          <a:p xmlns:a="http://schemas.openxmlformats.org/drawingml/2006/main">
            <a:r>
              <a:t>Facilitation: ask learners to explain each rule in their own words.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chapters/04-rag-from-scratch.md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06fea4690745e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45f7669218344e7" /><Relationship Type="http://schemas.openxmlformats.org/officeDocument/2006/relationships/slideLayout" Target="/ppt/slideLayouts/slideLayout1.xml" Id="R1b015254698b4f3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b015254698b4f3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c5441726f24aa8" /><Relationship Type="http://schemas.openxmlformats.org/officeDocument/2006/relationships/notesSlide" Target="/ppt/notesSlides/notesSlide1.xml" Id="R80b4ecc856514ae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bf74919f4340bc" /><Relationship Type="http://schemas.openxmlformats.org/officeDocument/2006/relationships/notesSlide" Target="/ppt/notesSlides/notesSlide2.xml" Id="R62d57a59aa9d406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5b5d6d985f4add" /><Relationship Type="http://schemas.openxmlformats.org/officeDocument/2006/relationships/notesSlide" Target="/ppt/notesSlides/notesSlide3.xml" Id="R27500dbd47824c7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438267aee24b4d" /><Relationship Type="http://schemas.openxmlformats.org/officeDocument/2006/relationships/notesSlide" Target="/ppt/notesSlides/notesSlide4.xml" Id="R7df17e85eb07441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02b469edad4562" /><Relationship Type="http://schemas.openxmlformats.org/officeDocument/2006/relationships/notesSlide" Target="/ppt/notesSlides/notesSlide5.xml" Id="Rf4d93254c9054ce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7532826d214552" /><Relationship Type="http://schemas.openxmlformats.org/officeDocument/2006/relationships/notesSlide" Target="/ppt/notesSlides/notesSlide6.xml" Id="Rae18222194d843d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b40096488547e8" /><Relationship Type="http://schemas.openxmlformats.org/officeDocument/2006/relationships/notesSlide" Target="/ppt/notesSlides/notesSlide7.xml" Id="Rb74edf3c703644d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e3470dc5314f58" /><Relationship Type="http://schemas.openxmlformats.org/officeDocument/2006/relationships/notesSlide" Target="/ppt/notesSlides/notesSlide8.xml" Id="R7d5bb17e8d384da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fdaa979b384a99" /><Relationship Type="http://schemas.openxmlformats.org/officeDocument/2006/relationships/notesSlide" Target="/ppt/notesSlides/notesSlide9.xml" Id="R3805e295fffd436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70DB6A-E971-4614-803B-AE8F3E121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81050"/>
            <a:ext cx="1257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2EB"/>
          </a:solidFill>
          <a:ln xmlns:a="http://schemas.openxmlformats.org/drawingml/2006/main" w="0">
            <a:solidFill>
              <a:srgbClr val="00A2E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0EE95B-C324-413A-BA74-C1EEA52FB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0668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FIRST FINANCE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418454-19E5-44D8-810D-686826F2E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38400"/>
            <a:ext cx="1329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8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48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Naive RAG from First Principles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902B13-440D-4A59-9D11-3DBE46D45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00450"/>
            <a:ext cx="1123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3F3F42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3F3F42"/>
                </a:solidFill>
                <a:latin typeface="Calibri"/>
                <a:ea typeface="Calibri"/>
                <a:cs typeface="Calibri"/>
              </a:rPr>
              <a:t>A transparent retrieval baseline before parsing and chunking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7E8F12-0F33-44B5-939E-A27B15B6D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7700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SESSION 04  ·  11:30–12:00  ·  8 MIN CONCEPTS + 22 MIN NOTEBOOK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78144A-C3F6-47D1-BCD1-8642B9929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0675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First Finance - Arnaud Demes</a:t>
            </a:r>
          </a:p>
        </p:txBody>
      </p:sp>
    </p:spTree>
    <p:extLst>
      <p:ext uri="{BB962C8B-B14F-4D97-AF65-F5344CB8AC3E}">
        <p14:creationId xmlns:p14="http://schemas.microsoft.com/office/powerpoint/2010/main" val="16236503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D4CC508-D80F-43CE-AF2B-FFAFDE750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667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EVIDENCE BOUNDARY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8B81FF-9717-4ECA-964E-0875263BD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3296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RAG decides which evidence the model can see</a:t>
            </a:r>
          </a:p>
        </p:txBody>
      </p:sp>
      <p:sp>
        <p:nvSpPr>
          <p:cNvPr id="3" name="corpus-frame">
            <a:extLst xmlns:a="http://schemas.openxmlformats.org/drawingml/2006/main">
              <a:ext uri="{FF2B5EF4-FFF2-40B4-BE49-F238E27FC236}">
                <a16:creationId xmlns:a16="http://schemas.microsoft.com/office/drawing/2014/main" id="{7373B6A8-37AC-442A-9146-32CC82942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47950"/>
            <a:ext cx="3429000" cy="36766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05FF29-4D50-4C8D-ABD0-14181E23F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813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PREPARED CORPUS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0C867F-A514-469A-A27D-6B50ADF2A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76600"/>
            <a:ext cx="26479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8F6FB"/>
          </a:solidFill>
          <a:ln xmlns:a="http://schemas.openxmlformats.org/drawingml/2006/main" w="9525">
            <a:solidFill>
              <a:srgbClr val="00A2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4525B0-6952-40DB-AE67-F726C01B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295650"/>
            <a:ext cx="2343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NVDA-F1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B9329D-1451-4063-96E6-E318FFF6A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733800"/>
            <a:ext cx="26479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8F6FB"/>
          </a:solidFill>
          <a:ln xmlns:a="http://schemas.openxmlformats.org/drawingml/2006/main" w="9525">
            <a:solidFill>
              <a:srgbClr val="00A2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136B69-618A-4503-887C-D05602167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52850"/>
            <a:ext cx="2343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NVDA-F2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3A1019-D4E9-4D7D-9819-1BD3376C5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91000"/>
            <a:ext cx="26479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8F6FB"/>
          </a:solidFill>
          <a:ln xmlns:a="http://schemas.openxmlformats.org/drawingml/2006/main" w="9525">
            <a:solidFill>
              <a:srgbClr val="00A2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21E400-C954-42F3-BAC9-B22FCA866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210050"/>
            <a:ext cx="2343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NVDA-F3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1E4778-6B3A-47E4-88E4-8FEF7C7DD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648200"/>
            <a:ext cx="26479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1E5"/>
          </a:solidFill>
          <a:ln xmlns:a="http://schemas.openxmlformats.org/drawingml/2006/main" w="9525">
            <a:solidFill>
              <a:srgbClr val="F07D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DCA36D-5E30-4826-B630-3BA389E4F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667250"/>
            <a:ext cx="2343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SU-F1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725DA4-F512-4D8D-9291-109E16C8C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105400"/>
            <a:ext cx="26479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1E5"/>
          </a:solidFill>
          <a:ln xmlns:a="http://schemas.openxmlformats.org/drawingml/2006/main" w="9525">
            <a:solidFill>
              <a:srgbClr val="F07D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EA502F-5210-40CF-9343-31469FB3E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124450"/>
            <a:ext cx="2343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SU-F2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F64B97-73E8-439C-AA1C-EF642EAE0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562600"/>
            <a:ext cx="26479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1E5"/>
          </a:solidFill>
          <a:ln xmlns:a="http://schemas.openxmlformats.org/drawingml/2006/main" w="9525">
            <a:solidFill>
              <a:srgbClr val="F07D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728553-B5C3-494F-9A3D-302BBDD1F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581650"/>
            <a:ext cx="2343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SU-F3</a:t>
            </a:r>
          </a:p>
        </p:txBody>
      </p:sp>
      <p:sp>
        <p:nvSpPr>
          <p:cNvPr id="17" name="ranker">
            <a:extLst xmlns:a="http://schemas.openxmlformats.org/drawingml/2006/main">
              <a:ext uri="{FF2B5EF4-FFF2-40B4-BE49-F238E27FC236}">
                <a16:creationId xmlns:a16="http://schemas.microsoft.com/office/drawing/2014/main" id="{EB80A7E3-EDC6-4175-820F-5E55FCCBD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486150"/>
            <a:ext cx="238125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062433"/>
          </a:solidFill>
          <a:ln xmlns:a="http://schemas.openxmlformats.org/drawingml/2006/main" w="9525">
            <a:solidFill>
              <a:srgbClr val="06243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03ABD4-6586-48E9-9EC8-9C7D27951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705225"/>
            <a:ext cx="17716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TF-IDF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+ cosine rank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D6717A-01AB-489C-97D7-8AA75FCB4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629150"/>
            <a:ext cx="1771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simple top-k</a:t>
            </a:r>
          </a:p>
        </p:txBody>
      </p:sp>
      <p:sp>
        <p:nvSpPr>
          <p:cNvPr id="20" name="selected-evidence">
            <a:extLst xmlns:a="http://schemas.openxmlformats.org/drawingml/2006/main">
              <a:ext uri="{FF2B5EF4-FFF2-40B4-BE49-F238E27FC236}">
                <a16:creationId xmlns:a16="http://schemas.microsoft.com/office/drawing/2014/main" id="{C4C99858-AED1-4666-8E49-2F361C9B0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028950"/>
            <a:ext cx="2266950" cy="266700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07D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DB4D59-90A6-461A-83AB-DBEC0F016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38500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07D00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07D00"/>
                </a:solidFill>
                <a:latin typeface="Calibri"/>
                <a:ea typeface="Calibri"/>
                <a:cs typeface="Calibri"/>
              </a:rPr>
              <a:t>SELECTED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4203C3-60E6-4B1A-A9FA-DBE47DB3B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886200"/>
            <a:ext cx="165735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8F6FB"/>
          </a:solidFill>
          <a:ln xmlns:a="http://schemas.openxmlformats.org/drawingml/2006/main" w="9525">
            <a:solidFill>
              <a:srgbClr val="00A2E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D5F68A-6BD0-4828-B0C9-F39EBA7B9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933825"/>
            <a:ext cx="1390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NVDA-F1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7D7A38-3CD9-4F65-8025-86527DE34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514850"/>
            <a:ext cx="165735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8F6FB"/>
          </a:solidFill>
          <a:ln xmlns:a="http://schemas.openxmlformats.org/drawingml/2006/main" w="9525">
            <a:solidFill>
              <a:srgbClr val="00A2E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A17CFD-0AA2-4A5A-AA38-325F22B2C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562475"/>
            <a:ext cx="1390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NVDA-F2</a:t>
            </a:r>
          </a:p>
        </p:txBody>
      </p:sp>
      <p:sp>
        <p:nvSpPr>
          <p:cNvPr id="26" name="model-answer">
            <a:extLst xmlns:a="http://schemas.openxmlformats.org/drawingml/2006/main">
              <a:ext uri="{FF2B5EF4-FFF2-40B4-BE49-F238E27FC236}">
                <a16:creationId xmlns:a16="http://schemas.microsoft.com/office/drawing/2014/main" id="{F44EB027-0133-4742-AB44-74315C6D7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3486150"/>
            <a:ext cx="1581150" cy="179070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1F40CB"/>
          </a:solidFill>
          <a:ln xmlns:a="http://schemas.openxmlformats.org/drawingml/2006/main" w="9525">
            <a:solidFill>
              <a:srgbClr val="1F40C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033B6D-4DC4-4F2C-AC6B-1FBC9F120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2100" y="3829050"/>
            <a:ext cx="1123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MODEL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ANSWER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C3425E-3582-4C28-AD40-57BFCFF9E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6375" y="4686300"/>
            <a:ext cx="129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with citations</a:t>
            </a:r>
          </a:p>
        </p:txBody>
      </p:sp>
      <p:cxnSp>
        <p:nvCxnSpPr>
          <p:cNvPr id="221" name=""/>
          <p:cNvCxnSpPr>
            <a:stCxn xmlns:a="http://schemas.openxmlformats.org/drawingml/2006/main" id="3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V="1">
            <a:off x="4419600" y="4381500"/>
            <a:ext cx="1276350" cy="1047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A9A9F"/>
            </a:solidFill>
            <a:prstDash val="solid"/>
            <a:tailEnd type="triangle" w="med" len="med"/>
          </a:ln>
        </p:spPr>
      </p:cxnSp>
      <p:cxnSp>
        <p:nvCxnSpPr>
          <p:cNvPr id="222" name=""/>
          <p:cNvCxnSpPr>
            <a:stCxn xmlns:a="http://schemas.openxmlformats.org/drawingml/2006/main" id="17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 flipV="1">
            <a:off x="8077200" y="4362450"/>
            <a:ext cx="1276350" cy="190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07D00"/>
            </a:solidFill>
            <a:prstDash val="solid"/>
            <a:tailEnd type="triangle" w="med" len="med"/>
          </a:ln>
        </p:spPr>
      </p:cxnSp>
      <p:cxnSp>
        <p:nvCxnSpPr>
          <p:cNvPr id="223" name=""/>
          <p:cNvCxnSpPr>
            <a:stCxn xmlns:a="http://schemas.openxmlformats.org/drawingml/2006/main" id="20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11620500" y="4362450"/>
            <a:ext cx="11430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A9A9F"/>
            </a:solidFill>
            <a:prstDash val="solid"/>
            <a:tailEnd type="triangle" w="med" len="med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A1F4FC3-E044-4265-8E8F-EE2D9AB96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670560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The model never receives the complete corpus in this path.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B69BE8D-5637-4C44-BA10-BC32D4B11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96225"/>
            <a:ext cx="1352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9"/>
          </a:solidFill>
          <a:ln xmlns:a="http://schemas.openxmlformats.org/drawingml/2006/main" w="0">
            <a:solidFill>
              <a:srgbClr val="E4E7E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4798E3-2D0B-4A76-A459-ED0F6CB62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96225"/>
            <a:ext cx="800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2EB"/>
          </a:solidFill>
          <a:ln xmlns:a="http://schemas.openxmlformats.org/drawingml/2006/main" w="0">
            <a:solidFill>
              <a:srgbClr val="00A2E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70E8D6F-5A1A-486C-BC40-39EC60408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0581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First Finance - Arnaud Demes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BB4136D-1C95-40D3-92C8-AC6700B6F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80581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BOUNDARY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7018A45-F04B-4240-9302-1370A4ABF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80581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29981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CCF7EA2-B73D-4AD4-B06A-D59EB17C1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667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CONTEXT PATHS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7CB195-B256-4DE2-93C3-FA161C810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3296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Same question, three evidence paths</a:t>
            </a:r>
          </a:p>
        </p:txBody>
      </p:sp>
      <p:sp>
        <p:nvSpPr>
          <p:cNvPr id="3" name="stage-1">
            <a:extLst xmlns:a="http://schemas.openxmlformats.org/drawingml/2006/main">
              <a:ext uri="{FF2B5EF4-FFF2-40B4-BE49-F238E27FC236}">
                <a16:creationId xmlns:a16="http://schemas.microsoft.com/office/drawing/2014/main" id="{256FFEF6-6758-41CA-A2F4-E56F3BD78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81350"/>
            <a:ext cx="2247900" cy="20574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CA6E59-C5C7-4BFA-A602-FAA32AEE7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718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2D27B7-F096-4B16-8D53-4996D5FF6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290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No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context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702D83-665A-4C57-A6DA-85F3B37D8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05350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ZERO</a:t>
            </a:r>
          </a:p>
        </p:txBody>
      </p:sp>
      <p:sp>
        <p:nvSpPr>
          <p:cNvPr id="7" name="stage-2">
            <a:extLst xmlns:a="http://schemas.openxmlformats.org/drawingml/2006/main">
              <a:ext uri="{FF2B5EF4-FFF2-40B4-BE49-F238E27FC236}">
                <a16:creationId xmlns:a16="http://schemas.microsoft.com/office/drawing/2014/main" id="{C7AF3DB8-0961-4291-9188-8655B83E2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181350"/>
            <a:ext cx="2247900" cy="20574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ECA049-F433-4332-8C48-F32417836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3718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45409E-B517-4EF9-BA08-3D1277FCD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8290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Full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context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0995C1-1524-46AE-8449-20E7E3B6D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705350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ALL SIX</a:t>
            </a:r>
          </a:p>
        </p:txBody>
      </p:sp>
      <p:sp>
        <p:nvSpPr>
          <p:cNvPr id="11" name="stage-3">
            <a:extLst xmlns:a="http://schemas.openxmlformats.org/drawingml/2006/main">
              <a:ext uri="{FF2B5EF4-FFF2-40B4-BE49-F238E27FC236}">
                <a16:creationId xmlns:a16="http://schemas.microsoft.com/office/drawing/2014/main" id="{A6D7CD50-6E83-4150-92FF-C9C37AFA7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81350"/>
            <a:ext cx="2247900" cy="20574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EA6C8D-7A5B-491A-8E56-762283B8C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718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F2BC2D-EBF4-4DDC-82F9-0B9F64431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290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Paragraph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split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FE1236-3FB7-4BDB-B025-932DE45EA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705350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NAIVE</a:t>
            </a:r>
          </a:p>
        </p:txBody>
      </p:sp>
      <p:sp>
        <p:nvSpPr>
          <p:cNvPr id="15" name="stage-4">
            <a:extLst xmlns:a="http://schemas.openxmlformats.org/drawingml/2006/main">
              <a:ext uri="{FF2B5EF4-FFF2-40B4-BE49-F238E27FC236}">
                <a16:creationId xmlns:a16="http://schemas.microsoft.com/office/drawing/2014/main" id="{6DA443AF-F58B-4FE7-BB9B-64BA7F10E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181350"/>
            <a:ext cx="2247900" cy="20574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07D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822E62-67F1-422E-BD05-1947E589C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3718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1A0678-95E7-417B-9A0B-4F1BDF582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8290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TF-IDF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Top-k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B6A6BB-21EC-48ED-AB6E-33E741E1C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705350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SELECT 2</a:t>
            </a:r>
          </a:p>
        </p:txBody>
      </p:sp>
      <p:sp>
        <p:nvSpPr>
          <p:cNvPr id="19" name="stage-5">
            <a:extLst xmlns:a="http://schemas.openxmlformats.org/drawingml/2006/main">
              <a:ext uri="{FF2B5EF4-FFF2-40B4-BE49-F238E27FC236}">
                <a16:creationId xmlns:a16="http://schemas.microsoft.com/office/drawing/2014/main" id="{C785557B-F984-4202-BA94-42E2D9781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3181350"/>
            <a:ext cx="2247900" cy="20574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062433"/>
          </a:solidFill>
          <a:ln xmlns:a="http://schemas.openxmlformats.org/drawingml/2006/main" w="9525">
            <a:solidFill>
              <a:srgbClr val="06243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B94101-EDFB-4791-8629-922B97FE5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33718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69AB67-9813-456C-BA23-475D78D34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38290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RAG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answer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9F2E59-8F15-482D-8778-F89C50BE0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4705350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CITE</a:t>
            </a:r>
          </a:p>
        </p:txBody>
      </p:sp>
      <p:cxnSp>
        <p:nvCxnSpPr>
          <p:cNvPr id="185" name=""/>
          <p:cNvCxnSpPr>
            <a:stCxn xmlns:a="http://schemas.openxmlformats.org/drawingml/2006/main" id="3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57550" y="42100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A9A9F"/>
            </a:solidFill>
            <a:prstDash val="solid"/>
            <a:tailEnd type="triangle" w="sm" len="sm"/>
          </a:ln>
        </p:spPr>
      </p:cxnSp>
      <p:cxnSp>
        <p:nvCxnSpPr>
          <p:cNvPr id="186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6076950" y="42100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A9A9F"/>
            </a:solidFill>
            <a:prstDash val="solid"/>
            <a:tailEnd type="triangle" w="sm" len="sm"/>
          </a:ln>
        </p:spPr>
      </p:cxnSp>
      <p:cxnSp>
        <p:nvCxnSpPr>
          <p:cNvPr id="187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896350" y="42100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A9A9F"/>
            </a:solidFill>
            <a:prstDash val="solid"/>
            <a:tailEnd type="triangle" w="sm" len="sm"/>
          </a:ln>
        </p:spPr>
      </p:cxnSp>
      <p:cxnSp>
        <p:nvCxnSpPr>
          <p:cNvPr id="188" name=""/>
          <p:cNvCxnSpPr>
            <a:stCxn xmlns:a="http://schemas.openxmlformats.org/drawingml/2006/main" id="15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11715750" y="42100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A9A9F"/>
            </a:solidFill>
            <a:prstDash val="solid"/>
            <a:tailEnd type="triangle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9D553F1-6719-4532-9826-BA1316A1F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1912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13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No context and full context are references; naive RAG selects evidence before generation.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5A8B6A2-A436-4009-9DBC-3B6DBA9E2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96225"/>
            <a:ext cx="1352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9"/>
          </a:solidFill>
          <a:ln xmlns:a="http://schemas.openxmlformats.org/drawingml/2006/main" w="0">
            <a:solidFill>
              <a:srgbClr val="E4E7E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97D0D9-3496-4094-B4FA-C00F06D30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96225"/>
            <a:ext cx="800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2EB"/>
          </a:solidFill>
          <a:ln xmlns:a="http://schemas.openxmlformats.org/drawingml/2006/main" w="0">
            <a:solidFill>
              <a:srgbClr val="00A2E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743C049-7F39-45C8-8D75-46CC41FBD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0581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First Finance - Arnaud Demes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3EB295E-1397-4472-AF49-FB476A31B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80581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PATHS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EC7DC5B-6E2E-4A34-9CB9-5B080D34E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80581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233247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3389EE3-4155-4B6C-B75C-92690373C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667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LEXICAL REPRESENTATION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A1CAE9-7E82-40E3-9732-DC7D0E080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3296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TF-IDF overlap becomes a cosine-similarity ranking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D92782-12E9-4FD4-9DA4-04086C67E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241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TEACHING 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54FC3D-B07A-44D7-AFDC-B37C14EA3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5908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revenue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DE4123-D61B-41BB-A5C9-CABD5FF4D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5908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1391D2-8D09-4CAE-AE07-17BEFFD3A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5908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center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1F33C9-D54F-409F-B469-5B045433F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5908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gaming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64F30A-8484-4D92-B042-5F0C8FC91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5908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management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0EFFAF-E14A-43A2-9F88-BD3781CB0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95600"/>
            <a:ext cx="914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0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NVDA-F1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8CB1F1-07A3-466C-9E5E-F32E976DC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895600"/>
            <a:ext cx="933450" cy="409575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1F40CB"/>
          </a:solidFill>
          <a:ln xmlns:a="http://schemas.openxmlformats.org/drawingml/2006/main" w="9525">
            <a:solidFill>
              <a:srgbClr val="E4E7E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7D72BB-BA2D-4D42-8779-0A676EB9E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895600"/>
            <a:ext cx="933450" cy="409575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3B4193-7F82-4F9F-BCC4-D1689164A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895600"/>
            <a:ext cx="933450" cy="409575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D89B20-12DB-4367-A1D2-0ACDE177E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895600"/>
            <a:ext cx="933450" cy="409575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3952D1-FA72-4AE0-B21A-B559968AF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895600"/>
            <a:ext cx="933450" cy="409575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6AD0A5-8039-4800-8B8D-233DAFE3E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62325"/>
            <a:ext cx="914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0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NVDA-F2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A3D941-2779-4CF3-9BBA-8D8348B79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362325"/>
            <a:ext cx="933450" cy="409575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00A2EB"/>
          </a:solidFill>
          <a:ln xmlns:a="http://schemas.openxmlformats.org/drawingml/2006/main" w="9525">
            <a:solidFill>
              <a:srgbClr val="E4E7E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919301-9BBC-4223-AFCC-9AD617304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362325"/>
            <a:ext cx="933450" cy="409575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1F40CB"/>
          </a:solidFill>
          <a:ln xmlns:a="http://schemas.openxmlformats.org/drawingml/2006/main" w="9525">
            <a:solidFill>
              <a:srgbClr val="E4E7E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6A70D4-1D72-4AD4-BB53-19506644D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362325"/>
            <a:ext cx="933450" cy="409575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1F40CB"/>
          </a:solidFill>
          <a:ln xmlns:a="http://schemas.openxmlformats.org/drawingml/2006/main" w="9525">
            <a:solidFill>
              <a:srgbClr val="E4E7E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096A31-0D90-4F34-9CDD-BC380BA38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362325"/>
            <a:ext cx="933450" cy="409575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39095E-DA78-4615-B9B2-49D76F54D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362325"/>
            <a:ext cx="933450" cy="409575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44A132-2BD7-4FD8-A47B-05139659C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29050"/>
            <a:ext cx="914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0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NVDA-F3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D3F6CC-80E0-40EF-AD1F-27E0F776C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829050"/>
            <a:ext cx="933450" cy="409575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E8F6FB"/>
          </a:solidFill>
          <a:ln xmlns:a="http://schemas.openxmlformats.org/drawingml/2006/main" w="9525">
            <a:solidFill>
              <a:srgbClr val="E4E7E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CF300E-F8E4-4AFC-9C70-2373EBC77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829050"/>
            <a:ext cx="933450" cy="409575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E75B5F-9B1E-43AF-B23A-1BA1CDBFC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829050"/>
            <a:ext cx="933450" cy="409575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7C5AD5-B163-4041-9101-84FBFB753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829050"/>
            <a:ext cx="933450" cy="409575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1F40CB"/>
          </a:solidFill>
          <a:ln xmlns:a="http://schemas.openxmlformats.org/drawingml/2006/main" w="9525">
            <a:solidFill>
              <a:srgbClr val="E4E7E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BD8584-A757-42B9-8A4F-FBAC333A8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829050"/>
            <a:ext cx="933450" cy="409575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623555-0E31-4E9B-AF07-AF4B57F43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95775"/>
            <a:ext cx="914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0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SU-F1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F4ABA7-1148-4D4D-A95B-A429355DF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295775"/>
            <a:ext cx="933450" cy="409575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00A2EB"/>
          </a:solidFill>
          <a:ln xmlns:a="http://schemas.openxmlformats.org/drawingml/2006/main" w="9525">
            <a:solidFill>
              <a:srgbClr val="E4E7E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40A6DBC-11E9-4390-AECF-8CCEC0513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295775"/>
            <a:ext cx="933450" cy="409575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F7C67B-FD48-41DB-A646-95653C7D5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295775"/>
            <a:ext cx="933450" cy="409575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2934396-FBE2-4F29-BE69-E35C25E02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295775"/>
            <a:ext cx="933450" cy="409575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E59EFA7-AF06-4FE3-9E92-D1CEF6671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295775"/>
            <a:ext cx="933450" cy="409575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41FFBF2-59DA-4FE0-A05F-D04A67EA2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62500"/>
            <a:ext cx="914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0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SU-F2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361064A-6D97-4EE0-AB11-21661227C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762500"/>
            <a:ext cx="933450" cy="409575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E8F6FB"/>
          </a:solidFill>
          <a:ln xmlns:a="http://schemas.openxmlformats.org/drawingml/2006/main" w="9525">
            <a:solidFill>
              <a:srgbClr val="E4E7E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3D82C33-407D-48BD-83F5-6E42F423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762500"/>
            <a:ext cx="933450" cy="409575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00A2EB"/>
          </a:solidFill>
          <a:ln xmlns:a="http://schemas.openxmlformats.org/drawingml/2006/main" w="9525">
            <a:solidFill>
              <a:srgbClr val="E4E7E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9819154-CDF5-4461-8C8D-FFB465B25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762500"/>
            <a:ext cx="933450" cy="409575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00A2EB"/>
          </a:solidFill>
          <a:ln xmlns:a="http://schemas.openxmlformats.org/drawingml/2006/main" w="9525">
            <a:solidFill>
              <a:srgbClr val="E4E7E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F465DBE-0ACA-45EA-B2BC-D5EFBA131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762500"/>
            <a:ext cx="933450" cy="409575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9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2D4F66A-8DFB-4D81-A487-DBC76AF79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762500"/>
            <a:ext cx="933450" cy="409575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1F40CB"/>
          </a:solidFill>
          <a:ln xmlns:a="http://schemas.openxmlformats.org/drawingml/2006/main" w="9525">
            <a:solidFill>
              <a:srgbClr val="E4E7E9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45B5776-640F-4EDC-A797-881145547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229225"/>
            <a:ext cx="914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0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SU-F3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533CE50-79EA-49D4-84A0-CCCD8B4FA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229225"/>
            <a:ext cx="933450" cy="409575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9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9599743-3543-497F-94D1-D4A170229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229225"/>
            <a:ext cx="933450" cy="409575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9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629E4DA-2B50-4A59-B992-C79E2D27E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5229225"/>
            <a:ext cx="933450" cy="409575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9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9BE5919-A98C-4BA3-8B50-AE257E9D5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229225"/>
            <a:ext cx="933450" cy="409575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9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41B8AAF-8830-4627-8AC1-A69E5F881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229225"/>
            <a:ext cx="933450" cy="409575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9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FEAEC95-FBCD-47E8-9B42-B1FFD062D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695950"/>
            <a:ext cx="914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F07D00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07D00"/>
                </a:solidFill>
                <a:latin typeface="Calibri"/>
                <a:ea typeface="Calibri"/>
                <a:cs typeface="Calibri"/>
              </a:rPr>
              <a:t>QUERY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0F8561B-F03A-4BC2-ADB5-BF9462C45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695950"/>
            <a:ext cx="933450" cy="409575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00A2EB"/>
          </a:solidFill>
          <a:ln xmlns:a="http://schemas.openxmlformats.org/drawingml/2006/main" w="9525">
            <a:solidFill>
              <a:srgbClr val="E4E7E9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ACFF75D-911B-45DE-A844-6B0C9A93A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695950"/>
            <a:ext cx="933450" cy="409575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1F40CB"/>
          </a:solidFill>
          <a:ln xmlns:a="http://schemas.openxmlformats.org/drawingml/2006/main" w="9525">
            <a:solidFill>
              <a:srgbClr val="E4E7E9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8684AFD-CEA3-439C-AF9F-B03771740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5695950"/>
            <a:ext cx="933450" cy="409575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1F40CB"/>
          </a:solidFill>
          <a:ln xmlns:a="http://schemas.openxmlformats.org/drawingml/2006/main" w="9525">
            <a:solidFill>
              <a:srgbClr val="E4E7E9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3696013-B6EA-47BA-B246-8E0144A5E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695950"/>
            <a:ext cx="933450" cy="409575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9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B3DB212-0934-4D7A-8663-6FA1C01B5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695950"/>
            <a:ext cx="933450" cy="409575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9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DDE8244-B52D-429F-916B-7785164C2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48325"/>
            <a:ext cx="6000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7D00"/>
          </a:solidFill>
          <a:ln xmlns:a="http://schemas.openxmlformats.org/drawingml/2006/main" w="0">
            <a:solidFill>
              <a:srgbClr val="F07D0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93FA6F2-5856-43FE-9B56-770DE1F7B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241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COSINE RANK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C4191EE-2185-4E8E-A18C-C10197D9C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95600"/>
            <a:ext cx="1066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75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NVDA-F1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9CFD86C-25BF-4301-9F46-477B0BE0C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962275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9"/>
          </a:solidFill>
          <a:ln xmlns:a="http://schemas.openxmlformats.org/drawingml/2006/main" w="0">
            <a:solidFill>
              <a:srgbClr val="E4E7E9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4B34A8F-D8CD-49A6-9E16-15D749EC8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962275"/>
            <a:ext cx="341185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7D00"/>
          </a:solidFill>
          <a:ln xmlns:a="http://schemas.openxmlformats.org/drawingml/2006/main" w="0">
            <a:solidFill>
              <a:srgbClr val="F07D00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F783C1D-0EA1-4703-AF81-3CCB296FD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2895600"/>
            <a:ext cx="72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F07D00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07D00"/>
                </a:solidFill>
                <a:latin typeface="Calibri"/>
                <a:ea typeface="Calibri"/>
                <a:cs typeface="Calibri"/>
              </a:rPr>
              <a:t>0.398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5416078-8928-4D1F-9701-E1181BDE6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448050"/>
            <a:ext cx="1066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75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NVDA-F2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D666B59-3ED1-4024-B24D-A44A8C4DE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514725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9"/>
          </a:solidFill>
          <a:ln xmlns:a="http://schemas.openxmlformats.org/drawingml/2006/main" w="0">
            <a:solidFill>
              <a:srgbClr val="E4E7E9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C973836-43DC-4312-89F4-EE86BADEB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514725"/>
            <a:ext cx="3317558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7D00"/>
          </a:solidFill>
          <a:ln xmlns:a="http://schemas.openxmlformats.org/drawingml/2006/main" w="0">
            <a:solidFill>
              <a:srgbClr val="F07D00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C7CC484-4650-468F-A726-CB0247A4D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3448050"/>
            <a:ext cx="72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F07D00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07D00"/>
                </a:solidFill>
                <a:latin typeface="Calibri"/>
                <a:ea typeface="Calibri"/>
                <a:cs typeface="Calibri"/>
              </a:rPr>
              <a:t>0.387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67CAF2C-9A8F-43C3-BB93-4D2AE2A15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000500"/>
            <a:ext cx="1066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75" b="0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SU-F2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8C0FBBF-A9FF-4FEB-87C6-022A4C335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067175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9"/>
          </a:solidFill>
          <a:ln xmlns:a="http://schemas.openxmlformats.org/drawingml/2006/main" w="0">
            <a:solidFill>
              <a:srgbClr val="E4E7E9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2C3182A-5C24-45CE-A982-A3303B3C1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067175"/>
            <a:ext cx="2014538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A9F"/>
          </a:solidFill>
          <a:ln xmlns:a="http://schemas.openxmlformats.org/drawingml/2006/main" w="0">
            <a:solidFill>
              <a:srgbClr val="9A9A9F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838D7C2-1536-4D9C-BC6F-D5664F072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4000500"/>
            <a:ext cx="72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0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0.235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EE00BE6-7DEA-4139-B4D0-BA1F88D99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552950"/>
            <a:ext cx="1066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75" b="0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NVDA-F3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FB9E0A9-C442-4BE9-BB60-12C8186E9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619625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9"/>
          </a:solidFill>
          <a:ln xmlns:a="http://schemas.openxmlformats.org/drawingml/2006/main" w="0">
            <a:solidFill>
              <a:srgbClr val="E4E7E9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D5E0F98-F8EC-446B-BF4E-490828692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619625"/>
            <a:ext cx="176593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A9F"/>
          </a:solidFill>
          <a:ln xmlns:a="http://schemas.openxmlformats.org/drawingml/2006/main" w="0">
            <a:solidFill>
              <a:srgbClr val="9A9A9F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033D63D-CF20-4371-A599-329B47C50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4552950"/>
            <a:ext cx="72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0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0.206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1588E94-AD87-448F-AABD-C68E235DC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105400"/>
            <a:ext cx="1066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75" b="0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SU-F1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1FA7C15-F49F-4626-803F-01274FCC1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5172075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9"/>
          </a:solidFill>
          <a:ln xmlns:a="http://schemas.openxmlformats.org/drawingml/2006/main" w="0">
            <a:solidFill>
              <a:srgbClr val="E4E7E9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7B5629B-D007-4C5D-A49E-51C085F0A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5172075"/>
            <a:ext cx="106299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A9F"/>
          </a:solidFill>
          <a:ln xmlns:a="http://schemas.openxmlformats.org/drawingml/2006/main" w="0">
            <a:solidFill>
              <a:srgbClr val="9A9A9F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B2868EB-AB1F-4336-8BBE-29AC52060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5105400"/>
            <a:ext cx="72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0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0.124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1F977C9-0D5D-41FF-8C07-C112D8D48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657850"/>
            <a:ext cx="1066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75" b="0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SU-F3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9D4E694-C7C8-4913-8973-8186627BD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5724525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9"/>
          </a:solidFill>
          <a:ln xmlns:a="http://schemas.openxmlformats.org/drawingml/2006/main" w="0">
            <a:solidFill>
              <a:srgbClr val="E4E7E9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DB79D1B-AAB9-473E-9623-881B75747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5724525"/>
            <a:ext cx="54864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A9F"/>
          </a:solidFill>
          <a:ln xmlns:a="http://schemas.openxmlformats.org/drawingml/2006/main" w="0">
            <a:solidFill>
              <a:srgbClr val="9A9A9F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1B0241B-8CC5-40B4-86F2-C46168B02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5657850"/>
            <a:ext cx="72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0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0.064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2B800E6-90ED-4998-849D-6D1333449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F07D00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F07D00"/>
                </a:solidFill>
                <a:latin typeface="Calibri"/>
                <a:ea typeface="Calibri"/>
                <a:cs typeface="Calibri"/>
              </a:rPr>
              <a:t>top-k = 2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82C430B3-83CD-4FAD-9227-9988B36CD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96225"/>
            <a:ext cx="1352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9"/>
          </a:solidFill>
          <a:ln xmlns:a="http://schemas.openxmlformats.org/drawingml/2006/main" w="0">
            <a:solidFill>
              <a:srgbClr val="E4E7E9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918F79C-42E9-484F-9A88-334DF9AE5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96225"/>
            <a:ext cx="800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2EB"/>
          </a:solidFill>
          <a:ln xmlns:a="http://schemas.openxmlformats.org/drawingml/2006/main" w="0">
            <a:solidFill>
              <a:srgbClr val="00A2EB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E3ECFDE-FF1E-4EC0-8408-DBD082065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0581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First Finance - Arnaud Demes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99091F2-E290-4C60-820B-AB7C2FF44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80581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REPRESENTATION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644AB3C2-4687-471A-948C-D0B8B4431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80581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406049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DE8FC8F-0C64-4E71-828A-7884FA511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667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CONTEXT ASSEMBLY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653840-5F70-48EE-9A0D-BA55668F6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3296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Top-k is a trade-off between evidence coverage and noise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448062-16EE-4764-A5C0-81E7E688C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431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RANKED CORPUS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CA189B-F2F0-46C5-A2E7-FA8D2FB82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9560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07D00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07D00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2710CF-0056-4541-81D6-F1ACCB1D9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89560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NVDA-F1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6F9EE9-049E-44CA-B5CD-B39E217E5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895600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75" b="1">
                <a:solidFill>
                  <a:srgbClr val="F07D00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07D00"/>
                </a:solidFill>
                <a:latin typeface="Calibri"/>
                <a:ea typeface="Calibri"/>
                <a:cs typeface="Calibri"/>
              </a:rPr>
              <a:t>0.398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9517AE-B622-4370-841C-B0AEB8575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14700"/>
            <a:ext cx="2990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9"/>
          </a:solidFill>
          <a:ln xmlns:a="http://schemas.openxmlformats.org/drawingml/2006/main" w="0">
            <a:solidFill>
              <a:srgbClr val="E4E7E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95DA59-527C-4754-83E0-431A764E2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4805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07D00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07D00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CD6A12-F7E6-436B-BADB-BBC164138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44805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NVDA-F2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BDD1CB-8EFB-4F0A-AC88-675850FED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448050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75" b="1">
                <a:solidFill>
                  <a:srgbClr val="F07D00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07D00"/>
                </a:solidFill>
                <a:latin typeface="Calibri"/>
                <a:ea typeface="Calibri"/>
                <a:cs typeface="Calibri"/>
              </a:rPr>
              <a:t>0.387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D2052E-0873-4B37-9742-AF0D0EB42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67150"/>
            <a:ext cx="2990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9"/>
          </a:solidFill>
          <a:ln xmlns:a="http://schemas.openxmlformats.org/drawingml/2006/main" w="0">
            <a:solidFill>
              <a:srgbClr val="E4E7E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CEB02E-4745-43DA-B937-F0CC0FF1D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0050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37E3ED-505F-4C8D-A559-2FC15641E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00050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SU-F2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6C16EE-87F7-4812-BE11-F81D36101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000500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75" b="0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0.235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B12986-C1BB-4AE0-8897-B3C13D05B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19600"/>
            <a:ext cx="2990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9"/>
          </a:solidFill>
          <a:ln xmlns:a="http://schemas.openxmlformats.org/drawingml/2006/main" w="0">
            <a:solidFill>
              <a:srgbClr val="E4E7E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71885E-93FB-4058-955D-5EF29C144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5295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97D8F7-7912-43D7-9AD4-6E2510722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55295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NVDA-F3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2D3975-A9FB-413C-B3C3-D310983AB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552950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75" b="0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0.206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8C518B-BDC5-47F4-9971-CFBE2107B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72050"/>
            <a:ext cx="2990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9"/>
          </a:solidFill>
          <a:ln xmlns:a="http://schemas.openxmlformats.org/drawingml/2006/main" w="0">
            <a:solidFill>
              <a:srgbClr val="E4E7E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EA581C-AF5B-4555-A61E-6E4C5DE79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0540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2056DC-DFE2-4688-81CE-FEE062AC5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10540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SU-F1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44D165-EEE9-48EB-9502-6B3A72950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105400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75" b="0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0.124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C19710-29B3-49C1-946D-3C82BF225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24500"/>
            <a:ext cx="2990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9"/>
          </a:solidFill>
          <a:ln xmlns:a="http://schemas.openxmlformats.org/drawingml/2006/main" w="0">
            <a:solidFill>
              <a:srgbClr val="E4E7E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83D257-B9EA-4901-8473-F648662F0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5785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8B1984-1909-41CC-94D4-DA3041D0E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65785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SU-F3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DACE12-ABDD-4744-A1CC-EDA14D521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657850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75" b="0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0.064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EC1051-DB78-4978-87B9-D6CA6D7CA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076950"/>
            <a:ext cx="2990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9"/>
          </a:solidFill>
          <a:ln xmlns:a="http://schemas.openxmlformats.org/drawingml/2006/main" w="0">
            <a:solidFill>
              <a:srgbClr val="E4E7E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AA7535-C840-4127-A41A-AE9946E46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43350"/>
            <a:ext cx="3314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7D00"/>
          </a:solidFill>
          <a:ln xmlns:a="http://schemas.openxmlformats.org/drawingml/2006/main" w="0">
            <a:solidFill>
              <a:srgbClr val="F07D0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1DFC5A-C538-46CF-B2ED-12FA756AB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781425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07D0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F07D00"/>
                </a:solidFill>
                <a:latin typeface="Calibri"/>
                <a:ea typeface="Calibri"/>
                <a:cs typeface="Calibri"/>
              </a:rPr>
              <a:t>TOP-K = 2</a:t>
            </a:r>
          </a:p>
        </p:txBody>
      </p:sp>
      <p:sp>
        <p:nvSpPr>
          <p:cNvPr id="30" name="assembled-prompt">
            <a:extLst xmlns:a="http://schemas.openxmlformats.org/drawingml/2006/main">
              <a:ext uri="{FF2B5EF4-FFF2-40B4-BE49-F238E27FC236}">
                <a16:creationId xmlns:a16="http://schemas.microsoft.com/office/drawing/2014/main" id="{A2A50EF2-4598-49B1-B65B-10E75CE6E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43200"/>
            <a:ext cx="7277100" cy="3562350"/>
          </a:xfrm>
          <a:prstGeom xmlns:a="http://schemas.openxmlformats.org/drawingml/2006/main" prst="roundRect">
            <a:avLst>
              <a:gd name="adj" fmla="val 3209"/>
            </a:avLst>
          </a:prstGeom>
          <a:solidFill xmlns:a="http://schemas.openxmlformats.org/drawingml/2006/main">
            <a:srgbClr val="062433"/>
          </a:solidFill>
          <a:ln xmlns:a="http://schemas.openxmlformats.org/drawingml/2006/main" w="9525">
            <a:solidFill>
              <a:srgbClr val="06243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80A021B-A641-4F54-B69A-D542EDD24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9908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MODEL INPUT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BDF2670-1B7C-4E4F-A00C-6665E102B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695700"/>
            <a:ext cx="1600200" cy="70485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051C2A"/>
          </a:solidFill>
          <a:ln xmlns:a="http://schemas.openxmlformats.org/drawingml/2006/main" w="9525">
            <a:solidFill>
              <a:srgbClr val="051C2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28F5803-DE4D-4635-A799-E3DB9CE7E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781425"/>
            <a:ext cx="1409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Instructions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919DE5E-5814-4C46-BE37-DEB5ADDD3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695700"/>
            <a:ext cx="2000250" cy="70485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1F40CB"/>
          </a:solidFill>
          <a:ln xmlns:a="http://schemas.openxmlformats.org/drawingml/2006/main" w="9525">
            <a:solidFill>
              <a:srgbClr val="1F40C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8DB9E09-8A29-44B5-8D76-497D188E3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781425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NVDA-F1 · total revenue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F59F87C-3C9D-470B-9C0F-897C6E8A7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695700"/>
            <a:ext cx="2076450" cy="70485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00A2EB"/>
          </a:solidFill>
          <a:ln xmlns:a="http://schemas.openxmlformats.org/drawingml/2006/main" w="9525">
            <a:solidFill>
              <a:srgbClr val="00A2E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12F3D35-0528-4EB5-8FBB-8AB47BF6A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781425"/>
            <a:ext cx="1885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NVDA-F2 · Data Center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C743B51-7EB0-45F8-894F-6F966D535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5400" y="3695700"/>
            <a:ext cx="1123950" cy="70485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07D00"/>
          </a:solidFill>
          <a:ln xmlns:a="http://schemas.openxmlformats.org/drawingml/2006/main" w="9525">
            <a:solidFill>
              <a:srgbClr val="F07D0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3928198-65FF-4E9A-96A2-9D8D6FEC0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0650" y="3781425"/>
            <a:ext cx="933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Question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810734C-F244-4B76-8B75-3BB6811BA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953000"/>
            <a:ext cx="638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Company · period · section · source URL · stable passage ID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47AA135-256D-4BDF-B8EE-924D2F9E9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562600"/>
            <a:ext cx="638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Only selected evidence consumes the generation context.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8B8D3EC-F081-41C0-A3C1-56ADA1A9A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6819900"/>
            <a:ext cx="819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k=1 misses total context · k=4 admits extra cross-company evidence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51A283A-281A-4FC4-91CB-3D3147476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96225"/>
            <a:ext cx="1352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9"/>
          </a:solidFill>
          <a:ln xmlns:a="http://schemas.openxmlformats.org/drawingml/2006/main" w="0">
            <a:solidFill>
              <a:srgbClr val="E4E7E9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F1B5548-0019-456A-9D38-F9990FDE2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96225"/>
            <a:ext cx="800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2EB"/>
          </a:solidFill>
          <a:ln xmlns:a="http://schemas.openxmlformats.org/drawingml/2006/main" w="0">
            <a:solidFill>
              <a:srgbClr val="00A2EB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4700EAF-8EC0-4AF6-AE0E-6E72803BE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0581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First Finance - Arnaud Demes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CC938AD-74C3-4AB8-BC11-CC71FB5E5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80581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SELECTION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8427DF2-F296-4A70-886B-471135759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80581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36384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670E94-0D05-4A89-A3D0-FF51C0CF5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667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VERIFICATION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DC2E0B-F26C-4DAE-8979-A960B441A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3296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Retrieval and generation can fail independently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989D37-2C06-4379-995B-E34E5E735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609850"/>
            <a:ext cx="28575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9"/>
          </a:solidFill>
          <a:ln xmlns:a="http://schemas.openxmlformats.org/drawingml/2006/main" w="0">
            <a:solidFill>
              <a:srgbClr val="E4E7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6EEAC2-7FC9-4CCB-B8CF-C877B8430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0035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33FE38-451A-4340-9BE5-B242713AB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7813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RETRIEVAL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A19500-37AE-448A-A755-6281CC104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3528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3F3F42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3F3F42"/>
                </a:solidFill>
                <a:latin typeface="Calibri"/>
                <a:ea typeface="Calibri"/>
                <a:cs typeface="Calibri"/>
              </a:rPr>
              <a:t>Did the expected passages enter the prompt?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2B1B01-164C-4DCC-8899-93B6A8E61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95750"/>
            <a:ext cx="4114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Recall = 100%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NVDA-F1 + NVDA-F2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4A750E-0856-4EF2-8E64-A798D41CA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0035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7A09F7-A345-4D6A-80D0-738294D88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7813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GROUNDING CHECK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C701BD-BBDE-4D10-889D-EF03AF92C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3528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3F3F42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3F3F42"/>
                </a:solidFill>
                <a:latin typeface="Calibri"/>
                <a:ea typeface="Calibri"/>
                <a:cs typeface="Calibri"/>
              </a:rPr>
              <a:t>Did the answer use and cite retrieved evidence?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50E4FA-9E0B-486D-900E-4E90CC1DD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95750"/>
            <a:ext cx="4686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5 / 5 visible checks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metrics · citations · limitation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C59941-A9CB-4435-A7AC-DA1EE9B61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810250"/>
            <a:ext cx="10477500" cy="10668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FFF1E5"/>
          </a:solidFill>
          <a:ln xmlns:a="http://schemas.openxmlformats.org/drawingml/2006/main" w="19050">
            <a:solidFill>
              <a:srgbClr val="F07D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F511FB-26BD-4184-8FA1-91AE175A8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98170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07D00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07D00"/>
                </a:solidFill>
                <a:latin typeface="Calibri"/>
                <a:ea typeface="Calibri"/>
                <a:cs typeface="Calibri"/>
              </a:rPr>
              <a:t>FAILURE LAB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034F68-4986-48AE-B7A5-12CE4925D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6286500"/>
            <a:ext cx="9886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Semantic intent, zero lexical overlap → NVDA-F2 loses top-1 before any model call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DC62F5-084F-4562-B33C-49367D15A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96225"/>
            <a:ext cx="1352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9"/>
          </a:solidFill>
          <a:ln xmlns:a="http://schemas.openxmlformats.org/drawingml/2006/main" w="0">
            <a:solidFill>
              <a:srgbClr val="E4E7E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F3F72B-1997-4812-9E44-ED9DFEAD7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96225"/>
            <a:ext cx="800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2EB"/>
          </a:solidFill>
          <a:ln xmlns:a="http://schemas.openxmlformats.org/drawingml/2006/main" w="0">
            <a:solidFill>
              <a:srgbClr val="00A2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C2704C-F1B9-4CBB-A365-73DD4D42C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0581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First Finance - Arnaud Demes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581549-9DC0-413A-9FDD-93CC68CB3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80581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VERIFICATION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2FBF07-296E-4F76-868F-E592B8553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80581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86936983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BBA638A-B023-4BF2-A056-FFB46E5BA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667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LEARNING BOUNDARY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26082D-5F6B-44CE-BFA3-52DF64E5D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3296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869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This baseline works; the next lessons improve every naive assumption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2F8D90-766A-401D-8315-700D1EEED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574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NAIVE RAG TODAY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9324B0-0732-4DBB-90EB-4582F8B3A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45745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MEASURED UPGRADE</a:t>
            </a:r>
          </a:p>
        </p:txBody>
      </p:sp>
      <p:sp>
        <p:nvSpPr>
          <p:cNvPr id="5" name="baseline-0">
            <a:extLst xmlns:a="http://schemas.openxmlformats.org/drawingml/2006/main">
              <a:ext uri="{FF2B5EF4-FFF2-40B4-BE49-F238E27FC236}">
                <a16:creationId xmlns:a16="http://schemas.microsoft.com/office/drawing/2014/main" id="{895F5137-84FF-4C90-B0FC-E268B9785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28950"/>
            <a:ext cx="36766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51C2A"/>
            </a:solidFill>
            <a:prstDash val="solid"/>
          </a:ln>
        </p:spPr>
      </p:sp>
      <p:sp>
        <p:nvSpPr>
          <p:cNvPr id="6" name="upgrade-0">
            <a:extLst xmlns:a="http://schemas.openxmlformats.org/drawingml/2006/main">
              <a:ext uri="{FF2B5EF4-FFF2-40B4-BE49-F238E27FC236}">
                <a16:creationId xmlns:a16="http://schemas.microsoft.com/office/drawing/2014/main" id="{EC401402-7804-4B6E-AA08-15B2D7364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028950"/>
            <a:ext cx="52959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8F6FB"/>
          </a:solidFill>
          <a:ln xmlns:a="http://schemas.openxmlformats.org/drawingml/2006/main" w="9525">
            <a:solidFill>
              <a:srgbClr val="00A2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03ACAB-8B60-48AF-AD8F-0A08D52BE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124200"/>
            <a:ext cx="3219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Prepared passages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534791-42C6-47AB-B32C-A0C8CB2D4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124200"/>
            <a:ext cx="4800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Parsing + document structure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5339A0-7576-4398-BA6B-D67D88023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2050" y="3124200"/>
            <a:ext cx="165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F07D00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07D00"/>
                </a:solidFill>
                <a:latin typeface="Calibri"/>
                <a:ea typeface="Calibri"/>
                <a:cs typeface="Calibri"/>
              </a:rPr>
              <a:t>LESSON 05</a:t>
            </a:r>
          </a:p>
        </p:txBody>
      </p:sp>
      <p:cxnSp>
        <p:nvCxnSpPr>
          <p:cNvPr id="184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743450" y="3352800"/>
            <a:ext cx="20764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07D00"/>
            </a:solidFill>
            <a:prstDash val="solid"/>
            <a:tailEnd type="triangle" w="med" len="med"/>
          </a:ln>
        </p:spPr>
      </p:cxnSp>
      <p:sp>
        <p:nvSpPr>
          <p:cNvPr id="11" name="baseline-1">
            <a:extLst xmlns:a="http://schemas.openxmlformats.org/drawingml/2006/main">
              <a:ext uri="{FF2B5EF4-FFF2-40B4-BE49-F238E27FC236}">
                <a16:creationId xmlns:a16="http://schemas.microsoft.com/office/drawing/2014/main" id="{FF886E1F-3898-4E08-8418-C80F953AD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19550"/>
            <a:ext cx="36766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51C2A"/>
            </a:solidFill>
            <a:prstDash val="solid"/>
          </a:ln>
        </p:spPr>
      </p:sp>
      <p:sp>
        <p:nvSpPr>
          <p:cNvPr id="12" name="upgrade-1">
            <a:extLst xmlns:a="http://schemas.openxmlformats.org/drawingml/2006/main">
              <a:ext uri="{FF2B5EF4-FFF2-40B4-BE49-F238E27FC236}">
                <a16:creationId xmlns:a16="http://schemas.microsoft.com/office/drawing/2014/main" id="{ADBC21E3-9B21-4893-9500-82AD73D2F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019550"/>
            <a:ext cx="52959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8F6FB"/>
          </a:solidFill>
          <a:ln xmlns:a="http://schemas.openxmlformats.org/drawingml/2006/main" w="9525">
            <a:solidFill>
              <a:srgbClr val="00A2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43FD38-F2A7-4C07-A988-14027B32A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14800"/>
            <a:ext cx="3219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Naive boundaries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673EB9-2816-4CAA-81C9-173A86F9D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114800"/>
            <a:ext cx="4800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Chunking strategies + metadata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8F06B1-B55F-4E2B-81F4-9AAD09966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2050" y="4114800"/>
            <a:ext cx="165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F07D00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07D00"/>
                </a:solidFill>
                <a:latin typeface="Calibri"/>
                <a:ea typeface="Calibri"/>
                <a:cs typeface="Calibri"/>
              </a:rPr>
              <a:t>LESSON 05</a:t>
            </a:r>
          </a:p>
        </p:txBody>
      </p:sp>
      <p:cxnSp>
        <p:nvCxnSpPr>
          <p:cNvPr id="190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743450" y="4343400"/>
            <a:ext cx="20764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07D00"/>
            </a:solidFill>
            <a:prstDash val="solid"/>
            <a:tailEnd type="triangle" w="med" len="med"/>
          </a:ln>
        </p:spPr>
      </p:cxnSp>
      <p:sp>
        <p:nvSpPr>
          <p:cNvPr id="17" name="baseline-2">
            <a:extLst xmlns:a="http://schemas.openxmlformats.org/drawingml/2006/main">
              <a:ext uri="{FF2B5EF4-FFF2-40B4-BE49-F238E27FC236}">
                <a16:creationId xmlns:a16="http://schemas.microsoft.com/office/drawing/2014/main" id="{85362029-8430-4FAE-9E34-54FE5D069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36766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51C2A"/>
            </a:solidFill>
            <a:prstDash val="solid"/>
          </a:ln>
        </p:spPr>
      </p:sp>
      <p:sp>
        <p:nvSpPr>
          <p:cNvPr id="18" name="upgrade-2">
            <a:extLst xmlns:a="http://schemas.openxmlformats.org/drawingml/2006/main">
              <a:ext uri="{FF2B5EF4-FFF2-40B4-BE49-F238E27FC236}">
                <a16:creationId xmlns:a16="http://schemas.microsoft.com/office/drawing/2014/main" id="{1662781E-A5EE-4A3D-B555-4488AE39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010150"/>
            <a:ext cx="52959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8F6FB"/>
          </a:solidFill>
          <a:ln xmlns:a="http://schemas.openxmlformats.org/drawingml/2006/main" w="9525">
            <a:solidFill>
              <a:srgbClr val="00A2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E51189-1AA4-4AE6-BBCD-306179072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05400"/>
            <a:ext cx="3219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Lexical TF-IDF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8F1E49-4DFF-4C59-BA1E-73DF3D302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105400"/>
            <a:ext cx="4800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Embeddings + hybrid retrieval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EEDA3A-263E-4D4D-8F38-B32768AD5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2050" y="5105400"/>
            <a:ext cx="165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F07D00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07D00"/>
                </a:solidFill>
                <a:latin typeface="Calibri"/>
                <a:ea typeface="Calibri"/>
                <a:cs typeface="Calibri"/>
              </a:rPr>
              <a:t>LESSON 06</a:t>
            </a:r>
          </a:p>
        </p:txBody>
      </p:sp>
      <p:cxnSp>
        <p:nvCxnSpPr>
          <p:cNvPr id="196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4743450" y="5334000"/>
            <a:ext cx="20764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07D00"/>
            </a:solidFill>
            <a:prstDash val="solid"/>
            <a:tailEnd type="triangle" w="med" len="med"/>
          </a:ln>
        </p:spPr>
      </p:cxnSp>
      <p:sp>
        <p:nvSpPr>
          <p:cNvPr id="23" name="baseline-3">
            <a:extLst xmlns:a="http://schemas.openxmlformats.org/drawingml/2006/main">
              <a:ext uri="{FF2B5EF4-FFF2-40B4-BE49-F238E27FC236}">
                <a16:creationId xmlns:a16="http://schemas.microsoft.com/office/drawing/2014/main" id="{C2B9D0AA-CB2B-457E-824C-B0D9010F4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000750"/>
            <a:ext cx="36766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51C2A"/>
            </a:solidFill>
            <a:prstDash val="solid"/>
          </a:ln>
        </p:spPr>
      </p:sp>
      <p:sp>
        <p:nvSpPr>
          <p:cNvPr id="24" name="upgrade-3">
            <a:extLst xmlns:a="http://schemas.openxmlformats.org/drawingml/2006/main">
              <a:ext uri="{FF2B5EF4-FFF2-40B4-BE49-F238E27FC236}">
                <a16:creationId xmlns:a16="http://schemas.microsoft.com/office/drawing/2014/main" id="{09A13213-E15B-4285-8E7E-251623924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6000750"/>
            <a:ext cx="52959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8F6FB"/>
          </a:solidFill>
          <a:ln xmlns:a="http://schemas.openxmlformats.org/drawingml/2006/main" w="9525">
            <a:solidFill>
              <a:srgbClr val="00A2E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BB5BB3-021D-4EDB-9006-82FF02174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096000"/>
            <a:ext cx="3219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Simple top-k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1A16E0-414D-4D5A-83D2-16AB91296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6096000"/>
            <a:ext cx="4800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Filtering + reranking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4672AE-E0C8-42B5-9574-9A5B37DAD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2050" y="6096000"/>
            <a:ext cx="165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F07D00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07D00"/>
                </a:solidFill>
                <a:latin typeface="Calibri"/>
                <a:ea typeface="Calibri"/>
                <a:cs typeface="Calibri"/>
              </a:rPr>
              <a:t>LESSON 06</a:t>
            </a:r>
          </a:p>
        </p:txBody>
      </p:sp>
      <p:cxnSp>
        <p:nvCxnSpPr>
          <p:cNvPr id="202" name=""/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4743450" y="6324600"/>
            <a:ext cx="20764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07D00"/>
            </a:solidFill>
            <a:prstDash val="solid"/>
            <a:tailEnd type="triangle" w="med" len="med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ED344CF-2838-4D77-B556-8BE61F323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7181850"/>
            <a:ext cx="11582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Next question: who created the passages, and what financial structure was lost?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93E902-753B-4BDF-90B6-C4200D829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96225"/>
            <a:ext cx="1352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9"/>
          </a:solidFill>
          <a:ln xmlns:a="http://schemas.openxmlformats.org/drawingml/2006/main" w="0">
            <a:solidFill>
              <a:srgbClr val="E4E7E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1FE5C7E-9B67-4886-97A2-606078E50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96225"/>
            <a:ext cx="800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2EB"/>
          </a:solidFill>
          <a:ln xmlns:a="http://schemas.openxmlformats.org/drawingml/2006/main" w="0">
            <a:solidFill>
              <a:srgbClr val="00A2E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7AA2C3B-1E5B-4407-99C5-1FC9CCCB7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0581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First Finance - Arnaud Demes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01533B1-3267-4BE8-92CA-5FD9F71EC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80581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ROADMAP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C8CC1D8-7EF0-44CE-80F8-C9E826329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80581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79990021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70DB6A-E971-4614-803B-AE8F3E121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81050"/>
            <a:ext cx="1257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2EB"/>
          </a:solidFill>
          <a:ln xmlns:a="http://schemas.openxmlformats.org/drawingml/2006/main" w="0">
            <a:solidFill>
              <a:srgbClr val="00A2E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0EE95B-C324-413A-BA74-C1EEA52FB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0668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FIRST FINANCE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418454-19E5-44D8-810D-686826F2E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38400"/>
            <a:ext cx="1329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8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48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Quick quiz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902B13-440D-4A59-9D11-3DBE46D45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00450"/>
            <a:ext cx="1123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3F3F42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3F3F42"/>
                </a:solidFill>
                <a:latin typeface="Calibri"/>
                <a:ea typeface="Calibri"/>
                <a:cs typeface="Calibri"/>
              </a:rPr>
              <a:t>Choose one answer for each question.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7E8F12-0F33-44B5-939E-A27B15B6D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7700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LESSON 04  ·  3 QUESTIONS  ·  3 MINUTES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78144A-C3F6-47D1-BCD1-8642B9929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0675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First Finance - Arnaud Demes</a:t>
            </a:r>
          </a:p>
        </p:txBody>
      </p:sp>
      <p:sp>
        <p:nvSpPr>
          <p:cNvPr id="8" name="quiz-question-1">
            <a:extLst xmlns:a="http://schemas.openxmlformats.org/drawingml/2006/main">
              <a:ext uri="{FF2B5EF4-FFF2-40B4-BE49-F238E27FC236}">
                <a16:creationId xmlns:a16="http://schemas.microsoft.com/office/drawing/2014/main" id="{575E9FD0-4ECE-4CD9-9CD2-B517CBB26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00550"/>
            <a:ext cx="1329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1B2E"/>
                </a:solidFill>
              </a:defRPr>
            </a:pPr>
            <a:r>
              <a:rPr sz="1500" b="1">
                <a:solidFill>
                  <a:srgbClr val="001B2E"/>
                </a:solidFill>
              </a:rPr>
              <a:t>1. What happens before generation in RAG?</a:t>
            </a:r>
          </a:p>
        </p:txBody>
      </p:sp>
      <p:sp>
        <p:nvSpPr>
          <p:cNvPr id="9" name="quiz-options-1">
            <a:extLst xmlns:a="http://schemas.openxmlformats.org/drawingml/2006/main">
              <a:ext uri="{FF2B5EF4-FFF2-40B4-BE49-F238E27FC236}">
                <a16:creationId xmlns:a16="http://schemas.microsoft.com/office/drawing/2014/main" id="{99FC2B8A-9D17-4E41-8099-AA8BA36F1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705350"/>
            <a:ext cx="1301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A  Retrieval     |     B  Fine-tuning     |     C  Deployment</a:t>
            </a:r>
          </a:p>
        </p:txBody>
      </p:sp>
      <p:sp>
        <p:nvSpPr>
          <p:cNvPr id="10" name="quiz-question-2">
            <a:extLst xmlns:a="http://schemas.openxmlformats.org/drawingml/2006/main">
              <a:ext uri="{FF2B5EF4-FFF2-40B4-BE49-F238E27FC236}">
                <a16:creationId xmlns:a16="http://schemas.microsoft.com/office/drawing/2014/main" id="{2C29576F-5730-4B03-A864-5FD3CA55E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86350"/>
            <a:ext cx="1329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1B2E"/>
                </a:solidFill>
              </a:defRPr>
            </a:pPr>
            <a:r>
              <a:rPr sz="1500" b="1">
                <a:solidFill>
                  <a:srgbClr val="001B2E"/>
                </a:solidFill>
              </a:rPr>
              <a:t>2. What is the main risk of a top-k that is too small?</a:t>
            </a:r>
          </a:p>
        </p:txBody>
      </p:sp>
      <p:sp>
        <p:nvSpPr>
          <p:cNvPr id="11" name="quiz-options-2">
            <a:extLst xmlns:a="http://schemas.openxmlformats.org/drawingml/2006/main">
              <a:ext uri="{FF2B5EF4-FFF2-40B4-BE49-F238E27FC236}">
                <a16:creationId xmlns:a16="http://schemas.microsoft.com/office/drawing/2014/main" id="{27D1E1CD-1C76-45B4-9A8B-942E155B5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391150"/>
            <a:ext cx="1301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A  Missing evidence     |     B  More noise     |     C  Larger files</a:t>
            </a:r>
          </a:p>
        </p:txBody>
      </p:sp>
      <p:sp>
        <p:nvSpPr>
          <p:cNvPr id="12" name="quiz-question-3">
            <a:extLst xmlns:a="http://schemas.openxmlformats.org/drawingml/2006/main">
              <a:ext uri="{FF2B5EF4-FFF2-40B4-BE49-F238E27FC236}">
                <a16:creationId xmlns:a16="http://schemas.microsoft.com/office/drawing/2014/main" id="{79B47D28-C2DD-4A2C-A849-83EC3079E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772150"/>
            <a:ext cx="1329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1B2E"/>
                </a:solidFill>
              </a:defRPr>
            </a:pPr>
            <a:r>
              <a:rPr sz="1500" b="1">
                <a:solidFill>
                  <a:srgbClr val="001B2E"/>
                </a:solidFill>
              </a:rPr>
              <a:t>3. Why is the first paragraph split called naive?</a:t>
            </a:r>
          </a:p>
        </p:txBody>
      </p:sp>
      <p:sp>
        <p:nvSpPr>
          <p:cNvPr id="13" name="quiz-options-3">
            <a:extLst xmlns:a="http://schemas.openxmlformats.org/drawingml/2006/main">
              <a:ext uri="{FF2B5EF4-FFF2-40B4-BE49-F238E27FC236}">
                <a16:creationId xmlns:a16="http://schemas.microsoft.com/office/drawing/2014/main" id="{F39BDFFA-9633-4F2E-831B-7A1B2D4FF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6076950"/>
            <a:ext cx="1301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A  It ignores structure     |     B  It uses citations     |     C  It ranks passages</a:t>
            </a:r>
          </a:p>
        </p:txBody>
      </p:sp>
    </p:spTree>
    <p:extLst>
      <p:ext uri="{BB962C8B-B14F-4D97-AF65-F5344CB8AC3E}">
        <p14:creationId xmlns:p14="http://schemas.microsoft.com/office/powerpoint/2010/main" val="162365035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70DB6A-E971-4614-803B-AE8F3E121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81050"/>
            <a:ext cx="1257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2EB"/>
          </a:solidFill>
          <a:ln xmlns:a="http://schemas.openxmlformats.org/drawingml/2006/main" w="0">
            <a:solidFill>
              <a:srgbClr val="00A2E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0EE95B-C324-413A-BA74-C1EEA52FB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0668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FIRST FINANCE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418454-19E5-44D8-810D-686826F2E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38400"/>
            <a:ext cx="1329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8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48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Answers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902B13-440D-4A59-9D11-3DBE46D45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00450"/>
            <a:ext cx="1123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3F3F42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3F3F42"/>
                </a:solidFill>
                <a:latin typeface="Calibri"/>
                <a:ea typeface="Calibri"/>
                <a:cs typeface="Calibri"/>
              </a:rPr>
              <a:t>Check the idea, not only the letter.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7E8F12-0F33-44B5-939E-A27B15B6D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7700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LESSON 04  ·  CORRECTION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78144A-C3F6-47D1-BCD1-8642B9929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0675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First Finance - Arnaud Demes</a:t>
            </a:r>
          </a:p>
        </p:txBody>
      </p:sp>
      <p:sp>
        <p:nvSpPr>
          <p:cNvPr id="8" name="quiz-answer-1">
            <a:extLst xmlns:a="http://schemas.openxmlformats.org/drawingml/2006/main">
              <a:ext uri="{FF2B5EF4-FFF2-40B4-BE49-F238E27FC236}">
                <a16:creationId xmlns:a16="http://schemas.microsoft.com/office/drawing/2014/main" id="{350D7802-BD6B-4E7B-911D-A8A2C7A3F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00550"/>
            <a:ext cx="1329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40CB"/>
                </a:solidFill>
              </a:defRPr>
            </a:pPr>
            <a:r>
              <a:rPr sz="1500" b="1">
                <a:solidFill>
                  <a:srgbClr val="1F40CB"/>
                </a:solidFill>
              </a:rPr>
              <a:t>1. A. Retrieval</a:t>
            </a:r>
          </a:p>
        </p:txBody>
      </p:sp>
      <p:sp>
        <p:nvSpPr>
          <p:cNvPr id="9" name="quiz-explanation-1">
            <a:extLst xmlns:a="http://schemas.openxmlformats.org/drawingml/2006/main">
              <a:ext uri="{FF2B5EF4-FFF2-40B4-BE49-F238E27FC236}">
                <a16:creationId xmlns:a16="http://schemas.microsoft.com/office/drawing/2014/main" id="{66B9B85D-986B-4A51-8ACB-5A6AF10D3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705350"/>
            <a:ext cx="1301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The model receives selected passages rather than the whole corpus.</a:t>
            </a:r>
          </a:p>
        </p:txBody>
      </p:sp>
      <p:sp>
        <p:nvSpPr>
          <p:cNvPr id="10" name="quiz-answer-2">
            <a:extLst xmlns:a="http://schemas.openxmlformats.org/drawingml/2006/main">
              <a:ext uri="{FF2B5EF4-FFF2-40B4-BE49-F238E27FC236}">
                <a16:creationId xmlns:a16="http://schemas.microsoft.com/office/drawing/2014/main" id="{6B44627A-7EDC-4A85-ADAD-B3C0057CF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86350"/>
            <a:ext cx="1329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40CB"/>
                </a:solidFill>
              </a:defRPr>
            </a:pPr>
            <a:r>
              <a:rPr sz="1500" b="1">
                <a:solidFill>
                  <a:srgbClr val="1F40CB"/>
                </a:solidFill>
              </a:rPr>
              <a:t>2. A. Missing evidence</a:t>
            </a:r>
          </a:p>
        </p:txBody>
      </p:sp>
      <p:sp>
        <p:nvSpPr>
          <p:cNvPr id="11" name="quiz-explanation-2">
            <a:extLst xmlns:a="http://schemas.openxmlformats.org/drawingml/2006/main">
              <a:ext uri="{FF2B5EF4-FFF2-40B4-BE49-F238E27FC236}">
                <a16:creationId xmlns:a16="http://schemas.microsoft.com/office/drawing/2014/main" id="{CEAED3E5-53D0-4DCE-8FDD-ED16FEB4C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391150"/>
            <a:ext cx="1301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Too few passages can remove a fact needed for the comparison.</a:t>
            </a:r>
          </a:p>
        </p:txBody>
      </p:sp>
      <p:sp>
        <p:nvSpPr>
          <p:cNvPr id="12" name="quiz-answer-3">
            <a:extLst xmlns:a="http://schemas.openxmlformats.org/drawingml/2006/main">
              <a:ext uri="{FF2B5EF4-FFF2-40B4-BE49-F238E27FC236}">
                <a16:creationId xmlns:a16="http://schemas.microsoft.com/office/drawing/2014/main" id="{D6719D62-4B24-48D4-B3AD-DE61F102B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772150"/>
            <a:ext cx="1329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40CB"/>
                </a:solidFill>
              </a:defRPr>
            </a:pPr>
            <a:r>
              <a:rPr sz="1500" b="1">
                <a:solidFill>
                  <a:srgbClr val="1F40CB"/>
                </a:solidFill>
              </a:rPr>
              <a:t>3. A. It ignores structure</a:t>
            </a:r>
          </a:p>
        </p:txBody>
      </p:sp>
      <p:sp>
        <p:nvSpPr>
          <p:cNvPr id="13" name="quiz-explanation-3">
            <a:extLst xmlns:a="http://schemas.openxmlformats.org/drawingml/2006/main">
              <a:ext uri="{FF2B5EF4-FFF2-40B4-BE49-F238E27FC236}">
                <a16:creationId xmlns:a16="http://schemas.microsoft.com/office/drawing/2014/main" id="{86F44B3F-C2B9-4375-8C1B-B3777C751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6076950"/>
            <a:ext cx="1301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Blank-line splitting does not understand headings, tables or hierarchy.</a:t>
            </a:r>
          </a:p>
        </p:txBody>
      </p:sp>
    </p:spTree>
    <p:extLst>
      <p:ext uri="{BB962C8B-B14F-4D97-AF65-F5344CB8AC3E}">
        <p14:creationId xmlns:p14="http://schemas.microsoft.com/office/powerpoint/2010/main" val="16236503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2026-08-24T19:24:32.1350000Z</dcterms:created>
  <dcterms:modified xsi:type="dcterms:W3CDTF">2026-08-24T19:24:32.1350000Z</dcterms:modified>
</coreProperties>
</file>