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e6f209a63cb42f8" /><Relationship Type="http://schemas.openxmlformats.org/officeDocument/2006/relationships/extended-properties" Target="/docProps/app.xml" Id="Raa18e03f41a940d4" /><Relationship Type="http://schemas.openxmlformats.org/officeDocument/2006/relationships/officeDocument" Target="/ppt/presentation.xml" Id="R3953f8570e1947a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3bd745b18e141fd"/>
  </p:sldMasterIdLst>
  <p:notesMasterIdLst>
    <p:notesMasterId xmlns:r="http://schemas.openxmlformats.org/officeDocument/2006/relationships" r:id="R791cbe43d5a4486c"/>
  </p:notesMasterIdLst>
  <p:sldIdLst>
    <p:sldId xmlns:r="http://schemas.openxmlformats.org/officeDocument/2006/relationships" id="256" r:id="R71a77bda6f26463c"/>
    <p:sldId xmlns:r="http://schemas.openxmlformats.org/officeDocument/2006/relationships" id="257" r:id="R7b9ba3a1e896475e"/>
    <p:sldId xmlns:r="http://schemas.openxmlformats.org/officeDocument/2006/relationships" id="258" r:id="R423ac0eff0c446c9"/>
    <p:sldId xmlns:r="http://schemas.openxmlformats.org/officeDocument/2006/relationships" id="259" r:id="R57456d22027e4904"/>
    <p:sldId xmlns:r="http://schemas.openxmlformats.org/officeDocument/2006/relationships" id="260" r:id="R2043c06fdcb04632"/>
    <p:sldId xmlns:r="http://schemas.openxmlformats.org/officeDocument/2006/relationships" id="261" r:id="R4231f044fee54a69"/>
    <p:sldId xmlns:r="http://schemas.openxmlformats.org/officeDocument/2006/relationships" id="262" r:id="R306eb48e93c247e6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2ee5a5cf3a04ab7" /><Relationship Type="http://schemas.openxmlformats.org/officeDocument/2006/relationships/slideMaster" Target="/ppt/slideMasters/slideMaster1.xml" Id="R93bd745b18e141fd" /><Relationship Type="http://schemas.openxmlformats.org/officeDocument/2006/relationships/notesMaster" Target="/ppt/notesMasters/notesMaster1.xml" Id="R791cbe43d5a4486c" /><Relationship Type="http://schemas.openxmlformats.org/officeDocument/2006/relationships/presProps" Target="/ppt/presProps.xml" Id="R36e2dbbb4f234b6c" /><Relationship Type="http://schemas.openxmlformats.org/officeDocument/2006/relationships/tableStyles" Target="/ppt/tableStyles.xml" Id="Rc0d5ac3cfa6c4390" /><Relationship Type="http://schemas.openxmlformats.org/officeDocument/2006/relationships/slide" Target="/ppt/slides/slide1.xml" Id="R71a77bda6f26463c" /><Relationship Type="http://schemas.openxmlformats.org/officeDocument/2006/relationships/slide" Target="/ppt/slides/slide2.xml" Id="R7b9ba3a1e896475e" /><Relationship Type="http://schemas.openxmlformats.org/officeDocument/2006/relationships/slide" Target="/ppt/slides/slide3.xml" Id="R423ac0eff0c446c9" /><Relationship Type="http://schemas.openxmlformats.org/officeDocument/2006/relationships/slide" Target="/ppt/slides/slide4.xml" Id="R57456d22027e4904" /><Relationship Type="http://schemas.openxmlformats.org/officeDocument/2006/relationships/slide" Target="/ppt/slides/slide5.xml" Id="R2043c06fdcb04632" /><Relationship Type="http://schemas.openxmlformats.org/officeDocument/2006/relationships/slide" Target="/ppt/slides/slide6.xml" Id="R4231f044fee54a69" /><Relationship Type="http://schemas.openxmlformats.org/officeDocument/2006/relationships/slide" Target="/ppt/slides/slide7.xml" Id="R306eb48e93c247e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a1af42e42f14cd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188640f86504ec6" /><Relationship Type="http://schemas.openxmlformats.org/officeDocument/2006/relationships/notesMaster" Target="/ppt/notesMasters/notesMaster1.xml" Id="R0a52b5c94a4d4d8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77e00946d784fe3" /><Relationship Type="http://schemas.openxmlformats.org/officeDocument/2006/relationships/notesMaster" Target="/ppt/notesMasters/notesMaster1.xml" Id="R98d5c2f3256048d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9858c87b3d348d4" /><Relationship Type="http://schemas.openxmlformats.org/officeDocument/2006/relationships/notesMaster" Target="/ppt/notesMasters/notesMaster1.xml" Id="Rc081b21d46fc43a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5bf533b36a34e47" /><Relationship Type="http://schemas.openxmlformats.org/officeDocument/2006/relationships/notesMaster" Target="/ppt/notesMasters/notesMaster1.xml" Id="Rda9a4b9425ee48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ce9eda33dfe4b65" /><Relationship Type="http://schemas.openxmlformats.org/officeDocument/2006/relationships/notesMaster" Target="/ppt/notesMasters/notesMaster1.xml" Id="R428a7c7ddeaf45b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e50b26926d54de3" /><Relationship Type="http://schemas.openxmlformats.org/officeDocument/2006/relationships/notesMaster" Target="/ppt/notesMasters/notesMaster1.xml" Id="R3c5a0638a4f643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96c45331ea3489b" /><Relationship Type="http://schemas.openxmlformats.org/officeDocument/2006/relationships/notesMaster" Target="/ppt/notesMasters/notesMaster1.xml" Id="R074384f094434a7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Introduce a transparent RAG baseline before raw-document complexity. Every decision remains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https://www.se.com/ww/en/assets/564/document/528237/release-fy-results-2025.pdf?p_File_Name=2025+FY+Results&amp;p_enDocType=Financial+release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application, not the model, selects evidence. Only the top-k passages enter the generation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- https://scikit-learn.org/stable/modules/generated/sklearn.metrics.pairwise.cosine_similarity.html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Hold the question fixed. No context exposes missing evidence; full context exposes all six passages; naive RAG uses a blank-line split, lexical rank and top-k selection.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Read the teaching heatmap and cosine rank together. Similarity is a lexical signal, not probability or financial confidence.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- https://scikit-learn.org/stable/modules/generated/sklearn.metrics.pairwise.cosine_similarity.html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Top-k trades evidence coverage against noise, token use and cross-company leakage. Keep stable IDs and URLs in selected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https://arxiv.org/abs/2005.11401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https://www.se.com/ww/en/assets/564/document/528237/release-fy-results-2025.pdf?p_File_Name=2025+FY+Results&amp;p_enDocType=Financial+release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Separate retrieval recall from answer grounding. The semantic failure occurs before any model call.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https://scikit-learn.org/stable/modules/generated/sklearn.feature_extraction.text.TfidfVectorizer.html</a:t>
            </a:r>
          </a:p>
          <a:p xmlns:a="http://schemas.openxmlformats.org/drawingml/2006/main">
            <a:r>
              <a:t>- https://scikit-learn.org/stable/modules/generated/sklearn.metrics.pairwise.cosine_similarity.html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with the raw-document question: prepared passages and blank-line boundaries hide parsing, tables, hierarchy and semantic choices taught in Lesson 05.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https://www.sec.gov/Archives/edgar/data/1045810/000104581026000021/nvda-20260125.htm</a:t>
            </a:r>
          </a:p>
          <a:p xmlns:a="http://schemas.openxmlformats.org/drawingml/2006/main">
            <a:r>
              <a:t>- https://www.se.com/ww/en/assets/564/document/528237/release-fy-results-2025.pdf?p_File_Name=2025+FY+Results&amp;p_enDocType=Financial+release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a090458a61040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30e2b2334d4a7b" /><Relationship Type="http://schemas.openxmlformats.org/officeDocument/2006/relationships/slideLayout" Target="/ppt/slideLayouts/slideLayout1.xml" Id="R6ea81dd6c41843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ea81dd6c41843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4e5ce581944c46" /><Relationship Type="http://schemas.openxmlformats.org/officeDocument/2006/relationships/notesSlide" Target="/ppt/notesSlides/notesSlide1.xml" Id="Rbc9f190a8b86415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8a73b115d24ec6" /><Relationship Type="http://schemas.openxmlformats.org/officeDocument/2006/relationships/notesSlide" Target="/ppt/notesSlides/notesSlide2.xml" Id="R756b8bd1bee946e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233917b0dc4aeb" /><Relationship Type="http://schemas.openxmlformats.org/officeDocument/2006/relationships/notesSlide" Target="/ppt/notesSlides/notesSlide3.xml" Id="R49c59e7ac5b4419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6136f0a2c84be4" /><Relationship Type="http://schemas.openxmlformats.org/officeDocument/2006/relationships/notesSlide" Target="/ppt/notesSlides/notesSlide4.xml" Id="Rdc87ee00db16420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ef9a50858042ec" /><Relationship Type="http://schemas.openxmlformats.org/officeDocument/2006/relationships/notesSlide" Target="/ppt/notesSlides/notesSlide5.xml" Id="Ra98062c7509e44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f5a3864a541ba" /><Relationship Type="http://schemas.openxmlformats.org/officeDocument/2006/relationships/notesSlide" Target="/ppt/notesSlides/notesSlide6.xml" Id="Rb48ace76189e490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b7925a29f54826" /><Relationship Type="http://schemas.openxmlformats.org/officeDocument/2006/relationships/notesSlide" Target="/ppt/notesSlides/notesSlide7.xml" Id="R23c34a37720944d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70DB6A-E971-4614-803B-AE8F3E12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EE95B-C324-413A-BA74-C1EEA52FB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418454-19E5-44D8-810D-686826F2E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38400"/>
            <a:ext cx="132969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Naive RAG from First Principles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D902B13-440D-4A59-9D11-3DBE46D45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6004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A transparent retrieval baseline before parsing and chunking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E8F12-0F33-44B5-939E-A27B15B6D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857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04  ·  11:30–12:00  ·  8 MIN CONCEPTS + 22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8144A-C3F6-47D1-BCD1-8642B9929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162365035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4CC508-D80F-43CE-AF2B-FFAFDE750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EVIDENCE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8B81FF-9717-4ECA-964E-0875263BD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RAG decides which evidence the model can see</a:t>
            </a:r>
          </a:p>
        </p:txBody>
      </p:sp>
      <p:sp>
        <p:nvSpPr>
          <p:cNvPr id="3" name="corpus-frame">
            <a:extLst xmlns:a="http://schemas.openxmlformats.org/drawingml/2006/main">
              <a:ext uri="{FF2B5EF4-FFF2-40B4-BE49-F238E27FC236}">
                <a16:creationId xmlns:a16="http://schemas.microsoft.com/office/drawing/2014/main" id="{7373B6A8-37AC-442A-9146-32CC82942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647950"/>
            <a:ext cx="3429000" cy="3676650"/>
          </a:xfrm>
          <a:prstGeom xmlns:a="http://schemas.openxmlformats.org/drawingml/2006/main" prst="roundRect">
            <a:avLst>
              <a:gd name="adj" fmla="val 3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05FF29-4D50-4C8D-ABD0-14181E23F3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27813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PREPARED CORPUS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0C867F-A514-469A-A27D-6B50ADF2A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2766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B4525B0-6952-40DB-AE67-F726C01BF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2956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9329D-1451-4063-96E6-E318FFF6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37338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136B69-618A-4503-887C-D0560216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7528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03A1019-D4E9-4D7D-9819-1BD3376C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1910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D21E400-C954-42F3-BAC9-B22FCA866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2100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E1E4778-6B3A-47E4-88E4-8FEF7C7D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6482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DCA36D-5E30-4826-B630-3BA389E4F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46672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D725DA4-F512-4D8D-9291-109E16C8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1054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EA502F-5210-40CF-9343-31469FB3E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1244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8F64B97-73E8-439C-AA1C-EF642EAE0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5562600"/>
            <a:ext cx="2647950" cy="323850"/>
          </a:xfrm>
          <a:prstGeom xmlns:a="http://schemas.openxmlformats.org/drawingml/2006/main" prst="roundRect">
            <a:avLst>
              <a:gd name="adj" fmla="val 17647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728553-B5C3-494F-9A3D-302BBDD1F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5581650"/>
            <a:ext cx="2343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17" name="ranker">
            <a:extLst xmlns:a="http://schemas.openxmlformats.org/drawingml/2006/main">
              <a:ext uri="{FF2B5EF4-FFF2-40B4-BE49-F238E27FC236}">
                <a16:creationId xmlns:a16="http://schemas.microsoft.com/office/drawing/2014/main" id="{EB80A7E3-EDC6-4175-820F-5E55FCCBD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95950" y="3486150"/>
            <a:ext cx="2381250" cy="1790700"/>
          </a:xfrm>
          <a:prstGeom xmlns:a="http://schemas.openxmlformats.org/drawingml/2006/main" prst="roundRect">
            <a:avLst>
              <a:gd name="adj" fmla="val 6383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03ABD4-6586-48E9-9EC8-9C7D27951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3705225"/>
            <a:ext cx="17716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TF-IDF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+ cosine rank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D6717A-01AB-489C-97D7-8AA75FCB4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4629150"/>
            <a:ext cx="1771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simple top-k</a:t>
            </a:r>
          </a:p>
        </p:txBody>
      </p:sp>
      <p:sp>
        <p:nvSpPr>
          <p:cNvPr id="20" name="selected-evidence">
            <a:extLst xmlns:a="http://schemas.openxmlformats.org/drawingml/2006/main">
              <a:ext uri="{FF2B5EF4-FFF2-40B4-BE49-F238E27FC236}">
                <a16:creationId xmlns:a16="http://schemas.microsoft.com/office/drawing/2014/main" id="{C4C99858-AED1-4666-8E49-2F361C9B0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028950"/>
            <a:ext cx="2266950" cy="266700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9DB4D59-90A6-461A-83AB-DBEC0F016E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0"/>
            <a:ext cx="1733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SELECTED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34203C3-60E6-4B1A-A9FA-DBE47DB3B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886200"/>
            <a:ext cx="165735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D5F68A-6BD0-4828-B0C9-F39EBA7B93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3933825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B7D7A38-3CD9-4F65-8025-86527DE3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514850"/>
            <a:ext cx="1657350" cy="43815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A17CFD-0AA2-4A5A-AA38-325F22B2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91700" y="4562475"/>
            <a:ext cx="13906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26" name="model-answer">
            <a:extLst xmlns:a="http://schemas.openxmlformats.org/drawingml/2006/main">
              <a:ext uri="{FF2B5EF4-FFF2-40B4-BE49-F238E27FC236}">
                <a16:creationId xmlns:a16="http://schemas.microsoft.com/office/drawing/2014/main" id="{F44EB027-0133-4742-AB44-74315C6D7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486150"/>
            <a:ext cx="1581150" cy="1790700"/>
          </a:xfrm>
          <a:prstGeom xmlns:a="http://schemas.openxmlformats.org/drawingml/2006/main" prst="roundRect">
            <a:avLst>
              <a:gd name="adj" fmla="val 7229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1F40CB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033B6D-4DC4-4F2C-AC6B-1FBC9F120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92100" y="3829050"/>
            <a:ext cx="11239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MODEL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BC3425E-3582-4C28-AD40-57BFCFF9E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06375" y="4686300"/>
            <a:ext cx="1295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with citations</a:t>
            </a:r>
          </a:p>
        </p:txBody>
      </p:sp>
      <p:cxnSp>
        <p:nvCxnSpPr>
          <p:cNvPr id="128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4419600" y="4381500"/>
            <a:ext cx="1276350" cy="104775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129" name=""/>
          <p:cNvCxnSpPr>
            <a:stCxn xmlns:a="http://schemas.openxmlformats.org/drawingml/2006/main" id="17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 flipV="1">
            <a:off x="8077200" y="4362450"/>
            <a:ext cx="1276350" cy="19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130" name=""/>
          <p:cNvCxnSpPr>
            <a:stCxn xmlns:a="http://schemas.openxmlformats.org/drawingml/2006/main" id="20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11620500" y="4362450"/>
            <a:ext cx="1143000" cy="1905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A1F4FC3-E044-4265-8E8F-EE2D9AB9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6705600"/>
            <a:ext cx="7239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model never receives the complete corpus in this path.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69BE8D-5637-4C44-BA10-BC32D4B1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04798E3-2D0B-4A76-A459-ED0F6CB62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70E8D6F-5A1A-486C-BC40-39EC60408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BB4136D-1C95-40D3-92C8-AC6700B6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BOUNDARY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7018A45-F04B-4240-9302-1370A4AB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8299811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CCF7EA2-B73D-4AD4-B06A-D59EB17C1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 PATHS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7CB195-B256-4DE2-93C3-FA161C81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Same question, three evidence paths</a:t>
            </a:r>
          </a:p>
        </p:txBody>
      </p:sp>
      <p:sp>
        <p:nvSpPr>
          <p:cNvPr id="3" name="stage-1">
            <a:extLst xmlns:a="http://schemas.openxmlformats.org/drawingml/2006/main">
              <a:ext uri="{FF2B5EF4-FFF2-40B4-BE49-F238E27FC236}">
                <a16:creationId xmlns:a16="http://schemas.microsoft.com/office/drawing/2014/main" id="{256FFEF6-6758-41CA-A2F4-E56F3BD78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CA6E59-C5C7-4BFA-A602-FAA32AEE7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22D27B7-F096-4B16-8D53-4996D5FF6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702D83-665A-4C57-A6DA-85F3B37D8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ZERO</a:t>
            </a:r>
          </a:p>
        </p:txBody>
      </p:sp>
      <p:sp>
        <p:nvSpPr>
          <p:cNvPr id="7" name="stage-2">
            <a:extLst xmlns:a="http://schemas.openxmlformats.org/drawingml/2006/main">
              <a:ext uri="{FF2B5EF4-FFF2-40B4-BE49-F238E27FC236}">
                <a16:creationId xmlns:a16="http://schemas.microsoft.com/office/drawing/2014/main" id="{C7AF3DB8-0961-4291-9188-8655B83E2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290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0ECA049-F433-4332-8C48-F3241783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45409E-B517-4EF9-BA08-3D1277FCD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Full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context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0995C1-1524-46AE-8449-20E7E3B6D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ALL SIX</a:t>
            </a:r>
          </a:p>
        </p:txBody>
      </p:sp>
      <p:sp>
        <p:nvSpPr>
          <p:cNvPr id="11" name="stage-3">
            <a:extLst xmlns:a="http://schemas.openxmlformats.org/drawingml/2006/main">
              <a:ext uri="{FF2B5EF4-FFF2-40B4-BE49-F238E27FC236}">
                <a16:creationId xmlns:a16="http://schemas.microsoft.com/office/drawing/2014/main" id="{A6D7CD50-6E83-4150-92FF-C9C37AFA7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EA6C8D-7A5B-491A-8E56-762283B8C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F2BC2D-EBF4-4DDC-82F9-0B9F6443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Paragraph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split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E1236-3FB7-4BDB-B025-932DE45EA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NAIVE</a:t>
            </a:r>
          </a:p>
        </p:txBody>
      </p:sp>
      <p:sp>
        <p:nvSpPr>
          <p:cNvPr id="15" name="stage-4">
            <a:extLst xmlns:a="http://schemas.openxmlformats.org/drawingml/2006/main">
              <a:ext uri="{FF2B5EF4-FFF2-40B4-BE49-F238E27FC236}">
                <a16:creationId xmlns:a16="http://schemas.microsoft.com/office/drawing/2014/main" id="{6DA443AF-F58B-4FE7-BB9B-64BA7F10E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678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822E62-67F1-422E-BD05-1947E589C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A1A0678-95E7-417B-9A0B-4F1BDF582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TF-IDF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Top-k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B6A6BB-21EC-48ED-AB6E-33E741E1C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SELECT 2</a:t>
            </a:r>
          </a:p>
        </p:txBody>
      </p:sp>
      <p:sp>
        <p:nvSpPr>
          <p:cNvPr id="19" name="stage-5">
            <a:extLst xmlns:a="http://schemas.openxmlformats.org/drawingml/2006/main">
              <a:ext uri="{FF2B5EF4-FFF2-40B4-BE49-F238E27FC236}">
                <a16:creationId xmlns:a16="http://schemas.microsoft.com/office/drawing/2014/main" id="{C785557B-F984-4202-BA94-42E2D9781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3181350"/>
            <a:ext cx="2247900" cy="2057400"/>
          </a:xfrm>
          <a:prstGeom xmlns:a="http://schemas.openxmlformats.org/drawingml/2006/main" prst="roundRect">
            <a:avLst>
              <a:gd name="adj" fmla="val 555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0B94101-EDFB-4791-8629-922B97FE5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33718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69AB67-9813-456C-BA23-475D78D34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3829050"/>
            <a:ext cx="1866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RAG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answer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9F2E59-8F15-482D-8778-F89C50BE0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77750" y="4705350"/>
            <a:ext cx="18669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CITE</a:t>
            </a:r>
          </a:p>
        </p:txBody>
      </p:sp>
      <p:cxnSp>
        <p:nvCxnSpPr>
          <p:cNvPr id="107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575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08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769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09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963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110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715750" y="4210050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9D553F1-6719-4532-9826-BA1316A1F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1912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13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context and full context are references; naive RAG selects evidence before generation.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5A8B6A2-A436-4009-9DBC-3B6DBA9E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97D0D9-3496-4094-B4FA-C00F06D30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743C049-7F39-45C8-8D75-46CC41FBD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EB295E-1397-4472-AF49-FB476A31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PATHS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C7DC5B-6E2E-4A34-9CB9-5B080D34E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42332476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A3389EE3-4155-4B6C-B75C-92690373C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LEXICAL REPRESENTATION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A1CAE9-7E82-40E3-9732-DC7D0E080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TF-IDF overlap becomes a cosine-similarity ranking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D92782-12E9-4FD4-9DA4-04086C67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324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TEACHING VIEW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654FC3D-B07A-44D7-AFDC-B37C14EA3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revenue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DE4123-D61B-41BB-A5C9-CABD5FF4D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data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391D2-8D09-4CAE-AE07-17BEFFD3A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center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1F33C9-D54F-409F-B469-5B045433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gaming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64F30A-8484-4D92-B042-5F0C8FC91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59080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management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0EFFAF-E14A-43A2-9F88-BD3781CB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89560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8CB1F1-07A3-466C-9E5E-F32E976DC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7D72BB-BA2D-4D42-8779-0A676EB9E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3B4193-7F82-4F9F-BCC4-D1689164A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D89B20-12DB-4367-A1D2-0ACDE177E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3952D1-FA72-4AE0-B21A-B559968AF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28956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6AD0A5-8039-4800-8B8D-233DAFE3E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6232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A3D941-2779-4CF3-9BBA-8D8348B79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919301-9BBC-4223-AFCC-9AD617304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6A70D4-1D72-4AD4-BB53-19506644D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1096A31-0D90-4F34-9CDD-BC380BA38F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739095E-DA78-4615-B9B2-49D76F54D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3623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4A132-2BD7-4FD8-A47B-05139659C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2905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1D3F6CC-80E0-40EF-AD1F-27E0F776C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3CF300E-F8E4-4AFC-9C70-2373EBC77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FE75B5F-9B1E-43AF-B23A-1BA1CDBFC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D7C5AD5-B163-4041-9101-84FBFB753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BBD8584-A757-42B9-8A4F-FBAC333A8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38290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623555-0E31-4E9B-AF07-AF4B57F43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9577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F4ABA7-1148-4D4D-A95B-A429355DF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40A6DBC-11E9-4390-AECF-8CCEC0513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3F7C67B-FD48-41DB-A646-95653C7D5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2934396-FBE2-4F29-BE69-E35C25E02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E59EFA7-AF06-4FE3-9E92-D1CEF667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29577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41FFBF2-59DA-4FE0-A05F-D04A67EA2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76250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361064A-6D97-4EE0-AB11-21661227C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3D82C33-407D-48BD-83F5-6E42F4231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9819154-CDF5-4461-8C8D-FFB465B2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F465DBE-0ACA-45EA-B2BC-D5EFBA131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2D4F66A-8DFB-4D81-A487-DBC76AF79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476250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45B5776-640F-4EDC-A797-881145547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229225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33CE50-79EA-49D4-84A0-CCCD8B4FA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49599743-3543-497F-94D1-D4A170229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629E4DA-2B50-4A59-B992-C79E2D27E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9BE5919-A98C-4BA3-8B50-AE257E9D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41B8AAF-8830-4627-8AC1-A69E5F88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229225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FEAEC95-FBCD-47E8-9B42-B1FFD062D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5695950"/>
            <a:ext cx="9144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QUERY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0F8561B-F03A-4BC2-ADB5-BF9462C45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ACFF75D-911B-45DE-A844-6B0C9A93A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8684AFD-CEA3-439C-AF9F-B03771740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767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3696013-B6EA-47BA-B246-8E0144A5E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B3DB212-0934-4D7A-8663-6FA1C01B5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57900" y="5695950"/>
            <a:ext cx="933450" cy="409575"/>
          </a:xfrm>
          <a:prstGeom xmlns:a="http://schemas.openxmlformats.org/drawingml/2006/main" prst="roundRect">
            <a:avLst>
              <a:gd name="adj" fmla="val 69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5DDE8244-B52D-429F-916B-7785164C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648325"/>
            <a:ext cx="60007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293FA6F2-5856-43FE-9B56-770DE1F7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RANK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4191EE-2185-4E8E-A18C-C10197D9C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28956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A9CFD86C-25BF-4301-9F46-477B0BE0C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622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4B34A8F-D8CD-49A6-9E16-15D749EC8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962275"/>
            <a:ext cx="341185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6F783C1D-0EA1-4703-AF81-3CCB296FD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28956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0.398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A5416078-8928-4D1F-9701-E1181BDE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4480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D666B59-3ED1-4024-B24D-A44A8C4DE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147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AC973836-43DC-4312-89F4-EE86BADEB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3514725"/>
            <a:ext cx="331755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3C7CC484-4650-468F-A726-CB0247A4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34480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0.387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E67CAF2C-9A8F-43C3-BB93-4D2AE2A15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0005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68C0FBBF-A9FF-4FEB-87C6-022A4C335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671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92C3182A-5C24-45CE-A982-A3303B3C1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067175"/>
            <a:ext cx="2014538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838D7C2-1536-4D9C-BC6F-D5664F072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0005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0.235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4EE00BE6-7DEA-4139-B4D0-BA1F88D99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5529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FFB9E0A9-C442-4BE9-BB60-12C8186E9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6196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5D5E0F98-F8EC-446B-BF4E-490828692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4619625"/>
            <a:ext cx="1765935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0033D63D-CF20-4371-A599-329B47C5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45529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0.206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1588E94-AD87-448F-AABD-C68E235DC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10540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B1FA7C15-F49F-4626-803F-01274FCC1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7207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27B5629B-D007-4C5D-A49E-51C085F0A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172075"/>
            <a:ext cx="106299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2B2868EB-AB1F-4336-8BBE-29AC52060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10540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0.124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11F977C9-0D5D-41FF-8C07-C112D8D48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657850"/>
            <a:ext cx="1066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49D4E694-C7C8-4913-8973-8186627BD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724525"/>
            <a:ext cx="36195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DDB79D1B-AAB9-473E-9623-881B7574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5724525"/>
            <a:ext cx="54864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9A9F"/>
          </a:solidFill>
          <a:ln xmlns:a="http://schemas.openxmlformats.org/drawingml/2006/main" w="0">
            <a:solidFill>
              <a:srgbClr val="9A9A9F"/>
            </a:solidFill>
            <a:prstDash val="solid"/>
          </a:ln>
        </p:spPr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B1B0241B-8CC5-40B4-86F2-C46168B02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430250" y="5657850"/>
            <a:ext cx="7239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0.064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B2B800E6-90ED-4998-849D-6D1333449B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515100"/>
            <a:ext cx="2095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top-k = 2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82C430B3-83CD-4FAD-9227-9988B36CD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0918F79C-42E9-484F-9A88-334DF9AE5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EE3ECFDE-FF1E-4EC0-8408-DBD082065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99091F2-E290-4C60-820B-AB7C2FF44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REPRESENTATION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644AB3C2-4687-471A-948C-D0B8B443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14060496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5DE8FC8F-0C64-4E71-828A-7884FA51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CONTEXT ASSEMBLY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653840-5F70-48EE-9A0D-BA55668F6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Top-k is a trade-off between evidence coverage and noise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448062-16EE-4764-A5C0-81E7E688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43150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RANKED CORPUS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CA189B-F2F0-46C5-A2E7-FA8D2FB82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956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2710CF-0056-4541-81D6-F1ACCB1D9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8956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6F9EE9-049E-44CA-B5CD-B39E217E5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8956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0.398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9517AE-B622-4370-841C-B0AEB8575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147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95DA59-527C-4754-83E0-431A764E2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4480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CD6A12-F7E6-436B-BADB-BBC164138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4480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BDD1CB-8EFB-4F0A-AC88-675850FED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4480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0.387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D2052E-0873-4B37-9742-AF0D0EB4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8671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CEB02E-4745-43DA-B937-F0CC0FF1D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005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37E3ED-505F-4C8D-A559-2FC15641E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0005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C16EE-87F7-4812-BE11-F81D3610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005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0.235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B12986-C1BB-4AE0-8897-B3C13D05B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4196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A71885E-93FB-4058-955D-5EF29C144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5529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897D8F7-7912-43D7-9AD4-6E2510722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5529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NVDA-F3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62D3975-A9FB-413C-B3C3-D310983AB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5529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0.206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98C518B-BDC5-47F4-9971-CFBE2107B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720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EA581C-AF5B-4555-A61E-6E4C5DE79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10540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056DC-DFE2-4688-81CE-FEE062AC5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10540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SU-F1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44D165-EEE9-48EB-9502-6B3A7295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10540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0.124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C19710-29B3-49C1-946D-3C82BF225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52450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C83D257-B9EA-4901-8473-F648662F0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657850"/>
            <a:ext cx="419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8B1984-1909-41CC-94D4-DA3041D0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5657850"/>
            <a:ext cx="1504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7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SU-F3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DACE12-ABDD-4744-A1CC-EDA14D521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6578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75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75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0.064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5EC1051-DB78-4978-87B9-D6CA6D7CA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6076950"/>
            <a:ext cx="29908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AA7535-C840-4127-A41A-AE9946E46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43350"/>
            <a:ext cx="33147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31DFC5A-C538-46CF-B2ED-12FA756AB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781425"/>
            <a:ext cx="144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1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TOP-K = 2</a:t>
            </a:r>
          </a:p>
        </p:txBody>
      </p:sp>
      <p:sp>
        <p:nvSpPr>
          <p:cNvPr id="30" name="assembled-prompt">
            <a:extLst xmlns:a="http://schemas.openxmlformats.org/drawingml/2006/main">
              <a:ext uri="{FF2B5EF4-FFF2-40B4-BE49-F238E27FC236}">
                <a16:creationId xmlns:a16="http://schemas.microsoft.com/office/drawing/2014/main" id="{A2A50EF2-4598-49B1-B65B-10E75CE6E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743200"/>
            <a:ext cx="7277100" cy="3562350"/>
          </a:xfrm>
          <a:prstGeom xmlns:a="http://schemas.openxmlformats.org/drawingml/2006/main" prst="roundRect">
            <a:avLst>
              <a:gd name="adj" fmla="val 3209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80A021B-A641-4F54-B69A-D542EDD24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990850"/>
            <a:ext cx="228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MODEL INPUT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BDF2670-1B7C-4E4F-A00C-6665E102B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695700"/>
            <a:ext cx="160020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28F5803-DE4D-4635-A799-E3DB9CE7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781425"/>
            <a:ext cx="14097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Instructions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919DE5E-5814-4C46-BE37-DEB5ADDD3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0002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1F40C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DB9E09-8A29-44B5-8D76-497D188E3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3781425"/>
            <a:ext cx="1809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NVDA-F1 · total revenue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F59F87C-3C9D-470B-9C0F-897C6E8A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695700"/>
            <a:ext cx="20764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12F3D35-0528-4EB5-8FBB-8AB47BF6A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3781425"/>
            <a:ext cx="18859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NVDA-F2 · Data Center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C743B51-7EB0-45F8-894F-6F966D53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25400" y="3695700"/>
            <a:ext cx="1123950" cy="704850"/>
          </a:xfrm>
          <a:prstGeom xmlns:a="http://schemas.openxmlformats.org/drawingml/2006/main" prst="roundRect">
            <a:avLst>
              <a:gd name="adj" fmla="val 5405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3928198-65FF-4E9A-96A2-9D8D6FEC0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20650" y="3781425"/>
            <a:ext cx="933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Question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810734C-F244-4B76-8B75-3BB6811BA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9530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Company · period · section · source URL · stable passage ID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47AA135-256D-4BDF-B8EE-924D2F9E9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562600"/>
            <a:ext cx="6381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Only selected evidence consumes the generation context.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8B8D3EC-F081-41C0-A3C1-56ADA1A9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6819900"/>
            <a:ext cx="819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k=1 misses total context · k=4 admits extra cross-company evidence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51A283A-281A-4FC4-91CB-3D314747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F1B5548-0019-456A-9D38-F9990FDE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4700EAF-8EC0-4AF6-AE0E-6E72803BE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CC938AD-74C3-4AB8-BC11-CC71FB5E5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SELECTION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427DF2-F296-4A70-886B-471135759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3638437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2670E94-0D05-4A89-A3D0-FF51C0CF59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DC2E0B-F26C-4DAE-8979-A960B441A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and generation can fail independently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989D37-2C06-4379-995B-E34E5E735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00950" y="260985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6EEAC2-7FC9-4CCB-B8CF-C877B843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33FE38-451A-4340-9BE5-B242713AB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78130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RETRIEVAL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A19500-37AE-448A-A755-6281CC104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35280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Did the expected passages enter the prompt?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02B1B01-164C-4DCC-8899-93B6A8E61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41148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Recall = 100%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NVDA-F1 + NVDA-F2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4A750E-0856-4EF2-8E64-A798D41C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00350"/>
            <a:ext cx="495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B7A09F7-A345-4D6A-80D0-738294D88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2781300"/>
            <a:ext cx="3714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GROUNDING CHECK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C701BD-BBDE-4D10-889D-EF03AF92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352800"/>
            <a:ext cx="4953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Did the answer use and cite retrieved evidence?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50E4FA-9E0B-486D-900E-4E90CC1D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095750"/>
            <a:ext cx="4686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5 / 5 visible checks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3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metrics · citations · limitation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C59941-A9CB-4435-A7AC-DA1EE9B6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810250"/>
            <a:ext cx="10477500" cy="1066800"/>
          </a:xfrm>
          <a:prstGeom xmlns:a="http://schemas.openxmlformats.org/drawingml/2006/main" prst="roundRect">
            <a:avLst>
              <a:gd name="adj" fmla="val 892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CF511FB-26BD-4184-8FA1-91AE175A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981700"/>
            <a:ext cx="1676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FAILURE LAB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0034F68-4986-48AE-B7A5-12CE4925D6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6286500"/>
            <a:ext cx="9886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intent, zero lexical overlap → NVDA-F2 loses top-1 before any model call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FDC62F5-084F-4562-B33C-49367D15A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F3F72B-1997-4812-9E44-ED9DFEAD7A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C2704C-F1B9-4CBB-A365-73DD4D42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581549-9DC0-413A-9FDD-93CC68CB3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VERIFICATION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2FBF07-296E-4F76-868F-E592B8553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86936983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BBA638A-B023-4BF2-A056-FFB46E5BAA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LEARNING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26082D-5F6B-44CE-BFA3-52DF64E5D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8693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This baseline works; the next lessons improve every naive assumption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F8D90-766A-401D-8315-700D1EEE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457450"/>
            <a:ext cx="3143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NAIVE RAG TODAY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9324B0-0732-4DBB-90EB-4582F8B3A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2457450"/>
            <a:ext cx="3619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MEASURED UPGRADE</a:t>
            </a:r>
          </a:p>
        </p:txBody>
      </p:sp>
      <p:sp>
        <p:nvSpPr>
          <p:cNvPr id="5" name="baseline-0">
            <a:extLst xmlns:a="http://schemas.openxmlformats.org/drawingml/2006/main">
              <a:ext uri="{FF2B5EF4-FFF2-40B4-BE49-F238E27FC236}">
                <a16:creationId xmlns:a16="http://schemas.microsoft.com/office/drawing/2014/main" id="{895F5137-84FF-4C90-B0FC-E268B9785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0289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6" name="upgrade-0">
            <a:extLst xmlns:a="http://schemas.openxmlformats.org/drawingml/2006/main">
              <a:ext uri="{FF2B5EF4-FFF2-40B4-BE49-F238E27FC236}">
                <a16:creationId xmlns:a16="http://schemas.microsoft.com/office/drawing/2014/main" id="{EC401402-7804-4B6E-AA08-15B2D7364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0289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03ACAB-8B60-48AF-AD8F-0A08D52BE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242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Prepared passages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534791-42C6-47AB-B32C-A0C8CB2D4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1242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Parsing + document structure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5339A0-7576-4398-BA6B-D67D88023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31242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05</a:t>
            </a:r>
          </a:p>
        </p:txBody>
      </p:sp>
      <p:cxnSp>
        <p:nvCxnSpPr>
          <p:cNvPr id="100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4743450" y="33528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1" name="baseline-1">
            <a:extLst xmlns:a="http://schemas.openxmlformats.org/drawingml/2006/main">
              <a:ext uri="{FF2B5EF4-FFF2-40B4-BE49-F238E27FC236}">
                <a16:creationId xmlns:a16="http://schemas.microsoft.com/office/drawing/2014/main" id="{FF886E1F-3898-4E08-8418-C80F953AD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195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12" name="upgrade-1">
            <a:extLst xmlns:a="http://schemas.openxmlformats.org/drawingml/2006/main">
              <a:ext uri="{FF2B5EF4-FFF2-40B4-BE49-F238E27FC236}">
                <a16:creationId xmlns:a16="http://schemas.microsoft.com/office/drawing/2014/main" id="{ADBC21E3-9B21-4893-9500-82AD73D2F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0195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43FD38-F2A7-4C07-A988-14027B32A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1148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Naive boundaries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673EB9-2816-4CAA-81C9-173A86F9D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1148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Chunking strategies + metadata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8F06B1-B55F-4E2B-81F4-9AAD09966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41148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05</a:t>
            </a:r>
          </a:p>
        </p:txBody>
      </p:sp>
      <p:cxnSp>
        <p:nvCxnSpPr>
          <p:cNvPr id="106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4743450" y="43434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7" name="baseline-2">
            <a:extLst xmlns:a="http://schemas.openxmlformats.org/drawingml/2006/main">
              <a:ext uri="{FF2B5EF4-FFF2-40B4-BE49-F238E27FC236}">
                <a16:creationId xmlns:a16="http://schemas.microsoft.com/office/drawing/2014/main" id="{85362029-8430-4FAE-9E34-54FE5D069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50101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18" name="upgrade-2">
            <a:extLst xmlns:a="http://schemas.openxmlformats.org/drawingml/2006/main">
              <a:ext uri="{FF2B5EF4-FFF2-40B4-BE49-F238E27FC236}">
                <a16:creationId xmlns:a16="http://schemas.microsoft.com/office/drawing/2014/main" id="{1662781E-A5EE-4A3D-B555-4488AE397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50101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E51189-1AA4-4AE6-BBCD-306179072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51054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TF-IDF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8F1E49-4DFF-4C59-BA1E-73DF3D30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51054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Embeddings + hybrid retrieval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FEEDA3A-263E-4D4D-8F38-B32768AD5E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51054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06</a:t>
            </a:r>
          </a:p>
        </p:txBody>
      </p:sp>
      <p:cxnSp>
        <p:nvCxnSpPr>
          <p:cNvPr id="112" name=""/>
          <p:cNvCxnSpPr>
            <a:stCxn xmlns:a="http://schemas.openxmlformats.org/drawingml/2006/main" id="17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4743450" y="53340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23" name="baseline-3">
            <a:extLst xmlns:a="http://schemas.openxmlformats.org/drawingml/2006/main">
              <a:ext uri="{FF2B5EF4-FFF2-40B4-BE49-F238E27FC236}">
                <a16:creationId xmlns:a16="http://schemas.microsoft.com/office/drawing/2014/main" id="{C2B9D0AA-CB2B-457E-824C-B0D9010F4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6000750"/>
            <a:ext cx="367665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24" name="upgrade-3">
            <a:extLst xmlns:a="http://schemas.openxmlformats.org/drawingml/2006/main">
              <a:ext uri="{FF2B5EF4-FFF2-40B4-BE49-F238E27FC236}">
                <a16:creationId xmlns:a16="http://schemas.microsoft.com/office/drawing/2014/main" id="{09A13213-E15B-4285-8E7E-251623924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6000750"/>
            <a:ext cx="5295900" cy="647700"/>
          </a:xfrm>
          <a:prstGeom xmlns:a="http://schemas.openxmlformats.org/drawingml/2006/main" prst="roundRect">
            <a:avLst>
              <a:gd name="adj" fmla="val 11765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BB5BB3-021D-4EDB-9006-82FF02174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609600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Simple top-k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21A16E0-414D-4D5A-83D2-16AB91296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6096000"/>
            <a:ext cx="48006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Filtering + reranking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84672AE-E0C8-42B5-9574-9A5B37DA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92050" y="6096000"/>
            <a:ext cx="16573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LESSON 06</a:t>
            </a:r>
          </a:p>
        </p:txBody>
      </p:sp>
      <p:cxnSp>
        <p:nvCxnSpPr>
          <p:cNvPr id="118" name=""/>
          <p:cNvCxnSpPr>
            <a:stCxn xmlns:a="http://schemas.openxmlformats.org/drawingml/2006/main" id="23" idx="3"/>
            <a:endCxn xmlns:a="http://schemas.openxmlformats.org/drawingml/2006/main" id="24" idx="1"/>
          </p:cNvCxnSpPr>
          <p:nvPr/>
        </p:nvCxnSpPr>
        <p:spPr>
          <a:xfrm xmlns:a="http://schemas.openxmlformats.org/drawingml/2006/main">
            <a:off x="4743450" y="6324600"/>
            <a:ext cx="2076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ED344CF-2838-4D77-B556-8BE61F323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28800" y="7181850"/>
            <a:ext cx="115824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202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Next question: who created the passages, and what financial structure was lost?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93E902-753B-4BDF-90B6-C4200D829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1FE5C7E-9B67-4886-97A2-606078E50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7AA2C3B-1E5B-4407-99C5-1FC9CCCB7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01533B1-3267-4BE8-92CA-5FD9F71EC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ROADMAP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C8CC1D8-7EF0-44CE-80F8-C9E826329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79990021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2026-08-16T06:34:48.4840000Z</dcterms:created>
  <dcterms:modified xsi:type="dcterms:W3CDTF">2026-08-16T06:34:48.4840000Z</dcterms:modified>
</coreProperties>
</file>