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bba9f76b30466a" /><Relationship Type="http://schemas.openxmlformats.org/officeDocument/2006/relationships/extended-properties" Target="/docProps/app.xml" Id="Rf489809faa5b43c5" /><Relationship Type="http://schemas.openxmlformats.org/officeDocument/2006/relationships/officeDocument" Target="/ppt/presentation.xml" Id="Red914caf9b3a48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aa40cb056d34413"/>
  </p:sldMasterIdLst>
  <p:notesMasterIdLst>
    <p:notesMasterId xmlns:r="http://schemas.openxmlformats.org/officeDocument/2006/relationships" r:id="Ra53f5c6e17ed410d"/>
  </p:notesMasterIdLst>
  <p:sldIdLst>
    <p:sldId xmlns:r="http://schemas.openxmlformats.org/officeDocument/2006/relationships" id="256" r:id="Rbdc6bb1c52594a9e"/>
    <p:sldId xmlns:r="http://schemas.openxmlformats.org/officeDocument/2006/relationships" id="257" r:id="R2ef2d4d88dcb48d1"/>
    <p:sldId xmlns:r="http://schemas.openxmlformats.org/officeDocument/2006/relationships" id="258" r:id="R653bd88751834a2b"/>
    <p:sldId xmlns:r="http://schemas.openxmlformats.org/officeDocument/2006/relationships" id="259" r:id="Rba0b1f929fb44a79"/>
    <p:sldId xmlns:r="http://schemas.openxmlformats.org/officeDocument/2006/relationships" id="260" r:id="Rc8e5ce0fef9f4cc6"/>
    <p:sldId xmlns:r="http://schemas.openxmlformats.org/officeDocument/2006/relationships" id="261" r:id="R9088b7e62d354f92"/>
    <p:sldId xmlns:r="http://schemas.openxmlformats.org/officeDocument/2006/relationships" id="262" r:id="R8a156347238b4320"/>
    <p:sldId xmlns:r="http://schemas.openxmlformats.org/officeDocument/2006/relationships" id="263" r:id="Rcc20a5371bdd4918"/>
    <p:sldId xmlns:r="http://schemas.openxmlformats.org/officeDocument/2006/relationships" id="264" r:id="Rc1a993a70fb9474a"/>
    <p:sldId xmlns:r="http://schemas.openxmlformats.org/officeDocument/2006/relationships" id="265" r:id="Rb02e0a774596421f"/>
    <p:sldId xmlns:r="http://schemas.openxmlformats.org/officeDocument/2006/relationships" id="266" r:id="R1928745de0124ab1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693922d771a4c69" /><Relationship Type="http://schemas.openxmlformats.org/officeDocument/2006/relationships/slideMaster" Target="/ppt/slideMasters/slideMaster1.xml" Id="R1aa40cb056d34413" /><Relationship Type="http://schemas.openxmlformats.org/officeDocument/2006/relationships/notesMaster" Target="/ppt/notesMasters/notesMaster1.xml" Id="Ra53f5c6e17ed410d" /><Relationship Type="http://schemas.openxmlformats.org/officeDocument/2006/relationships/presProps" Target="/ppt/presProps.xml" Id="Ra5de02b2fed34619" /><Relationship Type="http://schemas.openxmlformats.org/officeDocument/2006/relationships/tableStyles" Target="/ppt/tableStyles.xml" Id="R3cc7135d242d491d" /><Relationship Type="http://schemas.openxmlformats.org/officeDocument/2006/relationships/slide" Target="/ppt/slides/slide1.xml" Id="Rbdc6bb1c52594a9e" /><Relationship Type="http://schemas.openxmlformats.org/officeDocument/2006/relationships/slide" Target="/ppt/slides/slide2.xml" Id="R2ef2d4d88dcb48d1" /><Relationship Type="http://schemas.openxmlformats.org/officeDocument/2006/relationships/slide" Target="/ppt/slides/slide3.xml" Id="R653bd88751834a2b" /><Relationship Type="http://schemas.openxmlformats.org/officeDocument/2006/relationships/slide" Target="/ppt/slides/slide4.xml" Id="Rba0b1f929fb44a79" /><Relationship Type="http://schemas.openxmlformats.org/officeDocument/2006/relationships/slide" Target="/ppt/slides/slide5.xml" Id="Rc8e5ce0fef9f4cc6" /><Relationship Type="http://schemas.openxmlformats.org/officeDocument/2006/relationships/slide" Target="/ppt/slides/slide6.xml" Id="R9088b7e62d354f92" /><Relationship Type="http://schemas.openxmlformats.org/officeDocument/2006/relationships/slide" Target="/ppt/slides/slide7.xml" Id="R8a156347238b4320" /><Relationship Type="http://schemas.openxmlformats.org/officeDocument/2006/relationships/slide" Target="/ppt/slides/slide8.xml" Id="Rcc20a5371bdd4918" /><Relationship Type="http://schemas.openxmlformats.org/officeDocument/2006/relationships/slide" Target="/ppt/slides/slide9.xml" Id="Rc1a993a70fb9474a" /><Relationship Type="http://schemas.openxmlformats.org/officeDocument/2006/relationships/slide" Target="/ppt/slides/slide10.xml" Id="Rb02e0a774596421f" /><Relationship Type="http://schemas.openxmlformats.org/officeDocument/2006/relationships/slide" Target="/ppt/slides/slide11.xml" Id="R1928745de0124a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0a80c6263646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9fd5912e7f4c57" /><Relationship Type="http://schemas.openxmlformats.org/officeDocument/2006/relationships/notesMaster" Target="/ppt/notesMasters/notesMaster1.xml" Id="R6d9492898ee742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7b9944ecc724942" /><Relationship Type="http://schemas.openxmlformats.org/officeDocument/2006/relationships/notesMaster" Target="/ppt/notesMasters/notesMaster1.xml" Id="R316a5f166c944e8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c94d1cfacb5445c" /><Relationship Type="http://schemas.openxmlformats.org/officeDocument/2006/relationships/notesMaster" Target="/ppt/notesMasters/notesMaster1.xml" Id="Rc9c4a8f127e5496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ceb74d4af8148ef" /><Relationship Type="http://schemas.openxmlformats.org/officeDocument/2006/relationships/notesMaster" Target="/ppt/notesMasters/notesMaster1.xml" Id="Rdc2a69fc3deb45a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2f744e7835a4131" /><Relationship Type="http://schemas.openxmlformats.org/officeDocument/2006/relationships/notesMaster" Target="/ppt/notesMasters/notesMaster1.xml" Id="Rad605c5b0ac9455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6f7412272384da8" /><Relationship Type="http://schemas.openxmlformats.org/officeDocument/2006/relationships/notesMaster" Target="/ppt/notesMasters/notesMaster1.xml" Id="R7bbe2837525347e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d5a41389b754f27" /><Relationship Type="http://schemas.openxmlformats.org/officeDocument/2006/relationships/notesMaster" Target="/ppt/notesMasters/notesMaster1.xml" Id="R019dc01d11cc480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f25a735278f470b" /><Relationship Type="http://schemas.openxmlformats.org/officeDocument/2006/relationships/notesMaster" Target="/ppt/notesMasters/notesMaster1.xml" Id="Rdd3de1391f4f47e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ae4f0fc06464c6c" /><Relationship Type="http://schemas.openxmlformats.org/officeDocument/2006/relationships/notesMaster" Target="/ppt/notesMasters/notesMaster1.xml" Id="Rb0535f0f1fe045f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7a7770d4bc044d2" /><Relationship Type="http://schemas.openxmlformats.org/officeDocument/2006/relationships/notesMaster" Target="/ppt/notesMasters/notesMaster1.xml" Id="R71627412c064483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8812fd34f4a406f" /><Relationship Type="http://schemas.openxmlformats.org/officeDocument/2006/relationships/notesMaster" Target="/ppt/notesMasters/notesMaster1.xml" Id="Rb0d2640f89b14d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workflows and agents can use the same models and tools; the controller is different.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chapters/08-workflows-vs-agents.md</a:t>
            </a:r>
          </a:p>
          <a:p xmlns:a="http://schemas.openxmlformats.org/drawingml/2006/main">
            <a:r>
              <a:t>- https://www.anthropic.com/engineering/building-effective-agents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rows to separate code-defined control from model-directed control.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https://www.anthropic.com/engineering/building-effective-agents</a:t>
            </a:r>
          </a:p>
          <a:p xmlns:a="http://schemas.openxmlformats.org/drawingml/2006/main">
            <a:r>
              <a:t>- https://docs.langchain.com/oss/python/langgraph/workflows-agents</a:t>
            </a:r>
          </a:p>
          <a:p xmlns:a="http://schemas.openxmlformats.org/drawingml/2006/main">
            <a:r>
              <a:t>- chapters/08-workflows-vs-agents.md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Anthropic's prompt-chaining example proves that workflow steps can consume previous outputs and include gates.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https://www.anthropic.com/engineering/building-effective-agents</a:t>
            </a:r>
          </a:p>
          <a:p xmlns:a="http://schemas.openxmlformats.org/drawingml/2006/main">
            <a:r>
              <a:t>- assets/lesson-08/anthropic-prompt-chaining.png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model proposes typed fields; Python validates, invokes the allowlisted function and records provenance.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src/finai_academy/agent_workflows.py</a:t>
            </a:r>
          </a:p>
          <a:p xmlns:a="http://schemas.openxmlformats.org/drawingml/2006/main">
            <a:r>
              <a:t>- https://developers.openai.com/api/docs/guides/structured-outputs</a:t>
            </a:r>
          </a:p>
          <a:p xmlns:a="http://schemas.openxmlformats.org/drawingml/2006/main">
            <a:r>
              <a:t>- https://developers.openai.com/api/docs/guides/function-calling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direct lookup has one known action, so a workflow is the simplest adequate controller.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notebooks/08_workflows_vs_agents.ipynb</a:t>
            </a:r>
          </a:p>
          <a:p xmlns:a="http://schemas.openxmlformats.org/drawingml/2006/main">
            <a:r>
              <a:t>- src/finai_academy/agent_workflows.py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route is known before execution: price, then FX. Code passes the observed price and currency into conversion.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notebooks/08_workflows_vs_agents.ipynb</a:t>
            </a:r>
          </a:p>
          <a:p xmlns:a="http://schemas.openxmlformats.org/drawingml/2006/main">
            <a:r>
              <a:t>- src/finai_academy/agent_workflows.py</a:t>
            </a:r>
          </a:p>
          <a:p xmlns:a="http://schemas.openxmlformats.org/drawingml/2006/main">
            <a:r>
              <a:t>- assets/course-data/market/lesson08_market_snapshot_v1.json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Anthropic depicts an autonomous agent as an LLM acting on and receiving feedback from its environment, with a stop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https://www.anthropic.com/engineering/building-effective-agents</a:t>
            </a:r>
          </a:p>
          <a:p xmlns:a="http://schemas.openxmlformats.org/drawingml/2006/main">
            <a:r>
              <a:t>- assets/lesson-08/anthropic-autonomous-agent.png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OpenAI recommends an incremental approach and describes agent runs as loops with exit conditions such as errors or maximum turns.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assets/lesson-08/openai-single-agent-loop.png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lowest-complexity controller that reaches the quality target. Measure any agent advantage.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https://www.anthropic.com/engineering/building-effective-agents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chapters/08-workflows-vs-agents.md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Instructor purpose: test the corrected workflow-versus-agent distinction.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chapters/08-workflows-vs-agents.md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Instructor purpose: correct the quiz and restate the decision rule.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chapters/08-workflows-vs-agents.md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419688912a499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d91c63389d94b30" /><Relationship Type="http://schemas.openxmlformats.org/officeDocument/2006/relationships/slideLayout" Target="/ppt/slideLayouts/slideLayout1.xml" Id="R636b849ae1524b2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36b849ae1524b2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e0f2bfd7db4487" /><Relationship Type="http://schemas.openxmlformats.org/officeDocument/2006/relationships/notesSlide" Target="/ppt/notesSlides/notesSlide1.xml" Id="R452e1ffae799440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b7744882a842db" /><Relationship Type="http://schemas.openxmlformats.org/officeDocument/2006/relationships/notesSlide" Target="/ppt/notesSlides/notesSlide2.xml" Id="Rafd53b973c134fc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c92525549e4be0" /><Relationship Type="http://schemas.openxmlformats.org/officeDocument/2006/relationships/image" Target="/ppt/media/image.png" Id="R0db9d7833aea4e47" /><Relationship Type="http://schemas.openxmlformats.org/officeDocument/2006/relationships/notesSlide" Target="/ppt/notesSlides/notesSlide3.xml" Id="R920038513f5543e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b62fcc5e8b400a" /><Relationship Type="http://schemas.openxmlformats.org/officeDocument/2006/relationships/notesSlide" Target="/ppt/notesSlides/notesSlide4.xml" Id="Rce2e06f2ff9d4d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5f8c23ea62443c" /><Relationship Type="http://schemas.openxmlformats.org/officeDocument/2006/relationships/notesSlide" Target="/ppt/notesSlides/notesSlide5.xml" Id="R641b2d8d1990455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f265c0206b454d" /><Relationship Type="http://schemas.openxmlformats.org/officeDocument/2006/relationships/notesSlide" Target="/ppt/notesSlides/notesSlide6.xml" Id="Rc3e5a37fb58a47b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586ea736724a2b" /><Relationship Type="http://schemas.openxmlformats.org/officeDocument/2006/relationships/image" Target="/ppt/media/image2.png" Id="R68224c4e7e764c35" /><Relationship Type="http://schemas.openxmlformats.org/officeDocument/2006/relationships/notesSlide" Target="/ppt/notesSlides/notesSlide7.xml" Id="R69319e4d3d55495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9d1fa7b00a4298" /><Relationship Type="http://schemas.openxmlformats.org/officeDocument/2006/relationships/image" Target="/ppt/media/image3.png" Id="Rc3a991b7c1c94f29" /><Relationship Type="http://schemas.openxmlformats.org/officeDocument/2006/relationships/notesSlide" Target="/ppt/notesSlides/notesSlide8.xml" Id="Rd1c9a7170f1d4a6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cec0003b4f4bec" /><Relationship Type="http://schemas.openxmlformats.org/officeDocument/2006/relationships/notesSlide" Target="/ppt/notesSlides/notesSlide9.xml" Id="R8d3567bbc66e488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41f414e56c480c" /><Relationship Type="http://schemas.openxmlformats.org/officeDocument/2006/relationships/notesSlide" Target="/ppt/notesSlides/notesSlide10.xml" Id="R80be9f7a44b2437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8fe91403124934" /><Relationship Type="http://schemas.openxmlformats.org/officeDocument/2006/relationships/notesSlide" Target="/ppt/notesSlides/notesSlide11.xml" Id="Rf8a1f7063ac8429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1E88F9-4976-411E-8732-D45BE311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81050"/>
            <a:ext cx="1257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solidFill>
              <a:srgbClr val="00A2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C43047-00B1-4B7A-BB36-D272D2C9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0668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FIRST FINANCE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BB9B00-5773-4D90-9774-8BB7FE35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3296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8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48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Who Chooses the Next Step?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1F96F8-8EA3-4B69-A3AF-EBD5CBCD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62350"/>
            <a:ext cx="1123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3F3F42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3F3F42"/>
                </a:solidFill>
                <a:latin typeface="Calibri"/>
                <a:ea typeface="Calibri"/>
                <a:cs typeface="Calibri"/>
              </a:rPr>
              <a:t>Workflows use code-defined routes. Agents let the model direct execution.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A6E89B-2708-4600-B820-727EF660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770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SESSION 08  ·  10 MIN CONCEPTS + 30 MIN NOTEBOOK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3831D6-7D46-4F1A-929F-D2CAD97F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0675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</p:spTree>
    <p:extLst>
      <p:ext uri="{BB962C8B-B14F-4D97-AF65-F5344CB8AC3E}">
        <p14:creationId xmlns:p14="http://schemas.microsoft.com/office/powerpoint/2010/main" val="13162291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F4BAA6-B729-496F-9507-674DB342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667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Is the path known?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6C2DCA-6A55-434D-995F-2D0AB278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3296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Who chooses the next step?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E8B752-5838-4084-A09E-2C38B9D5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03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A53B89-6D78-4803-9B7F-A0162294F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43200"/>
            <a:ext cx="238125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F40C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2FC0D2-12CA-4723-B1F4-C8F21C5F1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8384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Python code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9AAB83-2BB1-4A7A-84F9-1F2BE14A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43200"/>
            <a:ext cx="200025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07D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40ED07-2E49-4E7A-9CBF-23CD3B8CF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384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Coded by you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A5E176-BCBA-4C49-9196-B98EF7C5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43200"/>
            <a:ext cx="167640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F40C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62C752-A7F9-4B50-9D20-A71CEAD8F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3845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Uses results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A9A56C-9DB1-49FF-8E87-2C6B8DB8C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743200"/>
            <a:ext cx="106680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07D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D4F50D-12C3-4331-801A-91C1EC1A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838450"/>
            <a:ext cx="87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Known route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4D2954-A4C1-482E-AAB1-42DAC0BB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28003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PREDICTABLE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122776-3C69-478E-8B1D-4E859ACC8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672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AGENT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20E4D2-1B72-432A-AD48-61D3EF9BC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10050"/>
            <a:ext cx="314325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F40C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9905A1-C4D3-46AB-A516-DCFB88A0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3053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One model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2240E6-0102-4064-B038-AB12EDED6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210050"/>
            <a:ext cx="295275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00A2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CBA82F-0F85-40C1-9BE1-6E7847AE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3053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Chosen by the model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D7C7D4-5A09-43DC-B381-56DF305B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210050"/>
            <a:ext cx="200025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F40C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2F20F1-CF35-4789-AC4A-62229AB1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3053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Selects tools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8CD3E4-48E0-4421-8A8E-9A03948E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2672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VARIABLE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8DF2BD-542C-4821-AB60-F914C2D7D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340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E8B57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2E8B57"/>
                </a:solidFill>
                <a:latin typeface="Calibri"/>
                <a:ea typeface="Calibri"/>
                <a:cs typeface="Calibri"/>
              </a:rPr>
              <a:t>VALUE TEST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D1C47B-0B67-4AFB-8BDC-2F9D29D0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676900"/>
            <a:ext cx="331470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F40C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2F7603-BBFF-4854-9F2D-F8FF1E3B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772150"/>
            <a:ext cx="3124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Quality gain?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8F6C86-F0E1-4812-B3DD-797EA0ED5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676900"/>
            <a:ext cx="478155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2E8B5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A6A990-C3AB-4ED0-A029-B6138AA5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772150"/>
            <a:ext cx="4591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Must beat workflow baseline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845B58-81DD-48AA-9B5B-C9CA27F8A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57340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2E8B57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2E8B57"/>
                </a:solidFill>
                <a:latin typeface="Calibri"/>
                <a:ea typeface="Calibri"/>
                <a:cs typeface="Calibri"/>
              </a:rPr>
              <a:t>MEASURE IT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021015-2BDE-427C-B7E6-89D40DC75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19400"/>
            <a:ext cx="28575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1760BB-B653-4A2F-A39B-D370FC39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38950"/>
            <a:ext cx="131635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1E5"/>
          </a:solidFill>
          <a:ln xmlns:a="http://schemas.openxmlformats.org/drawingml/2006/main" w="9525">
            <a:solidFill>
              <a:srgbClr val="F07D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A73608-CD25-41CB-8836-D0C27AC5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934200"/>
            <a:ext cx="1247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Tool output does not define an agent. The controller does.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E0B34D-9DCB-48D8-8070-C30B3364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1352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FB9970-6C67-40D6-AFF0-F0FE598E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800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solidFill>
              <a:srgbClr val="00A2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03E1FB-8ACB-4423-AB2C-92A3E103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0581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7028D7-2EEC-4312-806B-59F42D9F1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8058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COMPARE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34563E-9E00-41F4-886E-137032B6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80581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261414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EAFBC5-0120-406B-9113-A189734D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667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WORKFLOW PROOF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88E1BA-062C-4D13-89C4-9762E55D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3296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Workflows can use results, branch and stop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128475-820B-447C-A724-7D8A3132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2103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If you can draw every step before the run, use a workflow.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5F2AAD-81FC-436A-88F7-89F49C9F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8389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Anthropic · prompt chaining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E04AD7-6CBE-4792-B549-765578FB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68389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Fixed path + programmatic gate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CBA7AE-993C-4F84-A696-8D1323AC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1352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97BF4D-EDBC-4480-A82B-512A7222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800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solidFill>
              <a:srgbClr val="00A2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281B64-2F0F-4357-A085-C65451F2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0581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A325A4-7EC6-42CE-A13A-4B38A32D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8058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COMPARE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7FB65A-4A0D-4595-92F4-FD9B7163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80581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b9d7833aea4e47"/>
          <a:srcRect xmlns:a="http://schemas.openxmlformats.org/drawingml/2006/main" l="0" t="16457" r="0" b="164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3000" y="2266950"/>
            <a:ext cx="12954000" cy="3619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5107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F4BAA6-B729-496F-9507-674DB342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667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TYPED TOOL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6C2DCA-6A55-434D-995F-2D0AB278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3296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The model proposes. Python validates and runs.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E8B752-5838-4084-A09E-2C38B9D5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03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MODEL REQUEST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A53B89-6D78-4803-9B7F-A0162294F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43200"/>
            <a:ext cx="238125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F40C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2FC0D2-12CA-4723-B1F4-C8F21C5F1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8384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tool name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9AAB83-2BB1-4A7A-84F9-1F2BE14A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43200"/>
            <a:ext cx="200025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07D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40ED07-2E49-4E7A-9CBF-23CD3B8CF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384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arguments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A5E176-BCBA-4C49-9196-B98EF7C5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43200"/>
            <a:ext cx="167640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F40C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62C752-A7F9-4B50-9D20-A71CEAD8F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3845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validate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A9A56C-9DB1-49FF-8E87-2C6B8DB8C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743200"/>
            <a:ext cx="106680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07D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D4F50D-12C3-4331-801A-91C1EC1A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838450"/>
            <a:ext cx="87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typed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4D2954-A4C1-482E-AAB1-42DAC0BB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28003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Invalid requests stop here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122776-3C69-478E-8B1D-4E859ACC8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672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PYTHON EXECUTION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20E4D2-1B72-432A-AD48-61D3EF9BC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10050"/>
            <a:ext cx="314325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F40C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9905A1-C4D3-46AB-A516-DCFB88A0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3053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get_market_price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2240E6-0102-4064-B038-AB12EDED6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210050"/>
            <a:ext cx="295275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00A2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CBA82F-0F85-40C1-9BE1-6E7847AE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3053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convert_currency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D7C7D4-5A09-43DC-B381-56DF305B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210050"/>
            <a:ext cx="200025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F40C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2F20F1-CF35-4789-AC4A-62229AB1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3053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tool registry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8CD3E4-48E0-4421-8A8E-9A03948E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2672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tool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8DF2BD-542C-4821-AB60-F914C2D7D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340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E8B57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2E8B57"/>
                </a:solidFill>
                <a:latin typeface="Calibri"/>
                <a:ea typeface="Calibri"/>
                <a:cs typeface="Calibri"/>
              </a:rPr>
              <a:t>TYPED OBSERVATION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D1C47B-0B67-4AFB-8BDC-2F9D29D0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676900"/>
            <a:ext cx="331470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F40C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2F7603-BBFF-4854-9F2D-F8FF1E3B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772150"/>
            <a:ext cx="3124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value · currency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8F6C86-F0E1-4812-B3DD-797EA0ED5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676900"/>
            <a:ext cx="478155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2E8B5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A6A990-C3AB-4ED0-A029-B6138AA5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772150"/>
            <a:ext cx="4591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source · date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845B58-81DD-48AA-9B5B-C9CA27F8A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57340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2E8B57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2E8B57"/>
                </a:solidFill>
                <a:latin typeface="Calibri"/>
                <a:ea typeface="Calibri"/>
                <a:cs typeface="Calibri"/>
              </a:rPr>
              <a:t>verified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021015-2BDE-427C-B7E6-89D40DC75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19400"/>
            <a:ext cx="28575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1760BB-B653-4A2F-A39B-D370FC39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38950"/>
            <a:ext cx="131635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1E5"/>
          </a:solidFill>
          <a:ln xmlns:a="http://schemas.openxmlformats.org/drawingml/2006/main" w="9525">
            <a:solidFill>
              <a:srgbClr val="F07D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A73608-CD25-41CB-8836-D0C27AC5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934200"/>
            <a:ext cx="1247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Schemas, allowlists and provenance stay deterministic.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E0B34D-9DCB-48D8-8070-C30B3364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1352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FB9970-6C67-40D6-AFF0-F0FE598E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800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solidFill>
              <a:srgbClr val="00A2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03E1FB-8ACB-4423-AB2C-92A3E103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0581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7028D7-2EEC-4312-806B-59F42D9F1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8058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TOOLS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34563E-9E00-41F4-886E-137032B6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80581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261414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EAFBC5-0120-406B-9113-A189734D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667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DIRECT LOOKUP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88E1BA-062C-4D13-89C4-9762E55D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3296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One known action: use a one-step workflow</a:t>
            </a:r>
          </a:p>
        </p:txBody>
      </p:sp>
      <p:sp>
        <p:nvSpPr>
          <p:cNvPr id="3" name="ingestion-1">
            <a:extLst xmlns:a="http://schemas.openxmlformats.org/drawingml/2006/main">
              <a:ext uri="{FF2B5EF4-FFF2-40B4-BE49-F238E27FC236}">
                <a16:creationId xmlns:a16="http://schemas.microsoft.com/office/drawing/2014/main" id="{EF5CEA91-0836-4E99-95C1-43A271A1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86100"/>
            <a:ext cx="2247900" cy="2266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163ADC-FDBA-49AB-AB53-62FA2910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956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D1AD73-F995-4369-A266-8FA41354C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5285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Question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A7F72B-07B6-4BF4-A3F9-5860F8AC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101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NVDA price?</a:t>
            </a:r>
          </a:p>
        </p:txBody>
      </p:sp>
      <p:sp>
        <p:nvSpPr>
          <p:cNvPr id="7" name="ingestion-2">
            <a:extLst xmlns:a="http://schemas.openxmlformats.org/drawingml/2006/main">
              <a:ext uri="{FF2B5EF4-FFF2-40B4-BE49-F238E27FC236}">
                <a16:creationId xmlns:a16="http://schemas.microsoft.com/office/drawing/2014/main" id="{B39DEECB-E0D1-415A-8F2A-C8075A6D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86100"/>
            <a:ext cx="2247900" cy="2266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679081-8A68-4B7E-9199-340CF957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956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095E54-44DC-4092-9EB7-0C81E4B4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75285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Choose tool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B65E8E-6BA9-40DB-99F9-46D3397B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101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choose one tool</a:t>
            </a:r>
          </a:p>
        </p:txBody>
      </p:sp>
      <p:sp>
        <p:nvSpPr>
          <p:cNvPr id="11" name="ingestion-3">
            <a:extLst xmlns:a="http://schemas.openxmlformats.org/drawingml/2006/main">
              <a:ext uri="{FF2B5EF4-FFF2-40B4-BE49-F238E27FC236}">
                <a16:creationId xmlns:a16="http://schemas.microsoft.com/office/drawing/2014/main" id="{D4342A97-3791-461F-A305-9671DA49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86100"/>
            <a:ext cx="2247900" cy="2266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062433"/>
          </a:solidFill>
          <a:ln xmlns:a="http://schemas.openxmlformats.org/drawingml/2006/main" w="9525">
            <a:solidFill>
              <a:srgbClr val="06243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E49A95-2D88-4387-8BD5-FA749ABD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2956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2D3874-F985-4CD0-BBFF-D59F5B7B3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75285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get_market_price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99AF29-91DE-47C0-8189-B0778BB52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6101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Python call</a:t>
            </a:r>
          </a:p>
        </p:txBody>
      </p:sp>
      <p:sp>
        <p:nvSpPr>
          <p:cNvPr id="15" name="ingestion-4">
            <a:extLst xmlns:a="http://schemas.openxmlformats.org/drawingml/2006/main">
              <a:ext uri="{FF2B5EF4-FFF2-40B4-BE49-F238E27FC236}">
                <a16:creationId xmlns:a16="http://schemas.microsoft.com/office/drawing/2014/main" id="{7952DE37-BD86-481C-A575-8709971DD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086100"/>
            <a:ext cx="2247900" cy="2266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EC2EC9-18A1-4F72-A64D-AF536DDC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2956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40FD5A-1C0F-4BE1-B862-685F20D0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75285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Observation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E52B70-645C-40F7-B0DE-1D1D17787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101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price · currency · source</a:t>
            </a:r>
          </a:p>
        </p:txBody>
      </p:sp>
      <p:sp>
        <p:nvSpPr>
          <p:cNvPr id="19" name="ingestion-5">
            <a:extLst xmlns:a="http://schemas.openxmlformats.org/drawingml/2006/main">
              <a:ext uri="{FF2B5EF4-FFF2-40B4-BE49-F238E27FC236}">
                <a16:creationId xmlns:a16="http://schemas.microsoft.com/office/drawing/2014/main" id="{43F7E1B1-E237-4A79-B0C4-38965CF32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3086100"/>
            <a:ext cx="2247900" cy="2266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07D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764D39-05B0-4F08-BC2B-2221BE2F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32956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F4CBB5-9FF7-4C7B-8D8C-5AA3541DD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75285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Answer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56B515-B8BF-4B9C-8D6B-EC909D2B3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46101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from tool data</a:t>
            </a:r>
          </a:p>
        </p:txBody>
      </p:sp>
      <p:cxnSp>
        <p:nvCxnSpPr>
          <p:cNvPr id="577" name=""/>
          <p:cNvCxnSpPr>
            <a:stCxn xmlns:a="http://schemas.openxmlformats.org/drawingml/2006/main" id="3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42195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A9A9F"/>
            </a:solidFill>
            <a:prstDash val="solid"/>
            <a:tailEnd type="triangle" w="med" len="med"/>
          </a:ln>
        </p:spPr>
      </p:cxnSp>
      <p:cxnSp>
        <p:nvCxnSpPr>
          <p:cNvPr id="578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057900" y="42195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A9A9F"/>
            </a:solidFill>
            <a:prstDash val="solid"/>
            <a:tailEnd type="triangle" w="med" len="med"/>
          </a:ln>
        </p:spPr>
      </p:cxnSp>
      <p:cxnSp>
        <p:nvCxnSpPr>
          <p:cNvPr id="579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877300" y="42195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A9A9F"/>
            </a:solidFill>
            <a:prstDash val="solid"/>
            <a:tailEnd type="triangle" w="med" len="med"/>
          </a:ln>
        </p:spPr>
      </p:cxnSp>
      <p:cxnSp>
        <p:nvCxnSpPr>
          <p:cNvPr id="580" name=""/>
          <p:cNvCxnSpPr>
            <a:stCxn xmlns:a="http://schemas.openxmlformats.org/drawingml/2006/main" id="15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11696700" y="42195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A9A9F"/>
            </a:solidFill>
            <a:prstDash val="solid"/>
            <a:tailEnd type="triangle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128475-820B-447C-A724-7D8A3132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2103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No model-directed loop is needed.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5F2AAD-81FC-436A-88F7-89F49C9F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8389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known path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E04AD7-6CBE-4792-B549-765578FB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68389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predictable · easy to test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CBA7AE-993C-4F84-A696-8D1323AC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1352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97BF4D-EDBC-4480-A82B-512A7222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800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solidFill>
              <a:srgbClr val="00A2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281B64-2F0F-4357-A085-C65451F2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0581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A325A4-7EC6-42CE-A13A-4B38A32D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8058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WORKFLOW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7FB65A-4A0D-4595-92F4-FD9B7163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80581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695107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EAFBC5-0120-406B-9113-A189734D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667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TWO-STEP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88E1BA-062C-4D13-89C4-9762E55D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3296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Price to FX succeeds because code owns the route</a:t>
            </a:r>
          </a:p>
        </p:txBody>
      </p:sp>
      <p:sp>
        <p:nvSpPr>
          <p:cNvPr id="3" name="ingestion-1">
            <a:extLst xmlns:a="http://schemas.openxmlformats.org/drawingml/2006/main">
              <a:ext uri="{FF2B5EF4-FFF2-40B4-BE49-F238E27FC236}">
                <a16:creationId xmlns:a16="http://schemas.microsoft.com/office/drawing/2014/main" id="{EF5CEA91-0836-4E99-95C1-43A271A1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86100"/>
            <a:ext cx="2247900" cy="2266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163ADC-FDBA-49AB-AB53-62FA2910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956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D1AD73-F995-4369-A266-8FA41354C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5285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Question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A7F72B-07B6-4BF4-A3F9-5860F8AC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101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NVDA price in EUR</a:t>
            </a:r>
          </a:p>
        </p:txBody>
      </p:sp>
      <p:sp>
        <p:nvSpPr>
          <p:cNvPr id="7" name="ingestion-2">
            <a:extLst xmlns:a="http://schemas.openxmlformats.org/drawingml/2006/main">
              <a:ext uri="{FF2B5EF4-FFF2-40B4-BE49-F238E27FC236}">
                <a16:creationId xmlns:a16="http://schemas.microsoft.com/office/drawing/2014/main" id="{B39DEECB-E0D1-415A-8F2A-C8075A6D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86100"/>
            <a:ext cx="2247900" cy="2266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679081-8A68-4B7E-9199-340CF957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956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095E54-44DC-4092-9EB7-0C81E4B4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75285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Code route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B65E8E-6BA9-40DB-99F9-46D3397B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101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price then FX</a:t>
            </a:r>
          </a:p>
        </p:txBody>
      </p:sp>
      <p:sp>
        <p:nvSpPr>
          <p:cNvPr id="11" name="ingestion-3">
            <a:extLst xmlns:a="http://schemas.openxmlformats.org/drawingml/2006/main">
              <a:ext uri="{FF2B5EF4-FFF2-40B4-BE49-F238E27FC236}">
                <a16:creationId xmlns:a16="http://schemas.microsoft.com/office/drawing/2014/main" id="{D4342A97-3791-461F-A305-9671DA49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86100"/>
            <a:ext cx="2247900" cy="2266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062433"/>
          </a:solidFill>
          <a:ln xmlns:a="http://schemas.openxmlformats.org/drawingml/2006/main" w="9525">
            <a:solidFill>
              <a:srgbClr val="06243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E49A95-2D88-4387-8BD5-FA749ABD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2956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2D3874-F985-4CD0-BBFF-D59F5B7B3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75285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get_market_price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99AF29-91DE-47C0-8189-B0778BB52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6101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214.57 USD</a:t>
            </a:r>
          </a:p>
        </p:txBody>
      </p:sp>
      <p:sp>
        <p:nvSpPr>
          <p:cNvPr id="15" name="ingestion-4">
            <a:extLst xmlns:a="http://schemas.openxmlformats.org/drawingml/2006/main">
              <a:ext uri="{FF2B5EF4-FFF2-40B4-BE49-F238E27FC236}">
                <a16:creationId xmlns:a16="http://schemas.microsoft.com/office/drawing/2014/main" id="{7952DE37-BD86-481C-A575-8709971DD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086100"/>
            <a:ext cx="2247900" cy="2266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EC2EC9-18A1-4F72-A64D-AF536DDC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2956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40FD5A-1C0F-4BE1-B862-685F20D0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75285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Pass observed value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E52B70-645C-40F7-B0DE-1D1D17787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101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214.57 USD</a:t>
            </a:r>
          </a:p>
        </p:txBody>
      </p:sp>
      <p:sp>
        <p:nvSpPr>
          <p:cNvPr id="19" name="ingestion-5">
            <a:extLst xmlns:a="http://schemas.openxmlformats.org/drawingml/2006/main">
              <a:ext uri="{FF2B5EF4-FFF2-40B4-BE49-F238E27FC236}">
                <a16:creationId xmlns:a16="http://schemas.microsoft.com/office/drawing/2014/main" id="{43F7E1B1-E237-4A79-B0C4-38965CF32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3086100"/>
            <a:ext cx="2247900" cy="2266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07D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764D39-05B0-4F08-BC2B-2221BE2F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32956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F4CBB5-9FF7-4C7B-8D8C-5AA3541DD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75285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convert_currency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56B515-B8BF-4B9C-8D6B-EC909D2B3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46101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183.76 EUR</a:t>
            </a:r>
          </a:p>
        </p:txBody>
      </p:sp>
      <p:cxnSp>
        <p:nvCxnSpPr>
          <p:cNvPr id="577" name=""/>
          <p:cNvCxnSpPr>
            <a:stCxn xmlns:a="http://schemas.openxmlformats.org/drawingml/2006/main" id="3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42195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A9A9F"/>
            </a:solidFill>
            <a:prstDash val="solid"/>
            <a:tailEnd type="triangle" w="med" len="med"/>
          </a:ln>
        </p:spPr>
      </p:cxnSp>
      <p:cxnSp>
        <p:nvCxnSpPr>
          <p:cNvPr id="578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057900" y="42195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A9A9F"/>
            </a:solidFill>
            <a:prstDash val="solid"/>
            <a:tailEnd type="triangle" w="med" len="med"/>
          </a:ln>
        </p:spPr>
      </p:cxnSp>
      <p:cxnSp>
        <p:nvCxnSpPr>
          <p:cNvPr id="579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877300" y="42195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A9A9F"/>
            </a:solidFill>
            <a:prstDash val="solid"/>
            <a:tailEnd type="triangle" w="med" len="med"/>
          </a:ln>
        </p:spPr>
      </p:cxnSp>
      <p:cxnSp>
        <p:nvCxnSpPr>
          <p:cNvPr id="580" name=""/>
          <p:cNvCxnSpPr>
            <a:stCxn xmlns:a="http://schemas.openxmlformats.org/drawingml/2006/main" id="15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11696700" y="42195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A9A9F"/>
            </a:solidFill>
            <a:prstDash val="solid"/>
            <a:tailEnd type="triangle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128475-820B-447C-A724-7D8A3132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2103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A dependency is data flow, not agent control.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5F2AAD-81FC-436A-88F7-89F49C9F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8389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route known before run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E04AD7-6CBE-4792-B549-765578FB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68389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workflow status: completed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CBA7AE-993C-4F84-A696-8D1323AC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1352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97BF4D-EDBC-4480-A82B-512A7222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800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solidFill>
              <a:srgbClr val="00A2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281B64-2F0F-4357-A085-C65451F2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0581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A325A4-7EC6-42CE-A13A-4B38A32D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8058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WORKFLOW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7FB65A-4A0D-4595-92F4-FD9B7163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80581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695107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EAFBC5-0120-406B-9113-A189734D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667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AGENT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88E1BA-062C-4D13-89C4-9762E55D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3296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An agent lets the model choose after each result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128475-820B-447C-A724-7D8A3132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2103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Environment feedback changes the model's next action.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5F2AAD-81FC-436A-88F7-89F49C9F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8389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Anthropic · autonomous agent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E04AD7-6CBE-4792-B549-765578FB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68389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MAX_STEPS = 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CBA7AE-993C-4F84-A696-8D1323AC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1352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97BF4D-EDBC-4480-A82B-512A7222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800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solidFill>
              <a:srgbClr val="00A2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281B64-2F0F-4357-A085-C65451F2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0581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A325A4-7EC6-42CE-A13A-4B38A32D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8058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AGENT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7FB65A-4A0D-4595-92F4-FD9B7163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80581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224c4e7e764c35"/>
          <a:srcRect xmlns:a="http://schemas.openxmlformats.org/drawingml/2006/main" l="0" t="11468" r="0" b="114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14500" y="2238375"/>
            <a:ext cx="11811000" cy="3790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5107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EAFBC5-0120-406B-9113-A189734D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667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BOUNDED BY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88E1BA-062C-4D13-89C4-9762E55D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3296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An agent still needs tools, instructions and exit conditions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128475-820B-447C-A724-7D8A3132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2103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The model directs execution. The application owns the boundary.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5F2AAD-81FC-436A-88F7-89F49C9F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8389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OpenAI · single-agent system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E04AD7-6CBE-4792-B549-765578FB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68389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MAX_STEPS stops the loop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CBA7AE-993C-4F84-A696-8D1323AC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1352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97BF4D-EDBC-4480-A82B-512A7222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800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solidFill>
              <a:srgbClr val="00A2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281B64-2F0F-4357-A085-C65451F2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0581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A325A4-7EC6-42CE-A13A-4B38A32D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8058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TRACE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7FB65A-4A0D-4595-92F4-FD9B7163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80581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08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a991b7c1c94f29"/>
          <a:srcRect xmlns:a="http://schemas.openxmlformats.org/drawingml/2006/main" l="0" t="34975" r="0" b="349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6500" y="2143125"/>
            <a:ext cx="10287000" cy="400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5107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84E1CF-DA64-4EFC-8528-B207517D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667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WORKFLOW OR AGENT?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EDDB7F-E2AD-4762-B051-D3A0AC29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3296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Choose an agent only when the model adds measured value</a:t>
            </a:r>
          </a:p>
        </p:txBody>
      </p:sp>
      <p:sp>
        <p:nvSpPr>
          <p:cNvPr id="3" name="decision-source">
            <a:extLst xmlns:a="http://schemas.openxmlformats.org/drawingml/2006/main">
              <a:ext uri="{FF2B5EF4-FFF2-40B4-BE49-F238E27FC236}">
                <a16:creationId xmlns:a16="http://schemas.microsoft.com/office/drawing/2014/main" id="{F0F1628B-25FC-4A7D-9ACB-11ED41518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90850"/>
            <a:ext cx="27241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CDE4FD-810A-4BB6-A9E2-9D453E2B4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813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AA52CC-262C-4723-8C2E-E43262748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57600"/>
            <a:ext cx="2190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Known path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Coded by you</a:t>
            </a:r>
          </a:p>
        </p:txBody>
      </p:sp>
      <p:sp>
        <p:nvSpPr>
          <p:cNvPr id="6" name="decision-child">
            <a:extLst xmlns:a="http://schemas.openxmlformats.org/drawingml/2006/main">
              <a:ext uri="{FF2B5EF4-FFF2-40B4-BE49-F238E27FC236}">
                <a16:creationId xmlns:a16="http://schemas.microsoft.com/office/drawing/2014/main" id="{E359D7F5-9555-4867-8587-2F8EC525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857500"/>
            <a:ext cx="325755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8F6FB"/>
          </a:solidFill>
          <a:ln xmlns:a="http://schemas.openxmlformats.org/drawingml/2006/main" w="19050">
            <a:solidFill>
              <a:srgbClr val="00A2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C45E62-2BDC-4F11-8E8E-92ACD6B6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914650"/>
            <a:ext cx="2647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AGENT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F2A998-C21C-458F-BEED-48651392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390900"/>
            <a:ext cx="26479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0000"/>
              </a:lnSpc>
              <a:buNone/>
              <a:defRPr sz="2175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Open-ended path</a:t>
            </a:r>
          </a:p>
          <a:p xmlns:a="http://schemas.openxmlformats.org/drawingml/2006/main">
            <a:pPr algn="ctr">
              <a:lnSpc>
                <a:spcPct val="80000"/>
              </a:lnSpc>
              <a:buNone/>
              <a:defRPr sz="2175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Chosen by the 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8A313B-A32E-4318-B50D-32C78656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191000"/>
            <a:ext cx="2647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70000"/>
              </a:lnSpc>
              <a:buNone/>
              <a:defRPr sz="1275" b="0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typed tools · trace</a:t>
            </a:r>
          </a:p>
          <a:p xmlns:a="http://schemas.openxmlformats.org/drawingml/2006/main">
            <a:pPr algn="ctr">
              <a:lnSpc>
                <a:spcPct val="70000"/>
              </a:lnSpc>
              <a:buNone/>
              <a:defRPr sz="1275" b="0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MAX_STEPS</a:t>
            </a:r>
          </a:p>
        </p:txBody>
      </p:sp>
      <p:sp>
        <p:nvSpPr>
          <p:cNvPr id="10" name="decision-parent">
            <a:extLst xmlns:a="http://schemas.openxmlformats.org/drawingml/2006/main">
              <a:ext uri="{FF2B5EF4-FFF2-40B4-BE49-F238E27FC236}">
                <a16:creationId xmlns:a16="http://schemas.microsoft.com/office/drawing/2014/main" id="{7E8CC043-3F7C-4B5E-B01A-E942C33D8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990850"/>
            <a:ext cx="35433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062433"/>
          </a:solidFill>
          <a:ln xmlns:a="http://schemas.openxmlformats.org/drawingml/2006/main" w="9525">
            <a:solidFill>
              <a:srgbClr val="06243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95FD15-7156-4E52-87B2-404D6260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18135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LESSON 09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CEFAC4-B99C-4E5B-B744-4D0EEDB1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638550"/>
            <a:ext cx="2933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tool errors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+ safe retry</a:t>
            </a:r>
          </a:p>
        </p:txBody>
      </p:sp>
      <p:cxnSp>
        <p:nvCxnSpPr>
          <p:cNvPr id="320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752850" y="3771900"/>
            <a:ext cx="1409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07D00"/>
            </a:solidFill>
            <a:prstDash val="solid"/>
            <a:tailEnd type="triangle" w="med" len="med"/>
          </a:ln>
        </p:spPr>
      </p:cxnSp>
      <p:cxnSp>
        <p:nvCxnSpPr>
          <p:cNvPr id="321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0">
            <a:off x="8420100" y="3771900"/>
            <a:ext cx="1409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07D00"/>
            </a:solidFill>
            <a:prstDash val="solid"/>
            <a:tailEnd type="triangl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1BEF3A-6A25-4B3F-8E60-6108148E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467350"/>
            <a:ext cx="12039600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E4947E-2E2C-4D5A-B088-DFED206E7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6388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DECISION RULE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1A217F-7E45-4462-994A-E1A7947A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9626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95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Use an agent only when model-directed control flow creates measurable value.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74CAF0-D3F9-408B-B959-2864FA71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638800"/>
            <a:ext cx="285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C058E3-0326-4715-852F-1F8B32F61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6388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EVALUATE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A9B25E-ADFB-4067-BF4C-46A5AE9F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9626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quality · latency · cost · failure rate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AA4B4E-BD27-48A6-A4E1-ACF33C62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0866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NEXT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9B97AA-C4C9-4A8D-997E-C7AD0F31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6991350"/>
            <a:ext cx="11410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Lesson 09: explicit state, recovery and safe retries.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A8D079-E333-430B-9198-F3840FF42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1352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B1FA6E-7D19-4BD4-95AB-A7A96F2D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800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solidFill>
              <a:srgbClr val="00A2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21D69C-B05C-4F0B-A6BD-0B4E43C7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0581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A9C6EC-5AC1-4AD4-9D79-D0462CD01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8058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DECIDE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0F561A-2997-41E1-8361-56739584F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80581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635715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1E88F9-4976-411E-8732-D45BE311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81050"/>
            <a:ext cx="1257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solidFill>
              <a:srgbClr val="00A2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C43047-00B1-4B7A-BB36-D272D2C9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0668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FIRST FINANCE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BB9B00-5773-4D90-9774-8BB7FE35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3296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8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48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Quick quiz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1F96F8-8EA3-4B69-A3AF-EBD5CBCD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62350"/>
            <a:ext cx="1123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3F3F42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3F3F42"/>
                </a:solidFill>
                <a:latin typeface="Calibri"/>
                <a:ea typeface="Calibri"/>
                <a:cs typeface="Calibri"/>
              </a:rPr>
              <a:t>Choose one answer for each question.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A6E89B-2708-4600-B820-727EF660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770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LESSON 08  ·  3 QUESTIONS  ·  3 MINUTES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3831D6-7D46-4F1A-929F-D2CAD97F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0675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  <p:sp>
        <p:nvSpPr>
          <p:cNvPr id="8" name="quiz-question-1">
            <a:extLst xmlns:a="http://schemas.openxmlformats.org/drawingml/2006/main">
              <a:ext uri="{FF2B5EF4-FFF2-40B4-BE49-F238E27FC236}">
                <a16:creationId xmlns:a16="http://schemas.microsoft.com/office/drawing/2014/main" id="{A22FBA4B-A32B-4E0B-BFC1-53EA0C170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00550"/>
            <a:ext cx="1329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01B2E"/>
                </a:solidFill>
              </a:defRPr>
            </a:pPr>
            <a:r>
              <a:rPr sz="1500" b="1">
                <a:solidFill>
                  <a:srgbClr val="001B2E"/>
                </a:solidFill>
              </a:rPr>
              <a:t>1. Can a workflow pass one tool result into the next step?</a:t>
            </a:r>
          </a:p>
        </p:txBody>
      </p:sp>
      <p:sp>
        <p:nvSpPr>
          <p:cNvPr id="9" name="quiz-options-1">
            <a:extLst xmlns:a="http://schemas.openxmlformats.org/drawingml/2006/main">
              <a:ext uri="{FF2B5EF4-FFF2-40B4-BE49-F238E27FC236}">
                <a16:creationId xmlns:a16="http://schemas.microsoft.com/office/drawing/2014/main" id="{7F7EFDC0-5A12-4118-8D8C-E460584D0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05350"/>
            <a:ext cx="1301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A  Yes, if code defines the route     |     B  No     |     C  Only with agents</a:t>
            </a:r>
          </a:p>
        </p:txBody>
      </p:sp>
      <p:sp>
        <p:nvSpPr>
          <p:cNvPr id="10" name="quiz-question-2">
            <a:extLst xmlns:a="http://schemas.openxmlformats.org/drawingml/2006/main">
              <a:ext uri="{FF2B5EF4-FFF2-40B4-BE49-F238E27FC236}">
                <a16:creationId xmlns:a16="http://schemas.microsoft.com/office/drawing/2014/main" id="{F6C9F60E-40B2-484F-9A1F-8ACA13694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86350"/>
            <a:ext cx="1329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01B2E"/>
                </a:solidFill>
              </a:defRPr>
            </a:pPr>
            <a:r>
              <a:rPr sz="1500" b="1">
                <a:solidFill>
                  <a:srgbClr val="001B2E"/>
                </a:solidFill>
              </a:rPr>
              <a:t>2. What makes the system an agent?</a:t>
            </a:r>
          </a:p>
        </p:txBody>
      </p:sp>
      <p:sp>
        <p:nvSpPr>
          <p:cNvPr id="11" name="quiz-options-2">
            <a:extLst xmlns:a="http://schemas.openxmlformats.org/drawingml/2006/main">
              <a:ext uri="{FF2B5EF4-FFF2-40B4-BE49-F238E27FC236}">
                <a16:creationId xmlns:a16="http://schemas.microsoft.com/office/drawing/2014/main" id="{20D52223-62E0-4113-9B99-ADAB0BC2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391150"/>
            <a:ext cx="1301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A  The model chooses the next action     |     B  It uses two tools     |     C  It has a loop</a:t>
            </a:r>
          </a:p>
        </p:txBody>
      </p:sp>
      <p:sp>
        <p:nvSpPr>
          <p:cNvPr id="12" name="quiz-question-3">
            <a:extLst xmlns:a="http://schemas.openxmlformats.org/drawingml/2006/main">
              <a:ext uri="{FF2B5EF4-FFF2-40B4-BE49-F238E27FC236}">
                <a16:creationId xmlns:a16="http://schemas.microsoft.com/office/drawing/2014/main" id="{FF6A2B7E-2832-4229-AC43-3471534AD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772150"/>
            <a:ext cx="1329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01B2E"/>
                </a:solidFill>
              </a:defRPr>
            </a:pPr>
            <a:r>
              <a:rPr sz="1500" b="1">
                <a:solidFill>
                  <a:srgbClr val="001B2E"/>
                </a:solidFill>
              </a:rPr>
              <a:t>3. When should you add an agent?</a:t>
            </a:r>
          </a:p>
        </p:txBody>
      </p:sp>
      <p:sp>
        <p:nvSpPr>
          <p:cNvPr id="13" name="quiz-options-3">
            <a:extLst xmlns:a="http://schemas.openxmlformats.org/drawingml/2006/main">
              <a:ext uri="{FF2B5EF4-FFF2-40B4-BE49-F238E27FC236}">
                <a16:creationId xmlns:a16="http://schemas.microsoft.com/office/drawing/2014/main" id="{D31374D8-5F86-4EBA-B834-11D12030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076950"/>
            <a:ext cx="1301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A  Measured value on an open path     |     B  Every multi-step task     |     C  When code is hard</a:t>
            </a:r>
          </a:p>
        </p:txBody>
      </p:sp>
    </p:spTree>
    <p:extLst>
      <p:ext uri="{BB962C8B-B14F-4D97-AF65-F5344CB8AC3E}">
        <p14:creationId xmlns:p14="http://schemas.microsoft.com/office/powerpoint/2010/main" val="131622913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1E88F9-4976-411E-8732-D45BE311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81050"/>
            <a:ext cx="1257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solidFill>
              <a:srgbClr val="00A2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C43047-00B1-4B7A-BB36-D272D2C9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0668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FIRST FINANCE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BB9B00-5773-4D90-9774-8BB7FE35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3296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8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48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Answers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1F96F8-8EA3-4B69-A3AF-EBD5CBCD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62350"/>
            <a:ext cx="1123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3F3F42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3F3F42"/>
                </a:solidFill>
                <a:latin typeface="Calibri"/>
                <a:ea typeface="Calibri"/>
                <a:cs typeface="Calibri"/>
              </a:rPr>
              <a:t>Check the idea, not only the letter.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A6E89B-2708-4600-B820-727EF660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770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LESSON 08  ·  CORRECTION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3831D6-7D46-4F1A-929F-D2CAD97F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0675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  <p:sp>
        <p:nvSpPr>
          <p:cNvPr id="8" name="quiz-answer-1">
            <a:extLst xmlns:a="http://schemas.openxmlformats.org/drawingml/2006/main">
              <a:ext uri="{FF2B5EF4-FFF2-40B4-BE49-F238E27FC236}">
                <a16:creationId xmlns:a16="http://schemas.microsoft.com/office/drawing/2014/main" id="{695168D3-A440-48E1-B278-691346A4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00550"/>
            <a:ext cx="1329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F40CB"/>
                </a:solidFill>
              </a:defRPr>
            </a:pPr>
            <a:r>
              <a:rPr sz="1500" b="1">
                <a:solidFill>
                  <a:srgbClr val="1F40CB"/>
                </a:solidFill>
              </a:rPr>
              <a:t>1. A. Yes, if code defines the route</a:t>
            </a:r>
          </a:p>
        </p:txBody>
      </p:sp>
      <p:sp>
        <p:nvSpPr>
          <p:cNvPr id="9" name="quiz-explanation-1">
            <a:extLst xmlns:a="http://schemas.openxmlformats.org/drawingml/2006/main">
              <a:ext uri="{FF2B5EF4-FFF2-40B4-BE49-F238E27FC236}">
                <a16:creationId xmlns:a16="http://schemas.microsoft.com/office/drawing/2014/main" id="{2322894C-72E6-4952-908E-CA3942C3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05350"/>
            <a:ext cx="1301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Workflows can chain, branch and loop through observed data.</a:t>
            </a:r>
          </a:p>
        </p:txBody>
      </p:sp>
      <p:sp>
        <p:nvSpPr>
          <p:cNvPr id="10" name="quiz-answer-2">
            <a:extLst xmlns:a="http://schemas.openxmlformats.org/drawingml/2006/main">
              <a:ext uri="{FF2B5EF4-FFF2-40B4-BE49-F238E27FC236}">
                <a16:creationId xmlns:a16="http://schemas.microsoft.com/office/drawing/2014/main" id="{B4B6F4C2-04CC-4E9D-9EFD-D495623E7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86350"/>
            <a:ext cx="1329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F40CB"/>
                </a:solidFill>
              </a:defRPr>
            </a:pPr>
            <a:r>
              <a:rPr sz="1500" b="1">
                <a:solidFill>
                  <a:srgbClr val="1F40CB"/>
                </a:solidFill>
              </a:rPr>
              <a:t>2. A. The model chooses the next action</a:t>
            </a:r>
          </a:p>
        </p:txBody>
      </p:sp>
      <p:sp>
        <p:nvSpPr>
          <p:cNvPr id="11" name="quiz-explanation-2">
            <a:extLst xmlns:a="http://schemas.openxmlformats.org/drawingml/2006/main">
              <a:ext uri="{FF2B5EF4-FFF2-40B4-BE49-F238E27FC236}">
                <a16:creationId xmlns:a16="http://schemas.microsoft.com/office/drawing/2014/main" id="{C2D9E6B6-ED6F-4D35-B423-34CC2FF8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391150"/>
            <a:ext cx="1301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Control flow, not tool count, defines an agent.</a:t>
            </a:r>
          </a:p>
        </p:txBody>
      </p:sp>
      <p:sp>
        <p:nvSpPr>
          <p:cNvPr id="12" name="quiz-answer-3">
            <a:extLst xmlns:a="http://schemas.openxmlformats.org/drawingml/2006/main">
              <a:ext uri="{FF2B5EF4-FFF2-40B4-BE49-F238E27FC236}">
                <a16:creationId xmlns:a16="http://schemas.microsoft.com/office/drawing/2014/main" id="{5FC826F1-DD2F-4A77-BD31-B4BD0CD03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772150"/>
            <a:ext cx="1329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F40CB"/>
                </a:solidFill>
              </a:defRPr>
            </a:pPr>
            <a:r>
              <a:rPr sz="1500" b="1">
                <a:solidFill>
                  <a:srgbClr val="1F40CB"/>
                </a:solidFill>
              </a:rPr>
              <a:t>3. A. Measured value on an open path</a:t>
            </a:r>
          </a:p>
        </p:txBody>
      </p:sp>
      <p:sp>
        <p:nvSpPr>
          <p:cNvPr id="13" name="quiz-explanation-3">
            <a:extLst xmlns:a="http://schemas.openxmlformats.org/drawingml/2006/main">
              <a:ext uri="{FF2B5EF4-FFF2-40B4-BE49-F238E27FC236}">
                <a16:creationId xmlns:a16="http://schemas.microsoft.com/office/drawing/2014/main" id="{B9DC46F2-9E33-4E64-8325-68F75E786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076950"/>
            <a:ext cx="1301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Extra autonomy must improve quality enough to justify its cost.</a:t>
            </a:r>
          </a:p>
        </p:txBody>
      </p:sp>
    </p:spTree>
    <p:extLst>
      <p:ext uri="{BB962C8B-B14F-4D97-AF65-F5344CB8AC3E}">
        <p14:creationId xmlns:p14="http://schemas.microsoft.com/office/powerpoint/2010/main" val="13162291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2026-08-26T09:42:09.9940000Z</dcterms:created>
  <dcterms:modified xsi:type="dcterms:W3CDTF">2026-08-26T09:42:09.9940000Z</dcterms:modified>
</coreProperties>
</file>