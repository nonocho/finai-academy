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04cfb79122f433f" /><Relationship Type="http://schemas.openxmlformats.org/officeDocument/2006/relationships/extended-properties" Target="/docProps/app.xml" Id="R1d9782b63a734797" /><Relationship Type="http://schemas.openxmlformats.org/officeDocument/2006/relationships/officeDocument" Target="/ppt/presentation.xml" Id="R3423cff74ebf4a3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115f322e7340fb"/>
  </p:sldMasterIdLst>
  <p:notesMasterIdLst>
    <p:notesMasterId xmlns:r="http://schemas.openxmlformats.org/officeDocument/2006/relationships" r:id="R181d9f9d395e4dc4"/>
  </p:notesMasterIdLst>
  <p:sldIdLst>
    <p:sldId xmlns:r="http://schemas.openxmlformats.org/officeDocument/2006/relationships" id="256" r:id="R90f6552860704d7e"/>
    <p:sldId xmlns:r="http://schemas.openxmlformats.org/officeDocument/2006/relationships" id="257" r:id="R80e49952a289419d"/>
    <p:sldId xmlns:r="http://schemas.openxmlformats.org/officeDocument/2006/relationships" id="258" r:id="R85995328e563446e"/>
    <p:sldId xmlns:r="http://schemas.openxmlformats.org/officeDocument/2006/relationships" id="259" r:id="R44a6694f0e9547f1"/>
    <p:sldId xmlns:r="http://schemas.openxmlformats.org/officeDocument/2006/relationships" id="260" r:id="R0b6ac64bb6034eaf"/>
    <p:sldId xmlns:r="http://schemas.openxmlformats.org/officeDocument/2006/relationships" id="261" r:id="Ra88039a2621d4097"/>
    <p:sldId xmlns:r="http://schemas.openxmlformats.org/officeDocument/2006/relationships" id="262" r:id="Rabac2817a30e45fe"/>
    <p:sldId xmlns:r="http://schemas.openxmlformats.org/officeDocument/2006/relationships" id="263" r:id="Ra3e4051241374c90"/>
    <p:sldId xmlns:r="http://schemas.openxmlformats.org/officeDocument/2006/relationships" id="264" r:id="Ra5fd65af1add42fe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8201623a4e4a6f" /><Relationship Type="http://schemas.openxmlformats.org/officeDocument/2006/relationships/slideMaster" Target="/ppt/slideMasters/slideMaster1.xml" Id="Rbe115f322e7340fb" /><Relationship Type="http://schemas.openxmlformats.org/officeDocument/2006/relationships/notesMaster" Target="/ppt/notesMasters/notesMaster1.xml" Id="R181d9f9d395e4dc4" /><Relationship Type="http://schemas.openxmlformats.org/officeDocument/2006/relationships/presProps" Target="/ppt/presProps.xml" Id="Rb0ddf9f9d78f473f" /><Relationship Type="http://schemas.openxmlformats.org/officeDocument/2006/relationships/tableStyles" Target="/ppt/tableStyles.xml" Id="R80113fea78c64791" /><Relationship Type="http://schemas.openxmlformats.org/officeDocument/2006/relationships/slide" Target="/ppt/slides/slide1.xml" Id="R90f6552860704d7e" /><Relationship Type="http://schemas.openxmlformats.org/officeDocument/2006/relationships/slide" Target="/ppt/slides/slide2.xml" Id="R80e49952a289419d" /><Relationship Type="http://schemas.openxmlformats.org/officeDocument/2006/relationships/slide" Target="/ppt/slides/slide3.xml" Id="R85995328e563446e" /><Relationship Type="http://schemas.openxmlformats.org/officeDocument/2006/relationships/slide" Target="/ppt/slides/slide4.xml" Id="R44a6694f0e9547f1" /><Relationship Type="http://schemas.openxmlformats.org/officeDocument/2006/relationships/slide" Target="/ppt/slides/slide5.xml" Id="R0b6ac64bb6034eaf" /><Relationship Type="http://schemas.openxmlformats.org/officeDocument/2006/relationships/slide" Target="/ppt/slides/slide6.xml" Id="Ra88039a2621d4097" /><Relationship Type="http://schemas.openxmlformats.org/officeDocument/2006/relationships/slide" Target="/ppt/slides/slide7.xml" Id="Rabac2817a30e45fe" /><Relationship Type="http://schemas.openxmlformats.org/officeDocument/2006/relationships/slide" Target="/ppt/slides/slide8.xml" Id="Ra3e4051241374c90" /><Relationship Type="http://schemas.openxmlformats.org/officeDocument/2006/relationships/slide" Target="/ppt/slides/slide9.xml" Id="Ra5fd65af1add42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c7baa838a642c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39f275e77b4b17" /><Relationship Type="http://schemas.openxmlformats.org/officeDocument/2006/relationships/notesMaster" Target="/ppt/notesMasters/notesMaster1.xml" Id="Rf9effb961d9741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26f56bbba4433c" /><Relationship Type="http://schemas.openxmlformats.org/officeDocument/2006/relationships/notesMaster" Target="/ppt/notesMasters/notesMaster1.xml" Id="Rca88abe1bf5a46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624b4932ed46e2" /><Relationship Type="http://schemas.openxmlformats.org/officeDocument/2006/relationships/notesMaster" Target="/ppt/notesMasters/notesMaster1.xml" Id="Ra1e3f0922a544d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0e3c01b0b348a8" /><Relationship Type="http://schemas.openxmlformats.org/officeDocument/2006/relationships/notesMaster" Target="/ppt/notesMasters/notesMaster1.xml" Id="R94b69cc08dbf41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58e93bbee34fb9" /><Relationship Type="http://schemas.openxmlformats.org/officeDocument/2006/relationships/notesMaster" Target="/ppt/notesMasters/notesMaster1.xml" Id="R490493ed083441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a254d491674604" /><Relationship Type="http://schemas.openxmlformats.org/officeDocument/2006/relationships/notesMaster" Target="/ppt/notesMasters/notesMaster1.xml" Id="R5d253315584d416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e501376b42444d" /><Relationship Type="http://schemas.openxmlformats.org/officeDocument/2006/relationships/notesMaster" Target="/ppt/notesMasters/notesMaster1.xml" Id="R8f137b0e718440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a6f0cc1449a414c" /><Relationship Type="http://schemas.openxmlformats.org/officeDocument/2006/relationships/notesMaster" Target="/ppt/notesMasters/notesMaster1.xml" Id="Rcec75d2e90d3434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ab7bc93bb94d01" /><Relationship Type="http://schemas.openxmlformats.org/officeDocument/2006/relationships/notesMaster" Target="/ppt/notesMasters/notesMaster1.xml" Id="Rcaf27295a93d49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 compares workflows and agents before introducing an agent framework. Students use the same finance tools and change only the control logic.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recap compares who controls the next step. A workflow follows Python code, an agent lets one model choose, and a multi-agent system coordinates several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https://www.mlexpert.io/academy/v1/ai-agents/workflows-vs-agents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five practical checks before adding an agent: path, latency, debugging, tool chaining, and best use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https://www.mlexpert.io/academy/v1/ai-agents/workflows-vs-agents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returns a typed tool request. Python validates it, runs the registered function, and returns a typed result with source information.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single price lookup has a known path. One workflow call is enough and is easier to test than an agent loop.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assets/course-data/market/lesson08_market_snapshot_v1.json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conversion amount is not available before the market-price result. The fixed workflow stops with unsupported_dependency instead of inventing a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bounded agent first gets the USD price, then uses that result as the input to the FX tool. MAX_STEPS limits the loop.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assets/course-data/market/lesson08_market_snapshot_v1.json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trace makes the difference visible: the workflow stops safely, while the agent uses the first result to make a valid second call.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final rule is simple: choose a workflow for known steps and a bounded agent only when a tool result changes the next step. Lesson 09 adds explicit graph state and retries.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847a8ffd834b9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56364622bc4422" /><Relationship Type="http://schemas.openxmlformats.org/officeDocument/2006/relationships/slideLayout" Target="/ppt/slideLayouts/slideLayout1.xml" Id="R9cabc63eaf0049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abc63eaf0049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85b9174fa4794" /><Relationship Type="http://schemas.openxmlformats.org/officeDocument/2006/relationships/notesSlide" Target="/ppt/notesSlides/notesSlide1.xml" Id="R495ac4bb7ee442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59ad1df95408c" /><Relationship Type="http://schemas.openxmlformats.org/officeDocument/2006/relationships/notesSlide" Target="/ppt/notesSlides/notesSlide2.xml" Id="Rf403668d091746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fe239f86e64e89" /><Relationship Type="http://schemas.openxmlformats.org/officeDocument/2006/relationships/notesSlide" Target="/ppt/notesSlides/notesSlide3.xml" Id="R0f87a7ae7e1640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9ddd6d5b544b9" /><Relationship Type="http://schemas.openxmlformats.org/officeDocument/2006/relationships/notesSlide" Target="/ppt/notesSlides/notesSlide4.xml" Id="R233e6ac5a7b54f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2747f117d4e8b" /><Relationship Type="http://schemas.openxmlformats.org/officeDocument/2006/relationships/notesSlide" Target="/ppt/notesSlides/notesSlide5.xml" Id="Rb4e190f8db6f41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657d64e72c4ee2" /><Relationship Type="http://schemas.openxmlformats.org/officeDocument/2006/relationships/notesSlide" Target="/ppt/notesSlides/notesSlide6.xml" Id="R21ffadda1ab749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5856f46a440a1" /><Relationship Type="http://schemas.openxmlformats.org/officeDocument/2006/relationships/notesSlide" Target="/ppt/notesSlides/notesSlide7.xml" Id="Rea3df4dcd40042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b25207b690417d" /><Relationship Type="http://schemas.openxmlformats.org/officeDocument/2006/relationships/notesSlide" Target="/ppt/notesSlides/notesSlide8.xml" Id="Rd513bbcea759433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49ae7a0e541d5" /><Relationship Type="http://schemas.openxmlformats.org/officeDocument/2006/relationships/notesSlide" Target="/ppt/notesSlides/notesSlide9.xml" Id="Rd9958ed9ba2e4e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Workflows Versus Agents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Use the simplest system that can complete the task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08  ·  10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THREE SYSTEMS AT A GLANCE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Who chooses the next step?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Python 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Fixed 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Price lookup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 to 3 calls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LOW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 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Chooses after each result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Price then FX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MEDIUM COST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MULTI-AGENT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Several LLMs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Researcher, analyst, writer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HIGH COST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Start with a workflow. Add an agent only when the next step is not known yet.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 OR AGENT?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five checks before you add a loop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Is the path known?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Workflow: Yes
Agent: Not always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LATENCY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Workflow: Fixed
Agent: Variable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DEBUGGING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Workflow: Easier
Agent: Harder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 CHAINING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Workflow: Coded by you
Agent: Uses results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BEST FOR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Workflow: Known steps
Agent: Open path</a:t>
            </a:r>
          </a:p>
        </p:txBody>
      </p:sp>
      <p:cxnSp>
        <p:nvCxnSpPr>
          <p:cNvPr id="47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If you can draw every step before the run, use a workflow.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Agent: Chosen after each result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If the next step depends on a tool result, use an agent.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TOOL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chooses a tool. Python runs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name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Invalid requests stop here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PYTHON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registry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 result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TYPED OBSERVATION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value · currency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 · 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verified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requests an action. Python validates and runs it.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ONE-PASS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workflow works when every step is known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 price?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Choose tool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choose one tool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Python call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price · currency · source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from tool data</a:t>
            </a:r>
          </a:p>
        </p:txBody>
      </p:sp>
      <p:cxnSp>
        <p:nvCxnSpPr>
          <p:cNvPr id="47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workflow needs only one tool call.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known path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predictable · easy to 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DEPENDENCY FAILURE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workflow cannot know the EUR amount yet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 price in EUR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both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price then FX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Price lookup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result needed first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Conversion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amount unavailable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unsupported_dependency</a:t>
            </a:r>
          </a:p>
        </p:txBody>
      </p:sp>
      <p:cxnSp>
        <p:nvCxnSpPr>
          <p:cNvPr id="47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Stop. Do not invent a missing value.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missing input shown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safe stop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agent uses each result to choose the next step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214.575 USD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183.7620 EUR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from tool data</a:t>
            </a:r>
          </a:p>
        </p:txBody>
      </p:sp>
      <p:cxnSp>
        <p:nvCxnSpPr>
          <p:cNvPr id="47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FX call uses the price returned by the first tool.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MAX_STEPS = 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two calls · one answer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EXECUTION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trace shows why the agent works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same question · same data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unsupported_dependency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step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Agent step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status · calls · steps</a:t>
            </a:r>
          </a:p>
        </p:txBody>
      </p:sp>
      <p:cxnSp>
        <p:nvCxnSpPr>
          <p:cNvPr id="473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47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tools and data. Only the control logic changes.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workflow · safe stop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agent · two verified calls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the simplest system that works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known steps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fixed logic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BOUNDED
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 result changes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next step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MAX_STEPS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tools · clear trace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 limit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LESSON 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errors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safe retry</a:t>
            </a:r>
          </a:p>
        </p:txBody>
      </p:sp>
      <p:cxnSp>
        <p:nvCxnSpPr>
          <p:cNvPr id="264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65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SIMPLE FIRST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5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Start with a workflow. Use an agent only when a tool result changes the next step.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SAME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schemas · tools · trace · stop rule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handle tool failures with LangGraph state and safe retries.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2026-08-21T16:31:10.2230000Z</dcterms:created>
  <dcterms:modified xsi:type="dcterms:W3CDTF">2026-08-21T16:31:10.2230000Z</dcterms:modified>
</coreProperties>
</file>