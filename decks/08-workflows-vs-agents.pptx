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82d5769a1f4887" /><Relationship Type="http://schemas.openxmlformats.org/officeDocument/2006/relationships/extended-properties" Target="/docProps/app.xml" Id="R4b16f717e4484af7" /><Relationship Type="http://schemas.openxmlformats.org/officeDocument/2006/relationships/officeDocument" Target="/ppt/presentation.xml" Id="Rb810602efbde48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f23296d2a154e2f"/>
  </p:sldMasterIdLst>
  <p:notesMasterIdLst>
    <p:notesMasterId xmlns:r="http://schemas.openxmlformats.org/officeDocument/2006/relationships" r:id="R6395f2bbef224280"/>
  </p:notesMasterIdLst>
  <p:sldIdLst>
    <p:sldId xmlns:r="http://schemas.openxmlformats.org/officeDocument/2006/relationships" id="256" r:id="R5b22878f94dd4dbf"/>
    <p:sldId xmlns:r="http://schemas.openxmlformats.org/officeDocument/2006/relationships" id="257" r:id="R2c2c462e565b40e1"/>
    <p:sldId xmlns:r="http://schemas.openxmlformats.org/officeDocument/2006/relationships" id="258" r:id="R215b02a006ce4859"/>
    <p:sldId xmlns:r="http://schemas.openxmlformats.org/officeDocument/2006/relationships" id="259" r:id="R2a6d5f8f51564107"/>
    <p:sldId xmlns:r="http://schemas.openxmlformats.org/officeDocument/2006/relationships" id="260" r:id="R58ed4d011a284d2f"/>
    <p:sldId xmlns:r="http://schemas.openxmlformats.org/officeDocument/2006/relationships" id="261" r:id="R5946775aefe340a1"/>
    <p:sldId xmlns:r="http://schemas.openxmlformats.org/officeDocument/2006/relationships" id="262" r:id="Rc52556952c9342c7"/>
    <p:sldId xmlns:r="http://schemas.openxmlformats.org/officeDocument/2006/relationships" id="263" r:id="Rdf3f7064b4a442c5"/>
    <p:sldId xmlns:r="http://schemas.openxmlformats.org/officeDocument/2006/relationships" id="264" r:id="R45f4145bd5ab45d1"/>
    <p:sldId xmlns:r="http://schemas.openxmlformats.org/officeDocument/2006/relationships" id="265" r:id="R592c2621eac04178"/>
    <p:sldId xmlns:r="http://schemas.openxmlformats.org/officeDocument/2006/relationships" id="266" r:id="R83e09f6f490244f5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aad0416f2254d86" /><Relationship Type="http://schemas.openxmlformats.org/officeDocument/2006/relationships/slideMaster" Target="/ppt/slideMasters/slideMaster1.xml" Id="R5f23296d2a154e2f" /><Relationship Type="http://schemas.openxmlformats.org/officeDocument/2006/relationships/notesMaster" Target="/ppt/notesMasters/notesMaster1.xml" Id="R6395f2bbef224280" /><Relationship Type="http://schemas.openxmlformats.org/officeDocument/2006/relationships/presProps" Target="/ppt/presProps.xml" Id="R6ac4c397b26046d8" /><Relationship Type="http://schemas.openxmlformats.org/officeDocument/2006/relationships/tableStyles" Target="/ppt/tableStyles.xml" Id="Rc67be8f9d64f4a61" /><Relationship Type="http://schemas.openxmlformats.org/officeDocument/2006/relationships/slide" Target="/ppt/slides/slide1.xml" Id="R5b22878f94dd4dbf" /><Relationship Type="http://schemas.openxmlformats.org/officeDocument/2006/relationships/slide" Target="/ppt/slides/slide2.xml" Id="R2c2c462e565b40e1" /><Relationship Type="http://schemas.openxmlformats.org/officeDocument/2006/relationships/slide" Target="/ppt/slides/slide3.xml" Id="R215b02a006ce4859" /><Relationship Type="http://schemas.openxmlformats.org/officeDocument/2006/relationships/slide" Target="/ppt/slides/slide4.xml" Id="R2a6d5f8f51564107" /><Relationship Type="http://schemas.openxmlformats.org/officeDocument/2006/relationships/slide" Target="/ppt/slides/slide5.xml" Id="R58ed4d011a284d2f" /><Relationship Type="http://schemas.openxmlformats.org/officeDocument/2006/relationships/slide" Target="/ppt/slides/slide6.xml" Id="R5946775aefe340a1" /><Relationship Type="http://schemas.openxmlformats.org/officeDocument/2006/relationships/slide" Target="/ppt/slides/slide7.xml" Id="Rc52556952c9342c7" /><Relationship Type="http://schemas.openxmlformats.org/officeDocument/2006/relationships/slide" Target="/ppt/slides/slide8.xml" Id="Rdf3f7064b4a442c5" /><Relationship Type="http://schemas.openxmlformats.org/officeDocument/2006/relationships/slide" Target="/ppt/slides/slide9.xml" Id="R45f4145bd5ab45d1" /><Relationship Type="http://schemas.openxmlformats.org/officeDocument/2006/relationships/slide" Target="/ppt/slides/slide10.xml" Id="R592c2621eac04178" /><Relationship Type="http://schemas.openxmlformats.org/officeDocument/2006/relationships/slide" Target="/ppt/slides/slide11.xml" Id="R83e09f6f490244f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4d3938b00364d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700890d28d649de" /><Relationship Type="http://schemas.openxmlformats.org/officeDocument/2006/relationships/notesMaster" Target="/ppt/notesMasters/notesMaster1.xml" Id="Rc9055a9f6e6b4cd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0dfb05e583b4bea" /><Relationship Type="http://schemas.openxmlformats.org/officeDocument/2006/relationships/notesMaster" Target="/ppt/notesMasters/notesMaster1.xml" Id="Ref333bc7a98d4c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481a4a910d84a4d" /><Relationship Type="http://schemas.openxmlformats.org/officeDocument/2006/relationships/notesMaster" Target="/ppt/notesMasters/notesMaster1.xml" Id="Rfcbe6050307843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b6cfff2f3154dd4" /><Relationship Type="http://schemas.openxmlformats.org/officeDocument/2006/relationships/notesMaster" Target="/ppt/notesMasters/notesMaster1.xml" Id="Rfb99384631bc4b1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290fe5b5a0c46e5" /><Relationship Type="http://schemas.openxmlformats.org/officeDocument/2006/relationships/notesMaster" Target="/ppt/notesMasters/notesMaster1.xml" Id="Rc5cc17f57de5475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c6b2a7652eb48c4" /><Relationship Type="http://schemas.openxmlformats.org/officeDocument/2006/relationships/notesMaster" Target="/ppt/notesMasters/notesMaster1.xml" Id="R37b9b237d8c54ea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66a8b3813fc48ef" /><Relationship Type="http://schemas.openxmlformats.org/officeDocument/2006/relationships/notesMaster" Target="/ppt/notesMasters/notesMaster1.xml" Id="R71899e15fa224f6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df0abc0af8b4ad1" /><Relationship Type="http://schemas.openxmlformats.org/officeDocument/2006/relationships/notesMaster" Target="/ppt/notesMasters/notesMaster1.xml" Id="R93c975a19a774f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794857ab43547bb" /><Relationship Type="http://schemas.openxmlformats.org/officeDocument/2006/relationships/notesMaster" Target="/ppt/notesMasters/notesMaster1.xml" Id="R43bd8ffff2a1468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d2b217a71b448cd" /><Relationship Type="http://schemas.openxmlformats.org/officeDocument/2006/relationships/notesMaster" Target="/ppt/notesMasters/notesMaster1.xml" Id="Rcdc37e8eb67b4c8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644480f2514188" /><Relationship Type="http://schemas.openxmlformats.org/officeDocument/2006/relationships/notesMaster" Target="/ppt/notesMasters/notesMaster1.xml" Id="R848018539b344c9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08 compares workflows and agents before introducing an agent framework. Students use the same finance tools and change only the control logic.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recap compares who controls the next step. A workflow follows Python code, an agent lets one model choose, and a multi-agent system coordinates several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https://www.mlexpert.io/academy/v1/ai-agents/workflows-vs-agents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five practical checks before adding an agent: path, latency, debugging, tool chaining, and best use case.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https://www.mlexpert.io/academy/v1/ai-agents/workflows-vs-agents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model returns a typed tool request. Python validates it, runs the registered function, and returns a typed result with source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single price lookup has a known path. One workflow call is enough and is easier to test than an agent loop.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conversion amount is not available before the market-price result. The fixed workflow stops with unsupported_dependency instead of inventing a value.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bounded agent first gets the USD price, then uses that result as the input to the FX tool. MAX_STEPS limits the loop.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- assets/course-data/market/lesson08_market_snapshot_v1.json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trace makes the difference visible: the workflow stops safely, while the agent uses the first result to make a valid second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- src/finai_academy/agent_workflows.py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final rule is simple: choose a workflow for known steps and a bounded agent only when a tool result changes the next step. Lesson 09 adds explicit graph state and retries.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 chapter: chapters/08-workflows-vs-agents.md</a:t>
            </a:r>
          </a:p>
          <a:p xmlns:a="http://schemas.openxmlformats.org/drawingml/2006/main">
            <a:r>
              <a:t>- Course notebook: notebooks/08_workflows_vs_agents.ipynb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Check the three core decisions before the lesson closes.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for one letter per question.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purpose: Correct the quiz and restate the practical rule behind each answer.</a:t>
            </a:r>
          </a:p>
          <a:p xmlns:a="http://schemas.openxmlformats.org/drawingml/2006/main">
            <a:r>
              <a:t>Planned timing: 3 minutes.</a:t>
            </a:r>
          </a:p>
          <a:p xmlns:a="http://schemas.openxmlformats.org/drawingml/2006/main">
            <a:r>
              <a:t>Facilitation: ask learners to explain each rule in their own words.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chapters/08-workflows-vs-agents.md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2ec82dd20240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b1a5a64a51741c7" /><Relationship Type="http://schemas.openxmlformats.org/officeDocument/2006/relationships/slideLayout" Target="/ppt/slideLayouts/slideLayout1.xml" Id="Re50359802ea842f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0359802ea842f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2e8d739b4948cf" /><Relationship Type="http://schemas.openxmlformats.org/officeDocument/2006/relationships/notesSlide" Target="/ppt/notesSlides/notesSlide1.xml" Id="R91df7895d109438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9f08c28665424c" /><Relationship Type="http://schemas.openxmlformats.org/officeDocument/2006/relationships/notesSlide" Target="/ppt/notesSlides/notesSlide2.xml" Id="R6ee132dc0d36485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3342901e3e4311" /><Relationship Type="http://schemas.openxmlformats.org/officeDocument/2006/relationships/notesSlide" Target="/ppt/notesSlides/notesSlide3.xml" Id="R461793ba7f314b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b3da4970284047" /><Relationship Type="http://schemas.openxmlformats.org/officeDocument/2006/relationships/notesSlide" Target="/ppt/notesSlides/notesSlide4.xml" Id="R2785aead606141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ba9cf981564afd" /><Relationship Type="http://schemas.openxmlformats.org/officeDocument/2006/relationships/notesSlide" Target="/ppt/notesSlides/notesSlide5.xml" Id="R8ddb541de82747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b988c92bb04c7e" /><Relationship Type="http://schemas.openxmlformats.org/officeDocument/2006/relationships/notesSlide" Target="/ppt/notesSlides/notesSlide6.xml" Id="Rdb8a300efb244d7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d87108a6b84ddf" /><Relationship Type="http://schemas.openxmlformats.org/officeDocument/2006/relationships/notesSlide" Target="/ppt/notesSlides/notesSlide7.xml" Id="R953989fda7454f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7d1eeb12d4ab4" /><Relationship Type="http://schemas.openxmlformats.org/officeDocument/2006/relationships/notesSlide" Target="/ppt/notesSlides/notesSlide8.xml" Id="R7e42f33ee55d47d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fd891f57fa484d" /><Relationship Type="http://schemas.openxmlformats.org/officeDocument/2006/relationships/notesSlide" Target="/ppt/notesSlides/notesSlide9.xml" Id="R02d99271bddf4a4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099a881684539" /><Relationship Type="http://schemas.openxmlformats.org/officeDocument/2006/relationships/notesSlide" Target="/ppt/notesSlides/notesSlide10.xml" Id="Rd7f59c5832ed4dc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f48138170b4088" /><Relationship Type="http://schemas.openxmlformats.org/officeDocument/2006/relationships/notesSlide" Target="/ppt/notesSlides/notesSlide11.xml" Id="R2ab58bbee4a84d2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Workflows Versus Agents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Use the simplest system that can complete the task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08  ·  10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THREE SYSTEMS AT A GLANCE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Who chooses the next step?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Python code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Fixed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lookup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0 to 3 calls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LOW COST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One LLM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Chooses after each result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then FX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MEDIUM COST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MULTI-AGENT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Several LLMs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Researcher, analyst, writer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HIGH COST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a workflow. Add an agent only when the next step is not known yet.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 OR AGENT?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five checks before you add a loop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Is the path known?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Yes
Agent: Not always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LATENCY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Fixed
Agent: Variable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DEBUGGING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Workflow: Easier
Agent: Harder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CHAINING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Coded by you
Agent: Uses results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BEST FOR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Workflow: Known steps
Agent: Open path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If you can draw every step before the run, use a workflow.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Agent: Chosen after each result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If the next step depends on a tool result, use an agent.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chooses a tool. Python runs it.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MODEL REQUEST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name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arguments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validate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typed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Invalid requests stop here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PYTHON EXECUTION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registry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tool result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TYPED OBSERVATION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value · currency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 · date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verified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requests an action. Python validates and runs it.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TOOLS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ONE-PASS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 workflow works when every step is known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price?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Choose tool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choose one tool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Python call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price · currency · source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from tool data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workflow needs only one tool call.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known path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predictable · easy to test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DEPENDENCY FAILURE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workflow cannot know the EUR amount yet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 price in EUR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Plan both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price then FX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Price lookup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result needed first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Conversion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amount unavailable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STOP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Stop. Do not invent a missing value.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missing input shown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safe stop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FAILURE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BOUNDED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agent uses each result to choose the next step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214.575 USD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Observe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183.7620 EUR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from tool data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FX call uses the price returned by the first tool.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MAX_STEPS = 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two calls · one answer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AGENT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EXECUTION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trace shows why the agent works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same question · same data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unsupported_dependency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step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get_market_price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Agent step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convert_currency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status · calls · steps</a:t>
            </a:r>
          </a:p>
        </p:txBody>
      </p:sp>
      <p:cxnSp>
        <p:nvCxnSpPr>
          <p:cNvPr id="52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52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tools and data. Only the control logic changes.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workflow · safe stop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agent · two verified calls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 DECISION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Use the simplest system that works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WORKFLOW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known steps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fixed logic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BOUNDED
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tool result changes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next step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MAX_STEPS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typed tools · clear trace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step limit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LESSON 09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tool errors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safe retry</a:t>
            </a:r>
          </a:p>
        </p:txBody>
      </p:sp>
      <p:cxnSp>
        <p:nvCxnSpPr>
          <p:cNvPr id="29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29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SIMPLE FIRST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5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Start with a workflow. Use an agent only when a tool result changes the next step.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SAME CONTRACT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schemas · tools · trace · stop rule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DAY 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Next: handle tool failures with LangGraph state and safe retries.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DECIDE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Quick quiz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Choose one answer for each question.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08  ·  3 QUESTIONS  ·  3 MINUTES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question-1">
            <a:extLst xmlns:a="http://schemas.openxmlformats.org/drawingml/2006/main">
              <a:ext uri="{FF2B5EF4-FFF2-40B4-BE49-F238E27FC236}">
                <a16:creationId xmlns:a16="http://schemas.microsoft.com/office/drawing/2014/main" id="{A22FBA4B-A32B-4E0B-BFC1-53EA0C17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1. When is a workflow the best first choice?</a:t>
            </a:r>
          </a:p>
        </p:txBody>
      </p:sp>
      <p:sp>
        <p:nvSpPr>
          <p:cNvPr id="9" name="quiz-options-1">
            <a:extLst xmlns:a="http://schemas.openxmlformats.org/drawingml/2006/main">
              <a:ext uri="{FF2B5EF4-FFF2-40B4-BE49-F238E27FC236}">
                <a16:creationId xmlns:a16="http://schemas.microsoft.com/office/drawing/2014/main" id="{7F7EFDC0-5A12-4118-8D8C-E460584D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Steps are known     |     B  Every step is unknown     |     C  Many agents are available</a:t>
            </a:r>
          </a:p>
        </p:txBody>
      </p:sp>
      <p:sp>
        <p:nvSpPr>
          <p:cNvPr id="10" name="quiz-question-2">
            <a:extLst xmlns:a="http://schemas.openxmlformats.org/drawingml/2006/main">
              <a:ext uri="{FF2B5EF4-FFF2-40B4-BE49-F238E27FC236}">
                <a16:creationId xmlns:a16="http://schemas.microsoft.com/office/drawing/2014/main" id="{F6C9F60E-40B2-484F-9A1F-8ACA1369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2. When is an agent useful?</a:t>
            </a:r>
          </a:p>
        </p:txBody>
      </p:sp>
      <p:sp>
        <p:nvSpPr>
          <p:cNvPr id="11" name="quiz-options-2">
            <a:extLst xmlns:a="http://schemas.openxmlformats.org/drawingml/2006/main">
              <a:ext uri="{FF2B5EF4-FFF2-40B4-BE49-F238E27FC236}">
                <a16:creationId xmlns:a16="http://schemas.microsoft.com/office/drawing/2014/main" id="{20D52223-62E0-4113-9B99-ADAB0BC2D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Next action depends on results     |     B  One fixed call is enough     |     C  No tools exist</a:t>
            </a:r>
          </a:p>
        </p:txBody>
      </p:sp>
      <p:sp>
        <p:nvSpPr>
          <p:cNvPr id="12" name="quiz-question-3">
            <a:extLst xmlns:a="http://schemas.openxmlformats.org/drawingml/2006/main">
              <a:ext uri="{FF2B5EF4-FFF2-40B4-BE49-F238E27FC236}">
                <a16:creationId xmlns:a16="http://schemas.microsoft.com/office/drawing/2014/main" id="{FF6A2B7E-2832-4229-AC43-3471534AD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1B2E"/>
                </a:solidFill>
              </a:defRPr>
            </a:pPr>
            <a:r>
              <a:rPr sz="1500" b="1">
                <a:solidFill>
                  <a:srgbClr val="001B2E"/>
                </a:solidFill>
              </a:rPr>
              <a:t>3. Who validates and runs financial tool calls?</a:t>
            </a:r>
          </a:p>
        </p:txBody>
      </p:sp>
      <p:sp>
        <p:nvSpPr>
          <p:cNvPr id="13" name="quiz-options-3">
            <a:extLst xmlns:a="http://schemas.openxmlformats.org/drawingml/2006/main">
              <a:ext uri="{FF2B5EF4-FFF2-40B4-BE49-F238E27FC236}">
                <a16:creationId xmlns:a16="http://schemas.microsoft.com/office/drawing/2014/main" id="{D31374D8-5F86-4EBA-B834-11D12030F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 Python host     |     B  The model alone     |     C  The slide deck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Answers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Check the idea, not only the letter.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LESSON 08  ·  CORRECTION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" name="quiz-answer-1">
            <a:extLst xmlns:a="http://schemas.openxmlformats.org/drawingml/2006/main">
              <a:ext uri="{FF2B5EF4-FFF2-40B4-BE49-F238E27FC236}">
                <a16:creationId xmlns:a16="http://schemas.microsoft.com/office/drawing/2014/main" id="{695168D3-A440-48E1-B278-691346A4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4005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1. A. Steps are known</a:t>
            </a:r>
          </a:p>
        </p:txBody>
      </p:sp>
      <p:sp>
        <p:nvSpPr>
          <p:cNvPr id="9" name="quiz-explanation-1">
            <a:extLst xmlns:a="http://schemas.openxmlformats.org/drawingml/2006/main">
              <a:ext uri="{FF2B5EF4-FFF2-40B4-BE49-F238E27FC236}">
                <a16:creationId xmlns:a16="http://schemas.microsoft.com/office/drawing/2014/main" id="{2322894C-72E6-4952-908E-CA3942C31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7053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A deterministic route is simpler to test, explain and control.</a:t>
            </a:r>
          </a:p>
        </p:txBody>
      </p:sp>
      <p:sp>
        <p:nvSpPr>
          <p:cNvPr id="10" name="quiz-answer-2">
            <a:extLst xmlns:a="http://schemas.openxmlformats.org/drawingml/2006/main">
              <a:ext uri="{FF2B5EF4-FFF2-40B4-BE49-F238E27FC236}">
                <a16:creationId xmlns:a16="http://schemas.microsoft.com/office/drawing/2014/main" id="{B4B6F4C2-04CC-4E9D-9EFD-D495623E7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863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2. A. Next action depends on results</a:t>
            </a:r>
          </a:p>
        </p:txBody>
      </p:sp>
      <p:sp>
        <p:nvSpPr>
          <p:cNvPr id="11" name="quiz-explanation-2">
            <a:extLst xmlns:a="http://schemas.openxmlformats.org/drawingml/2006/main">
              <a:ext uri="{FF2B5EF4-FFF2-40B4-BE49-F238E27FC236}">
                <a16:creationId xmlns:a16="http://schemas.microsoft.com/office/drawing/2014/main" id="{C2D9E6B6-ED6F-4D35-B423-34CC2FF8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3911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agent observes one result before choosing the next step.</a:t>
            </a:r>
          </a:p>
        </p:txBody>
      </p:sp>
      <p:sp>
        <p:nvSpPr>
          <p:cNvPr id="12" name="quiz-answer-3">
            <a:extLst xmlns:a="http://schemas.openxmlformats.org/drawingml/2006/main">
              <a:ext uri="{FF2B5EF4-FFF2-40B4-BE49-F238E27FC236}">
                <a16:creationId xmlns:a16="http://schemas.microsoft.com/office/drawing/2014/main" id="{5FC826F1-DD2F-4A77-BD31-B4BD0CD03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772150"/>
            <a:ext cx="1329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F40CB"/>
                </a:solidFill>
              </a:defRPr>
            </a:pPr>
            <a:r>
              <a:rPr sz="1500" b="1">
                <a:solidFill>
                  <a:srgbClr val="1F40CB"/>
                </a:solidFill>
              </a:rPr>
              <a:t>3. A. Python host</a:t>
            </a:r>
          </a:p>
        </p:txBody>
      </p:sp>
      <p:sp>
        <p:nvSpPr>
          <p:cNvPr id="13" name="quiz-explanation-3">
            <a:extLst xmlns:a="http://schemas.openxmlformats.org/drawingml/2006/main">
              <a:ext uri="{FF2B5EF4-FFF2-40B4-BE49-F238E27FC236}">
                <a16:creationId xmlns:a16="http://schemas.microsoft.com/office/drawing/2014/main" id="{B9DC46F2-9E33-4E64-8325-68F75E786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6076950"/>
            <a:ext cx="13011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0">
                <a:solidFill>
                  <a:srgbClr val="334155"/>
                </a:solidFill>
              </a:defRPr>
            </a:pPr>
            <a:r>
              <a:rPr sz="1200" b="0">
                <a:solidFill>
                  <a:srgbClr val="334155"/>
                </a:solidFill>
              </a:rPr>
              <a:t>The model proposes; application code validates and executes.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2026-08-24T19:24:33.7000000Z</dcterms:created>
  <dcterms:modified xsi:type="dcterms:W3CDTF">2026-08-24T19:24:33.7000000Z</dcterms:modified>
</coreProperties>
</file>