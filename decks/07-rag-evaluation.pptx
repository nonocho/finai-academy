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e025785ffb4a4f" /><Relationship Type="http://schemas.openxmlformats.org/officeDocument/2006/relationships/extended-properties" Target="/docProps/app.xml" Id="R8911aa2df30141e6" /><Relationship Type="http://schemas.openxmlformats.org/officeDocument/2006/relationships/officeDocument" Target="/ppt/presentation.xml" Id="Rb8bc67f9be2442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bf81daaa564c7f"/>
  </p:sldMasterIdLst>
  <p:notesMasterIdLst>
    <p:notesMasterId xmlns:r="http://schemas.openxmlformats.org/officeDocument/2006/relationships" r:id="Ra2669c1b71d44cdc"/>
  </p:notesMasterIdLst>
  <p:sldIdLst>
    <p:sldId xmlns:r="http://schemas.openxmlformats.org/officeDocument/2006/relationships" id="256" r:id="R1daa99db068849fc"/>
    <p:sldId xmlns:r="http://schemas.openxmlformats.org/officeDocument/2006/relationships" id="257" r:id="R84914fda4e664c31"/>
    <p:sldId xmlns:r="http://schemas.openxmlformats.org/officeDocument/2006/relationships" id="258" r:id="Rab699f307aaa4190"/>
    <p:sldId xmlns:r="http://schemas.openxmlformats.org/officeDocument/2006/relationships" id="259" r:id="Ra14ca51e26574c97"/>
    <p:sldId xmlns:r="http://schemas.openxmlformats.org/officeDocument/2006/relationships" id="260" r:id="R7bda7ca34a2c44e7"/>
    <p:sldId xmlns:r="http://schemas.openxmlformats.org/officeDocument/2006/relationships" id="261" r:id="R744877a789b64ab5"/>
    <p:sldId xmlns:r="http://schemas.openxmlformats.org/officeDocument/2006/relationships" id="262" r:id="Ra91639d336864a80"/>
    <p:sldId xmlns:r="http://schemas.openxmlformats.org/officeDocument/2006/relationships" id="263" r:id="R94f4bc48ca22438c"/>
    <p:sldId xmlns:r="http://schemas.openxmlformats.org/officeDocument/2006/relationships" id="264" r:id="R9067d115c28342dd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be5bb1dd37487d" /><Relationship Type="http://schemas.openxmlformats.org/officeDocument/2006/relationships/slideMaster" Target="/ppt/slideMasters/slideMaster1.xml" Id="R33bf81daaa564c7f" /><Relationship Type="http://schemas.openxmlformats.org/officeDocument/2006/relationships/notesMaster" Target="/ppt/notesMasters/notesMaster1.xml" Id="Ra2669c1b71d44cdc" /><Relationship Type="http://schemas.openxmlformats.org/officeDocument/2006/relationships/presProps" Target="/ppt/presProps.xml" Id="R572da794df18437d" /><Relationship Type="http://schemas.openxmlformats.org/officeDocument/2006/relationships/tableStyles" Target="/ppt/tableStyles.xml" Id="Rb4c0ea01f42843ee" /><Relationship Type="http://schemas.openxmlformats.org/officeDocument/2006/relationships/slide" Target="/ppt/slides/slide1.xml" Id="R1daa99db068849fc" /><Relationship Type="http://schemas.openxmlformats.org/officeDocument/2006/relationships/slide" Target="/ppt/slides/slide2.xml" Id="R84914fda4e664c31" /><Relationship Type="http://schemas.openxmlformats.org/officeDocument/2006/relationships/slide" Target="/ppt/slides/slide3.xml" Id="Rab699f307aaa4190" /><Relationship Type="http://schemas.openxmlformats.org/officeDocument/2006/relationships/slide" Target="/ppt/slides/slide4.xml" Id="Ra14ca51e26574c97" /><Relationship Type="http://schemas.openxmlformats.org/officeDocument/2006/relationships/slide" Target="/ppt/slides/slide5.xml" Id="R7bda7ca34a2c44e7" /><Relationship Type="http://schemas.openxmlformats.org/officeDocument/2006/relationships/slide" Target="/ppt/slides/slide6.xml" Id="R744877a789b64ab5" /><Relationship Type="http://schemas.openxmlformats.org/officeDocument/2006/relationships/slide" Target="/ppt/slides/slide7.xml" Id="Ra91639d336864a80" /><Relationship Type="http://schemas.openxmlformats.org/officeDocument/2006/relationships/slide" Target="/ppt/slides/slide8.xml" Id="R94f4bc48ca22438c" /><Relationship Type="http://schemas.openxmlformats.org/officeDocument/2006/relationships/slide" Target="/ppt/slides/slide9.xml" Id="R9067d115c28342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56637481bd4f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d98535fb6a47cd" /><Relationship Type="http://schemas.openxmlformats.org/officeDocument/2006/relationships/notesMaster" Target="/ppt/notesMasters/notesMaster1.xml" Id="R4b36667a2d2147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3b334add9d4de9" /><Relationship Type="http://schemas.openxmlformats.org/officeDocument/2006/relationships/notesMaster" Target="/ppt/notesMasters/notesMaster1.xml" Id="R168f27a910db4c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be7801befe4a2b" /><Relationship Type="http://schemas.openxmlformats.org/officeDocument/2006/relationships/notesMaster" Target="/ppt/notesMasters/notesMaster1.xml" Id="Re7a22d0639f34b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d43d949b964e33" /><Relationship Type="http://schemas.openxmlformats.org/officeDocument/2006/relationships/notesMaster" Target="/ppt/notesMasters/notesMaster1.xml" Id="R19408606f3974a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10fa7cec664410" /><Relationship Type="http://schemas.openxmlformats.org/officeDocument/2006/relationships/notesMaster" Target="/ppt/notesMasters/notesMaster1.xml" Id="R0954fb298d8145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0a2827cc1641e1" /><Relationship Type="http://schemas.openxmlformats.org/officeDocument/2006/relationships/notesMaster" Target="/ppt/notesMasters/notesMaster1.xml" Id="Rb27cb892b56e4a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55c522b0c843b0" /><Relationship Type="http://schemas.openxmlformats.org/officeDocument/2006/relationships/notesMaster" Target="/ppt/notesMasters/notesMaster1.xml" Id="Rd972428cf84144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ce8f72ce6646c1" /><Relationship Type="http://schemas.openxmlformats.org/officeDocument/2006/relationships/notesMaster" Target="/ppt/notesMasters/notesMaster1.xml" Id="R46a3b41d9fc347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0b7a2688c44bff" /><Relationship Type="http://schemas.openxmlformats.org/officeDocument/2006/relationships/notesMaster" Target="/ppt/notesMasters/notesMaster1.xml" Id="R7e9dbf205c1048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07 closes Day 1 by measuring the real financial RAG path built in Lessons 04–06.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chapters/07-rag-evaluation.md</a:t>
            </a:r>
          </a:p>
          <a:p xmlns:a="http://schemas.openxmlformats.org/drawingml/2006/main">
            <a:r>
              <a:t>- Course notebook: notebooks/07_rag_evaluation.ipynb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golden set is product data: questions, filters, expected evidence IDs, expected facts and abstention requirements are versioned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assets/course-data/evaluation/rag_cases_v1.json</a:t>
            </a:r>
          </a:p>
          <a:p xmlns:a="http://schemas.openxmlformats.org/drawingml/2006/main">
            <a:r>
              <a:t>- src/finai_academy/evaluation.py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Retrieval metrics answer whether evidence was found; answer metrics answer whether generation used it correctly. A system needs both axes.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src/finai_academy/evaluation.py</a:t>
            </a:r>
          </a:p>
          <a:p xmlns:a="http://schemas.openxmlformats.org/drawingml/2006/main">
            <a:r>
              <a:t>- Course Notebook 07, Figures 2–3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metrics are deterministic and case-level before they are aggregated. They remain inspectable in offline, Ollama and OpenAI modes.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src/finai_academy/evaluation.py</a:t>
            </a:r>
          </a:p>
          <a:p xmlns:a="http://schemas.openxmlformats.org/drawingml/2006/main">
            <a:r>
              <a:t>- Course Notebook 07, metric formulas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MLflow records one trace per case and nested spans for eligibility, keyword, dense, fusion, rerank, context and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https://mlflow.org/docs/latest/genai/tracing/app-instrumentation/manual-tracing/</a:t>
            </a:r>
          </a:p>
          <a:p xmlns:a="http://schemas.openxmlformats.org/drawingml/2006/main">
            <a:r>
              <a:t>- src/finai_academy/mlflow_evaluation.py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notebook logs each configuration to local SQLite and compares aligned runs on the same dataset version.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https://mlflow.org/docs/latest/ml/tracking/</a:t>
            </a:r>
          </a:p>
          <a:p xmlns:a="http://schemas.openxmlformats.org/drawingml/2006/main">
            <a:r>
              <a:t>- Course Notebook 07, configuration comparison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Ragas is introduced as an optional explicit judge for named questions such as context recall and faithfulness. Judge model, prompt, cost and variance stay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https://docs.ragas.io/en/stable/</a:t>
            </a:r>
          </a:p>
          <a:p xmlns:a="http://schemas.openxmlformats.org/drawingml/2006/main">
            <a:r>
              <a:t>- src/finai_academy/ragas_evaluation.py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chapters/07-rag-evaluation.md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chapters/07-rag-evaluation.md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e873b2a4048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a824a8e965448d" /><Relationship Type="http://schemas.openxmlformats.org/officeDocument/2006/relationships/slideLayout" Target="/ppt/slideLayouts/slideLayout1.xml" Id="R8400f13b628a4d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00f13b628a4d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ecaa87791402f" /><Relationship Type="http://schemas.openxmlformats.org/officeDocument/2006/relationships/notesSlide" Target="/ppt/notesSlides/notesSlide1.xml" Id="R8970acade15843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7c0dac9724c8f" /><Relationship Type="http://schemas.openxmlformats.org/officeDocument/2006/relationships/notesSlide" Target="/ppt/notesSlides/notesSlide2.xml" Id="R6f4d7b3f3d7740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402b0e80d4ecd" /><Relationship Type="http://schemas.openxmlformats.org/officeDocument/2006/relationships/notesSlide" Target="/ppt/notesSlides/notesSlide3.xml" Id="R204f3d5f4d3949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cecfd29d944cb" /><Relationship Type="http://schemas.openxmlformats.org/officeDocument/2006/relationships/notesSlide" Target="/ppt/notesSlides/notesSlide4.xml" Id="R2221f4ae680044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b9d3c6e8747cf" /><Relationship Type="http://schemas.openxmlformats.org/officeDocument/2006/relationships/notesSlide" Target="/ppt/notesSlides/notesSlide5.xml" Id="R9fc952b40d3f4f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49c1619344237" /><Relationship Type="http://schemas.openxmlformats.org/officeDocument/2006/relationships/notesSlide" Target="/ppt/notesSlides/notesSlide6.xml" Id="Rd3ba46e71f4949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93a59c3774bc9" /><Relationship Type="http://schemas.openxmlformats.org/officeDocument/2006/relationships/notesSlide" Target="/ppt/notesSlides/notesSlide7.xml" Id="R68242dd0662948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e00283f664bfb" /><Relationship Type="http://schemas.openxmlformats.org/officeDocument/2006/relationships/notesSlide" Target="/ppt/notesSlides/notesSlide8.xml" Id="Rcf4ca1eb201a43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a1cab62a54d50" /><Relationship Type="http://schemas.openxmlformats.org/officeDocument/2006/relationships/notesSlide" Target="/ppt/notesSlides/notesSlide9.xml" Id="Rbfa1fd9c322b42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RAG Evaluation and Tracing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Measure retrieval and answers; trace failures before changing the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07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VERSIONED GOLDEN 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Version cases before comparing configurations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precise finance task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 · period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stable passage IDs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Expected facts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strings · numeric facts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Abstention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 sufficient evidence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dataset version makes every run comparable.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NVIDIA + Schneider Electric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 cases · positive + negative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DATASET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TWO QUALITY AXES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can pass while the answer fails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RETRIEVAL METRICS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Recall@k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expected evidence recovered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9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Reciprocal rank
first relevant 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Filter correctness · company · 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ANSWER METRICS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#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Failure signal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Citation correctness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missing / invented citations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Grounded facts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unsupported / omitted facts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Abstention correctness stays separate: refuse when evidence is insufficient.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QUALITY AXES STAY DISTINCT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Retrieval axis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recall@k · MRR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Answer axis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citations · facts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Filter gate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eligibility correct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Abstention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only if sufficient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EVALUATE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DETERMINISTIC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Start with metrics students can calculate and debug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RETRIEVAL · 0…1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 IDs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∩ top-k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÷ expected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R@k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MRR = 1 / first relevant rank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ANSWER · 0…1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cited IDs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∩ returned 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÷ cited IDs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citation correctness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ABSTENTION · BOOLEAN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insufficient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answer returned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correct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Deterministic first: cheap · reproducible · inspectable · provider-neutral.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METRICS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MLFLOW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case becomes one trace; each stage becomes a span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question · filters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allowed passage IDs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Retrieval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keyword · dense · fusion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 evidence IDs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answer · citations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Inputs, outputs, timings and failure stage stay connected in one run.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diagnose retrieval failures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diagnose answer failures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CONTROLLED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Change one variable; keep the evaluation contract fixed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dataset v1 · prompt · models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Config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RRF keyword:dense = 1:1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Config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RRF keyword:dense = 3:1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aggregate + case metrics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keep · reject · investigate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run matters only when configuration and dataset versions are logged.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local SQLite · reproducible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inspect ranks · failures · timings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OPTIONAL LLM JUDGE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Add Ragas only after deterministic fundamentals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DETERMINISTIC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· citations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facts · abstention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EXPLICIT RAGAS
JUDGE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recall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faithfulness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explicit metrics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judge model · prompt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cost · variance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gain vs cost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repeatability</a:t>
            </a:r>
          </a:p>
        </p:txBody>
      </p:sp>
      <p:cxnSp>
        <p:nvCxnSpPr>
          <p:cNvPr id="23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3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5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Ragas complements the baseline; it does not hide evidence-level metrics.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JUDGE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named question · explicit model · recorded provider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Evaluation remains the acceptance contract as orchestration and agents are added.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RAGAS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07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DB427797-A20C-4DCA-9113-F4F5AACF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Can retrieval pass while citation correctness fails?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C1D75858-DC7F-4C93-9229-D7D2B592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Yes     |     B  No     |     C  Only online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FA95D8A6-C421-45A9-B168-5050D28D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What must stay fixed when comparing two RAG configurations?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57FCB6CD-C1CA-4B2F-A5A0-E9A9A01D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Golden set     |     B  Result     |     C  Latency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119F4EF1-122E-4B42-8F19-5DAD0063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does a trace help locate?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E44E3D9C-6EBE-4A6B-923C-6A87C616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Failure stage     |     B  Stock price     |     C  User password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07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ED28019D-94CD-4808-B354-2F85C34F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Yes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44E25351-5651-44DE-A939-B24E767B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right passage may be retrieved but omitted or cited incorrectly.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FB75725F-7D5C-4E65-AC88-2A337C23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Golden set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C1DE7683-CCD0-4AAD-8D0E-E63A8B8A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controlled comparison changes one configuration variable at a time.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E9C36364-E9F3-4510-9444-CF521C5E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Failure stage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7D20A813-E21E-43E2-9789-7101D893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trace links one question to each stage, timing and output.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2026-08-24T19:24:33.3270000Z</dcterms:created>
  <dcterms:modified xsi:type="dcterms:W3CDTF">2026-08-24T19:24:33.3270000Z</dcterms:modified>
</coreProperties>
</file>