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5ca22336454418" /><Relationship Type="http://schemas.openxmlformats.org/officeDocument/2006/relationships/extended-properties" Target="/docProps/app.xml" Id="Rae80ef18e69f4c90" /><Relationship Type="http://schemas.openxmlformats.org/officeDocument/2006/relationships/officeDocument" Target="/ppt/presentation.xml" Id="R1ac5e18d07b042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8126ecfb344e5"/>
  </p:sldMasterIdLst>
  <p:notesMasterIdLst>
    <p:notesMasterId xmlns:r="http://schemas.openxmlformats.org/officeDocument/2006/relationships" r:id="R93bc4db92a654c28"/>
  </p:notesMasterIdLst>
  <p:sldIdLst>
    <p:sldId xmlns:r="http://schemas.openxmlformats.org/officeDocument/2006/relationships" id="256" r:id="R047edd4dc7ae4a53"/>
    <p:sldId xmlns:r="http://schemas.openxmlformats.org/officeDocument/2006/relationships" id="257" r:id="R4fdd343d33e248cb"/>
    <p:sldId xmlns:r="http://schemas.openxmlformats.org/officeDocument/2006/relationships" id="258" r:id="R27758eb5f93d45fd"/>
    <p:sldId xmlns:r="http://schemas.openxmlformats.org/officeDocument/2006/relationships" id="259" r:id="Ra0319b4c7860446e"/>
    <p:sldId xmlns:r="http://schemas.openxmlformats.org/officeDocument/2006/relationships" id="260" r:id="R2e10962865a8487c"/>
    <p:sldId xmlns:r="http://schemas.openxmlformats.org/officeDocument/2006/relationships" id="261" r:id="Rd8e501b713dd4378"/>
    <p:sldId xmlns:r="http://schemas.openxmlformats.org/officeDocument/2006/relationships" id="262" r:id="Rcd35b68b4f7046f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678ef0afd4479" /><Relationship Type="http://schemas.openxmlformats.org/officeDocument/2006/relationships/slideMaster" Target="/ppt/slideMasters/slideMaster1.xml" Id="R0488126ecfb344e5" /><Relationship Type="http://schemas.openxmlformats.org/officeDocument/2006/relationships/notesMaster" Target="/ppt/notesMasters/notesMaster1.xml" Id="R93bc4db92a654c28" /><Relationship Type="http://schemas.openxmlformats.org/officeDocument/2006/relationships/presProps" Target="/ppt/presProps.xml" Id="Re1b04f40e5854dd9" /><Relationship Type="http://schemas.openxmlformats.org/officeDocument/2006/relationships/tableStyles" Target="/ppt/tableStyles.xml" Id="R4766eb8ea86442f3" /><Relationship Type="http://schemas.openxmlformats.org/officeDocument/2006/relationships/slide" Target="/ppt/slides/slide1.xml" Id="R047edd4dc7ae4a53" /><Relationship Type="http://schemas.openxmlformats.org/officeDocument/2006/relationships/slide" Target="/ppt/slides/slide2.xml" Id="R4fdd343d33e248cb" /><Relationship Type="http://schemas.openxmlformats.org/officeDocument/2006/relationships/slide" Target="/ppt/slides/slide3.xml" Id="R27758eb5f93d45fd" /><Relationship Type="http://schemas.openxmlformats.org/officeDocument/2006/relationships/slide" Target="/ppt/slides/slide4.xml" Id="Ra0319b4c7860446e" /><Relationship Type="http://schemas.openxmlformats.org/officeDocument/2006/relationships/slide" Target="/ppt/slides/slide5.xml" Id="R2e10962865a8487c" /><Relationship Type="http://schemas.openxmlformats.org/officeDocument/2006/relationships/slide" Target="/ppt/slides/slide6.xml" Id="Rd8e501b713dd4378" /><Relationship Type="http://schemas.openxmlformats.org/officeDocument/2006/relationships/slide" Target="/ppt/slides/slide7.xml" Id="Rcd35b68b4f7046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42855fa2b48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951c446944047" /><Relationship Type="http://schemas.openxmlformats.org/officeDocument/2006/relationships/notesMaster" Target="/ppt/notesMasters/notesMaster1.xml" Id="R5f5a61973cb2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e161ccd11c4b29" /><Relationship Type="http://schemas.openxmlformats.org/officeDocument/2006/relationships/notesMaster" Target="/ppt/notesMasters/notesMaster1.xml" Id="R13b5c6bee416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7ed0709b884af3" /><Relationship Type="http://schemas.openxmlformats.org/officeDocument/2006/relationships/notesMaster" Target="/ppt/notesMasters/notesMaster1.xml" Id="R541e3ae0bea2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261ebde464df2" /><Relationship Type="http://schemas.openxmlformats.org/officeDocument/2006/relationships/notesMaster" Target="/ppt/notesMasters/notesMaster1.xml" Id="R39b1c3741a4c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1d17a3ef84ec7" /><Relationship Type="http://schemas.openxmlformats.org/officeDocument/2006/relationships/notesMaster" Target="/ppt/notesMasters/notesMaster1.xml" Id="Re879872fbbf449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c38376c52441bc" /><Relationship Type="http://schemas.openxmlformats.org/officeDocument/2006/relationships/notesMaster" Target="/ppt/notesMasters/notesMaster1.xml" Id="Rac0974057afb4e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3a11950cda479f" /><Relationship Type="http://schemas.openxmlformats.org/officeDocument/2006/relationships/notesMaster" Target="/ppt/notesMasters/notesMaster1.xml" Id="R561901d17ba54a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07 closes Day 1 by measuring the real financial RAG path built in Lessons 04–06.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chapter: chapters/07-rag-evaluation.md</a:t>
            </a:r>
          </a:p>
          <a:p xmlns:a="http://schemas.openxmlformats.org/drawingml/2006/main">
            <a:r>
              <a:t>- Course notebook: notebooks/07_rag_evaluation.ipynb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golden set is product data: questions, filters, expected evidence IDs, expected facts and abstention requirements are versioned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assets/course-data/evaluation/rag_cases_v1.json</a:t>
            </a:r>
          </a:p>
          <a:p xmlns:a="http://schemas.openxmlformats.org/drawingml/2006/main">
            <a:r>
              <a:t>- src/finai_academy/evaluation.py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metrics answer whether evidence was found; answer metrics answer whether generation used it correctly. A system needs both axes.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src/finai_academy/evaluation.py</a:t>
            </a:r>
          </a:p>
          <a:p xmlns:a="http://schemas.openxmlformats.org/drawingml/2006/main">
            <a:r>
              <a:t>- Course Notebook 07, Figures 2–3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metrics are deterministic and case-level before they are aggregated. They remain inspectable in offline, Ollama and OpenAI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src/finai_academy/evaluation.py</a:t>
            </a:r>
          </a:p>
          <a:p xmlns:a="http://schemas.openxmlformats.org/drawingml/2006/main">
            <a:r>
              <a:t>- Course Notebook 07, metric formulas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MLflow records one trace per case and nested spans for eligibility, keyword, dense, fusion, rerank, context and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https://mlflow.org/docs/latest/genai/tracing/app-instrumentation/manual-tracing/</a:t>
            </a:r>
          </a:p>
          <a:p xmlns:a="http://schemas.openxmlformats.org/drawingml/2006/main">
            <a:r>
              <a:t>- src/finai_academy/mlflow_evaluation.py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logs each configuration to local SQLite and compares aligned runs on the same dataset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https://mlflow.org/docs/latest/ml/tracking/</a:t>
            </a:r>
          </a:p>
          <a:p xmlns:a="http://schemas.openxmlformats.org/drawingml/2006/main">
            <a:r>
              <a:t>- Course Notebook 07, configuration comparison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Ragas is introduced as an optional explicit judge for named questions such as context recall and faithfulness. Judge model, prompt, cost and variance stay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https://docs.ragas.io/en/stable/</a:t>
            </a:r>
          </a:p>
          <a:p xmlns:a="http://schemas.openxmlformats.org/drawingml/2006/main">
            <a:r>
              <a:t>- src/finai_academy/ragas_evaluation.py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f5768b7244a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c8f432d83245cf" /><Relationship Type="http://schemas.openxmlformats.org/officeDocument/2006/relationships/slideLayout" Target="/ppt/slideLayouts/slideLayout1.xml" Id="Rb3dd2b266e89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d2b266e89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cf8ce4e14900" /><Relationship Type="http://schemas.openxmlformats.org/officeDocument/2006/relationships/notesSlide" Target="/ppt/notesSlides/notesSlide1.xml" Id="R6557ba4fe2ab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de3c4b5e24359" /><Relationship Type="http://schemas.openxmlformats.org/officeDocument/2006/relationships/notesSlide" Target="/ppt/notesSlides/notesSlide2.xml" Id="Rf3792db9d95e4b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198950ff14f36" /><Relationship Type="http://schemas.openxmlformats.org/officeDocument/2006/relationships/notesSlide" Target="/ppt/notesSlides/notesSlide3.xml" Id="R158d0a5f5505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0d621dab40c6" /><Relationship Type="http://schemas.openxmlformats.org/officeDocument/2006/relationships/notesSlide" Target="/ppt/notesSlides/notesSlide4.xml" Id="R0b492999882b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4e7acff0e4387" /><Relationship Type="http://schemas.openxmlformats.org/officeDocument/2006/relationships/notesSlide" Target="/ppt/notesSlides/notesSlide5.xml" Id="Rfcac69d7d52744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6b2cc29494c28" /><Relationship Type="http://schemas.openxmlformats.org/officeDocument/2006/relationships/notesSlide" Target="/ppt/notesSlides/notesSlide6.xml" Id="Rc727fd8392d8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10cc92a8c42ba" /><Relationship Type="http://schemas.openxmlformats.org/officeDocument/2006/relationships/notesSlide" Target="/ppt/notesSlides/notesSlide7.xml" Id="R8c2d893d24b548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RAG Evaluation and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Measure retrieval and answers; trace failures before changing the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07  ·  15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VERSIONED GOLDEN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Version cases before comparing configurations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precise finance task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company · period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stable passage IDs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Expected 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strings · numeric facts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Abstention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no sufficient evidence</a:t>
            </a:r>
          </a:p>
        </p:txBody>
      </p:sp>
      <p:cxnSp>
        <p:nvCxnSpPr>
          <p:cNvPr id="36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dataset version makes every run comparable.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NVIDIA + Schneider Electric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cases · positive + 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DATASET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21A64-93BB-447D-87E9-41FC1E8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TWO QUALITY AXES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93F9E-8AD7-4755-853A-CFF63AED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Retrieval can pass while the answer fails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02C1-E6C0-49C0-9FA8-BA7896D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RETRIEVAL METRICS</a:t>
            </a:r>
          </a:p>
        </p:txBody>
      </p:sp>
      <p:sp>
        <p:nvSpPr>
          <p:cNvPr id="4" name="fixed-one">
            <a:extLst xmlns:a="http://schemas.openxmlformats.org/drawingml/2006/main">
              <a:ext uri="{FF2B5EF4-FFF2-40B4-BE49-F238E27FC236}">
                <a16:creationId xmlns:a16="http://schemas.microsoft.com/office/drawing/2014/main" id="{40C15356-6CC0-4340-AD48-214BA67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FFA5-77A1-442E-984F-08CF9D90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483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Recall@k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expected evidence recovered</a:t>
            </a:r>
          </a:p>
        </p:txBody>
      </p:sp>
      <p:sp>
        <p:nvSpPr>
          <p:cNvPr id="6" name="fixed-two">
            <a:extLst xmlns:a="http://schemas.openxmlformats.org/drawingml/2006/main">
              <a:ext uri="{FF2B5EF4-FFF2-40B4-BE49-F238E27FC236}">
                <a16:creationId xmlns:a16="http://schemas.microsoft.com/office/drawing/2014/main" id="{AD30FCD2-C657-4E45-B1A1-6793E46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C4B2-CAE9-400F-B11D-2D4F305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Reciprocal rank
first relevant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46D44-14BC-44D4-9667-69FFDFB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Filter correctness · company · 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6CDE7-35E6-4C8C-A738-6BACCF9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ANSWER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6E03-2E74-4AA0-BC40-D36976B5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21526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18B6A-26EA-404D-8004-B4AEFB1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#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5910-AC18-40D2-B2F3-6FC1F08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19621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BD99-75A2-4F76-80D2-886026B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051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61F5A-F082-42F4-BA7B-33237B0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800350"/>
            <a:ext cx="2571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70624-C8CA-468D-98D9-3780748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905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Failure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3A85A-2DFF-4A0D-A0C0-99283CE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4354-1A30-417B-8AE7-ECA5F6B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55295-3DA8-457F-83F0-53BB6A0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96DF8-2386-42C4-91BD-18AC99A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Citation correctness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9A1A9-4564-4056-8CDC-CEDB497A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480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725B4-5DC5-4222-B581-EB84BE9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623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missing / invented citations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60DDC-C4FB-4932-B81B-0934159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C8390-620E-4337-B177-E20E166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23193-7BA4-459F-B618-D3AB37E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33689-B136-4C82-B577-8954D20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Grounded 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9AE3A-93EC-4D6A-8CF3-2D01BDB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719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72D1E-8248-480D-BA11-3458C9BA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2862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unsupported / omitted 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86CEA-598B-4254-9CEF-1D77B35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Abstention correctness stays separate: refuse when evidence is insufficient.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E3BAB-E11C-4A7E-89F3-AB1868F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2857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33CBA-8C3B-4B18-A5D5-D4F7061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53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QUALITY AXES STAY DISTINCT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A1FB2-5ABC-4E19-B39E-FBEB026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Retrieval axis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E73CC-AED7-4593-A08D-4913CB1D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recall@k · MRR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BC68A-D5B2-4F89-AC7A-F4A6B12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Answer axis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38EEE4-AA29-40C4-BA3C-01E40A9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citations ·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D4A6D-C246-49F7-9388-C795B5E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Filter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66664-5058-4CD5-A636-49C7B36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eligibility correct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83989-A3BC-4F4A-A656-ACD3BAC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Abstention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3CFBA-FD87-4351-8C2A-CF0B6F6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only if sufficient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46780A-5D65-4410-9457-661BBB6C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9519E-645C-4800-9FE8-656AB5D5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32C2C-E113-4AB5-9CC6-D6B41AE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DD0EC2-8E86-44C8-B8C1-3DB1E93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07089F-BB21-465D-B53D-42746B7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9444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DETERMINISTIC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Start with metrics students can calculate and 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RETRIEVAL · 0…1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 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∩ top-k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÷ expected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MRR = 1 / first relevant 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ANSWER · 0…1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cited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∩ returned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÷ cited 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citation correctness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ABSTENTION · BOOLEAN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insufficient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answer returned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Deterministic first: cheap · reproducible · inspectable · provider-neutral.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MLFLOW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case becomes one trace; each stage becomes a span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question · filters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Eligibility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allowed passage IDs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keyword · dense · fusion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final evidence IDs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answer · citations</a:t>
            </a:r>
          </a:p>
        </p:txBody>
      </p:sp>
      <p:cxnSp>
        <p:nvCxnSpPr>
          <p:cNvPr id="36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Inputs, outputs, timings and failure stage stay connected in one run.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diagnose retrieval failures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diagnose answer failures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Change one variable; keep the evaluation contract fixed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dataset v1 · prompt · models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Config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RRF keyword:dense = 1:1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Config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RRF keyword:dense = 3:1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aggregate + case metrics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keep · reject · investigate</a:t>
            </a:r>
          </a:p>
        </p:txBody>
      </p:sp>
      <p:cxnSp>
        <p:nvCxnSpPr>
          <p:cNvPr id="36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run matters only when configuration and dataset versions are logged.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local SQLite · reproducible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inspect ranks · failures · timings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OPTIONAL LLM JUDGE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Add Ragas only after deterministic fundamentals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DETERMINISTIC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retrieval · citations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facts · abstention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EXPLICIT RAGAS
JUDGE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 recall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faithfulness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explicit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judge model · prompt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cost · variance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gain vs cost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repeatability</a:t>
            </a:r>
          </a:p>
        </p:txBody>
      </p:sp>
      <p:cxnSp>
        <p:nvCxnSpPr>
          <p:cNvPr id="20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20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HARD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Ragas complements the baseline; it does not hide evidence-level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JUDGE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named question · explicit model · recorded provider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DAY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Evaluation remains the acceptance contract as orchestration and agents are added.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RAGAS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2026-08-16T08:01:27.8500000Z</dcterms:created>
  <dcterms:modified xsi:type="dcterms:W3CDTF">2026-08-16T08:01:27.8500000Z</dcterms:modified>
</coreProperties>
</file>