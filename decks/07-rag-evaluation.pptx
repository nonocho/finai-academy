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88e59abd21b47aa" /><Relationship Type="http://schemas.openxmlformats.org/officeDocument/2006/relationships/extended-properties" Target="/docProps/app.xml" Id="R814503ada64a4916" /><Relationship Type="http://schemas.openxmlformats.org/officeDocument/2006/relationships/officeDocument" Target="/ppt/presentation.xml" Id="Re7e132ebef584eb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c103745457c47e2"/>
  </p:sldMasterIdLst>
  <p:notesMasterIdLst>
    <p:notesMasterId xmlns:r="http://schemas.openxmlformats.org/officeDocument/2006/relationships" r:id="Ree22860a01ad46a3"/>
  </p:notesMasterIdLst>
  <p:sldIdLst>
    <p:sldId xmlns:r="http://schemas.openxmlformats.org/officeDocument/2006/relationships" id="256" r:id="Rc74d30f4a7f34513"/>
    <p:sldId xmlns:r="http://schemas.openxmlformats.org/officeDocument/2006/relationships" id="257" r:id="R1b8e5b9309414803"/>
    <p:sldId xmlns:r="http://schemas.openxmlformats.org/officeDocument/2006/relationships" id="258" r:id="Rebb7c933740f4f6d"/>
    <p:sldId xmlns:r="http://schemas.openxmlformats.org/officeDocument/2006/relationships" id="259" r:id="R334d4736cb7f481f"/>
    <p:sldId xmlns:r="http://schemas.openxmlformats.org/officeDocument/2006/relationships" id="260" r:id="Rb10f18ec75b84874"/>
    <p:sldId xmlns:r="http://schemas.openxmlformats.org/officeDocument/2006/relationships" id="261" r:id="R6fff122a74874a78"/>
    <p:sldId xmlns:r="http://schemas.openxmlformats.org/officeDocument/2006/relationships" id="262" r:id="Rff026d21e1c042ea"/>
    <p:sldId xmlns:r="http://schemas.openxmlformats.org/officeDocument/2006/relationships" id="263" r:id="Rc17d0ec70f944be2"/>
    <p:sldId xmlns:r="http://schemas.openxmlformats.org/officeDocument/2006/relationships" id="264" r:id="Rcf6e1342b87d42df"/>
    <p:sldId xmlns:r="http://schemas.openxmlformats.org/officeDocument/2006/relationships" id="265" r:id="R3802d162746e4e25"/>
    <p:sldId xmlns:r="http://schemas.openxmlformats.org/officeDocument/2006/relationships" id="266" r:id="Rb84435e1e7c64656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5916b22cf8f443b" /><Relationship Type="http://schemas.openxmlformats.org/officeDocument/2006/relationships/slideMaster" Target="/ppt/slideMasters/slideMaster1.xml" Id="R1c103745457c47e2" /><Relationship Type="http://schemas.openxmlformats.org/officeDocument/2006/relationships/notesMaster" Target="/ppt/notesMasters/notesMaster1.xml" Id="Ree22860a01ad46a3" /><Relationship Type="http://schemas.openxmlformats.org/officeDocument/2006/relationships/presProps" Target="/ppt/presProps.xml" Id="R4ca2488a5aee4acc" /><Relationship Type="http://schemas.openxmlformats.org/officeDocument/2006/relationships/tableStyles" Target="/ppt/tableStyles.xml" Id="Rf3033309f20f4351" /><Relationship Type="http://schemas.openxmlformats.org/officeDocument/2006/relationships/slide" Target="/ppt/slides/slide1.xml" Id="Rc74d30f4a7f34513" /><Relationship Type="http://schemas.openxmlformats.org/officeDocument/2006/relationships/slide" Target="/ppt/slides/slide2.xml" Id="R1b8e5b9309414803" /><Relationship Type="http://schemas.openxmlformats.org/officeDocument/2006/relationships/slide" Target="/ppt/slides/slide3.xml" Id="Rebb7c933740f4f6d" /><Relationship Type="http://schemas.openxmlformats.org/officeDocument/2006/relationships/slide" Target="/ppt/slides/slide4.xml" Id="R334d4736cb7f481f" /><Relationship Type="http://schemas.openxmlformats.org/officeDocument/2006/relationships/slide" Target="/ppt/slides/slide5.xml" Id="Rb10f18ec75b84874" /><Relationship Type="http://schemas.openxmlformats.org/officeDocument/2006/relationships/slide" Target="/ppt/slides/slide6.xml" Id="R6fff122a74874a78" /><Relationship Type="http://schemas.openxmlformats.org/officeDocument/2006/relationships/slide" Target="/ppt/slides/slide7.xml" Id="Rff026d21e1c042ea" /><Relationship Type="http://schemas.openxmlformats.org/officeDocument/2006/relationships/slide" Target="/ppt/slides/slide8.xml" Id="Rc17d0ec70f944be2" /><Relationship Type="http://schemas.openxmlformats.org/officeDocument/2006/relationships/slide" Target="/ppt/slides/slide9.xml" Id="Rcf6e1342b87d42df" /><Relationship Type="http://schemas.openxmlformats.org/officeDocument/2006/relationships/slide" Target="/ppt/slides/slide10.xml" Id="R3802d162746e4e25" /><Relationship Type="http://schemas.openxmlformats.org/officeDocument/2006/relationships/slide" Target="/ppt/slides/slide11.xml" Id="Rb84435e1e7c6465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28d47e1e64f429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c73c3d192364617" /><Relationship Type="http://schemas.openxmlformats.org/officeDocument/2006/relationships/notesMaster" Target="/ppt/notesMasters/notesMaster1.xml" Id="R2ff68de3f7154f6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272ebff8fb94289" /><Relationship Type="http://schemas.openxmlformats.org/officeDocument/2006/relationships/notesMaster" Target="/ppt/notesMasters/notesMaster1.xml" Id="R8997763a0e114c5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8330cb2c76f4ff2" /><Relationship Type="http://schemas.openxmlformats.org/officeDocument/2006/relationships/notesMaster" Target="/ppt/notesMasters/notesMaster1.xml" Id="R53efa580a98649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36859c4b76d4de4" /><Relationship Type="http://schemas.openxmlformats.org/officeDocument/2006/relationships/notesMaster" Target="/ppt/notesMasters/notesMaster1.xml" Id="R80389e9cd0544ca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85bafb82faa4c60" /><Relationship Type="http://schemas.openxmlformats.org/officeDocument/2006/relationships/notesMaster" Target="/ppt/notesMasters/notesMaster1.xml" Id="Ra17ddf9cdab1415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66955cd1bfe4076" /><Relationship Type="http://schemas.openxmlformats.org/officeDocument/2006/relationships/notesMaster" Target="/ppt/notesMasters/notesMaster1.xml" Id="Re2d4c381846b4f9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ec06ddd06a84a8a" /><Relationship Type="http://schemas.openxmlformats.org/officeDocument/2006/relationships/notesMaster" Target="/ppt/notesMasters/notesMaster1.xml" Id="R263c09702b4a47a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c6ee073d0ce4248" /><Relationship Type="http://schemas.openxmlformats.org/officeDocument/2006/relationships/notesMaster" Target="/ppt/notesMasters/notesMaster1.xml" Id="R3873849de08a40c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0f6a282e6704c65" /><Relationship Type="http://schemas.openxmlformats.org/officeDocument/2006/relationships/notesMaster" Target="/ppt/notesMasters/notesMaster1.xml" Id="Rd44acdd0664f4a9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bd0e526458a4f71" /><Relationship Type="http://schemas.openxmlformats.org/officeDocument/2006/relationships/notesMaster" Target="/ppt/notesMasters/notesMaster1.xml" Id="Ra0a73819a94e4eb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22ec72dcc474b26" /><Relationship Type="http://schemas.openxmlformats.org/officeDocument/2006/relationships/notesMaster" Target="/ppt/notesMasters/notesMaster1.xml" Id="Rb262c9a968e5473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distinction between a fluent demo and a diagnosable system.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chapters/07-rag-evaluation.md</a:t>
            </a:r>
          </a:p>
          <a:p xmlns:a="http://schemas.openxmlformats.org/drawingml/2006/main">
            <a:r>
              <a:t>- notebooks/07_rag_evaluation.ipynb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five cards to show why one overall quality score cannot diagnose RAG.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https://developers.openai.com/api/docs/guides/evaluation-best-practices</a:t>
            </a:r>
          </a:p>
          <a:p xmlns:a="http://schemas.openxmlformats.org/drawingml/2006/main">
            <a:r>
              <a:t>- src/finai_academy/evaluation.py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across the matrix: each row protects a different behavior contract.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notebooks/07_rag_evaluation.ipynb — Figure 1</a:t>
            </a:r>
          </a:p>
          <a:p xmlns:a="http://schemas.openxmlformats.org/drawingml/2006/main">
            <a:r>
              <a:t>- assets/course-data/evaluation/rag_cases_v1.json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Retrieval recall and rank remain fixed; citation and grounded-fact metrics expose the answer defect.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notebooks/07_rag_evaluation.ipynb — Figure 2</a:t>
            </a:r>
          </a:p>
          <a:p xmlns:a="http://schemas.openxmlformats.org/drawingml/2006/main">
            <a:r>
              <a:t>- src/finai_academy/evaluation.py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 one finance case through retrieval recall, citation correctness and explicit abstention.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src/finai_academy/evaluation.py</a:t>
            </a:r>
          </a:p>
          <a:p xmlns:a="http://schemas.openxmlformats.org/drawingml/2006/main">
            <a:r>
              <a:t>- https://developers.openai.com/api/docs/guides/evaluation-best-practices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Point to the span tree, latency timeline and input/output panel. The notebook persists bm25, dense, fusion, rerank, context and generation spans.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https://mlflow.org/docs/latest/genai/tracing/observe-with-traces/ui</a:t>
            </a:r>
          </a:p>
          <a:p xmlns:a="http://schemas.openxmlformats.org/drawingml/2006/main">
            <a:r>
              <a:t>- https://mlflow.org/docs/latest/images/llms/tracing/trace-ui-detail-view.png</a:t>
            </a:r>
          </a:p>
          <a:p xmlns:a="http://schemas.openxmlformats.org/drawingml/2006/main">
            <a:r>
              <a:t>- src/finai_academy/mlflow_evaluation.py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semantic-paraphrase row retrieves the correct evidence but has citation correctness 0.0.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notebooks/07_rag_evaluation.ipynb — Figure 3</a:t>
            </a:r>
          </a:p>
          <a:p xmlns:a="http://schemas.openxmlformats.org/drawingml/2006/main">
            <a:r>
              <a:t>- assets/course-data/evaluation/rag_cases_v1.json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Only the BM25 RRF weight changes from 1 to 3. The rank moves while aggregate outcomes remain aligned.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notebooks/07_rag_evaluation.ipynb — Figure 5</a:t>
            </a:r>
          </a:p>
          <a:p xmlns:a="http://schemas.openxmlformats.org/drawingml/2006/main">
            <a:r>
              <a:t>- src/finai_academy/mlflow_evaluation.py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Map each first failed metric to the application component that can repair it. Do not tune retrieval for a citation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chapters/07-rag-evaluation.md — Failure ownership</a:t>
            </a:r>
          </a:p>
          <a:p xmlns:a="http://schemas.openxmlformats.org/drawingml/2006/main">
            <a:r>
              <a:t>- src/finai_academy/evaluation.py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for one letter per question, then require learners to name the evidence behind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chapters/07-rag-evaluation.md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restating the rule: diagnose the first failed layer, repair its owner, rerun the same cases.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chapters/07-rag-evaluation.md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d542f874954c3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3bb08769bfa44ea" /><Relationship Type="http://schemas.openxmlformats.org/officeDocument/2006/relationships/slideLayout" Target="/ppt/slideLayouts/slideLayout1.xml" Id="R1a6187cb55bf459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a6187cb55bf45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377547a997444f" /><Relationship Type="http://schemas.openxmlformats.org/officeDocument/2006/relationships/notesSlide" Target="/ppt/notesSlides/notesSlide1.xml" Id="Re728439abb6d48c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44cc98880c4737" /><Relationship Type="http://schemas.openxmlformats.org/officeDocument/2006/relationships/notesSlide" Target="/ppt/notesSlides/notesSlide2.xml" Id="R52764d4cb5bb4dd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ba30f772114ff0" /><Relationship Type="http://schemas.openxmlformats.org/officeDocument/2006/relationships/image" Target="/ppt/media/image.png" Id="R98d3353265d24928" /><Relationship Type="http://schemas.openxmlformats.org/officeDocument/2006/relationships/notesSlide" Target="/ppt/notesSlides/notesSlide3.xml" Id="Re022bc8712c0424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ac655022634ba6" /><Relationship Type="http://schemas.openxmlformats.org/officeDocument/2006/relationships/image" Target="/ppt/media/image2.png" Id="R147e456ba7d64cca" /><Relationship Type="http://schemas.openxmlformats.org/officeDocument/2006/relationships/notesSlide" Target="/ppt/notesSlides/notesSlide4.xml" Id="R97a926011ae3477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f956b0baf34df7" /><Relationship Type="http://schemas.openxmlformats.org/officeDocument/2006/relationships/notesSlide" Target="/ppt/notesSlides/notesSlide5.xml" Id="R9a65092bef6e400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2fd9e203ea4d02" /><Relationship Type="http://schemas.openxmlformats.org/officeDocument/2006/relationships/image" Target="/ppt/media/image3.png" Id="R3c1e4aee7d8e4595" /><Relationship Type="http://schemas.openxmlformats.org/officeDocument/2006/relationships/notesSlide" Target="/ppt/notesSlides/notesSlide6.xml" Id="R49b95dd9b7ed42d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dc040264d743fa" /><Relationship Type="http://schemas.openxmlformats.org/officeDocument/2006/relationships/image" Target="/ppt/media/image4.png" Id="R974f9a34e4c34507" /><Relationship Type="http://schemas.openxmlformats.org/officeDocument/2006/relationships/notesSlide" Target="/ppt/notesSlides/notesSlide7.xml" Id="R20ed53f730f14ee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2e592e09f44694" /><Relationship Type="http://schemas.openxmlformats.org/officeDocument/2006/relationships/image" Target="/ppt/media/image5.png" Id="R3553accc06f640c5" /><Relationship Type="http://schemas.openxmlformats.org/officeDocument/2006/relationships/notesSlide" Target="/ppt/notesSlides/notesSlide8.xml" Id="R0b21798b3fee44c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fb7269b88c4fb7" /><Relationship Type="http://schemas.openxmlformats.org/officeDocument/2006/relationships/notesSlide" Target="/ppt/notesSlides/notesSlide9.xml" Id="R69e9cf8da63d477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9c4609c3ed4c9c" /><Relationship Type="http://schemas.openxmlformats.org/officeDocument/2006/relationships/notesSlide" Target="/ppt/notesSlides/notesSlide10.xml" Id="R4e445764646843c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0bbcb0676a4180" /><Relationship Type="http://schemas.openxmlformats.org/officeDocument/2006/relationships/notesSlide" Target="/ppt/notesSlides/notesSlide11.xml" Id="Rea4f94a3ccec417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Find the Failure in a RAG 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Measure retrieval, generation and abstention before changing the system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07  ·  15 MIN CONCEPTS + 30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WHY EVALUATE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fluent answer can hide five different failures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Retrieval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wrong evidence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Filters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wrong company / period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Citation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missing or invented ID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Grounding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unsupported claim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Abstention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answers unsupported work</a:t>
            </a:r>
          </a:p>
        </p:txBody>
      </p:sp>
      <p:cxnSp>
        <p:nvCxnSpPr>
          <p:cNvPr id="473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74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75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76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successful demo cannot tell you which layer will fail next.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same question · different failure owner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measure by layer · inspect by trace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DATASET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EVALUATION DATASET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915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golden set must cover behavior—not just contain questions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DATASET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d3353265d24928"/>
          <a:stretch xmlns:a="http://schemas.openxmlformats.org/drawingml/2006/main"/>
        </p:blipFill>
        <p:spPr>
          <a:xfrm xmlns:a="http://schemas.openxmlformats.org/drawingml/2006/main">
            <a:off x="1274482" y="2190750"/>
            <a:ext cx="12691035" cy="5219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F521A64-93BB-447D-87E9-41FC1E86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CONTROLLED FAILURE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793F9E-8AD7-4755-853A-CFF63AED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889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same retrieved evidence can still produce a failed answer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846780A-5D65-4410-9457-661BBB6C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69519E-645C-4800-9FE8-656AB5D5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032C2C-E113-4AB5-9CC6-D6B41AED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3DD0EC2-8E86-44C8-B8C1-3DB1E93C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DIAGNOSE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107089F-BB21-465D-B53D-42746B7A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7e456ba7d64cca"/>
          <a:stretch xmlns:a="http://schemas.openxmlformats.org/drawingml/2006/main"/>
        </p:blipFill>
        <p:spPr>
          <a:xfrm xmlns:a="http://schemas.openxmlformats.org/drawingml/2006/main">
            <a:off x="1265406" y="2247900"/>
            <a:ext cx="12709187" cy="5105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4430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METRICS BY LAYER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Each failure layer requires a different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RETRIEVAL · 0…1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expected IDs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∩ top-k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÷ expected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R@k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MRR = 1 / first relevant rank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ANSWER · 0…1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cited IDs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∩ returned IDs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÷ cited IDs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citation correctness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ABSTENTION · BOOLEAN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unsupported question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explicit abstain = true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correct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Cheap first: reproducible · inspectable · fast enough for every change.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METRICS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REAL MLFLOW TRACE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trace shows exactly where the pipeline broke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Source: MLflow docs · 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TRACE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1e4aee7d8e4595"/>
          <a:stretch xmlns:a="http://schemas.openxmlformats.org/drawingml/2006/main"/>
        </p:blipFill>
        <p:spPr>
          <a:xfrm xmlns:a="http://schemas.openxmlformats.org/drawingml/2006/main">
            <a:off x="2898954" y="2133600"/>
            <a:ext cx="9442093" cy="53911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CASE-LEVEL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Case-level metrics reveal the defect aggregate scores hide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CASES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4f9a34e4c34507"/>
          <a:stretch xmlns:a="http://schemas.openxmlformats.org/drawingml/2006/main"/>
        </p:blipFill>
        <p:spPr>
          <a:xfrm xmlns:a="http://schemas.openxmlformats.org/drawingml/2006/main">
            <a:off x="1625739" y="2190750"/>
            <a:ext cx="11988521" cy="5219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CONTROLLED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moved rank proves impact—not improvement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COMPARE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53accc06f640c5"/>
          <a:stretch xmlns:a="http://schemas.openxmlformats.org/drawingml/2006/main"/>
        </p:blipFill>
        <p:spPr>
          <a:xfrm xmlns:a="http://schemas.openxmlformats.org/drawingml/2006/main">
            <a:off x="1066800" y="2484997"/>
            <a:ext cx="13106400" cy="447880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FAILURE OWNERSHIP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failed metric tells you which component to fix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RETRIEVAL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recall · rank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filter leakage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GENERATION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citation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grounded facts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prompt · context</a:t>
            </a:r>
          </a:p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answer schema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ABSTENTION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unsupported work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answered anyway</a:t>
            </a:r>
          </a:p>
        </p:txBody>
      </p:sp>
      <p:cxnSp>
        <p:nvCxnSpPr>
          <p:cNvPr id="264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265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FIRST FAILED LAYER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54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owns the diagnosis; the corresponding component owns the repair.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TRACE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0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proves stage inputs · outputs · timing · failure location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NEXT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Repair one owner, rerun the same versioned cases, and compare again.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Quick quiz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Choose the component or comparison rule that the evidence supports.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07  ·  3 QUESTIONS  ·  3 MINUTES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question-1">
            <a:extLst xmlns:a="http://schemas.openxmlformats.org/drawingml/2006/main">
              <a:ext uri="{FF2B5EF4-FFF2-40B4-BE49-F238E27FC236}">
                <a16:creationId xmlns:a16="http://schemas.microsoft.com/office/drawing/2014/main" id="{DB427797-A20C-4DCA-9113-F4F5AACF2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1. Recall@k is 1.0 but citation correctness is 0.0. What failed?</a:t>
            </a:r>
          </a:p>
        </p:txBody>
      </p:sp>
      <p:sp>
        <p:nvSpPr>
          <p:cNvPr id="9" name="quiz-options-1">
            <a:extLst xmlns:a="http://schemas.openxmlformats.org/drawingml/2006/main">
              <a:ext uri="{FF2B5EF4-FFF2-40B4-BE49-F238E27FC236}">
                <a16:creationId xmlns:a16="http://schemas.microsoft.com/office/drawing/2014/main" id="{C1D75858-DC7F-4C93-9229-D7D2B5921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Retrieval     |     B  Generation     |     C  Dataset version</a:t>
            </a:r>
          </a:p>
        </p:txBody>
      </p:sp>
      <p:sp>
        <p:nvSpPr>
          <p:cNvPr id="10" name="quiz-question-2">
            <a:extLst xmlns:a="http://schemas.openxmlformats.org/drawingml/2006/main">
              <a:ext uri="{FF2B5EF4-FFF2-40B4-BE49-F238E27FC236}">
                <a16:creationId xmlns:a16="http://schemas.microsoft.com/office/drawing/2014/main" id="{FA95D8A6-C421-45A9-B168-5050D28DE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2. Which comparison isolates an RRF weight change?</a:t>
            </a:r>
          </a:p>
        </p:txBody>
      </p:sp>
      <p:sp>
        <p:nvSpPr>
          <p:cNvPr id="11" name="quiz-options-2">
            <a:extLst xmlns:a="http://schemas.openxmlformats.org/drawingml/2006/main">
              <a:ext uri="{FF2B5EF4-FFF2-40B4-BE49-F238E27FC236}">
                <a16:creationId xmlns:a16="http://schemas.microsoft.com/office/drawing/2014/main" id="{57FCB6CD-C1CA-4B2F-A5A0-E9A9A01D1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Same cases + prompt     |     B  New cases + prompt     |     C  One demo</a:t>
            </a:r>
          </a:p>
        </p:txBody>
      </p:sp>
      <p:sp>
        <p:nvSpPr>
          <p:cNvPr id="12" name="quiz-question-3">
            <a:extLst xmlns:a="http://schemas.openxmlformats.org/drawingml/2006/main">
              <a:ext uri="{FF2B5EF4-FFF2-40B4-BE49-F238E27FC236}">
                <a16:creationId xmlns:a16="http://schemas.microsoft.com/office/drawing/2014/main" id="{119F4EF1-122E-4B42-8F19-5DAD0063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3. What should you inspect after a citation failure?</a:t>
            </a:r>
          </a:p>
        </p:txBody>
      </p:sp>
      <p:sp>
        <p:nvSpPr>
          <p:cNvPr id="13" name="quiz-options-3">
            <a:extLst xmlns:a="http://schemas.openxmlformats.org/drawingml/2006/main">
              <a:ext uri="{FF2B5EF4-FFF2-40B4-BE49-F238E27FC236}">
                <a16:creationId xmlns:a16="http://schemas.microsoft.com/office/drawing/2014/main" id="{E44E3D9C-6EBE-4A6B-923C-6A87C616A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BM25 index     |     B  Generation span     |     C  Stock price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Answers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0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Diagnose before changing: the metric names the failing layer; the trace shows the evidence.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07  ·  CORRECTION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answer-1">
            <a:extLst xmlns:a="http://schemas.openxmlformats.org/drawingml/2006/main">
              <a:ext uri="{FF2B5EF4-FFF2-40B4-BE49-F238E27FC236}">
                <a16:creationId xmlns:a16="http://schemas.microsoft.com/office/drawing/2014/main" id="{ED28019D-94CD-4808-B354-2F85C34FF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1. B. Generation</a:t>
            </a:r>
          </a:p>
        </p:txBody>
      </p:sp>
      <p:sp>
        <p:nvSpPr>
          <p:cNvPr id="9" name="quiz-explanation-1">
            <a:extLst xmlns:a="http://schemas.openxmlformats.org/drawingml/2006/main">
              <a:ext uri="{FF2B5EF4-FFF2-40B4-BE49-F238E27FC236}">
                <a16:creationId xmlns:a16="http://schemas.microsoft.com/office/drawing/2014/main" id="{44E25351-5651-44DE-A939-B24E767BB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The right passage arrived; generation omitted or mis-cited the evidence ID.</a:t>
            </a:r>
          </a:p>
        </p:txBody>
      </p:sp>
      <p:sp>
        <p:nvSpPr>
          <p:cNvPr id="10" name="quiz-answer-2">
            <a:extLst xmlns:a="http://schemas.openxmlformats.org/drawingml/2006/main">
              <a:ext uri="{FF2B5EF4-FFF2-40B4-BE49-F238E27FC236}">
                <a16:creationId xmlns:a16="http://schemas.microsoft.com/office/drawing/2014/main" id="{FB75725F-7D5C-4E65-AC88-2A337C23E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2. A. Same cases + prompt</a:t>
            </a:r>
          </a:p>
        </p:txBody>
      </p:sp>
      <p:sp>
        <p:nvSpPr>
          <p:cNvPr id="11" name="quiz-explanation-2">
            <a:extLst xmlns:a="http://schemas.openxmlformats.org/drawingml/2006/main">
              <a:ext uri="{FF2B5EF4-FFF2-40B4-BE49-F238E27FC236}">
                <a16:creationId xmlns:a16="http://schemas.microsoft.com/office/drawing/2014/main" id="{C1DE7683-CCD0-4AAD-8D0E-E63A8B8A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Keep cases, prompt, models and budgets fixed; change only the RRF weight.</a:t>
            </a:r>
          </a:p>
        </p:txBody>
      </p:sp>
      <p:sp>
        <p:nvSpPr>
          <p:cNvPr id="12" name="quiz-answer-3">
            <a:extLst xmlns:a="http://schemas.openxmlformats.org/drawingml/2006/main">
              <a:ext uri="{FF2B5EF4-FFF2-40B4-BE49-F238E27FC236}">
                <a16:creationId xmlns:a16="http://schemas.microsoft.com/office/drawing/2014/main" id="{E9C36364-E9F3-4510-9444-CF521C5ED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3. B. Generation span</a:t>
            </a:r>
          </a:p>
        </p:txBody>
      </p:sp>
      <p:sp>
        <p:nvSpPr>
          <p:cNvPr id="13" name="quiz-explanation-3">
            <a:extLst xmlns:a="http://schemas.openxmlformats.org/drawingml/2006/main">
              <a:ext uri="{FF2B5EF4-FFF2-40B4-BE49-F238E27FC236}">
                <a16:creationId xmlns:a16="http://schemas.microsoft.com/office/drawing/2014/main" id="{7D20A813-E21E-43E2-9789-7101D8934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Inspect generation inputs, output, citations and timing before touching retrieval.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2026-08-26T08:47:51.8050000Z</dcterms:created>
  <dcterms:modified xsi:type="dcterms:W3CDTF">2026-08-26T08:47:51.8050000Z</dcterms:modified>
</coreProperties>
</file>