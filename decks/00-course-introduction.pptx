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8f592f7a34446c" /><Relationship Type="http://schemas.openxmlformats.org/officeDocument/2006/relationships/extended-properties" Target="/docProps/app.xml" Id="Ra599b057e3294c86" /><Relationship Type="http://schemas.openxmlformats.org/officeDocument/2006/relationships/officeDocument" Target="/ppt/presentation.xml" Id="R17a7b5a3ea1447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0e676f12c44320"/>
  </p:sldMasterIdLst>
  <p:notesMasterIdLst>
    <p:notesMasterId xmlns:r="http://schemas.openxmlformats.org/officeDocument/2006/relationships" r:id="Rad7162bedd2f4be5"/>
  </p:notesMasterIdLst>
  <p:sldIdLst>
    <p:sldId xmlns:r="http://schemas.openxmlformats.org/officeDocument/2006/relationships" id="256" r:id="Rcce13ee3244e451e"/>
    <p:sldId xmlns:r="http://schemas.openxmlformats.org/officeDocument/2006/relationships" id="257" r:id="Rc5985020a94f412e"/>
    <p:sldId xmlns:r="http://schemas.openxmlformats.org/officeDocument/2006/relationships" id="258" r:id="R4fa1a2e2d4144eeb"/>
    <p:sldId xmlns:r="http://schemas.openxmlformats.org/officeDocument/2006/relationships" id="259" r:id="R38206c64d06345c5"/>
    <p:sldId xmlns:r="http://schemas.openxmlformats.org/officeDocument/2006/relationships" id="260" r:id="Re4a3758bca2f4ec9"/>
    <p:sldId xmlns:r="http://schemas.openxmlformats.org/officeDocument/2006/relationships" id="261" r:id="R06aeacc028684a24"/>
    <p:sldId xmlns:r="http://schemas.openxmlformats.org/officeDocument/2006/relationships" id="262" r:id="R473c41d3a76c4612"/>
    <p:sldId xmlns:r="http://schemas.openxmlformats.org/officeDocument/2006/relationships" id="263" r:id="R22b14b71f7564fec"/>
    <p:sldId xmlns:r="http://schemas.openxmlformats.org/officeDocument/2006/relationships" id="264" r:id="R635dd93e29db4a91"/>
    <p:sldId xmlns:r="http://schemas.openxmlformats.org/officeDocument/2006/relationships" id="265" r:id="R67687ac7beb945d8"/>
    <p:sldId xmlns:r="http://schemas.openxmlformats.org/officeDocument/2006/relationships" id="266" r:id="R4d9579db5ec541e3"/>
    <p:sldId xmlns:r="http://schemas.openxmlformats.org/officeDocument/2006/relationships" id="267" r:id="Rc89a99fc8e3041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55eac70da94dcf" /><Relationship Type="http://schemas.openxmlformats.org/officeDocument/2006/relationships/slideMaster" Target="/ppt/slideMasters/slideMaster1.xml" Id="R8d0e676f12c44320" /><Relationship Type="http://schemas.openxmlformats.org/officeDocument/2006/relationships/notesMaster" Target="/ppt/notesMasters/notesMaster1.xml" Id="Rad7162bedd2f4be5" /><Relationship Type="http://schemas.openxmlformats.org/officeDocument/2006/relationships/presProps" Target="/ppt/presProps.xml" Id="R78bbe59155484d6f" /><Relationship Type="http://schemas.openxmlformats.org/officeDocument/2006/relationships/tableStyles" Target="/ppt/tableStyles.xml" Id="R9d0fafb60b614c15" /><Relationship Type="http://schemas.openxmlformats.org/officeDocument/2006/relationships/slide" Target="/ppt/slides/slide1.xml" Id="Rcce13ee3244e451e" /><Relationship Type="http://schemas.openxmlformats.org/officeDocument/2006/relationships/slide" Target="/ppt/slides/slide2.xml" Id="Rc5985020a94f412e" /><Relationship Type="http://schemas.openxmlformats.org/officeDocument/2006/relationships/slide" Target="/ppt/slides/slide3.xml" Id="R4fa1a2e2d4144eeb" /><Relationship Type="http://schemas.openxmlformats.org/officeDocument/2006/relationships/slide" Target="/ppt/slides/slide4.xml" Id="R38206c64d06345c5" /><Relationship Type="http://schemas.openxmlformats.org/officeDocument/2006/relationships/slide" Target="/ppt/slides/slide5.xml" Id="Re4a3758bca2f4ec9" /><Relationship Type="http://schemas.openxmlformats.org/officeDocument/2006/relationships/slide" Target="/ppt/slides/slide6.xml" Id="R06aeacc028684a24" /><Relationship Type="http://schemas.openxmlformats.org/officeDocument/2006/relationships/slide" Target="/ppt/slides/slide7.xml" Id="R473c41d3a76c4612" /><Relationship Type="http://schemas.openxmlformats.org/officeDocument/2006/relationships/slide" Target="/ppt/slides/slide8.xml" Id="R22b14b71f7564fec" /><Relationship Type="http://schemas.openxmlformats.org/officeDocument/2006/relationships/slide" Target="/ppt/slides/slide9.xml" Id="R635dd93e29db4a91" /><Relationship Type="http://schemas.openxmlformats.org/officeDocument/2006/relationships/slide" Target="/ppt/slides/slide10.xml" Id="R67687ac7beb945d8" /><Relationship Type="http://schemas.openxmlformats.org/officeDocument/2006/relationships/slide" Target="/ppt/slides/slide11.xml" Id="R4d9579db5ec541e3" /><Relationship Type="http://schemas.openxmlformats.org/officeDocument/2006/relationships/slide" Target="/ppt/slides/slide12.xml" Id="Rc89a99fc8e3041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0002e34e1648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73efe858074215" /><Relationship Type="http://schemas.openxmlformats.org/officeDocument/2006/relationships/notesMaster" Target="/ppt/notesMasters/notesMaster1.xml" Id="Re07233ad845d41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3dc0b0820f4239" /><Relationship Type="http://schemas.openxmlformats.org/officeDocument/2006/relationships/notesMaster" Target="/ppt/notesMasters/notesMaster1.xml" Id="Rae82b590676949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b2de8bd95849e5" /><Relationship Type="http://schemas.openxmlformats.org/officeDocument/2006/relationships/notesMaster" Target="/ppt/notesMasters/notesMaster1.xml" Id="R3bf7f84c850f48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53cf5f471f4159" /><Relationship Type="http://schemas.openxmlformats.org/officeDocument/2006/relationships/notesMaster" Target="/ppt/notesMasters/notesMaster1.xml" Id="R8c2a2bc1f9ad46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bee2a4ec504810" /><Relationship Type="http://schemas.openxmlformats.org/officeDocument/2006/relationships/notesMaster" Target="/ppt/notesMasters/notesMaster1.xml" Id="Rec48d92539934d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e335eeab064759" /><Relationship Type="http://schemas.openxmlformats.org/officeDocument/2006/relationships/notesMaster" Target="/ppt/notesMasters/notesMaster1.xml" Id="Rdeca4bdde0d242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b4dd82b6c84f6e" /><Relationship Type="http://schemas.openxmlformats.org/officeDocument/2006/relationships/notesMaster" Target="/ppt/notesMasters/notesMaster1.xml" Id="R2328eac2da5f44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91c92096bc4240" /><Relationship Type="http://schemas.openxmlformats.org/officeDocument/2006/relationships/notesMaster" Target="/ppt/notesMasters/notesMaster1.xml" Id="Rc61016b7fb5041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c23d1d02914133" /><Relationship Type="http://schemas.openxmlformats.org/officeDocument/2006/relationships/notesMaster" Target="/ppt/notesMasters/notesMaster1.xml" Id="R497ef642161243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b135ab4e2f42e1" /><Relationship Type="http://schemas.openxmlformats.org/officeDocument/2006/relationships/notesMaster" Target="/ppt/notesMasters/notesMaster1.xml" Id="Rea653a9639c541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420c591a014f49" /><Relationship Type="http://schemas.openxmlformats.org/officeDocument/2006/relationships/notesMaster" Target="/ppt/notesMasters/notesMaster1.xml" Id="Re9dbdffc66c144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f4101532c04358" /><Relationship Type="http://schemas.openxmlformats.org/officeDocument/2006/relationships/notesMaster" Target="/ppt/notesMasters/notesMaster1.xml" Id="R8b9743bcab234d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finished product promise, not a technology inventory.</a:t>
            </a:r>
          </a:p>
          <a:p xmlns:a="http://schemas.openxmlformats.org/drawingml/2006/main">
            <a:r>
              <a:t>Explain that every notebook changes the same Financial Analyst Copilot.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course source: course.yml and approved two-day design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word inspectable: evidence, calculations, trajectory and evaluation remain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course source: course.yml and approved two-day design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the final interface briefly before explaining its architecture.</a:t>
            </a:r>
          </a:p>
          <a:p xmlns:a="http://schemas.openxmlformats.org/drawingml/2006/main">
            <a:r>
              <a:t>State clearly that the application supports research and does not execute trades.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course source: course.yml and approved two-day design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one example per transition: hallucination, long document, dynamic source choice, external capability discovery.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course source: course.yml and approved two-day design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failure labs are deliberate: the learner sees why the next abstraction exists.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course source: course.yml and approved two-day design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learner has already called both provider paths before the first break.</a:t>
            </a:r>
          </a:p>
          <a:p xmlns:a="http://schemas.openxmlformats.org/drawingml/2006/main">
            <a:r>
              <a:t>End the morning by making retrieval visible without a framework.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course source: course.yml and approved two-day design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long chunking lab is the centre of Day 1. Preserve the comparison time; prebuild parsing boilerplate if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course source: course.yml and approved two-day design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Day 1 by inspecting one success and one failure. Do not judge the pipeline only from a polished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course source: course.yml and approved two-day design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workflow before agent sequence explicit. Normal Python remains the preferred option for deterministic calculations.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course source: course.yml and approved two-day design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capstone scaffold provides UI and API plumbing. Live work completes and connects the intelligence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course source: course.yml and approved two-day design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provider switch live in Notebook 01. Explain that both paths are tested separately before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course source: course.yml and approved two-day design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 directly to Notebook 01. The first objective is a provider-neutral model response with measured latency.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course source: course.yml and approved two-day design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4e8c8a09f544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bbf6b3c0134e25" /><Relationship Type="http://schemas.openxmlformats.org/officeDocument/2006/relationships/slideLayout" Target="/ppt/slideLayouts/slideLayout1.xml" Id="Rbb8e6a4ff4d945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8e6a4ff4d945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d4a0f053e47ad" /><Relationship Type="http://schemas.openxmlformats.org/officeDocument/2006/relationships/notesSlide" Target="/ppt/notesSlides/notesSlide1.xml" Id="R48c05c7a75344b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eaf2ec7204a5f" /><Relationship Type="http://schemas.openxmlformats.org/officeDocument/2006/relationships/notesSlide" Target="/ppt/notesSlides/notesSlide2.xml" Id="R3d6ca192a1ea4c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dfbaaa8534b33" /><Relationship Type="http://schemas.openxmlformats.org/officeDocument/2006/relationships/notesSlide" Target="/ppt/notesSlides/notesSlide3.xml" Id="Re0719180967c46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f302451ce4a57" /><Relationship Type="http://schemas.openxmlformats.org/officeDocument/2006/relationships/notesSlide" Target="/ppt/notesSlides/notesSlide4.xml" Id="Rb77736597d8645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cf7d55e9b4967" /><Relationship Type="http://schemas.openxmlformats.org/officeDocument/2006/relationships/notesSlide" Target="/ppt/notesSlides/notesSlide5.xml" Id="R8d7d0fba275049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af7663f084cf7" /><Relationship Type="http://schemas.openxmlformats.org/officeDocument/2006/relationships/notesSlide" Target="/ppt/notesSlides/notesSlide6.xml" Id="R95dd82ebde0b44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92c915381436f" /><Relationship Type="http://schemas.openxmlformats.org/officeDocument/2006/relationships/notesSlide" Target="/ppt/notesSlides/notesSlide7.xml" Id="R4ac253ce713541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51b3c35eb4109" /><Relationship Type="http://schemas.openxmlformats.org/officeDocument/2006/relationships/notesSlide" Target="/ppt/notesSlides/notesSlide8.xml" Id="Rf535cd9887984b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29f3bbb524114" /><Relationship Type="http://schemas.openxmlformats.org/officeDocument/2006/relationships/notesSlide" Target="/ppt/notesSlides/notesSlide9.xml" Id="Rd581137c7adc40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0d1b141df45ee" /><Relationship Type="http://schemas.openxmlformats.org/officeDocument/2006/relationships/notesSlide" Target="/ppt/notesSlides/notesSlide10.xml" Id="R00f18bf7e6cc4f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9251af09b46af" /><Relationship Type="http://schemas.openxmlformats.org/officeDocument/2006/relationships/notesSlide" Target="/ppt/notesSlides/notesSlide11.xml" Id="R07ddb84c6f3f4c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e5f9276de418f" /><Relationship Type="http://schemas.openxmlformats.org/officeDocument/2006/relationships/notesSlide" Target="/ppt/notesSlides/notesSlide12.xml" Id="Rfe437ce9ae4b4e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1C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yan-rule">
            <a:extLst xmlns:a="http://schemas.openxmlformats.org/drawingml/2006/main">
              <a:ext uri="{FF2B5EF4-FFF2-40B4-BE49-F238E27FC236}">
                <a16:creationId xmlns:a16="http://schemas.microsoft.com/office/drawing/2014/main" id="{DD41D299-7FFB-4306-8847-78011267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3BB86EA8-066C-46D2-829F-F9E66A50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A2EB"/>
                </a:solidFill>
              </a:defRPr>
            </a:pPr>
            <a:r>
              <a:rPr sz="1125" b="1">
                <a:solidFill>
                  <a:srgbClr val="00A2EB"/>
                </a:solidFill>
              </a:rPr>
              <a:t>FIRST FINANCE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649987-FA3A-4955-8F01-DF814FFF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8572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AI Engineering</a:t>
            </a:r>
          </a:p>
          <a:p xmlns:a="http://schemas.openxmlformats.org/drawingml/2006/main">
            <a:pPr algn="l">
              <a:buNone/>
              <a:defRPr sz="4125" b="1">
                <a:solidFill>
                  <a:srgbClr val="FFFFFF"/>
                </a:solidFill>
              </a:defRPr>
            </a:pPr>
            <a:r>
              <a:rPr sz="4125" b="1">
                <a:solidFill>
                  <a:srgbClr val="FFFFFF"/>
                </a:solidFill>
              </a:rPr>
              <a:t>for Asset Management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440830BF-7B96-4989-A068-953AE9BE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5F5F5"/>
                </a:solidFill>
              </a:defRPr>
            </a:pPr>
            <a:r>
              <a:rPr sz="1875" b="0">
                <a:solidFill>
                  <a:srgbClr val="F5F5F5"/>
                </a:solidFill>
              </a:rPr>
              <a:t>Two-day technical course and capstone project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87598C02-B8E3-4047-B8F9-E31FB00B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E9FA2"/>
                </a:solidFill>
              </a:defRPr>
            </a:pPr>
            <a:r>
              <a:rPr sz="1350" b="0">
                <a:solidFill>
                  <a:srgbClr val="9E9FA2"/>
                </a:solidFill>
              </a:rPr>
              <a:t>Arnaud Demes</a:t>
            </a:r>
          </a:p>
        </p:txBody>
      </p:sp>
      <p:sp>
        <p:nvSpPr>
          <p:cNvPr id="6" name="duration">
            <a:extLst xmlns:a="http://schemas.openxmlformats.org/drawingml/2006/main">
              <a:ext uri="{FF2B5EF4-FFF2-40B4-BE49-F238E27FC236}">
                <a16:creationId xmlns:a16="http://schemas.microsoft.com/office/drawing/2014/main" id="{6BF625A3-4B56-4D80-B001-A213BBAD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8162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F07D00"/>
                </a:solidFill>
              </a:defRPr>
            </a:pPr>
            <a:r>
              <a:rPr sz="1200" b="1">
                <a:solidFill>
                  <a:srgbClr val="F07D00"/>
                </a:solidFill>
              </a:rPr>
              <a:t>2 DAYS  •  12 NOTEBOOKS  •  1 CAPSTONE</a:t>
            </a:r>
          </a:p>
        </p:txBody>
      </p:sp>
    </p:spTree>
    <p:extLst>
      <p:ext uri="{BB962C8B-B14F-4D97-AF65-F5344CB8AC3E}">
        <p14:creationId xmlns:p14="http://schemas.microsoft.com/office/powerpoint/2010/main" val="3657739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-2">
            <a:extLst xmlns:a="http://schemas.openxmlformats.org/drawingml/2006/main">
              <a:ext uri="{FF2B5EF4-FFF2-40B4-BE49-F238E27FC236}">
                <a16:creationId xmlns:a16="http://schemas.microsoft.com/office/drawing/2014/main" id="{B6B0F22F-2174-4D33-ADB9-5428B1A9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40CB"/>
                </a:solidFill>
              </a:defRPr>
            </a:pPr>
            <a:r>
              <a:rPr sz="1050" b="1">
                <a:solidFill>
                  <a:srgbClr val="1F40CB"/>
                </a:solidFill>
              </a:rPr>
              <a:t>COURSE OUTCOME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D8A34DFF-FDBA-4B8C-BB65-D1073FAE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51C2A"/>
                </a:solidFill>
              </a:defRPr>
            </a:pPr>
            <a:r>
              <a:rPr sz="2925" b="1">
                <a:solidFill>
                  <a:srgbClr val="051C2A"/>
                </a:solidFill>
              </a:rPr>
              <a:t>Course objective: build a financial analyst copilot across the full stack</a:t>
            </a:r>
          </a:p>
        </p:txBody>
      </p:sp>
      <p:sp>
        <p:nvSpPr>
          <p:cNvPr id="3" name="progress-2">
            <a:extLst xmlns:a="http://schemas.openxmlformats.org/drawingml/2006/main">
              <a:ext uri="{FF2B5EF4-FFF2-40B4-BE49-F238E27FC236}">
                <a16:creationId xmlns:a16="http://schemas.microsoft.com/office/drawing/2014/main" id="{C35D95B7-D18A-415D-9089-C220BBBA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gress-active-2">
            <a:extLst xmlns:a="http://schemas.openxmlformats.org/drawingml/2006/main">
              <a:ext uri="{FF2B5EF4-FFF2-40B4-BE49-F238E27FC236}">
                <a16:creationId xmlns:a16="http://schemas.microsoft.com/office/drawing/2014/main" id="{370D08C7-9412-4ED5-A2DD-1118DA59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80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C2F4F0B1-CA38-4B5C-A8C1-A473AB4C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E9FA2"/>
                </a:solidFill>
              </a:defRPr>
            </a:pPr>
            <a:r>
              <a:rPr sz="975" b="0">
                <a:solidFill>
                  <a:srgbClr val="9E9FA2"/>
                </a:solidFill>
              </a:rPr>
              <a:t>First Finance - Arnaud Demes</a:t>
            </a:r>
          </a:p>
        </p:txBody>
      </p:sp>
      <p:sp>
        <p:nvSpPr>
          <p:cNvPr id="6" name="section-2">
            <a:extLst xmlns:a="http://schemas.openxmlformats.org/drawingml/2006/main">
              <a:ext uri="{FF2B5EF4-FFF2-40B4-BE49-F238E27FC236}">
                <a16:creationId xmlns:a16="http://schemas.microsoft.com/office/drawing/2014/main" id="{82C43427-6068-4036-92FB-303FDB37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770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E9FA2"/>
                </a:solidFill>
              </a:defRPr>
            </a:pPr>
            <a:r>
              <a:rPr sz="900" b="1">
                <a:solidFill>
                  <a:srgbClr val="9E9FA2"/>
                </a:solidFill>
              </a:rPr>
              <a:t>OBJECTIVE</a:t>
            </a:r>
          </a:p>
        </p:txBody>
      </p:sp>
      <p:sp>
        <p:nvSpPr>
          <p:cNvPr id="7" name="page-2">
            <a:extLst xmlns:a="http://schemas.openxmlformats.org/drawingml/2006/main">
              <a:ext uri="{FF2B5EF4-FFF2-40B4-BE49-F238E27FC236}">
                <a16:creationId xmlns:a16="http://schemas.microsoft.com/office/drawing/2014/main" id="{87B1A521-7C73-4C5F-9AFD-AF131761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E9FA2"/>
                </a:solidFill>
              </a:defRPr>
            </a:pPr>
            <a:r>
              <a:rPr sz="900" b="1">
                <a:solidFill>
                  <a:srgbClr val="9E9FA2"/>
                </a:solidFill>
              </a:rPr>
              <a:t>02</a:t>
            </a:r>
          </a:p>
        </p:txBody>
      </p:sp>
      <p:sp>
        <p:nvSpPr>
          <p:cNvPr id="8" name="stage-index-0">
            <a:extLst xmlns:a="http://schemas.openxmlformats.org/drawingml/2006/main">
              <a:ext uri="{FF2B5EF4-FFF2-40B4-BE49-F238E27FC236}">
                <a16:creationId xmlns:a16="http://schemas.microsoft.com/office/drawing/2014/main" id="{0F2DCE3D-FD9C-46EC-B46E-48D072E5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2EB"/>
                </a:solidFill>
              </a:defRPr>
            </a:pPr>
            <a:r>
              <a:rPr sz="1050" b="1">
                <a:solidFill>
                  <a:srgbClr val="00A2EB"/>
                </a:solidFill>
              </a:rPr>
              <a:t>01</a:t>
            </a:r>
          </a:p>
        </p:txBody>
      </p:sp>
      <p:sp>
        <p:nvSpPr>
          <p:cNvPr id="9" name="stage-rule-0">
            <a:extLst xmlns:a="http://schemas.openxmlformats.org/drawingml/2006/main">
              <a:ext uri="{FF2B5EF4-FFF2-40B4-BE49-F238E27FC236}">
                <a16:creationId xmlns:a16="http://schemas.microsoft.com/office/drawing/2014/main" id="{5D279491-F5FF-452B-A565-53828FB0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0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ge-label-0">
            <a:extLst xmlns:a="http://schemas.openxmlformats.org/drawingml/2006/main">
              <a:ext uri="{FF2B5EF4-FFF2-40B4-BE49-F238E27FC236}">
                <a16:creationId xmlns:a16="http://schemas.microsoft.com/office/drawing/2014/main" id="{F4F77EEA-543F-4E67-A0C3-ED519828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51C2A"/>
                </a:solidFill>
              </a:defRPr>
            </a:pPr>
            <a:r>
              <a:rPr sz="1350" b="1">
                <a:solidFill>
                  <a:srgbClr val="051C2A"/>
                </a:solidFill>
              </a:rPr>
              <a:t>MODEL</a:t>
            </a:r>
          </a:p>
        </p:txBody>
      </p:sp>
      <p:sp>
        <p:nvSpPr>
          <p:cNvPr id="11" name="stage-desc-0">
            <a:extLst xmlns:a="http://schemas.openxmlformats.org/drawingml/2006/main">
              <a:ext uri="{FF2B5EF4-FFF2-40B4-BE49-F238E27FC236}">
                <a16:creationId xmlns:a16="http://schemas.microsoft.com/office/drawing/2014/main" id="{5347E9ED-C0E0-4BA5-ACB2-B16042A4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73738"/>
                </a:solidFill>
              </a:defRPr>
            </a:pPr>
            <a:r>
              <a:rPr sz="1350" b="0">
                <a:solidFill>
                  <a:srgbClr val="373738"/>
                </a:solidFill>
              </a:rPr>
              <a:t>A useful response</a:t>
            </a:r>
          </a:p>
        </p:txBody>
      </p:sp>
      <p:sp>
        <p:nvSpPr>
          <p:cNvPr id="12" name="stage-index-1">
            <a:extLst xmlns:a="http://schemas.openxmlformats.org/drawingml/2006/main">
              <a:ext uri="{FF2B5EF4-FFF2-40B4-BE49-F238E27FC236}">
                <a16:creationId xmlns:a16="http://schemas.microsoft.com/office/drawing/2014/main" id="{32E366A7-02B4-4074-BCD7-FC360A7C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383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2EB"/>
                </a:solidFill>
              </a:defRPr>
            </a:pPr>
            <a:r>
              <a:rPr sz="1050" b="1">
                <a:solidFill>
                  <a:srgbClr val="00A2EB"/>
                </a:solidFill>
              </a:rPr>
              <a:t>02</a:t>
            </a:r>
          </a:p>
        </p:txBody>
      </p:sp>
      <p:sp>
        <p:nvSpPr>
          <p:cNvPr id="13" name="stage-rule-1">
            <a:extLst xmlns:a="http://schemas.openxmlformats.org/drawingml/2006/main">
              <a:ext uri="{FF2B5EF4-FFF2-40B4-BE49-F238E27FC236}">
                <a16:creationId xmlns:a16="http://schemas.microsoft.com/office/drawing/2014/main" id="{9CDCA783-C516-4F25-BE09-79065CDC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7175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0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E7C9E890-AD4D-4E4B-BB00-76105099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194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51C2A"/>
                </a:solidFill>
              </a:defRPr>
            </a:pPr>
            <a:r>
              <a:rPr sz="1350" b="1">
                <a:solidFill>
                  <a:srgbClr val="051C2A"/>
                </a:solidFill>
              </a:rPr>
              <a:t>EVIDENCE</a:t>
            </a:r>
          </a:p>
        </p:txBody>
      </p:sp>
      <p:sp>
        <p:nvSpPr>
          <p:cNvPr id="15" name="stage-desc-1">
            <a:extLst xmlns:a="http://schemas.openxmlformats.org/drawingml/2006/main">
              <a:ext uri="{FF2B5EF4-FFF2-40B4-BE49-F238E27FC236}">
                <a16:creationId xmlns:a16="http://schemas.microsoft.com/office/drawing/2014/main" id="{EA796D7B-AD53-4AB9-8112-4F4B280A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1945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73738"/>
                </a:solidFill>
              </a:defRPr>
            </a:pPr>
            <a:r>
              <a:rPr sz="1350" b="0">
                <a:solidFill>
                  <a:srgbClr val="373738"/>
                </a:solidFill>
              </a:rPr>
              <a:t>A cited answer</a:t>
            </a:r>
          </a:p>
        </p:txBody>
      </p:sp>
      <p:sp>
        <p:nvSpPr>
          <p:cNvPr id="16" name="stage-index-2">
            <a:extLst xmlns:a="http://schemas.openxmlformats.org/drawingml/2006/main">
              <a:ext uri="{FF2B5EF4-FFF2-40B4-BE49-F238E27FC236}">
                <a16:creationId xmlns:a16="http://schemas.microsoft.com/office/drawing/2014/main" id="{6D15A78A-B69C-4F2A-9616-0B039C40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383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2EB"/>
                </a:solidFill>
              </a:defRPr>
            </a:pPr>
            <a:r>
              <a:rPr sz="1050" b="1">
                <a:solidFill>
                  <a:srgbClr val="00A2EB"/>
                </a:solidFill>
              </a:rPr>
              <a:t>03</a:t>
            </a:r>
          </a:p>
        </p:txBody>
      </p:sp>
      <p:sp>
        <p:nvSpPr>
          <p:cNvPr id="17" name="stage-rule-2">
            <a:extLst xmlns:a="http://schemas.openxmlformats.org/drawingml/2006/main">
              <a:ext uri="{FF2B5EF4-FFF2-40B4-BE49-F238E27FC236}">
                <a16:creationId xmlns:a16="http://schemas.microsoft.com/office/drawing/2014/main" id="{9AD4B3FC-8683-41FF-84A8-CD39E15F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7175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0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C6966E92-2397-4EF0-B82C-EC450895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194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51C2A"/>
                </a:solidFill>
              </a:defRPr>
            </a:pPr>
            <a:r>
              <a:rPr sz="1350" b="1">
                <a:solidFill>
                  <a:srgbClr val="051C2A"/>
                </a:solidFill>
              </a:rPr>
              <a:t>TOOLS</a:t>
            </a:r>
          </a:p>
        </p:txBody>
      </p:sp>
      <p:sp>
        <p:nvSpPr>
          <p:cNvPr id="19" name="stage-desc-2">
            <a:extLst xmlns:a="http://schemas.openxmlformats.org/drawingml/2006/main">
              <a:ext uri="{FF2B5EF4-FFF2-40B4-BE49-F238E27FC236}">
                <a16:creationId xmlns:a16="http://schemas.microsoft.com/office/drawing/2014/main" id="{086D6630-113F-4D35-B7A9-E8E1BE94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1945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73738"/>
                </a:solidFill>
              </a:defRPr>
            </a:pPr>
            <a:r>
              <a:rPr sz="1350" b="0">
                <a:solidFill>
                  <a:srgbClr val="373738"/>
                </a:solidFill>
              </a:rPr>
              <a:t>A research workflow</a:t>
            </a:r>
          </a:p>
        </p:txBody>
      </p:sp>
      <p:sp>
        <p:nvSpPr>
          <p:cNvPr id="20" name="stage-index-3">
            <a:extLst xmlns:a="http://schemas.openxmlformats.org/drawingml/2006/main">
              <a:ext uri="{FF2B5EF4-FFF2-40B4-BE49-F238E27FC236}">
                <a16:creationId xmlns:a16="http://schemas.microsoft.com/office/drawing/2014/main" id="{1B0C363A-9AD3-4844-BC86-28C70820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383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2EB"/>
                </a:solidFill>
              </a:defRPr>
            </a:pPr>
            <a:r>
              <a:rPr sz="1050" b="1">
                <a:solidFill>
                  <a:srgbClr val="00A2EB"/>
                </a:solidFill>
              </a:rPr>
              <a:t>04</a:t>
            </a:r>
          </a:p>
        </p:txBody>
      </p:sp>
      <p:sp>
        <p:nvSpPr>
          <p:cNvPr id="21" name="stage-rule-3">
            <a:extLst xmlns:a="http://schemas.openxmlformats.org/drawingml/2006/main">
              <a:ext uri="{FF2B5EF4-FFF2-40B4-BE49-F238E27FC236}">
                <a16:creationId xmlns:a16="http://schemas.microsoft.com/office/drawing/2014/main" id="{F810CCF9-A1FC-4CB2-8011-34B36A0D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0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tage-label-3">
            <a:extLst xmlns:a="http://schemas.openxmlformats.org/drawingml/2006/main">
              <a:ext uri="{FF2B5EF4-FFF2-40B4-BE49-F238E27FC236}">
                <a16:creationId xmlns:a16="http://schemas.microsoft.com/office/drawing/2014/main" id="{9A14B072-D628-4B03-B8C0-280DDE8F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194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51C2A"/>
                </a:solidFill>
              </a:defRPr>
            </a:pPr>
            <a:r>
              <a:rPr sz="1350" b="1">
                <a:solidFill>
                  <a:srgbClr val="051C2A"/>
                </a:solidFill>
              </a:rPr>
              <a:t>AGENT</a:t>
            </a:r>
          </a:p>
        </p:txBody>
      </p:sp>
      <p:sp>
        <p:nvSpPr>
          <p:cNvPr id="23" name="stage-desc-3">
            <a:extLst xmlns:a="http://schemas.openxmlformats.org/drawingml/2006/main">
              <a:ext uri="{FF2B5EF4-FFF2-40B4-BE49-F238E27FC236}">
                <a16:creationId xmlns:a16="http://schemas.microsoft.com/office/drawing/2014/main" id="{23E6CE52-61FA-4E7F-B84F-791C421B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1945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73738"/>
                </a:solidFill>
              </a:defRPr>
            </a:pPr>
            <a:r>
              <a:rPr sz="1350" b="0">
                <a:solidFill>
                  <a:srgbClr val="373738"/>
                </a:solidFill>
              </a:rPr>
              <a:t>A bounded decision loop</a:t>
            </a:r>
          </a:p>
        </p:txBody>
      </p:sp>
      <p:sp>
        <p:nvSpPr>
          <p:cNvPr id="24" name="stage-index-4">
            <a:extLst xmlns:a="http://schemas.openxmlformats.org/drawingml/2006/main">
              <a:ext uri="{FF2B5EF4-FFF2-40B4-BE49-F238E27FC236}">
                <a16:creationId xmlns:a16="http://schemas.microsoft.com/office/drawing/2014/main" id="{AAA3EFBD-D59C-4DBA-9E3C-05DD6CA6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3837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7D00"/>
                </a:solidFill>
              </a:defRPr>
            </a:pPr>
            <a:r>
              <a:rPr sz="1050" b="1">
                <a:solidFill>
                  <a:srgbClr val="F07D00"/>
                </a:solidFill>
              </a:rPr>
              <a:t>05</a:t>
            </a:r>
          </a:p>
        </p:txBody>
      </p:sp>
      <p:sp>
        <p:nvSpPr>
          <p:cNvPr id="25" name="stage-rule-4">
            <a:extLst xmlns:a="http://schemas.openxmlformats.org/drawingml/2006/main">
              <a:ext uri="{FF2B5EF4-FFF2-40B4-BE49-F238E27FC236}">
                <a16:creationId xmlns:a16="http://schemas.microsoft.com/office/drawing/2014/main" id="{311C1013-1C28-449B-B579-29289599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1695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tage-label-4">
            <a:extLst xmlns:a="http://schemas.openxmlformats.org/drawingml/2006/main">
              <a:ext uri="{FF2B5EF4-FFF2-40B4-BE49-F238E27FC236}">
                <a16:creationId xmlns:a16="http://schemas.microsoft.com/office/drawing/2014/main" id="{67829646-D738-4E87-AA6E-E226B07B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194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51C2A"/>
                </a:solidFill>
              </a:defRPr>
            </a:pPr>
            <a:r>
              <a:rPr sz="1350" b="1">
                <a:solidFill>
                  <a:srgbClr val="051C2A"/>
                </a:solidFill>
              </a:rPr>
              <a:t>MCP</a:t>
            </a:r>
          </a:p>
        </p:txBody>
      </p:sp>
      <p:sp>
        <p:nvSpPr>
          <p:cNvPr id="27" name="stage-desc-4">
            <a:extLst xmlns:a="http://schemas.openxmlformats.org/drawingml/2006/main">
              <a:ext uri="{FF2B5EF4-FFF2-40B4-BE49-F238E27FC236}">
                <a16:creationId xmlns:a16="http://schemas.microsoft.com/office/drawing/2014/main" id="{9C404E99-33D9-49B7-B607-D3892AB7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1945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73738"/>
                </a:solidFill>
              </a:defRPr>
            </a:pPr>
            <a:r>
              <a:rPr sz="1350" b="0">
                <a:solidFill>
                  <a:srgbClr val="373738"/>
                </a:solidFill>
              </a:rPr>
              <a:t>An interoperable system</a:t>
            </a:r>
          </a:p>
        </p:txBody>
      </p:sp>
      <p:sp>
        <p:nvSpPr>
          <p:cNvPr id="28" name="promise-bottom">
            <a:extLst xmlns:a="http://schemas.openxmlformats.org/drawingml/2006/main">
              <a:ext uri="{FF2B5EF4-FFF2-40B4-BE49-F238E27FC236}">
                <a16:creationId xmlns:a16="http://schemas.microsoft.com/office/drawing/2014/main" id="{D3A91DDB-E282-498D-811B-074316A8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051C2A"/>
                </a:solidFill>
              </a:defRPr>
            </a:pPr>
            <a:r>
              <a:rPr sz="2175" b="0">
                <a:solidFill>
                  <a:srgbClr val="051C2A"/>
                </a:solidFill>
              </a:rPr>
              <a:t>At the end of the course, the application runs end to end and exposes its sources, calculations, tool calls and evaluations.</a:t>
            </a:r>
          </a:p>
        </p:txBody>
      </p:sp>
    </p:spTree>
    <p:extLst>
      <p:ext uri="{BB962C8B-B14F-4D97-AF65-F5344CB8AC3E}">
        <p14:creationId xmlns:p14="http://schemas.microsoft.com/office/powerpoint/2010/main" val="18073227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-3">
            <a:extLst xmlns:a="http://schemas.openxmlformats.org/drawingml/2006/main">
              <a:ext uri="{FF2B5EF4-FFF2-40B4-BE49-F238E27FC236}">
                <a16:creationId xmlns:a16="http://schemas.microsoft.com/office/drawing/2014/main" id="{8B222AC1-3B35-471E-A04D-4DB42361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40CB"/>
                </a:solidFill>
              </a:defRPr>
            </a:pPr>
            <a:r>
              <a:rPr sz="1050" b="1">
                <a:solidFill>
                  <a:srgbClr val="1F40CB"/>
                </a:solidFill>
              </a:rPr>
              <a:t>CAPSTONE MISSION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06FBC137-05D8-43ED-AC25-9D2B1FC5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51C2A"/>
                </a:solidFill>
              </a:defRPr>
            </a:pPr>
            <a:r>
              <a:rPr sz="2925" b="1">
                <a:solidFill>
                  <a:srgbClr val="051C2A"/>
                </a:solidFill>
              </a:rPr>
              <a:t>Capstone project: Financial Analyst Copilot</a:t>
            </a:r>
          </a:p>
        </p:txBody>
      </p:sp>
      <p:sp>
        <p:nvSpPr>
          <p:cNvPr id="3" name="progress-3">
            <a:extLst xmlns:a="http://schemas.openxmlformats.org/drawingml/2006/main">
              <a:ext uri="{FF2B5EF4-FFF2-40B4-BE49-F238E27FC236}">
                <a16:creationId xmlns:a16="http://schemas.microsoft.com/office/drawing/2014/main" id="{A2291B59-F79D-4BB4-B2CB-8DAE3EC9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gress-active-3">
            <a:extLst xmlns:a="http://schemas.openxmlformats.org/drawingml/2006/main">
              <a:ext uri="{FF2B5EF4-FFF2-40B4-BE49-F238E27FC236}">
                <a16:creationId xmlns:a16="http://schemas.microsoft.com/office/drawing/2014/main" id="{79BAA72E-48FB-47C4-A6B1-AAF1789D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2705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E1DD4E56-62F5-4DF7-86E5-6499AA58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E9FA2"/>
                </a:solidFill>
              </a:defRPr>
            </a:pPr>
            <a:r>
              <a:rPr sz="975" b="0">
                <a:solidFill>
                  <a:srgbClr val="9E9FA2"/>
                </a:solidFill>
              </a:rPr>
              <a:t>First Finance - Arnaud Demes</a:t>
            </a:r>
          </a:p>
        </p:txBody>
      </p:sp>
      <p:sp>
        <p:nvSpPr>
          <p:cNvPr id="6" name="section-3">
            <a:extLst xmlns:a="http://schemas.openxmlformats.org/drawingml/2006/main">
              <a:ext uri="{FF2B5EF4-FFF2-40B4-BE49-F238E27FC236}">
                <a16:creationId xmlns:a16="http://schemas.microsoft.com/office/drawing/2014/main" id="{33AB9D8D-5EA8-4890-812F-9EE19DA9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770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E9FA2"/>
                </a:solidFill>
              </a:defRPr>
            </a:pPr>
            <a:r>
              <a:rPr sz="900" b="1">
                <a:solidFill>
                  <a:srgbClr val="9E9FA2"/>
                </a:solidFill>
              </a:rPr>
              <a:t>CAPSTONE</a:t>
            </a:r>
          </a:p>
        </p:txBody>
      </p:sp>
      <p:sp>
        <p:nvSpPr>
          <p:cNvPr id="7" name="page-3">
            <a:extLst xmlns:a="http://schemas.openxmlformats.org/drawingml/2006/main">
              <a:ext uri="{FF2B5EF4-FFF2-40B4-BE49-F238E27FC236}">
                <a16:creationId xmlns:a16="http://schemas.microsoft.com/office/drawing/2014/main" id="{8AF41587-4A87-4B0A-B7F9-6BF56D42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E9FA2"/>
                </a:solidFill>
              </a:defRPr>
            </a:pPr>
            <a:r>
              <a:rPr sz="900" b="1">
                <a:solidFill>
                  <a:srgbClr val="9E9FA2"/>
                </a:solidFill>
              </a:rPr>
              <a:t>03</a:t>
            </a:r>
          </a:p>
        </p:txBody>
      </p:sp>
      <p:sp>
        <p:nvSpPr>
          <p:cNvPr id="8" name="mission">
            <a:extLst xmlns:a="http://schemas.openxmlformats.org/drawingml/2006/main">
              <a:ext uri="{FF2B5EF4-FFF2-40B4-BE49-F238E27FC236}">
                <a16:creationId xmlns:a16="http://schemas.microsoft.com/office/drawing/2014/main" id="{8DDC99B7-162A-413A-873B-577DEE07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857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51C2A"/>
                </a:solidFill>
              </a:defRPr>
            </a:pPr>
            <a:r>
              <a:rPr sz="2100" b="0">
                <a:solidFill>
                  <a:srgbClr val="051C2A"/>
                </a:solidFill>
              </a:rPr>
              <a:t>Compare NVIDIA and Schneider Electric on data-centre demand, financial implications, risks and recent developments.</a:t>
            </a:r>
          </a:p>
        </p:txBody>
      </p:sp>
      <p:sp>
        <p:nvSpPr>
          <p:cNvPr id="9" name="mission-rule">
            <a:extLst xmlns:a="http://schemas.openxmlformats.org/drawingml/2006/main">
              <a:ext uri="{FF2B5EF4-FFF2-40B4-BE49-F238E27FC236}">
                <a16:creationId xmlns:a16="http://schemas.microsoft.com/office/drawing/2014/main" id="{07BA6BE8-0FC8-4FE7-AD93-D2EB2EBB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ission-contract">
            <a:extLst xmlns:a="http://schemas.openxmlformats.org/drawingml/2006/main">
              <a:ext uri="{FF2B5EF4-FFF2-40B4-BE49-F238E27FC236}">
                <a16:creationId xmlns:a16="http://schemas.microsoft.com/office/drawing/2014/main" id="{0CDBFECC-4E44-4EED-B339-7EB118E2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73738"/>
                </a:solidFill>
              </a:defRPr>
            </a:pPr>
            <a:r>
              <a:rPr sz="1575" b="1">
                <a:solidFill>
                  <a:srgbClr val="373738"/>
                </a:solidFill>
              </a:rPr>
              <a:t>Every material claim keeps its source and its evidence type.</a:t>
            </a:r>
          </a:p>
        </p:txBody>
      </p:sp>
      <p:sp>
        <p:nvSpPr>
          <p:cNvPr id="11" name="evidence-num-0">
            <a:extLst xmlns:a="http://schemas.openxmlformats.org/drawingml/2006/main">
              <a:ext uri="{FF2B5EF4-FFF2-40B4-BE49-F238E27FC236}">
                <a16:creationId xmlns:a16="http://schemas.microsoft.com/office/drawing/2014/main" id="{1183BD2B-400F-4205-91D0-B64913D8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2EB"/>
                </a:solidFill>
              </a:defRPr>
            </a:pPr>
            <a:r>
              <a:rPr sz="1050" b="1">
                <a:solidFill>
                  <a:srgbClr val="00A2EB"/>
                </a:solidFill>
              </a:rPr>
              <a:t>01</a:t>
            </a:r>
          </a:p>
        </p:txBody>
      </p:sp>
      <p:sp>
        <p:nvSpPr>
          <p:cNvPr id="12" name="evidence-0">
            <a:extLst xmlns:a="http://schemas.openxmlformats.org/drawingml/2006/main">
              <a:ext uri="{FF2B5EF4-FFF2-40B4-BE49-F238E27FC236}">
                <a16:creationId xmlns:a16="http://schemas.microsoft.com/office/drawing/2014/main" id="{1CF36CC0-41CF-458A-94FD-AE5AFF80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62150"/>
            <a:ext cx="3381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51C2A"/>
                </a:solidFill>
              </a:defRPr>
            </a:pPr>
            <a:r>
              <a:rPr sz="1800" b="1">
                <a:solidFill>
                  <a:srgbClr val="051C2A"/>
                </a:solidFill>
              </a:rPr>
              <a:t>Official documents</a:t>
            </a:r>
          </a:p>
        </p:txBody>
      </p:sp>
      <p:sp>
        <p:nvSpPr>
          <p:cNvPr id="13" name="evidence-line-0">
            <a:extLst xmlns:a="http://schemas.openxmlformats.org/drawingml/2006/main">
              <a:ext uri="{FF2B5EF4-FFF2-40B4-BE49-F238E27FC236}">
                <a16:creationId xmlns:a16="http://schemas.microsoft.com/office/drawing/2014/main" id="{01396F6A-444D-4D10-9393-7FB0C149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03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vidence-num-1">
            <a:extLst xmlns:a="http://schemas.openxmlformats.org/drawingml/2006/main">
              <a:ext uri="{FF2B5EF4-FFF2-40B4-BE49-F238E27FC236}">
                <a16:creationId xmlns:a16="http://schemas.microsoft.com/office/drawing/2014/main" id="{3BA2CC94-14BB-425B-BED2-0C7D67BD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2EB"/>
                </a:solidFill>
              </a:defRPr>
            </a:pPr>
            <a:r>
              <a:rPr sz="1050" b="1">
                <a:solidFill>
                  <a:srgbClr val="00A2EB"/>
                </a:solidFill>
              </a:rPr>
              <a:t>02</a:t>
            </a:r>
          </a:p>
        </p:txBody>
      </p:sp>
      <p:sp>
        <p:nvSpPr>
          <p:cNvPr id="15" name="evidence-1">
            <a:extLst xmlns:a="http://schemas.openxmlformats.org/drawingml/2006/main">
              <a:ext uri="{FF2B5EF4-FFF2-40B4-BE49-F238E27FC236}">
                <a16:creationId xmlns:a16="http://schemas.microsoft.com/office/drawing/2014/main" id="{8DB6FA7B-FFB8-4F86-9890-9405C555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43200"/>
            <a:ext cx="3381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51C2A"/>
                </a:solidFill>
              </a:defRPr>
            </a:pPr>
            <a:r>
              <a:rPr sz="1800" b="1">
                <a:solidFill>
                  <a:srgbClr val="051C2A"/>
                </a:solidFill>
              </a:rPr>
              <a:t>Financial facts</a:t>
            </a:r>
          </a:p>
        </p:txBody>
      </p:sp>
      <p:sp>
        <p:nvSpPr>
          <p:cNvPr id="16" name="evidence-line-1">
            <a:extLst xmlns:a="http://schemas.openxmlformats.org/drawingml/2006/main">
              <a:ext uri="{FF2B5EF4-FFF2-40B4-BE49-F238E27FC236}">
                <a16:creationId xmlns:a16="http://schemas.microsoft.com/office/drawing/2014/main" id="{F85D1244-4C34-4351-9A34-8BFDDACB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813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vidence-num-2">
            <a:extLst xmlns:a="http://schemas.openxmlformats.org/drawingml/2006/main">
              <a:ext uri="{FF2B5EF4-FFF2-40B4-BE49-F238E27FC236}">
                <a16:creationId xmlns:a16="http://schemas.microsoft.com/office/drawing/2014/main" id="{F3548631-99E5-4E9E-A952-FF6BBAD6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623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A2EB"/>
                </a:solidFill>
              </a:defRPr>
            </a:pPr>
            <a:r>
              <a:rPr sz="1050" b="1">
                <a:solidFill>
                  <a:srgbClr val="00A2EB"/>
                </a:solidFill>
              </a:rPr>
              <a:t>03</a:t>
            </a:r>
          </a:p>
        </p:txBody>
      </p:sp>
      <p:sp>
        <p:nvSpPr>
          <p:cNvPr id="18" name="evidence-2">
            <a:extLst xmlns:a="http://schemas.openxmlformats.org/drawingml/2006/main">
              <a:ext uri="{FF2B5EF4-FFF2-40B4-BE49-F238E27FC236}">
                <a16:creationId xmlns:a16="http://schemas.microsoft.com/office/drawing/2014/main" id="{4896AC42-AF32-4806-A907-61795168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24250"/>
            <a:ext cx="3381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51C2A"/>
                </a:solidFill>
              </a:defRPr>
            </a:pPr>
            <a:r>
              <a:rPr sz="1800" b="1">
                <a:solidFill>
                  <a:srgbClr val="051C2A"/>
                </a:solidFill>
              </a:rPr>
              <a:t>Calculations</a:t>
            </a:r>
          </a:p>
        </p:txBody>
      </p:sp>
      <p:sp>
        <p:nvSpPr>
          <p:cNvPr id="19" name="evidence-line-2">
            <a:extLst xmlns:a="http://schemas.openxmlformats.org/drawingml/2006/main">
              <a:ext uri="{FF2B5EF4-FFF2-40B4-BE49-F238E27FC236}">
                <a16:creationId xmlns:a16="http://schemas.microsoft.com/office/drawing/2014/main" id="{EB199C4A-060A-43DC-917E-316D9AC9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624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vidence-num-3">
            <a:extLst xmlns:a="http://schemas.openxmlformats.org/drawingml/2006/main">
              <a:ext uri="{FF2B5EF4-FFF2-40B4-BE49-F238E27FC236}">
                <a16:creationId xmlns:a16="http://schemas.microsoft.com/office/drawing/2014/main" id="{54BA4E7E-4258-4AF8-BB81-8C561A62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43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7D00"/>
                </a:solidFill>
              </a:defRPr>
            </a:pPr>
            <a:r>
              <a:rPr sz="1050" b="1">
                <a:solidFill>
                  <a:srgbClr val="F07D00"/>
                </a:solidFill>
              </a:rPr>
              <a:t>04</a:t>
            </a:r>
          </a:p>
        </p:txBody>
      </p:sp>
      <p:sp>
        <p:nvSpPr>
          <p:cNvPr id="21" name="evidence-3">
            <a:extLst xmlns:a="http://schemas.openxmlformats.org/drawingml/2006/main">
              <a:ext uri="{FF2B5EF4-FFF2-40B4-BE49-F238E27FC236}">
                <a16:creationId xmlns:a16="http://schemas.microsoft.com/office/drawing/2014/main" id="{06CB3603-3D80-473A-9A4A-934EE4C6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05300"/>
            <a:ext cx="3381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51C2A"/>
                </a:solidFill>
              </a:defRPr>
            </a:pPr>
            <a:r>
              <a:rPr sz="1800" b="1">
                <a:solidFill>
                  <a:srgbClr val="051C2A"/>
                </a:solidFill>
              </a:rPr>
              <a:t>Current news</a:t>
            </a:r>
          </a:p>
        </p:txBody>
      </p:sp>
      <p:sp>
        <p:nvSpPr>
          <p:cNvPr id="22" name="evidence-line-3">
            <a:extLst xmlns:a="http://schemas.openxmlformats.org/drawingml/2006/main">
              <a:ext uri="{FF2B5EF4-FFF2-40B4-BE49-F238E27FC236}">
                <a16:creationId xmlns:a16="http://schemas.microsoft.com/office/drawing/2014/main" id="{87542820-0769-41A8-BF1A-9A6185B5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434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569148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kicker-4">
            <a:extLst xmlns:a="http://schemas.openxmlformats.org/drawingml/2006/main">
              <a:ext uri="{FF2B5EF4-FFF2-40B4-BE49-F238E27FC236}">
                <a16:creationId xmlns:a16="http://schemas.microsoft.com/office/drawing/2014/main" id="{24913089-DE67-4DF3-B500-587A6985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40CB"/>
                </a:solidFill>
              </a:defRPr>
            </a:pPr>
            <a:r>
              <a:rPr sz="1050" b="1">
                <a:solidFill>
                  <a:srgbClr val="1F40CB"/>
                </a:solidFill>
              </a:rPr>
              <a:t>LEARNING PROGRESSION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9E4BB56-F7F7-4D01-A1FB-3C7BE751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51C2A"/>
                </a:solidFill>
              </a:defRPr>
            </a:pPr>
            <a:r>
              <a:rPr sz="2925" b="1">
                <a:solidFill>
                  <a:srgbClr val="051C2A"/>
                </a:solidFill>
              </a:rPr>
              <a:t>Technical progression of the application</a:t>
            </a:r>
          </a:p>
        </p:txBody>
      </p:sp>
      <p:sp>
        <p:nvSpPr>
          <p:cNvPr id="3" name="progress-4">
            <a:extLst xmlns:a="http://schemas.openxmlformats.org/drawingml/2006/main">
              <a:ext uri="{FF2B5EF4-FFF2-40B4-BE49-F238E27FC236}">
                <a16:creationId xmlns:a16="http://schemas.microsoft.com/office/drawing/2014/main" id="{61EA33F7-A46A-4084-9E4B-9D08CB7E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gress-active-4">
            <a:extLst xmlns:a="http://schemas.openxmlformats.org/drawingml/2006/main">
              <a:ext uri="{FF2B5EF4-FFF2-40B4-BE49-F238E27FC236}">
                <a16:creationId xmlns:a16="http://schemas.microsoft.com/office/drawing/2014/main" id="{145B8D45-6D07-44C9-9C12-3D479AFD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360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3FE1FD3D-0791-40E1-80BF-4AFD64B7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E9FA2"/>
                </a:solidFill>
              </a:defRPr>
            </a:pPr>
            <a:r>
              <a:rPr sz="975" b="0">
                <a:solidFill>
                  <a:srgbClr val="9E9FA2"/>
                </a:solidFill>
              </a:rPr>
              <a:t>First Finance - Arnaud Demes</a:t>
            </a:r>
          </a:p>
        </p:txBody>
      </p:sp>
      <p:sp>
        <p:nvSpPr>
          <p:cNvPr id="6" name="section-4">
            <a:extLst xmlns:a="http://schemas.openxmlformats.org/drawingml/2006/main">
              <a:ext uri="{FF2B5EF4-FFF2-40B4-BE49-F238E27FC236}">
                <a16:creationId xmlns:a16="http://schemas.microsoft.com/office/drawing/2014/main" id="{7A1CCAF6-0048-437F-8A61-0623BC96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770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E9FA2"/>
                </a:solidFill>
              </a:defRPr>
            </a:pPr>
            <a:r>
              <a:rPr sz="900" b="1">
                <a:solidFill>
                  <a:srgbClr val="9E9FA2"/>
                </a:solidFill>
              </a:rPr>
              <a:t>ARCHITECTURE</a:t>
            </a:r>
          </a:p>
        </p:txBody>
      </p:sp>
      <p:sp>
        <p:nvSpPr>
          <p:cNvPr id="7" name="page-4">
            <a:extLst xmlns:a="http://schemas.openxmlformats.org/drawingml/2006/main">
              <a:ext uri="{FF2B5EF4-FFF2-40B4-BE49-F238E27FC236}">
                <a16:creationId xmlns:a16="http://schemas.microsoft.com/office/drawing/2014/main" id="{1F534899-5DD5-422B-9E96-80727251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E9FA2"/>
                </a:solidFill>
              </a:defRPr>
            </a:pPr>
            <a:r>
              <a:rPr sz="900" b="1">
                <a:solidFill>
                  <a:srgbClr val="9E9FA2"/>
                </a:solidFill>
              </a:rPr>
              <a:t>04</a:t>
            </a:r>
          </a:p>
        </p:txBody>
      </p:sp>
      <p:sp>
        <p:nvSpPr>
          <p:cNvPr id="8" name="layer-0">
            <a:extLst xmlns:a="http://schemas.openxmlformats.org/drawingml/2006/main">
              <a:ext uri="{FF2B5EF4-FFF2-40B4-BE49-F238E27FC236}">
                <a16:creationId xmlns:a16="http://schemas.microsoft.com/office/drawing/2014/main" id="{FF8548FF-A72B-475D-B2AD-EB497664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238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9"/>
            </a:solidFill>
            <a:prstDash val="solid"/>
          </a:ln>
        </p:spPr>
      </p:sp>
      <p:sp>
        <p:nvSpPr>
          <p:cNvPr id="9" name="layer-name-0">
            <a:extLst xmlns:a="http://schemas.openxmlformats.org/drawingml/2006/main">
              <a:ext uri="{FF2B5EF4-FFF2-40B4-BE49-F238E27FC236}">
                <a16:creationId xmlns:a16="http://schemas.microsoft.com/office/drawing/2014/main" id="{A5B4F0C8-EB32-4F4F-A3CF-DE3AACA8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76475"/>
            <a:ext cx="185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1C2A"/>
                </a:solidFill>
              </a:defRPr>
            </a:pPr>
            <a:r>
              <a:rPr sz="1650" b="1">
                <a:solidFill>
                  <a:srgbClr val="051C2A"/>
                </a:solidFill>
              </a:rPr>
              <a:t>Model</a:t>
            </a:r>
          </a:p>
        </p:txBody>
      </p:sp>
      <p:sp>
        <p:nvSpPr>
          <p:cNvPr id="10" name="layer-desc-0">
            <a:extLst xmlns:a="http://schemas.openxmlformats.org/drawingml/2006/main">
              <a:ext uri="{FF2B5EF4-FFF2-40B4-BE49-F238E27FC236}">
                <a16:creationId xmlns:a16="http://schemas.microsoft.com/office/drawing/2014/main" id="{BCFD0FA1-EBD2-40B9-A4B1-3BDDEF9B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73738"/>
                </a:solidFill>
              </a:defRPr>
            </a:pPr>
            <a:r>
              <a:rPr sz="1200" b="0">
                <a:solidFill>
                  <a:srgbClr val="373738"/>
                </a:solidFill>
              </a:rPr>
              <a:t>A response</a:t>
            </a:r>
          </a:p>
        </p:txBody>
      </p:sp>
      <p:sp>
        <p:nvSpPr>
          <p:cNvPr id="11" name="arrow-0">
            <a:extLst xmlns:a="http://schemas.openxmlformats.org/drawingml/2006/main">
              <a:ext uri="{FF2B5EF4-FFF2-40B4-BE49-F238E27FC236}">
                <a16:creationId xmlns:a16="http://schemas.microsoft.com/office/drawing/2014/main" id="{96747EB7-DCE3-4809-A418-215C995F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479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9E9FA2"/>
                </a:solidFill>
              </a:defRPr>
            </a:pPr>
            <a:r>
              <a:rPr sz="1800" b="1">
                <a:solidFill>
                  <a:srgbClr val="9E9FA2"/>
                </a:solidFill>
              </a:rPr>
              <a:t>→</a:t>
            </a:r>
          </a:p>
        </p:txBody>
      </p:sp>
      <p:sp>
        <p:nvSpPr>
          <p:cNvPr id="12" name="layer-1">
            <a:extLst xmlns:a="http://schemas.openxmlformats.org/drawingml/2006/main">
              <a:ext uri="{FF2B5EF4-FFF2-40B4-BE49-F238E27FC236}">
                <a16:creationId xmlns:a16="http://schemas.microsoft.com/office/drawing/2014/main" id="{76C51DD8-A21B-4241-9F02-B4586AF6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238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9"/>
            </a:solidFill>
            <a:prstDash val="solid"/>
          </a:ln>
        </p:spPr>
      </p:sp>
      <p:sp>
        <p:nvSpPr>
          <p:cNvPr id="13" name="layer-name-1">
            <a:extLst xmlns:a="http://schemas.openxmlformats.org/drawingml/2006/main">
              <a:ext uri="{FF2B5EF4-FFF2-40B4-BE49-F238E27FC236}">
                <a16:creationId xmlns:a16="http://schemas.microsoft.com/office/drawing/2014/main" id="{383997E9-865B-4DB8-8B61-439EED34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76475"/>
            <a:ext cx="185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1C2A"/>
                </a:solidFill>
              </a:defRPr>
            </a:pPr>
            <a:r>
              <a:rPr sz="1650" b="1">
                <a:solidFill>
                  <a:srgbClr val="051C2A"/>
                </a:solidFill>
              </a:rPr>
              <a:t>Prompt</a:t>
            </a:r>
          </a:p>
        </p:txBody>
      </p:sp>
      <p:sp>
        <p:nvSpPr>
          <p:cNvPr id="14" name="layer-desc-1">
            <a:extLst xmlns:a="http://schemas.openxmlformats.org/drawingml/2006/main">
              <a:ext uri="{FF2B5EF4-FFF2-40B4-BE49-F238E27FC236}">
                <a16:creationId xmlns:a16="http://schemas.microsoft.com/office/drawing/2014/main" id="{E2FB3EE6-114E-492C-ACA9-DF4C316E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47950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73738"/>
                </a:solidFill>
              </a:defRPr>
            </a:pPr>
            <a:r>
              <a:rPr sz="1200" b="0">
                <a:solidFill>
                  <a:srgbClr val="373738"/>
                </a:solidFill>
              </a:rPr>
              <a:t>A contract</a:t>
            </a:r>
          </a:p>
        </p:txBody>
      </p:sp>
      <p:sp>
        <p:nvSpPr>
          <p:cNvPr id="15" name="arrow-1">
            <a:extLst xmlns:a="http://schemas.openxmlformats.org/drawingml/2006/main">
              <a:ext uri="{FF2B5EF4-FFF2-40B4-BE49-F238E27FC236}">
                <a16:creationId xmlns:a16="http://schemas.microsoft.com/office/drawing/2014/main" id="{DAFC60EA-0E7C-41C1-B388-DE67029D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4479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9E9FA2"/>
                </a:solidFill>
              </a:defRPr>
            </a:pPr>
            <a:r>
              <a:rPr sz="1800" b="1">
                <a:solidFill>
                  <a:srgbClr val="9E9FA2"/>
                </a:solidFill>
              </a:rPr>
              <a:t>→</a:t>
            </a:r>
          </a:p>
        </p:txBody>
      </p:sp>
      <p:sp>
        <p:nvSpPr>
          <p:cNvPr id="16" name="layer-2">
            <a:extLst xmlns:a="http://schemas.openxmlformats.org/drawingml/2006/main">
              <a:ext uri="{FF2B5EF4-FFF2-40B4-BE49-F238E27FC236}">
                <a16:creationId xmlns:a16="http://schemas.microsoft.com/office/drawing/2014/main" id="{4D7405E8-BC4E-4BFD-870C-683400FD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95500"/>
            <a:ext cx="2238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9"/>
            </a:solidFill>
            <a:prstDash val="solid"/>
          </a:ln>
        </p:spPr>
      </p:sp>
      <p:sp>
        <p:nvSpPr>
          <p:cNvPr id="17" name="layer-name-2">
            <a:extLst xmlns:a="http://schemas.openxmlformats.org/drawingml/2006/main">
              <a:ext uri="{FF2B5EF4-FFF2-40B4-BE49-F238E27FC236}">
                <a16:creationId xmlns:a16="http://schemas.microsoft.com/office/drawing/2014/main" id="{9D4E8861-1955-4F3E-8DC6-79C6E1C9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76475"/>
            <a:ext cx="185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1C2A"/>
                </a:solidFill>
              </a:defRPr>
            </a:pPr>
            <a:r>
              <a:rPr sz="1650" b="1">
                <a:solidFill>
                  <a:srgbClr val="051C2A"/>
                </a:solidFill>
              </a:rPr>
              <a:t>Context</a:t>
            </a:r>
          </a:p>
        </p:txBody>
      </p:sp>
      <p:sp>
        <p:nvSpPr>
          <p:cNvPr id="18" name="layer-desc-2">
            <a:extLst xmlns:a="http://schemas.openxmlformats.org/drawingml/2006/main">
              <a:ext uri="{FF2B5EF4-FFF2-40B4-BE49-F238E27FC236}">
                <a16:creationId xmlns:a16="http://schemas.microsoft.com/office/drawing/2014/main" id="{0B5B1D99-FF83-40CA-B7EA-64E545F7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73738"/>
                </a:solidFill>
              </a:defRPr>
            </a:pPr>
            <a:r>
              <a:rPr sz="1200" b="0">
                <a:solidFill>
                  <a:srgbClr val="373738"/>
                </a:solidFill>
              </a:rPr>
              <a:t>The source</a:t>
            </a:r>
          </a:p>
        </p:txBody>
      </p:sp>
      <p:sp>
        <p:nvSpPr>
          <p:cNvPr id="19" name="arrow-2">
            <a:extLst xmlns:a="http://schemas.openxmlformats.org/drawingml/2006/main">
              <a:ext uri="{FF2B5EF4-FFF2-40B4-BE49-F238E27FC236}">
                <a16:creationId xmlns:a16="http://schemas.microsoft.com/office/drawing/2014/main" id="{CC6D6314-3F6F-4DA5-A5BB-5375ADCF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479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9E9FA2"/>
                </a:solidFill>
              </a:defRPr>
            </a:pPr>
            <a:r>
              <a:rPr sz="1800" b="1">
                <a:solidFill>
                  <a:srgbClr val="9E9FA2"/>
                </a:solidFill>
              </a:rPr>
              <a:t>→</a:t>
            </a:r>
          </a:p>
        </p:txBody>
      </p:sp>
      <p:sp>
        <p:nvSpPr>
          <p:cNvPr id="20" name="layer-3">
            <a:extLst xmlns:a="http://schemas.openxmlformats.org/drawingml/2006/main">
              <a:ext uri="{FF2B5EF4-FFF2-40B4-BE49-F238E27FC236}">
                <a16:creationId xmlns:a16="http://schemas.microsoft.com/office/drawing/2014/main" id="{06864880-8D37-40EA-9858-D5B3B60F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95500"/>
            <a:ext cx="2238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9"/>
            </a:solidFill>
            <a:prstDash val="solid"/>
          </a:ln>
        </p:spPr>
      </p:sp>
      <p:sp>
        <p:nvSpPr>
          <p:cNvPr id="21" name="layer-name-3">
            <a:extLst xmlns:a="http://schemas.openxmlformats.org/drawingml/2006/main">
              <a:ext uri="{FF2B5EF4-FFF2-40B4-BE49-F238E27FC236}">
                <a16:creationId xmlns:a16="http://schemas.microsoft.com/office/drawing/2014/main" id="{10C9EA6A-9297-4745-A33C-A8EB7FBF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76475"/>
            <a:ext cx="185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1C2A"/>
                </a:solidFill>
              </a:defRPr>
            </a:pPr>
            <a:r>
              <a:rPr sz="1650" b="1">
                <a:solidFill>
                  <a:srgbClr val="051C2A"/>
                </a:solidFill>
              </a:rPr>
              <a:t>RAG</a:t>
            </a:r>
          </a:p>
        </p:txBody>
      </p:sp>
      <p:sp>
        <p:nvSpPr>
          <p:cNvPr id="22" name="layer-desc-3">
            <a:extLst xmlns:a="http://schemas.openxmlformats.org/drawingml/2006/main">
              <a:ext uri="{FF2B5EF4-FFF2-40B4-BE49-F238E27FC236}">
                <a16:creationId xmlns:a16="http://schemas.microsoft.com/office/drawing/2014/main" id="{78F341F4-3CFD-40AF-9A8F-FDE2CA82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47950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73738"/>
                </a:solidFill>
              </a:defRPr>
            </a:pPr>
            <a:r>
              <a:rPr sz="1200" b="0">
                <a:solidFill>
                  <a:srgbClr val="373738"/>
                </a:solidFill>
              </a:rPr>
              <a:t>The evidence</a:t>
            </a:r>
          </a:p>
        </p:txBody>
      </p:sp>
      <p:sp>
        <p:nvSpPr>
          <p:cNvPr id="23" name="layer-4">
            <a:extLst xmlns:a="http://schemas.openxmlformats.org/drawingml/2006/main">
              <a:ext uri="{FF2B5EF4-FFF2-40B4-BE49-F238E27FC236}">
                <a16:creationId xmlns:a16="http://schemas.microsoft.com/office/drawing/2014/main" id="{CC878C23-8FA9-4A61-8E2C-29260D12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238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9"/>
            </a:solidFill>
            <a:prstDash val="solid"/>
          </a:ln>
        </p:spPr>
      </p:sp>
      <p:sp>
        <p:nvSpPr>
          <p:cNvPr id="24" name="layer-name-4">
            <a:extLst xmlns:a="http://schemas.openxmlformats.org/drawingml/2006/main">
              <a:ext uri="{FF2B5EF4-FFF2-40B4-BE49-F238E27FC236}">
                <a16:creationId xmlns:a16="http://schemas.microsoft.com/office/drawing/2014/main" id="{281D35DA-487C-4AB5-98D8-AE4A88B4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185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1C2A"/>
                </a:solidFill>
              </a:defRPr>
            </a:pPr>
            <a:r>
              <a:rPr sz="1650" b="1">
                <a:solidFill>
                  <a:srgbClr val="051C2A"/>
                </a:solidFill>
              </a:rPr>
              <a:t>Tools</a:t>
            </a:r>
          </a:p>
        </p:txBody>
      </p:sp>
      <p:sp>
        <p:nvSpPr>
          <p:cNvPr id="25" name="layer-desc-4">
            <a:extLst xmlns:a="http://schemas.openxmlformats.org/drawingml/2006/main">
              <a:ext uri="{FF2B5EF4-FFF2-40B4-BE49-F238E27FC236}">
                <a16:creationId xmlns:a16="http://schemas.microsoft.com/office/drawing/2014/main" id="{B873E97F-EBC6-41BA-86DF-BC3559FB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73738"/>
                </a:solidFill>
              </a:defRPr>
            </a:pPr>
            <a:r>
              <a:rPr sz="1200" b="0">
                <a:solidFill>
                  <a:srgbClr val="373738"/>
                </a:solidFill>
              </a:rPr>
              <a:t>External facts</a:t>
            </a:r>
          </a:p>
        </p:txBody>
      </p:sp>
      <p:sp>
        <p:nvSpPr>
          <p:cNvPr id="26" name="arrow-4">
            <a:extLst xmlns:a="http://schemas.openxmlformats.org/drawingml/2006/main">
              <a:ext uri="{FF2B5EF4-FFF2-40B4-BE49-F238E27FC236}">
                <a16:creationId xmlns:a16="http://schemas.microsoft.com/office/drawing/2014/main" id="{E12292A9-809E-4231-A4FE-B4931016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624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9E9FA2"/>
                </a:solidFill>
              </a:defRPr>
            </a:pPr>
            <a:r>
              <a:rPr sz="1800" b="1">
                <a:solidFill>
                  <a:srgbClr val="9E9FA2"/>
                </a:solidFill>
              </a:rPr>
              <a:t>→</a:t>
            </a:r>
          </a:p>
        </p:txBody>
      </p:sp>
      <p:sp>
        <p:nvSpPr>
          <p:cNvPr id="27" name="layer-5">
            <a:extLst xmlns:a="http://schemas.openxmlformats.org/drawingml/2006/main">
              <a:ext uri="{FF2B5EF4-FFF2-40B4-BE49-F238E27FC236}">
                <a16:creationId xmlns:a16="http://schemas.microsoft.com/office/drawing/2014/main" id="{AB9DA56B-757B-4BC4-875D-1040C8FA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10000"/>
            <a:ext cx="2238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9"/>
            </a:solidFill>
            <a:prstDash val="solid"/>
          </a:ln>
        </p:spPr>
      </p:sp>
      <p:sp>
        <p:nvSpPr>
          <p:cNvPr id="28" name="layer-name-5">
            <a:extLst xmlns:a="http://schemas.openxmlformats.org/drawingml/2006/main">
              <a:ext uri="{FF2B5EF4-FFF2-40B4-BE49-F238E27FC236}">
                <a16:creationId xmlns:a16="http://schemas.microsoft.com/office/drawing/2014/main" id="{729514BA-BB24-4FEF-8E85-9C749FE0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90975"/>
            <a:ext cx="185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1C2A"/>
                </a:solidFill>
              </a:defRPr>
            </a:pPr>
            <a:r>
              <a:rPr sz="1650" b="1">
                <a:solidFill>
                  <a:srgbClr val="051C2A"/>
                </a:solidFill>
              </a:rPr>
              <a:t>Workflow</a:t>
            </a:r>
          </a:p>
        </p:txBody>
      </p:sp>
      <p:sp>
        <p:nvSpPr>
          <p:cNvPr id="29" name="layer-desc-5">
            <a:extLst xmlns:a="http://schemas.openxmlformats.org/drawingml/2006/main">
              <a:ext uri="{FF2B5EF4-FFF2-40B4-BE49-F238E27FC236}">
                <a16:creationId xmlns:a16="http://schemas.microsoft.com/office/drawing/2014/main" id="{5E21D363-69B1-413B-9BED-8065B9BF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62450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73738"/>
                </a:solidFill>
              </a:defRPr>
            </a:pPr>
            <a:r>
              <a:rPr sz="1200" b="0">
                <a:solidFill>
                  <a:srgbClr val="373738"/>
                </a:solidFill>
              </a:rPr>
              <a:t>Known order</a:t>
            </a:r>
          </a:p>
        </p:txBody>
      </p:sp>
      <p:sp>
        <p:nvSpPr>
          <p:cNvPr id="30" name="arrow-5">
            <a:extLst xmlns:a="http://schemas.openxmlformats.org/drawingml/2006/main">
              <a:ext uri="{FF2B5EF4-FFF2-40B4-BE49-F238E27FC236}">
                <a16:creationId xmlns:a16="http://schemas.microsoft.com/office/drawing/2014/main" id="{05043EC8-668F-4D35-991B-80FD0295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1624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9E9FA2"/>
                </a:solidFill>
              </a:defRPr>
            </a:pPr>
            <a:r>
              <a:rPr sz="1800" b="1">
                <a:solidFill>
                  <a:srgbClr val="9E9FA2"/>
                </a:solidFill>
              </a:rPr>
              <a:t>→</a:t>
            </a:r>
          </a:p>
        </p:txBody>
      </p:sp>
      <p:sp>
        <p:nvSpPr>
          <p:cNvPr id="31" name="layer-6">
            <a:extLst xmlns:a="http://schemas.openxmlformats.org/drawingml/2006/main">
              <a:ext uri="{FF2B5EF4-FFF2-40B4-BE49-F238E27FC236}">
                <a16:creationId xmlns:a16="http://schemas.microsoft.com/office/drawing/2014/main" id="{5DE48A17-F508-42A4-968D-D81C0981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10000"/>
            <a:ext cx="2238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9"/>
            </a:solidFill>
            <a:prstDash val="solid"/>
          </a:ln>
        </p:spPr>
      </p:sp>
      <p:sp>
        <p:nvSpPr>
          <p:cNvPr id="32" name="layer-name-6">
            <a:extLst xmlns:a="http://schemas.openxmlformats.org/drawingml/2006/main">
              <a:ext uri="{FF2B5EF4-FFF2-40B4-BE49-F238E27FC236}">
                <a16:creationId xmlns:a16="http://schemas.microsoft.com/office/drawing/2014/main" id="{907920C1-6464-413D-ACCE-B4A9AE57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90975"/>
            <a:ext cx="185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1C2A"/>
                </a:solidFill>
              </a:defRPr>
            </a:pPr>
            <a:r>
              <a:rPr sz="1650" b="1">
                <a:solidFill>
                  <a:srgbClr val="051C2A"/>
                </a:solidFill>
              </a:rPr>
              <a:t>Agent</a:t>
            </a:r>
          </a:p>
        </p:txBody>
      </p:sp>
      <p:sp>
        <p:nvSpPr>
          <p:cNvPr id="33" name="layer-desc-6">
            <a:extLst xmlns:a="http://schemas.openxmlformats.org/drawingml/2006/main">
              <a:ext uri="{FF2B5EF4-FFF2-40B4-BE49-F238E27FC236}">
                <a16:creationId xmlns:a16="http://schemas.microsoft.com/office/drawing/2014/main" id="{00B57926-6A25-4D16-A6CC-25015EAD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62450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73738"/>
                </a:solidFill>
              </a:defRPr>
            </a:pPr>
            <a:r>
              <a:rPr sz="1200" b="0">
                <a:solidFill>
                  <a:srgbClr val="373738"/>
                </a:solidFill>
              </a:rPr>
              <a:t>Dynamic choice</a:t>
            </a:r>
          </a:p>
        </p:txBody>
      </p:sp>
      <p:sp>
        <p:nvSpPr>
          <p:cNvPr id="34" name="arrow-6">
            <a:extLst xmlns:a="http://schemas.openxmlformats.org/drawingml/2006/main">
              <a:ext uri="{FF2B5EF4-FFF2-40B4-BE49-F238E27FC236}">
                <a16:creationId xmlns:a16="http://schemas.microsoft.com/office/drawing/2014/main" id="{0F0EE0BC-E08B-4A4D-A8F5-941A937E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6242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9E9FA2"/>
                </a:solidFill>
              </a:defRPr>
            </a:pPr>
            <a:r>
              <a:rPr sz="1800" b="1">
                <a:solidFill>
                  <a:srgbClr val="9E9FA2"/>
                </a:solidFill>
              </a:rPr>
              <a:t>→</a:t>
            </a:r>
          </a:p>
        </p:txBody>
      </p:sp>
      <p:sp>
        <p:nvSpPr>
          <p:cNvPr id="35" name="layer-7">
            <a:extLst xmlns:a="http://schemas.openxmlformats.org/drawingml/2006/main">
              <a:ext uri="{FF2B5EF4-FFF2-40B4-BE49-F238E27FC236}">
                <a16:creationId xmlns:a16="http://schemas.microsoft.com/office/drawing/2014/main" id="{B7CEBF3B-EA8C-499E-9AC2-C8EAA327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10000"/>
            <a:ext cx="2238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51C2A"/>
          </a:solidFill>
          <a:ln xmlns:a="http://schemas.openxmlformats.org/drawingml/2006/main" w="9525">
            <a:solidFill>
              <a:srgbClr val="051C2A"/>
            </a:solidFill>
            <a:prstDash val="solid"/>
          </a:ln>
        </p:spPr>
      </p:sp>
      <p:sp>
        <p:nvSpPr>
          <p:cNvPr id="36" name="layer-name-7">
            <a:extLst xmlns:a="http://schemas.openxmlformats.org/drawingml/2006/main">
              <a:ext uri="{FF2B5EF4-FFF2-40B4-BE49-F238E27FC236}">
                <a16:creationId xmlns:a16="http://schemas.microsoft.com/office/drawing/2014/main" id="{B8011326-66F1-47C9-90E7-E1ECF7C4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990975"/>
            <a:ext cx="185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MCP</a:t>
            </a:r>
          </a:p>
        </p:txBody>
      </p:sp>
      <p:sp>
        <p:nvSpPr>
          <p:cNvPr id="37" name="layer-desc-7">
            <a:extLst xmlns:a="http://schemas.openxmlformats.org/drawingml/2006/main">
              <a:ext uri="{FF2B5EF4-FFF2-40B4-BE49-F238E27FC236}">
                <a16:creationId xmlns:a16="http://schemas.microsoft.com/office/drawing/2014/main" id="{C77ADDE9-F820-4755-9D32-6F05EBBD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62450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0A2EB"/>
                </a:solidFill>
              </a:defRPr>
            </a:pPr>
            <a:r>
              <a:rPr sz="1200" b="0">
                <a:solidFill>
                  <a:srgbClr val="00A2EB"/>
                </a:solidFill>
              </a:rPr>
              <a:t>Interoperability</a:t>
            </a:r>
          </a:p>
        </p:txBody>
      </p:sp>
    </p:spTree>
    <p:extLst>
      <p:ext uri="{BB962C8B-B14F-4D97-AF65-F5344CB8AC3E}">
        <p14:creationId xmlns:p14="http://schemas.microsoft.com/office/powerpoint/2010/main" val="13320729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-5">
            <a:extLst xmlns:a="http://schemas.openxmlformats.org/drawingml/2006/main">
              <a:ext uri="{FF2B5EF4-FFF2-40B4-BE49-F238E27FC236}">
                <a16:creationId xmlns:a16="http://schemas.microsoft.com/office/drawing/2014/main" id="{E7504EC8-DF14-4AAC-A243-F82E6862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40CB"/>
                </a:solidFill>
              </a:defRPr>
            </a:pPr>
            <a:r>
              <a:rPr sz="1050" b="1">
                <a:solidFill>
                  <a:srgbClr val="1F40CB"/>
                </a:solidFill>
              </a:rPr>
              <a:t>TEACHING RHYTHM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E272AA1-DF1A-474F-A632-21E18F86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51C2A"/>
                </a:solidFill>
              </a:defRPr>
            </a:pPr>
            <a:r>
              <a:rPr sz="2925" b="1">
                <a:solidFill>
                  <a:srgbClr val="051C2A"/>
                </a:solidFill>
              </a:rPr>
              <a:t>Every lesson alternates explanation, code, failure and verification</a:t>
            </a:r>
          </a:p>
        </p:txBody>
      </p:sp>
      <p:sp>
        <p:nvSpPr>
          <p:cNvPr id="3" name="progress-5">
            <a:extLst xmlns:a="http://schemas.openxmlformats.org/drawingml/2006/main">
              <a:ext uri="{FF2B5EF4-FFF2-40B4-BE49-F238E27FC236}">
                <a16:creationId xmlns:a16="http://schemas.microsoft.com/office/drawing/2014/main" id="{9632D6C1-35DC-46B7-B24D-7E38192C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gress-active-5">
            <a:extLst xmlns:a="http://schemas.openxmlformats.org/drawingml/2006/main">
              <a:ext uri="{FF2B5EF4-FFF2-40B4-BE49-F238E27FC236}">
                <a16:creationId xmlns:a16="http://schemas.microsoft.com/office/drawing/2014/main" id="{5888CBB1-9DC1-4F9B-968D-A3DC92E0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450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4BAAE458-07D9-4E2B-8FDB-9CDC8FBC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E9FA2"/>
                </a:solidFill>
              </a:defRPr>
            </a:pPr>
            <a:r>
              <a:rPr sz="975" b="0">
                <a:solidFill>
                  <a:srgbClr val="9E9FA2"/>
                </a:solidFill>
              </a:rPr>
              <a:t>First Finance - Arnaud Demes</a:t>
            </a:r>
          </a:p>
        </p:txBody>
      </p:sp>
      <p:sp>
        <p:nvSpPr>
          <p:cNvPr id="6" name="section-5">
            <a:extLst xmlns:a="http://schemas.openxmlformats.org/drawingml/2006/main">
              <a:ext uri="{FF2B5EF4-FFF2-40B4-BE49-F238E27FC236}">
                <a16:creationId xmlns:a16="http://schemas.microsoft.com/office/drawing/2014/main" id="{C8E2E165-C551-45E9-8356-C764AF96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770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E9FA2"/>
                </a:solidFill>
              </a:defRPr>
            </a:pPr>
            <a:r>
              <a:rPr sz="900" b="1">
                <a:solidFill>
                  <a:srgbClr val="9E9FA2"/>
                </a:solidFill>
              </a:rPr>
              <a:t>METHOD</a:t>
            </a:r>
          </a:p>
        </p:txBody>
      </p:sp>
      <p:sp>
        <p:nvSpPr>
          <p:cNvPr id="7" name="page-5">
            <a:extLst xmlns:a="http://schemas.openxmlformats.org/drawingml/2006/main">
              <a:ext uri="{FF2B5EF4-FFF2-40B4-BE49-F238E27FC236}">
                <a16:creationId xmlns:a16="http://schemas.microsoft.com/office/drawing/2014/main" id="{EAFCF600-0E74-440F-8583-7C5DF252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E9FA2"/>
                </a:solidFill>
              </a:defRPr>
            </a:pPr>
            <a:r>
              <a:rPr sz="900" b="1">
                <a:solidFill>
                  <a:srgbClr val="9E9FA2"/>
                </a:solidFill>
              </a:rPr>
              <a:t>05</a:t>
            </a:r>
          </a:p>
        </p:txBody>
      </p:sp>
      <p:sp>
        <p:nvSpPr>
          <p:cNvPr id="8" name="rhythm-num-0">
            <a:extLst xmlns:a="http://schemas.openxmlformats.org/drawingml/2006/main">
              <a:ext uri="{FF2B5EF4-FFF2-40B4-BE49-F238E27FC236}">
                <a16:creationId xmlns:a16="http://schemas.microsoft.com/office/drawing/2014/main" id="{BBC8741E-5A43-42EC-B43B-D98CA407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A2EB"/>
                </a:solidFill>
              </a:defRPr>
            </a:pPr>
            <a:r>
              <a:rPr sz="1125" b="1">
                <a:solidFill>
                  <a:srgbClr val="00A2EB"/>
                </a:solidFill>
              </a:rPr>
              <a:t>01</a:t>
            </a:r>
          </a:p>
        </p:txBody>
      </p:sp>
      <p:sp>
        <p:nvSpPr>
          <p:cNvPr id="9" name="rhythm-label-0">
            <a:extLst xmlns:a="http://schemas.openxmlformats.org/drawingml/2006/main">
              <a:ext uri="{FF2B5EF4-FFF2-40B4-BE49-F238E27FC236}">
                <a16:creationId xmlns:a16="http://schemas.microsoft.com/office/drawing/2014/main" id="{2536E8B0-943B-4FCD-BF11-FD440059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6690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51C2A"/>
                </a:solidFill>
              </a:defRPr>
            </a:pPr>
            <a:r>
              <a:rPr sz="1500" b="1">
                <a:solidFill>
                  <a:srgbClr val="051C2A"/>
                </a:solidFill>
              </a:rPr>
              <a:t>WHY</a:t>
            </a:r>
          </a:p>
        </p:txBody>
      </p:sp>
      <p:sp>
        <p:nvSpPr>
          <p:cNvPr id="10" name="rhythm-desc-0">
            <a:extLst xmlns:a="http://schemas.openxmlformats.org/drawingml/2006/main">
              <a:ext uri="{FF2B5EF4-FFF2-40B4-BE49-F238E27FC236}">
                <a16:creationId xmlns:a16="http://schemas.microsoft.com/office/drawing/2014/main" id="{282402A2-C6A1-41AC-817C-1CEAF6F9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764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73738"/>
                </a:solidFill>
              </a:defRPr>
            </a:pPr>
            <a:r>
              <a:rPr sz="1425" b="0">
                <a:solidFill>
                  <a:srgbClr val="373738"/>
                </a:solidFill>
              </a:rPr>
              <a:t>The engineering problem</a:t>
            </a:r>
          </a:p>
        </p:txBody>
      </p:sp>
      <p:sp>
        <p:nvSpPr>
          <p:cNvPr id="11" name="rhythm-rule-0">
            <a:extLst xmlns:a="http://schemas.openxmlformats.org/drawingml/2006/main">
              <a:ext uri="{FF2B5EF4-FFF2-40B4-BE49-F238E27FC236}">
                <a16:creationId xmlns:a16="http://schemas.microsoft.com/office/drawing/2014/main" id="{26450573-6CE2-4699-ABC9-B2448018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90725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0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hythm-num-1">
            <a:extLst xmlns:a="http://schemas.openxmlformats.org/drawingml/2006/main">
              <a:ext uri="{FF2B5EF4-FFF2-40B4-BE49-F238E27FC236}">
                <a16:creationId xmlns:a16="http://schemas.microsoft.com/office/drawing/2014/main" id="{2A3C8E32-3BA4-43EF-986F-D3E71B9B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A2EB"/>
                </a:solidFill>
              </a:defRPr>
            </a:pPr>
            <a:r>
              <a:rPr sz="1125" b="1">
                <a:solidFill>
                  <a:srgbClr val="00A2EB"/>
                </a:solidFill>
              </a:rPr>
              <a:t>02</a:t>
            </a:r>
          </a:p>
        </p:txBody>
      </p:sp>
      <p:sp>
        <p:nvSpPr>
          <p:cNvPr id="13" name="rhythm-label-1">
            <a:extLst xmlns:a="http://schemas.openxmlformats.org/drawingml/2006/main">
              <a:ext uri="{FF2B5EF4-FFF2-40B4-BE49-F238E27FC236}">
                <a16:creationId xmlns:a16="http://schemas.microsoft.com/office/drawing/2014/main" id="{DACA77AC-D62C-413B-990B-EF413863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0507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51C2A"/>
                </a:solidFill>
              </a:defRPr>
            </a:pPr>
            <a:r>
              <a:rPr sz="1500" b="1">
                <a:solidFill>
                  <a:srgbClr val="051C2A"/>
                </a:solidFill>
              </a:rPr>
              <a:t>BUILD</a:t>
            </a:r>
          </a:p>
        </p:txBody>
      </p:sp>
      <p:sp>
        <p:nvSpPr>
          <p:cNvPr id="14" name="rhythm-desc-1">
            <a:extLst xmlns:a="http://schemas.openxmlformats.org/drawingml/2006/main">
              <a:ext uri="{FF2B5EF4-FFF2-40B4-BE49-F238E27FC236}">
                <a16:creationId xmlns:a16="http://schemas.microsoft.com/office/drawing/2014/main" id="{2A542925-7FA4-4F2F-8E64-B6E9F172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146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73738"/>
                </a:solidFill>
              </a:defRPr>
            </a:pPr>
            <a:r>
              <a:rPr sz="1425" b="0">
                <a:solidFill>
                  <a:srgbClr val="373738"/>
                </a:solidFill>
              </a:rPr>
              <a:t>The smallest working version</a:t>
            </a:r>
          </a:p>
        </p:txBody>
      </p:sp>
      <p:sp>
        <p:nvSpPr>
          <p:cNvPr id="15" name="rhythm-rule-1">
            <a:extLst xmlns:a="http://schemas.openxmlformats.org/drawingml/2006/main">
              <a:ext uri="{FF2B5EF4-FFF2-40B4-BE49-F238E27FC236}">
                <a16:creationId xmlns:a16="http://schemas.microsoft.com/office/drawing/2014/main" id="{24DB0CB3-06E6-423F-8AE9-DE9A3C01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289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0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hythm-num-2">
            <a:extLst xmlns:a="http://schemas.openxmlformats.org/drawingml/2006/main">
              <a:ext uri="{FF2B5EF4-FFF2-40B4-BE49-F238E27FC236}">
                <a16:creationId xmlns:a16="http://schemas.microsoft.com/office/drawing/2014/main" id="{08C4B809-41A1-4736-A639-0332B802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07D00"/>
                </a:solidFill>
              </a:defRPr>
            </a:pPr>
            <a:r>
              <a:rPr sz="1125" b="1">
                <a:solidFill>
                  <a:srgbClr val="F07D00"/>
                </a:solidFill>
              </a:rPr>
              <a:t>03</a:t>
            </a:r>
          </a:p>
        </p:txBody>
      </p:sp>
      <p:sp>
        <p:nvSpPr>
          <p:cNvPr id="17" name="rhythm-label-2">
            <a:extLst xmlns:a="http://schemas.openxmlformats.org/drawingml/2006/main">
              <a:ext uri="{FF2B5EF4-FFF2-40B4-BE49-F238E27FC236}">
                <a16:creationId xmlns:a16="http://schemas.microsoft.com/office/drawing/2014/main" id="{D11BA380-69F6-4D3E-9C0F-2F58BD8E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4325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51C2A"/>
                </a:solidFill>
              </a:defRPr>
            </a:pPr>
            <a:r>
              <a:rPr sz="1500" b="1">
                <a:solidFill>
                  <a:srgbClr val="051C2A"/>
                </a:solidFill>
              </a:rPr>
              <a:t>BREAK</a:t>
            </a:r>
          </a:p>
        </p:txBody>
      </p:sp>
      <p:sp>
        <p:nvSpPr>
          <p:cNvPr id="18" name="rhythm-desc-2">
            <a:extLst xmlns:a="http://schemas.openxmlformats.org/drawingml/2006/main">
              <a:ext uri="{FF2B5EF4-FFF2-40B4-BE49-F238E27FC236}">
                <a16:creationId xmlns:a16="http://schemas.microsoft.com/office/drawing/2014/main" id="{D25C1ACE-12C7-46FF-94CC-995121F6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527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73738"/>
                </a:solidFill>
              </a:defRPr>
            </a:pPr>
            <a:r>
              <a:rPr sz="1425" b="0">
                <a:solidFill>
                  <a:srgbClr val="373738"/>
                </a:solidFill>
              </a:rPr>
              <a:t>A controlled failure</a:t>
            </a:r>
          </a:p>
        </p:txBody>
      </p:sp>
      <p:sp>
        <p:nvSpPr>
          <p:cNvPr id="19" name="rhythm-rule-2">
            <a:extLst xmlns:a="http://schemas.openxmlformats.org/drawingml/2006/main">
              <a:ext uri="{FF2B5EF4-FFF2-40B4-BE49-F238E27FC236}">
                <a16:creationId xmlns:a16="http://schemas.microsoft.com/office/drawing/2014/main" id="{EA417B79-D3ED-421B-9B80-6381EAA65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67075"/>
            <a:ext cx="1200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hythm-num-3">
            <a:extLst xmlns:a="http://schemas.openxmlformats.org/drawingml/2006/main">
              <a:ext uri="{FF2B5EF4-FFF2-40B4-BE49-F238E27FC236}">
                <a16:creationId xmlns:a16="http://schemas.microsoft.com/office/drawing/2014/main" id="{333BFB38-1C02-4AE0-AA73-282A9A60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A2EB"/>
                </a:solidFill>
              </a:defRPr>
            </a:pPr>
            <a:r>
              <a:rPr sz="1125" b="1">
                <a:solidFill>
                  <a:srgbClr val="00A2EB"/>
                </a:solidFill>
              </a:rPr>
              <a:t>04</a:t>
            </a:r>
          </a:p>
        </p:txBody>
      </p:sp>
      <p:sp>
        <p:nvSpPr>
          <p:cNvPr id="21" name="rhythm-label-3">
            <a:extLst xmlns:a="http://schemas.openxmlformats.org/drawingml/2006/main">
              <a:ext uri="{FF2B5EF4-FFF2-40B4-BE49-F238E27FC236}">
                <a16:creationId xmlns:a16="http://schemas.microsoft.com/office/drawing/2014/main" id="{437D3B0A-0B91-4F18-AE7D-7D37E558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814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51C2A"/>
                </a:solidFill>
              </a:defRPr>
            </a:pPr>
            <a:r>
              <a:rPr sz="1500" b="1">
                <a:solidFill>
                  <a:srgbClr val="051C2A"/>
                </a:solidFill>
              </a:rPr>
              <a:t>IMPROVE</a:t>
            </a:r>
          </a:p>
        </p:txBody>
      </p:sp>
      <p:sp>
        <p:nvSpPr>
          <p:cNvPr id="22" name="rhythm-desc-3">
            <a:extLst xmlns:a="http://schemas.openxmlformats.org/drawingml/2006/main">
              <a:ext uri="{FF2B5EF4-FFF2-40B4-BE49-F238E27FC236}">
                <a16:creationId xmlns:a16="http://schemas.microsoft.com/office/drawing/2014/main" id="{FC92A149-4E87-40E0-986A-F0444686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909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73738"/>
                </a:solidFill>
              </a:defRPr>
            </a:pPr>
            <a:r>
              <a:rPr sz="1425" b="0">
                <a:solidFill>
                  <a:srgbClr val="373738"/>
                </a:solidFill>
              </a:rPr>
              <a:t>The relevant pattern</a:t>
            </a:r>
          </a:p>
        </p:txBody>
      </p:sp>
      <p:sp>
        <p:nvSpPr>
          <p:cNvPr id="23" name="rhythm-rule-3">
            <a:extLst xmlns:a="http://schemas.openxmlformats.org/drawingml/2006/main">
              <a:ext uri="{FF2B5EF4-FFF2-40B4-BE49-F238E27FC236}">
                <a16:creationId xmlns:a16="http://schemas.microsoft.com/office/drawing/2014/main" id="{AFA69EC6-4DD1-43AB-8497-668B0256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05250"/>
            <a:ext cx="1600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0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hythm-num-4">
            <a:extLst xmlns:a="http://schemas.openxmlformats.org/drawingml/2006/main">
              <a:ext uri="{FF2B5EF4-FFF2-40B4-BE49-F238E27FC236}">
                <a16:creationId xmlns:a16="http://schemas.microsoft.com/office/drawing/2014/main" id="{2ACFA19A-C40B-4159-8989-6152D772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A2EB"/>
                </a:solidFill>
              </a:defRPr>
            </a:pPr>
            <a:r>
              <a:rPr sz="1125" b="1">
                <a:solidFill>
                  <a:srgbClr val="00A2EB"/>
                </a:solidFill>
              </a:rPr>
              <a:t>05</a:t>
            </a:r>
          </a:p>
        </p:txBody>
      </p:sp>
      <p:sp>
        <p:nvSpPr>
          <p:cNvPr id="25" name="rhythm-label-4">
            <a:extLst xmlns:a="http://schemas.openxmlformats.org/drawingml/2006/main">
              <a:ext uri="{FF2B5EF4-FFF2-40B4-BE49-F238E27FC236}">
                <a16:creationId xmlns:a16="http://schemas.microsoft.com/office/drawing/2014/main" id="{A2480783-D5D6-4B60-96FE-392AE0C6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960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51C2A"/>
                </a:solidFill>
              </a:defRPr>
            </a:pPr>
            <a:r>
              <a:rPr sz="1500" b="1">
                <a:solidFill>
                  <a:srgbClr val="051C2A"/>
                </a:solidFill>
              </a:rPr>
              <a:t>VERIFY</a:t>
            </a:r>
          </a:p>
        </p:txBody>
      </p:sp>
      <p:sp>
        <p:nvSpPr>
          <p:cNvPr id="26" name="rhythm-desc-4">
            <a:extLst xmlns:a="http://schemas.openxmlformats.org/drawingml/2006/main">
              <a:ext uri="{FF2B5EF4-FFF2-40B4-BE49-F238E27FC236}">
                <a16:creationId xmlns:a16="http://schemas.microsoft.com/office/drawing/2014/main" id="{05013568-8638-4BB9-B868-6E643981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29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73738"/>
                </a:solidFill>
              </a:defRPr>
            </a:pPr>
            <a:r>
              <a:rPr sz="1425" b="0">
                <a:solidFill>
                  <a:srgbClr val="373738"/>
                </a:solidFill>
              </a:rPr>
              <a:t>A test or evaluation</a:t>
            </a:r>
          </a:p>
        </p:txBody>
      </p:sp>
      <p:sp>
        <p:nvSpPr>
          <p:cNvPr id="27" name="rhythm-rule-4">
            <a:extLst xmlns:a="http://schemas.openxmlformats.org/drawingml/2006/main">
              <a:ext uri="{FF2B5EF4-FFF2-40B4-BE49-F238E27FC236}">
                <a16:creationId xmlns:a16="http://schemas.microsoft.com/office/drawing/2014/main" id="{80016713-5D42-42A2-8EEF-6F023C0A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43425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0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hythm-num-5">
            <a:extLst xmlns:a="http://schemas.openxmlformats.org/drawingml/2006/main">
              <a:ext uri="{FF2B5EF4-FFF2-40B4-BE49-F238E27FC236}">
                <a16:creationId xmlns:a16="http://schemas.microsoft.com/office/drawing/2014/main" id="{76B17378-0991-43D9-AD58-25D10DEB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A2EB"/>
                </a:solidFill>
              </a:defRPr>
            </a:pPr>
            <a:r>
              <a:rPr sz="1125" b="1">
                <a:solidFill>
                  <a:srgbClr val="00A2EB"/>
                </a:solidFill>
              </a:rPr>
              <a:t>06</a:t>
            </a:r>
          </a:p>
        </p:txBody>
      </p:sp>
      <p:sp>
        <p:nvSpPr>
          <p:cNvPr id="29" name="rhythm-label-5">
            <a:extLst xmlns:a="http://schemas.openxmlformats.org/drawingml/2006/main">
              <a:ext uri="{FF2B5EF4-FFF2-40B4-BE49-F238E27FC236}">
                <a16:creationId xmlns:a16="http://schemas.microsoft.com/office/drawing/2014/main" id="{01356DA9-F4A9-4668-8E33-B303E27C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5777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51C2A"/>
                </a:solidFill>
              </a:defRPr>
            </a:pPr>
            <a:r>
              <a:rPr sz="1500" b="1">
                <a:solidFill>
                  <a:srgbClr val="051C2A"/>
                </a:solidFill>
              </a:rPr>
              <a:t>INTEGRATE</a:t>
            </a:r>
          </a:p>
        </p:txBody>
      </p:sp>
      <p:sp>
        <p:nvSpPr>
          <p:cNvPr id="30" name="rhythm-desc-5">
            <a:extLst xmlns:a="http://schemas.openxmlformats.org/drawingml/2006/main">
              <a:ext uri="{FF2B5EF4-FFF2-40B4-BE49-F238E27FC236}">
                <a16:creationId xmlns:a16="http://schemas.microsoft.com/office/drawing/2014/main" id="{807DC0EC-84D8-4D6A-B44F-D88B861C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673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73738"/>
                </a:solidFill>
              </a:defRPr>
            </a:pPr>
            <a:r>
              <a:rPr sz="1425" b="0">
                <a:solidFill>
                  <a:srgbClr val="373738"/>
                </a:solidFill>
              </a:rPr>
              <a:t>The capstone increment</a:t>
            </a:r>
          </a:p>
        </p:txBody>
      </p:sp>
      <p:sp>
        <p:nvSpPr>
          <p:cNvPr id="31" name="rhythm-rule-5">
            <a:extLst xmlns:a="http://schemas.openxmlformats.org/drawingml/2006/main">
              <a:ext uri="{FF2B5EF4-FFF2-40B4-BE49-F238E27FC236}">
                <a16:creationId xmlns:a16="http://schemas.microsoft.com/office/drawing/2014/main" id="{6620A4C0-723C-47B2-9D5E-81068CAF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816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0C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444922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-6">
            <a:extLst xmlns:a="http://schemas.openxmlformats.org/drawingml/2006/main">
              <a:ext uri="{FF2B5EF4-FFF2-40B4-BE49-F238E27FC236}">
                <a16:creationId xmlns:a16="http://schemas.microsoft.com/office/drawing/2014/main" id="{72E18E22-BE4E-4FB2-B709-8F264556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40CB"/>
                </a:solidFill>
              </a:defRPr>
            </a:pPr>
            <a:r>
              <a:rPr sz="1050" b="1">
                <a:solidFill>
                  <a:srgbClr val="1F40CB"/>
                </a:solidFill>
              </a:rPr>
              <a:t>09:00—12:00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66457F29-E7AB-4182-A216-7836A385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51C2A"/>
                </a:solidFill>
              </a:defRPr>
            </a:pPr>
            <a:r>
              <a:rPr sz="2925" b="1">
                <a:solidFill>
                  <a:srgbClr val="051C2A"/>
                </a:solidFill>
              </a:rPr>
              <a:t>Day 1 morning: model calls become evidence-grounded answers</a:t>
            </a:r>
          </a:p>
        </p:txBody>
      </p:sp>
      <p:sp>
        <p:nvSpPr>
          <p:cNvPr id="3" name="progress-6">
            <a:extLst xmlns:a="http://schemas.openxmlformats.org/drawingml/2006/main">
              <a:ext uri="{FF2B5EF4-FFF2-40B4-BE49-F238E27FC236}">
                <a16:creationId xmlns:a16="http://schemas.microsoft.com/office/drawing/2014/main" id="{63375691-A335-4225-ADFA-38DEE279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gress-active-6">
            <a:extLst xmlns:a="http://schemas.openxmlformats.org/drawingml/2006/main">
              <a:ext uri="{FF2B5EF4-FFF2-40B4-BE49-F238E27FC236}">
                <a16:creationId xmlns:a16="http://schemas.microsoft.com/office/drawing/2014/main" id="{98142CD7-2A99-4FF3-9964-EAFE037E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541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AA282FE1-4086-47BB-A416-C7441D59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E9FA2"/>
                </a:solidFill>
              </a:defRPr>
            </a:pPr>
            <a:r>
              <a:rPr sz="975" b="0">
                <a:solidFill>
                  <a:srgbClr val="9E9FA2"/>
                </a:solidFill>
              </a:rPr>
              <a:t>First Finance - Arnaud Demes</a:t>
            </a:r>
          </a:p>
        </p:txBody>
      </p:sp>
      <p:sp>
        <p:nvSpPr>
          <p:cNvPr id="6" name="section-6">
            <a:extLst xmlns:a="http://schemas.openxmlformats.org/drawingml/2006/main">
              <a:ext uri="{FF2B5EF4-FFF2-40B4-BE49-F238E27FC236}">
                <a16:creationId xmlns:a16="http://schemas.microsoft.com/office/drawing/2014/main" id="{EA0BBC8D-8644-47B2-A6AA-39B9777B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770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E9FA2"/>
                </a:solidFill>
              </a:defRPr>
            </a:pPr>
            <a:r>
              <a:rPr sz="900" b="1">
                <a:solidFill>
                  <a:srgbClr val="9E9FA2"/>
                </a:solidFill>
              </a:rPr>
              <a:t>DAY 1</a:t>
            </a:r>
          </a:p>
        </p:txBody>
      </p:sp>
      <p:sp>
        <p:nvSpPr>
          <p:cNvPr id="7" name="page-6">
            <a:extLst xmlns:a="http://schemas.openxmlformats.org/drawingml/2006/main">
              <a:ext uri="{FF2B5EF4-FFF2-40B4-BE49-F238E27FC236}">
                <a16:creationId xmlns:a16="http://schemas.microsoft.com/office/drawing/2014/main" id="{270ED7A7-9089-49D7-95EE-B8EDF70A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E9FA2"/>
                </a:solidFill>
              </a:defRPr>
            </a:pPr>
            <a:r>
              <a:rPr sz="900" b="1">
                <a:solidFill>
                  <a:srgbClr val="9E9FA2"/>
                </a:solidFill>
              </a:rPr>
              <a:t>06</a:t>
            </a:r>
          </a:p>
        </p:txBody>
      </p:sp>
      <p:sp>
        <p:nvSpPr>
          <p:cNvPr id="8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B71F4C86-8964-4900-AB83-E53A3242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124075"/>
            <a:ext cx="28575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ime-0">
            <a:extLst xmlns:a="http://schemas.openxmlformats.org/drawingml/2006/main">
              <a:ext uri="{FF2B5EF4-FFF2-40B4-BE49-F238E27FC236}">
                <a16:creationId xmlns:a16="http://schemas.microsoft.com/office/drawing/2014/main" id="{9DA96E28-9586-4F06-AE21-7228F535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A2EB"/>
                </a:solidFill>
              </a:defRPr>
            </a:pPr>
            <a:r>
              <a:rPr sz="1275" b="1">
                <a:solidFill>
                  <a:srgbClr val="00A2EB"/>
                </a:solidFill>
              </a:rPr>
              <a:t>09:00</a:t>
            </a:r>
          </a:p>
        </p:txBody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4DEB0F1E-7D8E-446E-A2CC-0D21C31E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09550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tem-0">
            <a:extLst xmlns:a="http://schemas.openxmlformats.org/drawingml/2006/main">
              <a:ext uri="{FF2B5EF4-FFF2-40B4-BE49-F238E27FC236}">
                <a16:creationId xmlns:a16="http://schemas.microsoft.com/office/drawing/2014/main" id="{EB866A66-7FBC-47CB-B1B1-649C1BF0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97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51C2A"/>
                </a:solidFill>
              </a:defRPr>
            </a:pPr>
            <a:r>
              <a:rPr sz="1500" b="1">
                <a:solidFill>
                  <a:srgbClr val="051C2A"/>
                </a:solidFill>
              </a:rPr>
              <a:t>Product demo and system architecture</a:t>
            </a:r>
          </a:p>
        </p:txBody>
      </p:sp>
      <p:sp>
        <p:nvSpPr>
          <p:cNvPr id="12" name="note-0">
            <a:extLst xmlns:a="http://schemas.openxmlformats.org/drawingml/2006/main">
              <a:ext uri="{FF2B5EF4-FFF2-40B4-BE49-F238E27FC236}">
                <a16:creationId xmlns:a16="http://schemas.microsoft.com/office/drawing/2014/main" id="{FA69C7B6-1B7E-4C0C-A85C-D931E050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19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9E9FA2"/>
                </a:solidFill>
              </a:defRPr>
            </a:pPr>
            <a:r>
              <a:rPr sz="1125" b="0">
                <a:solidFill>
                  <a:srgbClr val="9E9FA2"/>
                </a:solidFill>
              </a:rPr>
              <a:t>30 min</a:t>
            </a:r>
          </a:p>
        </p:txBody>
      </p:sp>
      <p:sp>
        <p:nvSpPr>
          <p:cNvPr id="13" name="time-1">
            <a:extLst xmlns:a="http://schemas.openxmlformats.org/drawingml/2006/main">
              <a:ext uri="{FF2B5EF4-FFF2-40B4-BE49-F238E27FC236}">
                <a16:creationId xmlns:a16="http://schemas.microsoft.com/office/drawing/2014/main" id="{8E5F1B0B-2D4F-489C-95E2-B771A6F1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73738"/>
                </a:solidFill>
              </a:defRPr>
            </a:pPr>
            <a:r>
              <a:rPr sz="1275" b="1">
                <a:solidFill>
                  <a:srgbClr val="373738"/>
                </a:solidFill>
              </a:rPr>
              <a:t>09:30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BFC81BE4-288E-4D49-83E7-FADDADD3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71462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tem-1">
            <a:extLst xmlns:a="http://schemas.openxmlformats.org/drawingml/2006/main">
              <a:ext uri="{FF2B5EF4-FFF2-40B4-BE49-F238E27FC236}">
                <a16:creationId xmlns:a16="http://schemas.microsoft.com/office/drawing/2014/main" id="{104CCE85-1B84-498D-86BB-158F3DBB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289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51C2A"/>
                </a:solidFill>
              </a:defRPr>
            </a:pPr>
            <a:r>
              <a:rPr sz="1500" b="1">
                <a:solidFill>
                  <a:srgbClr val="051C2A"/>
                </a:solidFill>
              </a:rPr>
              <a:t>Local and hosted model gateway</a:t>
            </a:r>
          </a:p>
        </p:txBody>
      </p:sp>
      <p:sp>
        <p:nvSpPr>
          <p:cNvPr id="16" name="note-1">
            <a:extLst xmlns:a="http://schemas.openxmlformats.org/drawingml/2006/main">
              <a:ext uri="{FF2B5EF4-FFF2-40B4-BE49-F238E27FC236}">
                <a16:creationId xmlns:a16="http://schemas.microsoft.com/office/drawing/2014/main" id="{C51B906C-B7F3-4731-8523-0D55FA82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384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9E9FA2"/>
                </a:solidFill>
              </a:defRPr>
            </a:pPr>
            <a:r>
              <a:rPr sz="1125" b="0">
                <a:solidFill>
                  <a:srgbClr val="9E9FA2"/>
                </a:solidFill>
              </a:rPr>
              <a:t>30 min</a:t>
            </a:r>
          </a:p>
        </p:txBody>
      </p:sp>
      <p:sp>
        <p:nvSpPr>
          <p:cNvPr id="17" name="time-2">
            <a:extLst xmlns:a="http://schemas.openxmlformats.org/drawingml/2006/main">
              <a:ext uri="{FF2B5EF4-FFF2-40B4-BE49-F238E27FC236}">
                <a16:creationId xmlns:a16="http://schemas.microsoft.com/office/drawing/2014/main" id="{02A25B1C-E523-48B7-B3C1-22789D9E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73738"/>
                </a:solidFill>
              </a:defRPr>
            </a:pPr>
            <a:r>
              <a:rPr sz="1275" b="1">
                <a:solidFill>
                  <a:srgbClr val="373738"/>
                </a:solidFill>
              </a:rPr>
              <a:t>10:00</a:t>
            </a:r>
          </a:p>
        </p:txBody>
      </p:sp>
      <p:sp>
        <p:nvSpPr>
          <p:cNvPr id="18" name="dot-2">
            <a:extLst xmlns:a="http://schemas.openxmlformats.org/drawingml/2006/main">
              <a:ext uri="{FF2B5EF4-FFF2-40B4-BE49-F238E27FC236}">
                <a16:creationId xmlns:a16="http://schemas.microsoft.com/office/drawing/2014/main" id="{74C17CF4-519D-4C9D-A3AE-9BA5B29A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33375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tem-2">
            <a:extLst xmlns:a="http://schemas.openxmlformats.org/drawingml/2006/main">
              <a:ext uri="{FF2B5EF4-FFF2-40B4-BE49-F238E27FC236}">
                <a16:creationId xmlns:a16="http://schemas.microsoft.com/office/drawing/2014/main" id="{21A87BBB-893B-46B6-BB87-3189E7E8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480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51C2A"/>
                </a:solidFill>
              </a:defRPr>
            </a:pPr>
            <a:r>
              <a:rPr sz="1500" b="1">
                <a:solidFill>
                  <a:srgbClr val="051C2A"/>
                </a:solidFill>
              </a:rPr>
              <a:t>Prompts and structured outputs</a:t>
            </a:r>
          </a:p>
        </p:txBody>
      </p:sp>
      <p:sp>
        <p:nvSpPr>
          <p:cNvPr id="20" name="note-2">
            <a:extLst xmlns:a="http://schemas.openxmlformats.org/drawingml/2006/main">
              <a:ext uri="{FF2B5EF4-FFF2-40B4-BE49-F238E27FC236}">
                <a16:creationId xmlns:a16="http://schemas.microsoft.com/office/drawing/2014/main" id="{FB5D5A32-34A8-4F5C-8811-FD3E7D45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575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9E9FA2"/>
                </a:solidFill>
              </a:defRPr>
            </a:pPr>
            <a:r>
              <a:rPr sz="1125" b="0">
                <a:solidFill>
                  <a:srgbClr val="9E9FA2"/>
                </a:solidFill>
              </a:rPr>
              <a:t>30 min</a:t>
            </a:r>
          </a:p>
        </p:txBody>
      </p:sp>
      <p:sp>
        <p:nvSpPr>
          <p:cNvPr id="21" name="time-3">
            <a:extLst xmlns:a="http://schemas.openxmlformats.org/drawingml/2006/main">
              <a:ext uri="{FF2B5EF4-FFF2-40B4-BE49-F238E27FC236}">
                <a16:creationId xmlns:a16="http://schemas.microsoft.com/office/drawing/2014/main" id="{56A96FF2-F727-4EEB-A5A6-6EDABF23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73738"/>
                </a:solidFill>
              </a:defRPr>
            </a:pPr>
            <a:r>
              <a:rPr sz="1275" b="1">
                <a:solidFill>
                  <a:srgbClr val="373738"/>
                </a:solidFill>
              </a:rPr>
              <a:t>10:30</a:t>
            </a:r>
          </a:p>
        </p:txBody>
      </p:sp>
      <p:sp>
        <p:nvSpPr>
          <p:cNvPr id="22" name="dot-3">
            <a:extLst xmlns:a="http://schemas.openxmlformats.org/drawingml/2006/main">
              <a:ext uri="{FF2B5EF4-FFF2-40B4-BE49-F238E27FC236}">
                <a16:creationId xmlns:a16="http://schemas.microsoft.com/office/drawing/2014/main" id="{DC1B8157-75EB-414E-8019-B51A22E0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95287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7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item-3">
            <a:extLst xmlns:a="http://schemas.openxmlformats.org/drawingml/2006/main">
              <a:ext uri="{FF2B5EF4-FFF2-40B4-BE49-F238E27FC236}">
                <a16:creationId xmlns:a16="http://schemas.microsoft.com/office/drawing/2014/main" id="{DF4C5A9A-EF92-4951-BBDD-B4DD40AC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671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51C2A"/>
                </a:solidFill>
              </a:defRPr>
            </a:pPr>
            <a:r>
              <a:rPr sz="1500" b="0">
                <a:solidFill>
                  <a:srgbClr val="051C2A"/>
                </a:solidFill>
              </a:rPr>
              <a:t>Break</a:t>
            </a:r>
          </a:p>
        </p:txBody>
      </p:sp>
      <p:sp>
        <p:nvSpPr>
          <p:cNvPr id="24" name="note-3">
            <a:extLst xmlns:a="http://schemas.openxmlformats.org/drawingml/2006/main">
              <a:ext uri="{FF2B5EF4-FFF2-40B4-BE49-F238E27FC236}">
                <a16:creationId xmlns:a16="http://schemas.microsoft.com/office/drawing/2014/main" id="{FC7BC6FF-D8B9-4DC2-BF80-A4A57CB5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76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07D00"/>
                </a:solidFill>
              </a:defRPr>
            </a:pPr>
            <a:r>
              <a:rPr sz="1125" b="1">
                <a:solidFill>
                  <a:srgbClr val="F07D00"/>
                </a:solidFill>
              </a:rPr>
              <a:t>15 min</a:t>
            </a:r>
          </a:p>
        </p:txBody>
      </p:sp>
      <p:sp>
        <p:nvSpPr>
          <p:cNvPr id="25" name="time-4">
            <a:extLst xmlns:a="http://schemas.openxmlformats.org/drawingml/2006/main">
              <a:ext uri="{FF2B5EF4-FFF2-40B4-BE49-F238E27FC236}">
                <a16:creationId xmlns:a16="http://schemas.microsoft.com/office/drawing/2014/main" id="{F142849F-69D6-4A02-A5A6-1C6C4EAA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73738"/>
                </a:solidFill>
              </a:defRPr>
            </a:pPr>
            <a:r>
              <a:rPr sz="1275" b="1">
                <a:solidFill>
                  <a:srgbClr val="373738"/>
                </a:solidFill>
              </a:rPr>
              <a:t>10:45</a:t>
            </a:r>
          </a:p>
        </p:txBody>
      </p:sp>
      <p:sp>
        <p:nvSpPr>
          <p:cNvPr id="26" name="dot-4">
            <a:extLst xmlns:a="http://schemas.openxmlformats.org/drawingml/2006/main">
              <a:ext uri="{FF2B5EF4-FFF2-40B4-BE49-F238E27FC236}">
                <a16:creationId xmlns:a16="http://schemas.microsoft.com/office/drawing/2014/main" id="{49ADCF49-AF50-4217-967F-2B723C31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57200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item-4">
            <a:extLst xmlns:a="http://schemas.openxmlformats.org/drawingml/2006/main">
              <a:ext uri="{FF2B5EF4-FFF2-40B4-BE49-F238E27FC236}">
                <a16:creationId xmlns:a16="http://schemas.microsoft.com/office/drawing/2014/main" id="{502AB9F7-D183-4EAE-AB33-B4E6B786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862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51C2A"/>
                </a:solidFill>
              </a:defRPr>
            </a:pPr>
            <a:r>
              <a:rPr sz="1500" b="1">
                <a:solidFill>
                  <a:srgbClr val="051C2A"/>
                </a:solidFill>
              </a:rPr>
              <a:t>Context engineering and CAG</a:t>
            </a:r>
          </a:p>
        </p:txBody>
      </p:sp>
      <p:sp>
        <p:nvSpPr>
          <p:cNvPr id="28" name="note-4">
            <a:extLst xmlns:a="http://schemas.openxmlformats.org/drawingml/2006/main">
              <a:ext uri="{FF2B5EF4-FFF2-40B4-BE49-F238E27FC236}">
                <a16:creationId xmlns:a16="http://schemas.microsoft.com/office/drawing/2014/main" id="{10C89372-E95D-45E0-B847-1F821B84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958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9E9FA2"/>
                </a:solidFill>
              </a:defRPr>
            </a:pPr>
            <a:r>
              <a:rPr sz="1125" b="0">
                <a:solidFill>
                  <a:srgbClr val="9E9FA2"/>
                </a:solidFill>
              </a:rPr>
              <a:t>45 min</a:t>
            </a:r>
          </a:p>
        </p:txBody>
      </p:sp>
      <p:sp>
        <p:nvSpPr>
          <p:cNvPr id="29" name="time-5">
            <a:extLst xmlns:a="http://schemas.openxmlformats.org/drawingml/2006/main">
              <a:ext uri="{FF2B5EF4-FFF2-40B4-BE49-F238E27FC236}">
                <a16:creationId xmlns:a16="http://schemas.microsoft.com/office/drawing/2014/main" id="{373AF5F3-8D55-4736-89A5-A3146297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73738"/>
                </a:solidFill>
              </a:defRPr>
            </a:pPr>
            <a:r>
              <a:rPr sz="1275" b="1">
                <a:solidFill>
                  <a:srgbClr val="373738"/>
                </a:solidFill>
              </a:rPr>
              <a:t>11:30</a:t>
            </a:r>
          </a:p>
        </p:txBody>
      </p:sp>
      <p:sp>
        <p:nvSpPr>
          <p:cNvPr id="30" name="dot-5">
            <a:extLst xmlns:a="http://schemas.openxmlformats.org/drawingml/2006/main">
              <a:ext uri="{FF2B5EF4-FFF2-40B4-BE49-F238E27FC236}">
                <a16:creationId xmlns:a16="http://schemas.microsoft.com/office/drawing/2014/main" id="{37C6E0A0-A839-4987-8ACD-38B1DFE4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19112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item-5">
            <a:extLst xmlns:a="http://schemas.openxmlformats.org/drawingml/2006/main">
              <a:ext uri="{FF2B5EF4-FFF2-40B4-BE49-F238E27FC236}">
                <a16:creationId xmlns:a16="http://schemas.microsoft.com/office/drawing/2014/main" id="{7086FA79-0825-4E41-8616-FDA0D8E7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054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51C2A"/>
                </a:solidFill>
              </a:defRPr>
            </a:pPr>
            <a:r>
              <a:rPr sz="1500" b="1">
                <a:solidFill>
                  <a:srgbClr val="051C2A"/>
                </a:solidFill>
              </a:rPr>
              <a:t>RAG from first principles</a:t>
            </a:r>
          </a:p>
        </p:txBody>
      </p:sp>
      <p:sp>
        <p:nvSpPr>
          <p:cNvPr id="32" name="note-5">
            <a:extLst xmlns:a="http://schemas.openxmlformats.org/drawingml/2006/main">
              <a:ext uri="{FF2B5EF4-FFF2-40B4-BE49-F238E27FC236}">
                <a16:creationId xmlns:a16="http://schemas.microsoft.com/office/drawing/2014/main" id="{5A6F5552-87AA-41E0-A1F4-38E15CC6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149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9E9FA2"/>
                </a:solidFill>
              </a:defRPr>
            </a:pPr>
            <a:r>
              <a:rPr sz="1125" b="0">
                <a:solidFill>
                  <a:srgbClr val="9E9FA2"/>
                </a:solidFill>
              </a:rPr>
              <a:t>30 min</a:t>
            </a:r>
          </a:p>
        </p:txBody>
      </p:sp>
    </p:spTree>
    <p:extLst>
      <p:ext uri="{BB962C8B-B14F-4D97-AF65-F5344CB8AC3E}">
        <p14:creationId xmlns:p14="http://schemas.microsoft.com/office/powerpoint/2010/main" val="20939033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-7">
            <a:extLst xmlns:a="http://schemas.openxmlformats.org/drawingml/2006/main">
              <a:ext uri="{FF2B5EF4-FFF2-40B4-BE49-F238E27FC236}">
                <a16:creationId xmlns:a16="http://schemas.microsoft.com/office/drawing/2014/main" id="{1411DDB5-0EC6-4D76-9EFB-3E5A34C3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40CB"/>
                </a:solidFill>
              </a:defRPr>
            </a:pPr>
            <a:r>
              <a:rPr sz="1050" b="1">
                <a:solidFill>
                  <a:srgbClr val="1F40CB"/>
                </a:solidFill>
              </a:rPr>
              <a:t>13:30—17:00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C74461C4-B43D-494C-B545-CD8D8842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51C2A"/>
                </a:solidFill>
              </a:defRPr>
            </a:pPr>
            <a:r>
              <a:rPr sz="2925" b="1">
                <a:solidFill>
                  <a:srgbClr val="051C2A"/>
                </a:solidFill>
              </a:rPr>
              <a:t>Day 1 afternoon: document structure determines retrieval quality</a:t>
            </a:r>
          </a:p>
        </p:txBody>
      </p:sp>
      <p:sp>
        <p:nvSpPr>
          <p:cNvPr id="3" name="progress-7">
            <a:extLst xmlns:a="http://schemas.openxmlformats.org/drawingml/2006/main">
              <a:ext uri="{FF2B5EF4-FFF2-40B4-BE49-F238E27FC236}">
                <a16:creationId xmlns:a16="http://schemas.microsoft.com/office/drawing/2014/main" id="{46EF5F1E-190B-446C-8828-1BC5BC21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gress-active-7">
            <a:extLst xmlns:a="http://schemas.openxmlformats.org/drawingml/2006/main">
              <a:ext uri="{FF2B5EF4-FFF2-40B4-BE49-F238E27FC236}">
                <a16:creationId xmlns:a16="http://schemas.microsoft.com/office/drawing/2014/main" id="{B5BE6FDE-2715-4955-81FA-CD7D4749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631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7">
            <a:extLst xmlns:a="http://schemas.openxmlformats.org/drawingml/2006/main">
              <a:ext uri="{FF2B5EF4-FFF2-40B4-BE49-F238E27FC236}">
                <a16:creationId xmlns:a16="http://schemas.microsoft.com/office/drawing/2014/main" id="{D4494CA4-D7B4-4B8E-AA0F-7B0B12E3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E9FA2"/>
                </a:solidFill>
              </a:defRPr>
            </a:pPr>
            <a:r>
              <a:rPr sz="975" b="0">
                <a:solidFill>
                  <a:srgbClr val="9E9FA2"/>
                </a:solidFill>
              </a:rPr>
              <a:t>First Finance - Arnaud Demes</a:t>
            </a:r>
          </a:p>
        </p:txBody>
      </p:sp>
      <p:sp>
        <p:nvSpPr>
          <p:cNvPr id="6" name="section-7">
            <a:extLst xmlns:a="http://schemas.openxmlformats.org/drawingml/2006/main">
              <a:ext uri="{FF2B5EF4-FFF2-40B4-BE49-F238E27FC236}">
                <a16:creationId xmlns:a16="http://schemas.microsoft.com/office/drawing/2014/main" id="{26EFFEDF-1A25-4C83-9290-B9045DA1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770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E9FA2"/>
                </a:solidFill>
              </a:defRPr>
            </a:pPr>
            <a:r>
              <a:rPr sz="900" b="1">
                <a:solidFill>
                  <a:srgbClr val="9E9FA2"/>
                </a:solidFill>
              </a:rPr>
              <a:t>DAY 1</a:t>
            </a:r>
          </a:p>
        </p:txBody>
      </p:sp>
      <p:sp>
        <p:nvSpPr>
          <p:cNvPr id="7" name="page-7">
            <a:extLst xmlns:a="http://schemas.openxmlformats.org/drawingml/2006/main">
              <a:ext uri="{FF2B5EF4-FFF2-40B4-BE49-F238E27FC236}">
                <a16:creationId xmlns:a16="http://schemas.microsoft.com/office/drawing/2014/main" id="{E8110F46-8506-40F0-A150-1FD3BF36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E9FA2"/>
                </a:solidFill>
              </a:defRPr>
            </a:pPr>
            <a:r>
              <a:rPr sz="900" b="1">
                <a:solidFill>
                  <a:srgbClr val="9E9FA2"/>
                </a:solidFill>
              </a:rPr>
              <a:t>07</a:t>
            </a:r>
          </a:p>
        </p:txBody>
      </p:sp>
      <p:sp>
        <p:nvSpPr>
          <p:cNvPr id="8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E719FB6B-D3A3-467A-AF2C-418C55DB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219325"/>
            <a:ext cx="285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ime-0">
            <a:extLst xmlns:a="http://schemas.openxmlformats.org/drawingml/2006/main">
              <a:ext uri="{FF2B5EF4-FFF2-40B4-BE49-F238E27FC236}">
                <a16:creationId xmlns:a16="http://schemas.microsoft.com/office/drawing/2014/main" id="{C05330BF-D425-4E93-836A-D966BB65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F40CB"/>
                </a:solidFill>
              </a:defRPr>
            </a:pPr>
            <a:r>
              <a:rPr sz="1275" b="1">
                <a:solidFill>
                  <a:srgbClr val="1F40CB"/>
                </a:solidFill>
              </a:rPr>
              <a:t>13:30</a:t>
            </a:r>
          </a:p>
        </p:txBody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2D710BF0-327B-4F4A-9909-BD4A142E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19075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tem-0">
            <a:extLst xmlns:a="http://schemas.openxmlformats.org/drawingml/2006/main">
              <a:ext uri="{FF2B5EF4-FFF2-40B4-BE49-F238E27FC236}">
                <a16:creationId xmlns:a16="http://schemas.microsoft.com/office/drawing/2014/main" id="{A59D61D7-D073-4664-ACD8-91AF5C52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050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51C2A"/>
                </a:solidFill>
              </a:defRPr>
            </a:pPr>
            <a:r>
              <a:rPr sz="1500" b="1">
                <a:solidFill>
                  <a:srgbClr val="051C2A"/>
                </a:solidFill>
              </a:rPr>
              <a:t>Financial documents and chunking laboratory</a:t>
            </a:r>
          </a:p>
        </p:txBody>
      </p:sp>
      <p:sp>
        <p:nvSpPr>
          <p:cNvPr id="12" name="note-0">
            <a:extLst xmlns:a="http://schemas.openxmlformats.org/drawingml/2006/main">
              <a:ext uri="{FF2B5EF4-FFF2-40B4-BE49-F238E27FC236}">
                <a16:creationId xmlns:a16="http://schemas.microsoft.com/office/drawing/2014/main" id="{1719F86A-FC86-489B-9813-61659902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9E9FA2"/>
                </a:solidFill>
              </a:defRPr>
            </a:pPr>
            <a:r>
              <a:rPr sz="1125" b="0">
                <a:solidFill>
                  <a:srgbClr val="9E9FA2"/>
                </a:solidFill>
              </a:rPr>
              <a:t>90 min</a:t>
            </a:r>
          </a:p>
        </p:txBody>
      </p:sp>
      <p:sp>
        <p:nvSpPr>
          <p:cNvPr id="13" name="time-1">
            <a:extLst xmlns:a="http://schemas.openxmlformats.org/drawingml/2006/main">
              <a:ext uri="{FF2B5EF4-FFF2-40B4-BE49-F238E27FC236}">
                <a16:creationId xmlns:a16="http://schemas.microsoft.com/office/drawing/2014/main" id="{3B473EBD-D0DE-427A-9F84-CA4B1DE1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73738"/>
                </a:solidFill>
              </a:defRPr>
            </a:pPr>
            <a:r>
              <a:rPr sz="1275" b="1">
                <a:solidFill>
                  <a:srgbClr val="373738"/>
                </a:solidFill>
              </a:rPr>
              <a:t>15:00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53672913-A116-4744-8F63-5E057781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80987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7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tem-1">
            <a:extLst xmlns:a="http://schemas.openxmlformats.org/drawingml/2006/main">
              <a:ext uri="{FF2B5EF4-FFF2-40B4-BE49-F238E27FC236}">
                <a16:creationId xmlns:a16="http://schemas.microsoft.com/office/drawing/2014/main" id="{6B3D7711-BD34-4DB2-B161-6F7EAD01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241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51C2A"/>
                </a:solidFill>
              </a:defRPr>
            </a:pPr>
            <a:r>
              <a:rPr sz="1500" b="0">
                <a:solidFill>
                  <a:srgbClr val="051C2A"/>
                </a:solidFill>
              </a:rPr>
              <a:t>Break</a:t>
            </a:r>
          </a:p>
        </p:txBody>
      </p:sp>
      <p:sp>
        <p:nvSpPr>
          <p:cNvPr id="16" name="note-1">
            <a:extLst xmlns:a="http://schemas.openxmlformats.org/drawingml/2006/main">
              <a:ext uri="{FF2B5EF4-FFF2-40B4-BE49-F238E27FC236}">
                <a16:creationId xmlns:a16="http://schemas.microsoft.com/office/drawing/2014/main" id="{9C7E997D-5180-4DB4-9774-7D9E3B5B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33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07D00"/>
                </a:solidFill>
              </a:defRPr>
            </a:pPr>
            <a:r>
              <a:rPr sz="1125" b="1">
                <a:solidFill>
                  <a:srgbClr val="F07D00"/>
                </a:solidFill>
              </a:rPr>
              <a:t>15 min</a:t>
            </a:r>
          </a:p>
        </p:txBody>
      </p:sp>
      <p:sp>
        <p:nvSpPr>
          <p:cNvPr id="17" name="time-2">
            <a:extLst xmlns:a="http://schemas.openxmlformats.org/drawingml/2006/main">
              <a:ext uri="{FF2B5EF4-FFF2-40B4-BE49-F238E27FC236}">
                <a16:creationId xmlns:a16="http://schemas.microsoft.com/office/drawing/2014/main" id="{C3B572FB-6231-4744-A0D0-D39620F6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73738"/>
                </a:solidFill>
              </a:defRPr>
            </a:pPr>
            <a:r>
              <a:rPr sz="1275" b="1">
                <a:solidFill>
                  <a:srgbClr val="373738"/>
                </a:solidFill>
              </a:rPr>
              <a:t>15:15</a:t>
            </a:r>
          </a:p>
        </p:txBody>
      </p:sp>
      <p:sp>
        <p:nvSpPr>
          <p:cNvPr id="18" name="dot-2">
            <a:extLst xmlns:a="http://schemas.openxmlformats.org/drawingml/2006/main">
              <a:ext uri="{FF2B5EF4-FFF2-40B4-BE49-F238E27FC236}">
                <a16:creationId xmlns:a16="http://schemas.microsoft.com/office/drawing/2014/main" id="{B9652C02-B1C0-4FE5-A711-CCEBCAF5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42900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tem-2">
            <a:extLst xmlns:a="http://schemas.openxmlformats.org/drawingml/2006/main">
              <a:ext uri="{FF2B5EF4-FFF2-40B4-BE49-F238E27FC236}">
                <a16:creationId xmlns:a16="http://schemas.microsoft.com/office/drawing/2014/main" id="{F95C43CE-60BD-4DD1-BCB7-D7E5304D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432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51C2A"/>
                </a:solidFill>
              </a:defRPr>
            </a:pPr>
            <a:r>
              <a:rPr sz="1500" b="1">
                <a:solidFill>
                  <a:srgbClr val="051C2A"/>
                </a:solidFill>
              </a:rPr>
              <a:t>Embeddings and hybrid retrieval</a:t>
            </a:r>
          </a:p>
        </p:txBody>
      </p:sp>
      <p:sp>
        <p:nvSpPr>
          <p:cNvPr id="20" name="note-2">
            <a:extLst xmlns:a="http://schemas.openxmlformats.org/drawingml/2006/main">
              <a:ext uri="{FF2B5EF4-FFF2-40B4-BE49-F238E27FC236}">
                <a16:creationId xmlns:a16="http://schemas.microsoft.com/office/drawing/2014/main" id="{21A00B4C-C98B-4A94-908D-18B7E204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528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9E9FA2"/>
                </a:solidFill>
              </a:defRPr>
            </a:pPr>
            <a:r>
              <a:rPr sz="1125" b="0">
                <a:solidFill>
                  <a:srgbClr val="9E9FA2"/>
                </a:solidFill>
              </a:rPr>
              <a:t>45 min</a:t>
            </a:r>
          </a:p>
        </p:txBody>
      </p:sp>
      <p:sp>
        <p:nvSpPr>
          <p:cNvPr id="21" name="time-3">
            <a:extLst xmlns:a="http://schemas.openxmlformats.org/drawingml/2006/main">
              <a:ext uri="{FF2B5EF4-FFF2-40B4-BE49-F238E27FC236}">
                <a16:creationId xmlns:a16="http://schemas.microsoft.com/office/drawing/2014/main" id="{03EC955A-0F50-4AC5-AD34-664C3DFC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73738"/>
                </a:solidFill>
              </a:defRPr>
            </a:pPr>
            <a:r>
              <a:rPr sz="1275" b="1">
                <a:solidFill>
                  <a:srgbClr val="373738"/>
                </a:solidFill>
              </a:rPr>
              <a:t>16:00</a:t>
            </a:r>
          </a:p>
        </p:txBody>
      </p:sp>
      <p:sp>
        <p:nvSpPr>
          <p:cNvPr id="22" name="dot-3">
            <a:extLst xmlns:a="http://schemas.openxmlformats.org/drawingml/2006/main">
              <a:ext uri="{FF2B5EF4-FFF2-40B4-BE49-F238E27FC236}">
                <a16:creationId xmlns:a16="http://schemas.microsoft.com/office/drawing/2014/main" id="{A110B38F-3C1F-4673-B56B-0D033EF6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04812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item-3">
            <a:extLst xmlns:a="http://schemas.openxmlformats.org/drawingml/2006/main">
              <a:ext uri="{FF2B5EF4-FFF2-40B4-BE49-F238E27FC236}">
                <a16:creationId xmlns:a16="http://schemas.microsoft.com/office/drawing/2014/main" id="{5EAA75C3-CE9F-41A4-A9AC-756F04E0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624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51C2A"/>
                </a:solidFill>
              </a:defRPr>
            </a:pPr>
            <a:r>
              <a:rPr sz="1500" b="1">
                <a:solidFill>
                  <a:srgbClr val="051C2A"/>
                </a:solidFill>
              </a:rPr>
              <a:t>RAG evaluation and tracing</a:t>
            </a:r>
          </a:p>
        </p:txBody>
      </p:sp>
      <p:sp>
        <p:nvSpPr>
          <p:cNvPr id="24" name="note-3">
            <a:extLst xmlns:a="http://schemas.openxmlformats.org/drawingml/2006/main">
              <a:ext uri="{FF2B5EF4-FFF2-40B4-BE49-F238E27FC236}">
                <a16:creationId xmlns:a16="http://schemas.microsoft.com/office/drawing/2014/main" id="{C2024ED0-030F-48A2-9775-55DBEEC2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719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9E9FA2"/>
                </a:solidFill>
              </a:defRPr>
            </a:pPr>
            <a:r>
              <a:rPr sz="1125" b="0">
                <a:solidFill>
                  <a:srgbClr val="9E9FA2"/>
                </a:solidFill>
              </a:rPr>
              <a:t>45 min</a:t>
            </a:r>
          </a:p>
        </p:txBody>
      </p:sp>
      <p:sp>
        <p:nvSpPr>
          <p:cNvPr id="25" name="time-4">
            <a:extLst xmlns:a="http://schemas.openxmlformats.org/drawingml/2006/main">
              <a:ext uri="{FF2B5EF4-FFF2-40B4-BE49-F238E27FC236}">
                <a16:creationId xmlns:a16="http://schemas.microsoft.com/office/drawing/2014/main" id="{B935B309-3BEB-4EBC-A06D-334F8513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73738"/>
                </a:solidFill>
              </a:defRPr>
            </a:pPr>
            <a:r>
              <a:rPr sz="1275" b="1">
                <a:solidFill>
                  <a:srgbClr val="373738"/>
                </a:solidFill>
              </a:rPr>
              <a:t>16:45</a:t>
            </a:r>
          </a:p>
        </p:txBody>
      </p:sp>
      <p:sp>
        <p:nvSpPr>
          <p:cNvPr id="26" name="dot-4">
            <a:extLst xmlns:a="http://schemas.openxmlformats.org/drawingml/2006/main">
              <a:ext uri="{FF2B5EF4-FFF2-40B4-BE49-F238E27FC236}">
                <a16:creationId xmlns:a16="http://schemas.microsoft.com/office/drawing/2014/main" id="{2F37FF84-0257-465E-B810-9AEC450B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66725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item-4">
            <a:extLst xmlns:a="http://schemas.openxmlformats.org/drawingml/2006/main">
              <a:ext uri="{FF2B5EF4-FFF2-40B4-BE49-F238E27FC236}">
                <a16:creationId xmlns:a16="http://schemas.microsoft.com/office/drawing/2014/main" id="{776856B4-71D6-4BAD-AD5D-19BA2691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815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51C2A"/>
                </a:solidFill>
              </a:defRPr>
            </a:pPr>
            <a:r>
              <a:rPr sz="1500" b="1">
                <a:solidFill>
                  <a:srgbClr val="051C2A"/>
                </a:solidFill>
              </a:rPr>
              <a:t>Integration checkpoint</a:t>
            </a:r>
          </a:p>
        </p:txBody>
      </p:sp>
      <p:sp>
        <p:nvSpPr>
          <p:cNvPr id="28" name="note-4">
            <a:extLst xmlns:a="http://schemas.openxmlformats.org/drawingml/2006/main">
              <a:ext uri="{FF2B5EF4-FFF2-40B4-BE49-F238E27FC236}">
                <a16:creationId xmlns:a16="http://schemas.microsoft.com/office/drawing/2014/main" id="{DC8B9A41-AA2A-4360-80EE-31025A59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910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9E9FA2"/>
                </a:solidFill>
              </a:defRPr>
            </a:pPr>
            <a:r>
              <a:rPr sz="1125" b="0">
                <a:solidFill>
                  <a:srgbClr val="9E9FA2"/>
                </a:solidFill>
              </a:rPr>
              <a:t>15 min</a:t>
            </a:r>
          </a:p>
        </p:txBody>
      </p:sp>
      <p:sp>
        <p:nvSpPr>
          <p:cNvPr id="29" name="day1-question">
            <a:extLst xmlns:a="http://schemas.openxmlformats.org/drawingml/2006/main">
              <a:ext uri="{FF2B5EF4-FFF2-40B4-BE49-F238E27FC236}">
                <a16:creationId xmlns:a16="http://schemas.microsoft.com/office/drawing/2014/main" id="{F23BCF17-E5B9-4B72-90A6-86FB080A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9587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875" b="0">
                <a:solidFill>
                  <a:srgbClr val="051C2A"/>
                </a:solidFill>
              </a:defRPr>
            </a:pPr>
            <a:r>
              <a:rPr sz="1875" b="0">
                <a:solidFill>
                  <a:srgbClr val="051C2A"/>
                </a:solidFill>
              </a:rPr>
              <a:t>Which chunking strategy actually retrieves the right financial evidence?</a:t>
            </a:r>
          </a:p>
        </p:txBody>
      </p:sp>
    </p:spTree>
    <p:extLst>
      <p:ext uri="{BB962C8B-B14F-4D97-AF65-F5344CB8AC3E}">
        <p14:creationId xmlns:p14="http://schemas.microsoft.com/office/powerpoint/2010/main" val="9004520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-8">
            <a:extLst xmlns:a="http://schemas.openxmlformats.org/drawingml/2006/main">
              <a:ext uri="{FF2B5EF4-FFF2-40B4-BE49-F238E27FC236}">
                <a16:creationId xmlns:a16="http://schemas.microsoft.com/office/drawing/2014/main" id="{7D8C1A60-B0DD-47D1-AEB0-8170FE9D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40CB"/>
                </a:solidFill>
              </a:defRPr>
            </a:pPr>
            <a:r>
              <a:rPr sz="1050" b="1">
                <a:solidFill>
                  <a:srgbClr val="1F40CB"/>
                </a:solidFill>
              </a:rPr>
              <a:t>WORKING DELIVERABLE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3A0F5277-FD7E-48EF-9395-006245CE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51C2A"/>
                </a:solidFill>
              </a:defRPr>
            </a:pPr>
            <a:r>
              <a:rPr sz="2925" b="1">
                <a:solidFill>
                  <a:srgbClr val="051C2A"/>
                </a:solidFill>
              </a:rPr>
              <a:t>Day 1 ends with an evaluated financial RAG pipeline</a:t>
            </a:r>
          </a:p>
        </p:txBody>
      </p:sp>
      <p:sp>
        <p:nvSpPr>
          <p:cNvPr id="3" name="progress-8">
            <a:extLst xmlns:a="http://schemas.openxmlformats.org/drawingml/2006/main">
              <a:ext uri="{FF2B5EF4-FFF2-40B4-BE49-F238E27FC236}">
                <a16:creationId xmlns:a16="http://schemas.microsoft.com/office/drawing/2014/main" id="{9C6ED6F1-DE66-4946-A718-2E07800B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gress-active-8">
            <a:extLst xmlns:a="http://schemas.openxmlformats.org/drawingml/2006/main">
              <a:ext uri="{FF2B5EF4-FFF2-40B4-BE49-F238E27FC236}">
                <a16:creationId xmlns:a16="http://schemas.microsoft.com/office/drawing/2014/main" id="{1B8B5A67-BB21-481C-BE81-84188500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721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6F643744-23F3-4EE2-91C3-FF0BF074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E9FA2"/>
                </a:solidFill>
              </a:defRPr>
            </a:pPr>
            <a:r>
              <a:rPr sz="975" b="0">
                <a:solidFill>
                  <a:srgbClr val="9E9FA2"/>
                </a:solidFill>
              </a:rPr>
              <a:t>First Finance - Arnaud Demes</a:t>
            </a:r>
          </a:p>
        </p:txBody>
      </p:sp>
      <p:sp>
        <p:nvSpPr>
          <p:cNvPr id="6" name="section-8">
            <a:extLst xmlns:a="http://schemas.openxmlformats.org/drawingml/2006/main">
              <a:ext uri="{FF2B5EF4-FFF2-40B4-BE49-F238E27FC236}">
                <a16:creationId xmlns:a16="http://schemas.microsoft.com/office/drawing/2014/main" id="{5E2F9653-5EF2-46FC-B03D-BD572703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770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E9FA2"/>
                </a:solidFill>
              </a:defRPr>
            </a:pPr>
            <a:r>
              <a:rPr sz="900" b="1">
                <a:solidFill>
                  <a:srgbClr val="9E9FA2"/>
                </a:solidFill>
              </a:rPr>
              <a:t>CHECKPOINT</a:t>
            </a:r>
          </a:p>
        </p:txBody>
      </p:sp>
      <p:sp>
        <p:nvSpPr>
          <p:cNvPr id="7" name="page-8">
            <a:extLst xmlns:a="http://schemas.openxmlformats.org/drawingml/2006/main">
              <a:ext uri="{FF2B5EF4-FFF2-40B4-BE49-F238E27FC236}">
                <a16:creationId xmlns:a16="http://schemas.microsoft.com/office/drawing/2014/main" id="{B16EF1E6-E197-4231-B282-56B12135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E9FA2"/>
                </a:solidFill>
              </a:defRPr>
            </a:pPr>
            <a:r>
              <a:rPr sz="900" b="1">
                <a:solidFill>
                  <a:srgbClr val="9E9FA2"/>
                </a:solidFill>
              </a:rPr>
              <a:t>08</a:t>
            </a:r>
          </a:p>
        </p:txBody>
      </p:sp>
      <p:sp>
        <p:nvSpPr>
          <p:cNvPr id="8" name="outcome-verb-0">
            <a:extLst xmlns:a="http://schemas.openxmlformats.org/drawingml/2006/main">
              <a:ext uri="{FF2B5EF4-FFF2-40B4-BE49-F238E27FC236}">
                <a16:creationId xmlns:a16="http://schemas.microsoft.com/office/drawing/2014/main" id="{841FD301-9699-41D6-A222-E70D4DC2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40CB"/>
                </a:solidFill>
              </a:defRPr>
            </a:pPr>
            <a:r>
              <a:rPr sz="1200" b="1">
                <a:solidFill>
                  <a:srgbClr val="1F40CB"/>
                </a:solidFill>
              </a:rPr>
              <a:t>PARSE</a:t>
            </a:r>
          </a:p>
        </p:txBody>
      </p:sp>
      <p:sp>
        <p:nvSpPr>
          <p:cNvPr id="9" name="outcome-text-0">
            <a:extLst xmlns:a="http://schemas.openxmlformats.org/drawingml/2006/main">
              <a:ext uri="{FF2B5EF4-FFF2-40B4-BE49-F238E27FC236}">
                <a16:creationId xmlns:a16="http://schemas.microsoft.com/office/drawing/2014/main" id="{A89B92F9-4AB9-47D3-9E35-9F75602D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145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1C2A"/>
                </a:solidFill>
              </a:defRPr>
            </a:pPr>
            <a:r>
              <a:rPr sz="1650" b="1">
                <a:solidFill>
                  <a:srgbClr val="051C2A"/>
                </a:solidFill>
              </a:rPr>
              <a:t>Documents keep structure and provenance</a:t>
            </a:r>
          </a:p>
        </p:txBody>
      </p:sp>
      <p:sp>
        <p:nvSpPr>
          <p:cNvPr id="10" name="outcome-line-0">
            <a:extLst xmlns:a="http://schemas.openxmlformats.org/drawingml/2006/main">
              <a:ext uri="{FF2B5EF4-FFF2-40B4-BE49-F238E27FC236}">
                <a16:creationId xmlns:a16="http://schemas.microsoft.com/office/drawing/2014/main" id="{5AFFB169-FC8E-4DE1-9AFB-3201E960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52675"/>
            <a:ext cx="809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utcome-verb-1">
            <a:extLst xmlns:a="http://schemas.openxmlformats.org/drawingml/2006/main">
              <a:ext uri="{FF2B5EF4-FFF2-40B4-BE49-F238E27FC236}">
                <a16:creationId xmlns:a16="http://schemas.microsoft.com/office/drawing/2014/main" id="{C941DED6-B0BE-4591-826B-8F9285A2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40CB"/>
                </a:solidFill>
              </a:defRPr>
            </a:pPr>
            <a:r>
              <a:rPr sz="1200" b="1">
                <a:solidFill>
                  <a:srgbClr val="1F40CB"/>
                </a:solidFill>
              </a:rPr>
              <a:t>CHUNK</a:t>
            </a:r>
          </a:p>
        </p:txBody>
      </p:sp>
      <p:sp>
        <p:nvSpPr>
          <p:cNvPr id="12" name="outcome-text-1">
            <a:extLst xmlns:a="http://schemas.openxmlformats.org/drawingml/2006/main">
              <a:ext uri="{FF2B5EF4-FFF2-40B4-BE49-F238E27FC236}">
                <a16:creationId xmlns:a16="http://schemas.microsoft.com/office/drawing/2014/main" id="{05B780B2-A38D-480D-BED1-90698047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384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1C2A"/>
                </a:solidFill>
              </a:defRPr>
            </a:pPr>
            <a:r>
              <a:rPr sz="1650" b="1">
                <a:solidFill>
                  <a:srgbClr val="051C2A"/>
                </a:solidFill>
              </a:rPr>
              <a:t>Strategies are configurable and comparable</a:t>
            </a:r>
          </a:p>
        </p:txBody>
      </p:sp>
      <p:sp>
        <p:nvSpPr>
          <p:cNvPr id="13" name="outcome-line-1">
            <a:extLst xmlns:a="http://schemas.openxmlformats.org/drawingml/2006/main">
              <a:ext uri="{FF2B5EF4-FFF2-40B4-BE49-F238E27FC236}">
                <a16:creationId xmlns:a16="http://schemas.microsoft.com/office/drawing/2014/main" id="{124B25F2-A9E6-40D9-8203-428008AE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76575"/>
            <a:ext cx="809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utcome-verb-2">
            <a:extLst xmlns:a="http://schemas.openxmlformats.org/drawingml/2006/main">
              <a:ext uri="{FF2B5EF4-FFF2-40B4-BE49-F238E27FC236}">
                <a16:creationId xmlns:a16="http://schemas.microsoft.com/office/drawing/2014/main" id="{5B2EA6D3-686E-4BB9-BDAA-47D810B8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40CB"/>
                </a:solidFill>
              </a:defRPr>
            </a:pPr>
            <a:r>
              <a:rPr sz="1200" b="1">
                <a:solidFill>
                  <a:srgbClr val="1F40CB"/>
                </a:solidFill>
              </a:rPr>
              <a:t>RETRIEVE</a:t>
            </a:r>
          </a:p>
        </p:txBody>
      </p:sp>
      <p:sp>
        <p:nvSpPr>
          <p:cNvPr id="15" name="outcome-text-2">
            <a:extLst xmlns:a="http://schemas.openxmlformats.org/drawingml/2006/main">
              <a:ext uri="{FF2B5EF4-FFF2-40B4-BE49-F238E27FC236}">
                <a16:creationId xmlns:a16="http://schemas.microsoft.com/office/drawing/2014/main" id="{E69C12D4-9A43-4A8C-9523-CEF38B9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623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1C2A"/>
                </a:solidFill>
              </a:defRPr>
            </a:pPr>
            <a:r>
              <a:rPr sz="1650" b="1">
                <a:solidFill>
                  <a:srgbClr val="051C2A"/>
                </a:solidFill>
              </a:rPr>
              <a:t>Hybrid search respects company and period</a:t>
            </a:r>
          </a:p>
        </p:txBody>
      </p:sp>
      <p:sp>
        <p:nvSpPr>
          <p:cNvPr id="16" name="outcome-line-2">
            <a:extLst xmlns:a="http://schemas.openxmlformats.org/drawingml/2006/main">
              <a:ext uri="{FF2B5EF4-FFF2-40B4-BE49-F238E27FC236}">
                <a16:creationId xmlns:a16="http://schemas.microsoft.com/office/drawing/2014/main" id="{0CF26CDF-2B77-4909-93FB-B334C9A0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00475"/>
            <a:ext cx="809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utcome-verb-3">
            <a:extLst xmlns:a="http://schemas.openxmlformats.org/drawingml/2006/main">
              <a:ext uri="{FF2B5EF4-FFF2-40B4-BE49-F238E27FC236}">
                <a16:creationId xmlns:a16="http://schemas.microsoft.com/office/drawing/2014/main" id="{3A955198-EBF6-428B-B98D-8625C894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40CB"/>
                </a:solidFill>
              </a:defRPr>
            </a:pPr>
            <a:r>
              <a:rPr sz="1200" b="1">
                <a:solidFill>
                  <a:srgbClr val="1F40CB"/>
                </a:solidFill>
              </a:rPr>
              <a:t>ANSWER</a:t>
            </a:r>
          </a:p>
        </p:txBody>
      </p:sp>
      <p:sp>
        <p:nvSpPr>
          <p:cNvPr id="18" name="outcome-text-3">
            <a:extLst xmlns:a="http://schemas.openxmlformats.org/drawingml/2006/main">
              <a:ext uri="{FF2B5EF4-FFF2-40B4-BE49-F238E27FC236}">
                <a16:creationId xmlns:a16="http://schemas.microsoft.com/office/drawing/2014/main" id="{CDD24A06-D3C1-4322-8653-AB3EB157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862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1C2A"/>
                </a:solidFill>
              </a:defRPr>
            </a:pPr>
            <a:r>
              <a:rPr sz="1650" b="1">
                <a:solidFill>
                  <a:srgbClr val="051C2A"/>
                </a:solidFill>
              </a:rPr>
              <a:t>Claims carry citations and evidence types</a:t>
            </a:r>
          </a:p>
        </p:txBody>
      </p:sp>
      <p:sp>
        <p:nvSpPr>
          <p:cNvPr id="19" name="outcome-line-3">
            <a:extLst xmlns:a="http://schemas.openxmlformats.org/drawingml/2006/main">
              <a:ext uri="{FF2B5EF4-FFF2-40B4-BE49-F238E27FC236}">
                <a16:creationId xmlns:a16="http://schemas.microsoft.com/office/drawing/2014/main" id="{AAC9E3E5-ED9A-4F6B-A222-7FE73929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24375"/>
            <a:ext cx="809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outcome-verb-4">
            <a:extLst xmlns:a="http://schemas.openxmlformats.org/drawingml/2006/main">
              <a:ext uri="{FF2B5EF4-FFF2-40B4-BE49-F238E27FC236}">
                <a16:creationId xmlns:a16="http://schemas.microsoft.com/office/drawing/2014/main" id="{8AD46A72-8F62-46CF-A02D-103A6F02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07D00"/>
                </a:solidFill>
              </a:defRPr>
            </a:pPr>
            <a:r>
              <a:rPr sz="1200" b="1">
                <a:solidFill>
                  <a:srgbClr val="F07D00"/>
                </a:solidFill>
              </a:rPr>
              <a:t>EVALUATE</a:t>
            </a:r>
          </a:p>
        </p:txBody>
      </p:sp>
      <p:sp>
        <p:nvSpPr>
          <p:cNvPr id="21" name="outcome-text-4">
            <a:extLst xmlns:a="http://schemas.openxmlformats.org/drawingml/2006/main">
              <a:ext uri="{FF2B5EF4-FFF2-40B4-BE49-F238E27FC236}">
                <a16:creationId xmlns:a16="http://schemas.microsoft.com/office/drawing/2014/main" id="{0C9D45A1-D0D4-481C-AF3B-27EF65F9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1012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1C2A"/>
                </a:solidFill>
              </a:defRPr>
            </a:pPr>
            <a:r>
              <a:rPr sz="1650" b="1">
                <a:solidFill>
                  <a:srgbClr val="051C2A"/>
                </a:solidFill>
              </a:rPr>
              <a:t>Failures are measured in traces and metrics</a:t>
            </a:r>
          </a:p>
        </p:txBody>
      </p:sp>
      <p:sp>
        <p:nvSpPr>
          <p:cNvPr id="22" name="outcome-line-4">
            <a:extLst xmlns:a="http://schemas.openxmlformats.org/drawingml/2006/main">
              <a:ext uri="{FF2B5EF4-FFF2-40B4-BE49-F238E27FC236}">
                <a16:creationId xmlns:a16="http://schemas.microsoft.com/office/drawing/2014/main" id="{F0EBCDFA-9EC0-4D6E-8D02-14AFE9A9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48275"/>
            <a:ext cx="809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825334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-9">
            <a:extLst xmlns:a="http://schemas.openxmlformats.org/drawingml/2006/main">
              <a:ext uri="{FF2B5EF4-FFF2-40B4-BE49-F238E27FC236}">
                <a16:creationId xmlns:a16="http://schemas.microsoft.com/office/drawing/2014/main" id="{3FBF2B83-43C8-40B5-810C-BBBF84CD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40CB"/>
                </a:solidFill>
              </a:defRPr>
            </a:pPr>
            <a:r>
              <a:rPr sz="1050" b="1">
                <a:solidFill>
                  <a:srgbClr val="1F40CB"/>
                </a:solidFill>
              </a:rPr>
              <a:t>09:00—12:00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19C9D658-76D5-4DE2-95F5-1412E768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51C2A"/>
                </a:solidFill>
              </a:defRPr>
            </a:pPr>
            <a:r>
              <a:rPr sz="2925" b="1">
                <a:solidFill>
                  <a:srgbClr val="051C2A"/>
                </a:solidFill>
              </a:rPr>
              <a:t>Day 2 morning: deterministic workflows become bounded agents</a:t>
            </a:r>
          </a:p>
        </p:txBody>
      </p:sp>
      <p:sp>
        <p:nvSpPr>
          <p:cNvPr id="3" name="progress-9">
            <a:extLst xmlns:a="http://schemas.openxmlformats.org/drawingml/2006/main">
              <a:ext uri="{FF2B5EF4-FFF2-40B4-BE49-F238E27FC236}">
                <a16:creationId xmlns:a16="http://schemas.microsoft.com/office/drawing/2014/main" id="{549B736D-C97A-4DDF-8B86-861E3A3C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gress-active-9">
            <a:extLst xmlns:a="http://schemas.openxmlformats.org/drawingml/2006/main">
              <a:ext uri="{FF2B5EF4-FFF2-40B4-BE49-F238E27FC236}">
                <a16:creationId xmlns:a16="http://schemas.microsoft.com/office/drawing/2014/main" id="{97DFBFE1-1EE1-454F-AFB4-263B6BED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811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9">
            <a:extLst xmlns:a="http://schemas.openxmlformats.org/drawingml/2006/main">
              <a:ext uri="{FF2B5EF4-FFF2-40B4-BE49-F238E27FC236}">
                <a16:creationId xmlns:a16="http://schemas.microsoft.com/office/drawing/2014/main" id="{4FB702D6-0B67-476E-A01E-A698E1D6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E9FA2"/>
                </a:solidFill>
              </a:defRPr>
            </a:pPr>
            <a:r>
              <a:rPr sz="975" b="0">
                <a:solidFill>
                  <a:srgbClr val="9E9FA2"/>
                </a:solidFill>
              </a:rPr>
              <a:t>First Finance - Arnaud Demes</a:t>
            </a:r>
          </a:p>
        </p:txBody>
      </p:sp>
      <p:sp>
        <p:nvSpPr>
          <p:cNvPr id="6" name="section-9">
            <a:extLst xmlns:a="http://schemas.openxmlformats.org/drawingml/2006/main">
              <a:ext uri="{FF2B5EF4-FFF2-40B4-BE49-F238E27FC236}">
                <a16:creationId xmlns:a16="http://schemas.microsoft.com/office/drawing/2014/main" id="{595FF209-653C-4AFB-AFF3-D34D1D61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770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E9FA2"/>
                </a:solidFill>
              </a:defRPr>
            </a:pPr>
            <a:r>
              <a:rPr sz="900" b="1">
                <a:solidFill>
                  <a:srgbClr val="9E9FA2"/>
                </a:solidFill>
              </a:rPr>
              <a:t>DAY 2</a:t>
            </a:r>
          </a:p>
        </p:txBody>
      </p:sp>
      <p:sp>
        <p:nvSpPr>
          <p:cNvPr id="7" name="page-9">
            <a:extLst xmlns:a="http://schemas.openxmlformats.org/drawingml/2006/main">
              <a:ext uri="{FF2B5EF4-FFF2-40B4-BE49-F238E27FC236}">
                <a16:creationId xmlns:a16="http://schemas.microsoft.com/office/drawing/2014/main" id="{E0C4473E-73C1-4CFA-9F42-CB01F082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E9FA2"/>
                </a:solidFill>
              </a:defRPr>
            </a:pPr>
            <a:r>
              <a:rPr sz="900" b="1">
                <a:solidFill>
                  <a:srgbClr val="9E9FA2"/>
                </a:solidFill>
              </a:rPr>
              <a:t>09</a:t>
            </a:r>
          </a:p>
        </p:txBody>
      </p:sp>
      <p:sp>
        <p:nvSpPr>
          <p:cNvPr id="8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244F507F-ECC0-4BFB-9631-3DDD051D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219325"/>
            <a:ext cx="285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ime-0">
            <a:extLst xmlns:a="http://schemas.openxmlformats.org/drawingml/2006/main">
              <a:ext uri="{FF2B5EF4-FFF2-40B4-BE49-F238E27FC236}">
                <a16:creationId xmlns:a16="http://schemas.microsoft.com/office/drawing/2014/main" id="{EF616473-142E-4D43-84B5-54BE5F6E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A2EB"/>
                </a:solidFill>
              </a:defRPr>
            </a:pPr>
            <a:r>
              <a:rPr sz="1275" b="1">
                <a:solidFill>
                  <a:srgbClr val="00A2EB"/>
                </a:solidFill>
              </a:rPr>
              <a:t>09:00</a:t>
            </a:r>
          </a:p>
        </p:txBody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FDAF509C-C948-4EF9-8E2D-B6D48117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19075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tem-0">
            <a:extLst xmlns:a="http://schemas.openxmlformats.org/drawingml/2006/main">
              <a:ext uri="{FF2B5EF4-FFF2-40B4-BE49-F238E27FC236}">
                <a16:creationId xmlns:a16="http://schemas.microsoft.com/office/drawing/2014/main" id="{051F9EF6-5F7F-417B-B950-13AD509F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050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51C2A"/>
                </a:solidFill>
              </a:defRPr>
            </a:pPr>
            <a:r>
              <a:rPr sz="1500" b="1">
                <a:solidFill>
                  <a:srgbClr val="051C2A"/>
                </a:solidFill>
              </a:rPr>
              <a:t>Debugging review</a:t>
            </a:r>
          </a:p>
        </p:txBody>
      </p:sp>
      <p:sp>
        <p:nvSpPr>
          <p:cNvPr id="12" name="note-0">
            <a:extLst xmlns:a="http://schemas.openxmlformats.org/drawingml/2006/main">
              <a:ext uri="{FF2B5EF4-FFF2-40B4-BE49-F238E27FC236}">
                <a16:creationId xmlns:a16="http://schemas.microsoft.com/office/drawing/2014/main" id="{9B2240AF-29F3-4352-BFC8-B5E9523F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9E9FA2"/>
                </a:solidFill>
              </a:defRPr>
            </a:pPr>
            <a:r>
              <a:rPr sz="1125" b="0">
                <a:solidFill>
                  <a:srgbClr val="9E9FA2"/>
                </a:solidFill>
              </a:rPr>
              <a:t>30 min</a:t>
            </a:r>
          </a:p>
        </p:txBody>
      </p:sp>
      <p:sp>
        <p:nvSpPr>
          <p:cNvPr id="13" name="time-1">
            <a:extLst xmlns:a="http://schemas.openxmlformats.org/drawingml/2006/main">
              <a:ext uri="{FF2B5EF4-FFF2-40B4-BE49-F238E27FC236}">
                <a16:creationId xmlns:a16="http://schemas.microsoft.com/office/drawing/2014/main" id="{5580D440-D852-4264-A1AB-906536C8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73738"/>
                </a:solidFill>
              </a:defRPr>
            </a:pPr>
            <a:r>
              <a:rPr sz="1275" b="1">
                <a:solidFill>
                  <a:srgbClr val="373738"/>
                </a:solidFill>
              </a:rPr>
              <a:t>09:30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ECC20180-921B-47C3-AFEE-6CCC7BD8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80987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tem-1">
            <a:extLst xmlns:a="http://schemas.openxmlformats.org/drawingml/2006/main">
              <a:ext uri="{FF2B5EF4-FFF2-40B4-BE49-F238E27FC236}">
                <a16:creationId xmlns:a16="http://schemas.microsoft.com/office/drawing/2014/main" id="{CEE184A0-AE24-4DE5-B326-8AF1C716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241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51C2A"/>
                </a:solidFill>
              </a:defRPr>
            </a:pPr>
            <a:r>
              <a:rPr sz="1500" b="1">
                <a:solidFill>
                  <a:srgbClr val="051C2A"/>
                </a:solidFill>
              </a:rPr>
              <a:t>Stateful RAG workflow with LangGraph</a:t>
            </a:r>
          </a:p>
        </p:txBody>
      </p:sp>
      <p:sp>
        <p:nvSpPr>
          <p:cNvPr id="16" name="note-1">
            <a:extLst xmlns:a="http://schemas.openxmlformats.org/drawingml/2006/main">
              <a:ext uri="{FF2B5EF4-FFF2-40B4-BE49-F238E27FC236}">
                <a16:creationId xmlns:a16="http://schemas.microsoft.com/office/drawing/2014/main" id="{CB139D65-FA42-4651-915E-C082D270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33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9E9FA2"/>
                </a:solidFill>
              </a:defRPr>
            </a:pPr>
            <a:r>
              <a:rPr sz="1125" b="0">
                <a:solidFill>
                  <a:srgbClr val="9E9FA2"/>
                </a:solidFill>
              </a:rPr>
              <a:t>45 min</a:t>
            </a:r>
          </a:p>
        </p:txBody>
      </p:sp>
      <p:sp>
        <p:nvSpPr>
          <p:cNvPr id="17" name="time-2">
            <a:extLst xmlns:a="http://schemas.openxmlformats.org/drawingml/2006/main">
              <a:ext uri="{FF2B5EF4-FFF2-40B4-BE49-F238E27FC236}">
                <a16:creationId xmlns:a16="http://schemas.microsoft.com/office/drawing/2014/main" id="{8906380B-C6AD-4E89-A1E7-D5C71342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73738"/>
                </a:solidFill>
              </a:defRPr>
            </a:pPr>
            <a:r>
              <a:rPr sz="1275" b="1">
                <a:solidFill>
                  <a:srgbClr val="373738"/>
                </a:solidFill>
              </a:rPr>
              <a:t>10:15</a:t>
            </a:r>
          </a:p>
        </p:txBody>
      </p:sp>
      <p:sp>
        <p:nvSpPr>
          <p:cNvPr id="18" name="dot-2">
            <a:extLst xmlns:a="http://schemas.openxmlformats.org/drawingml/2006/main">
              <a:ext uri="{FF2B5EF4-FFF2-40B4-BE49-F238E27FC236}">
                <a16:creationId xmlns:a16="http://schemas.microsoft.com/office/drawing/2014/main" id="{46E99DC2-7C86-4183-9308-F39BCB94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42900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7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tem-2">
            <a:extLst xmlns:a="http://schemas.openxmlformats.org/drawingml/2006/main">
              <a:ext uri="{FF2B5EF4-FFF2-40B4-BE49-F238E27FC236}">
                <a16:creationId xmlns:a16="http://schemas.microsoft.com/office/drawing/2014/main" id="{88CF40CC-1458-4F0B-ACEB-3F1604AA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432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51C2A"/>
                </a:solidFill>
              </a:defRPr>
            </a:pPr>
            <a:r>
              <a:rPr sz="1500" b="0">
                <a:solidFill>
                  <a:srgbClr val="051C2A"/>
                </a:solidFill>
              </a:rPr>
              <a:t>Break</a:t>
            </a:r>
          </a:p>
        </p:txBody>
      </p:sp>
      <p:sp>
        <p:nvSpPr>
          <p:cNvPr id="20" name="note-2">
            <a:extLst xmlns:a="http://schemas.openxmlformats.org/drawingml/2006/main">
              <a:ext uri="{FF2B5EF4-FFF2-40B4-BE49-F238E27FC236}">
                <a16:creationId xmlns:a16="http://schemas.microsoft.com/office/drawing/2014/main" id="{83B1F425-D121-4653-A1F6-121E5F04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528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F07D00"/>
                </a:solidFill>
              </a:defRPr>
            </a:pPr>
            <a:r>
              <a:rPr sz="1125" b="1">
                <a:solidFill>
                  <a:srgbClr val="F07D00"/>
                </a:solidFill>
              </a:rPr>
              <a:t>15 min</a:t>
            </a:r>
          </a:p>
        </p:txBody>
      </p:sp>
      <p:sp>
        <p:nvSpPr>
          <p:cNvPr id="21" name="time-3">
            <a:extLst xmlns:a="http://schemas.openxmlformats.org/drawingml/2006/main">
              <a:ext uri="{FF2B5EF4-FFF2-40B4-BE49-F238E27FC236}">
                <a16:creationId xmlns:a16="http://schemas.microsoft.com/office/drawing/2014/main" id="{51852052-06F7-45ED-B4E6-3009C83F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73738"/>
                </a:solidFill>
              </a:defRPr>
            </a:pPr>
            <a:r>
              <a:rPr sz="1275" b="1">
                <a:solidFill>
                  <a:srgbClr val="373738"/>
                </a:solidFill>
              </a:rPr>
              <a:t>10:30</a:t>
            </a:r>
          </a:p>
        </p:txBody>
      </p:sp>
      <p:sp>
        <p:nvSpPr>
          <p:cNvPr id="22" name="dot-3">
            <a:extLst xmlns:a="http://schemas.openxmlformats.org/drawingml/2006/main">
              <a:ext uri="{FF2B5EF4-FFF2-40B4-BE49-F238E27FC236}">
                <a16:creationId xmlns:a16="http://schemas.microsoft.com/office/drawing/2014/main" id="{BE850EE2-6C65-47E7-82E5-A98928C7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04812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item-3">
            <a:extLst xmlns:a="http://schemas.openxmlformats.org/drawingml/2006/main">
              <a:ext uri="{FF2B5EF4-FFF2-40B4-BE49-F238E27FC236}">
                <a16:creationId xmlns:a16="http://schemas.microsoft.com/office/drawing/2014/main" id="{73FF1C0D-E103-4890-8DB8-C93564A6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624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51C2A"/>
                </a:solidFill>
              </a:defRPr>
            </a:pPr>
            <a:r>
              <a:rPr sz="1500" b="1">
                <a:solidFill>
                  <a:srgbClr val="051C2A"/>
                </a:solidFill>
              </a:rPr>
              <a:t>Financial tools and deterministic workflows</a:t>
            </a:r>
          </a:p>
        </p:txBody>
      </p:sp>
      <p:sp>
        <p:nvSpPr>
          <p:cNvPr id="24" name="note-3">
            <a:extLst xmlns:a="http://schemas.openxmlformats.org/drawingml/2006/main">
              <a:ext uri="{FF2B5EF4-FFF2-40B4-BE49-F238E27FC236}">
                <a16:creationId xmlns:a16="http://schemas.microsoft.com/office/drawing/2014/main" id="{B51DF6CF-6302-4E97-9EF6-6BFBE99B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719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9E9FA2"/>
                </a:solidFill>
              </a:defRPr>
            </a:pPr>
            <a:r>
              <a:rPr sz="1125" b="0">
                <a:solidFill>
                  <a:srgbClr val="9E9FA2"/>
                </a:solidFill>
              </a:rPr>
              <a:t>45 min</a:t>
            </a:r>
          </a:p>
        </p:txBody>
      </p:sp>
      <p:sp>
        <p:nvSpPr>
          <p:cNvPr id="25" name="time-4">
            <a:extLst xmlns:a="http://schemas.openxmlformats.org/drawingml/2006/main">
              <a:ext uri="{FF2B5EF4-FFF2-40B4-BE49-F238E27FC236}">
                <a16:creationId xmlns:a16="http://schemas.microsoft.com/office/drawing/2014/main" id="{788A77A8-7D7B-4D10-A57A-B4B161F7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73738"/>
                </a:solidFill>
              </a:defRPr>
            </a:pPr>
            <a:r>
              <a:rPr sz="1275" b="1">
                <a:solidFill>
                  <a:srgbClr val="373738"/>
                </a:solidFill>
              </a:rPr>
              <a:t>11:15</a:t>
            </a:r>
          </a:p>
        </p:txBody>
      </p:sp>
      <p:sp>
        <p:nvSpPr>
          <p:cNvPr id="26" name="dot-4">
            <a:extLst xmlns:a="http://schemas.openxmlformats.org/drawingml/2006/main">
              <a:ext uri="{FF2B5EF4-FFF2-40B4-BE49-F238E27FC236}">
                <a16:creationId xmlns:a16="http://schemas.microsoft.com/office/drawing/2014/main" id="{355C8AC4-DBBC-4455-866B-699E9258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66725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item-4">
            <a:extLst xmlns:a="http://schemas.openxmlformats.org/drawingml/2006/main">
              <a:ext uri="{FF2B5EF4-FFF2-40B4-BE49-F238E27FC236}">
                <a16:creationId xmlns:a16="http://schemas.microsoft.com/office/drawing/2014/main" id="{EC32A5C7-DFED-4509-A96C-F40868C8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815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51C2A"/>
                </a:solidFill>
              </a:defRPr>
            </a:pPr>
            <a:r>
              <a:rPr sz="1500" b="1">
                <a:solidFill>
                  <a:srgbClr val="051C2A"/>
                </a:solidFill>
              </a:rPr>
              <a:t>Workflow versus agent</a:t>
            </a:r>
          </a:p>
        </p:txBody>
      </p:sp>
      <p:sp>
        <p:nvSpPr>
          <p:cNvPr id="28" name="note-4">
            <a:extLst xmlns:a="http://schemas.openxmlformats.org/drawingml/2006/main">
              <a:ext uri="{FF2B5EF4-FFF2-40B4-BE49-F238E27FC236}">
                <a16:creationId xmlns:a16="http://schemas.microsoft.com/office/drawing/2014/main" id="{CCD07193-6803-47BA-A2DB-7D695467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910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9E9FA2"/>
                </a:solidFill>
              </a:defRPr>
            </a:pPr>
            <a:r>
              <a:rPr sz="1125" b="0">
                <a:solidFill>
                  <a:srgbClr val="9E9FA2"/>
                </a:solidFill>
              </a:rPr>
              <a:t>45 min</a:t>
            </a:r>
          </a:p>
        </p:txBody>
      </p:sp>
      <p:sp>
        <p:nvSpPr>
          <p:cNvPr id="29" name="day2-question">
            <a:extLst xmlns:a="http://schemas.openxmlformats.org/drawingml/2006/main">
              <a:ext uri="{FF2B5EF4-FFF2-40B4-BE49-F238E27FC236}">
                <a16:creationId xmlns:a16="http://schemas.microsoft.com/office/drawing/2014/main" id="{FA4214EF-15B6-4A9C-AA3E-080924B5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9587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875" b="0">
                <a:solidFill>
                  <a:srgbClr val="051C2A"/>
                </a:solidFill>
              </a:defRPr>
            </a:pPr>
            <a:r>
              <a:rPr sz="1875" b="0">
                <a:solidFill>
                  <a:srgbClr val="051C2A"/>
                </a:solidFill>
              </a:rPr>
              <a:t>Autonomy is introduced only where dynamic tool choice creates value.</a:t>
            </a:r>
          </a:p>
        </p:txBody>
      </p:sp>
    </p:spTree>
    <p:extLst>
      <p:ext uri="{BB962C8B-B14F-4D97-AF65-F5344CB8AC3E}">
        <p14:creationId xmlns:p14="http://schemas.microsoft.com/office/powerpoint/2010/main" val="10932263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-10">
            <a:extLst xmlns:a="http://schemas.openxmlformats.org/drawingml/2006/main">
              <a:ext uri="{FF2B5EF4-FFF2-40B4-BE49-F238E27FC236}">
                <a16:creationId xmlns:a16="http://schemas.microsoft.com/office/drawing/2014/main" id="{E455E0F2-A740-49B0-B56C-2C8D4BCB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40CB"/>
                </a:solidFill>
              </a:defRPr>
            </a:pPr>
            <a:r>
              <a:rPr sz="1050" b="1">
                <a:solidFill>
                  <a:srgbClr val="1F40CB"/>
                </a:solidFill>
              </a:rPr>
              <a:t>13:30—17:00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11CD262B-A4C8-46A9-AB27-AABDDE97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51C2A"/>
                </a:solidFill>
              </a:defRPr>
            </a:pPr>
            <a:r>
              <a:rPr sz="2925" b="1">
                <a:solidFill>
                  <a:srgbClr val="051C2A"/>
                </a:solidFill>
              </a:rPr>
              <a:t>Day 2 afternoon: MCP and evaluation complete the application</a:t>
            </a:r>
          </a:p>
        </p:txBody>
      </p:sp>
      <p:sp>
        <p:nvSpPr>
          <p:cNvPr id="3" name="progress-10">
            <a:extLst xmlns:a="http://schemas.openxmlformats.org/drawingml/2006/main">
              <a:ext uri="{FF2B5EF4-FFF2-40B4-BE49-F238E27FC236}">
                <a16:creationId xmlns:a16="http://schemas.microsoft.com/office/drawing/2014/main" id="{AF14526B-CDE4-49C4-B3CB-2CF4B924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gress-active-10">
            <a:extLst xmlns:a="http://schemas.openxmlformats.org/drawingml/2006/main">
              <a:ext uri="{FF2B5EF4-FFF2-40B4-BE49-F238E27FC236}">
                <a16:creationId xmlns:a16="http://schemas.microsoft.com/office/drawing/2014/main" id="{2BCED088-24D0-4853-BA21-9ABD7839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901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0">
            <a:extLst xmlns:a="http://schemas.openxmlformats.org/drawingml/2006/main">
              <a:ext uri="{FF2B5EF4-FFF2-40B4-BE49-F238E27FC236}">
                <a16:creationId xmlns:a16="http://schemas.microsoft.com/office/drawing/2014/main" id="{2396BC5D-829E-461D-86EF-2753361B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E9FA2"/>
                </a:solidFill>
              </a:defRPr>
            </a:pPr>
            <a:r>
              <a:rPr sz="975" b="0">
                <a:solidFill>
                  <a:srgbClr val="9E9FA2"/>
                </a:solidFill>
              </a:rPr>
              <a:t>First Finance - Arnaud Demes</a:t>
            </a:r>
          </a:p>
        </p:txBody>
      </p:sp>
      <p:sp>
        <p:nvSpPr>
          <p:cNvPr id="6" name="section-10">
            <a:extLst xmlns:a="http://schemas.openxmlformats.org/drawingml/2006/main">
              <a:ext uri="{FF2B5EF4-FFF2-40B4-BE49-F238E27FC236}">
                <a16:creationId xmlns:a16="http://schemas.microsoft.com/office/drawing/2014/main" id="{4B624C60-FF4F-4CBB-B0AF-1402CBB3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770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E9FA2"/>
                </a:solidFill>
              </a:defRPr>
            </a:pPr>
            <a:r>
              <a:rPr sz="900" b="1">
                <a:solidFill>
                  <a:srgbClr val="9E9FA2"/>
                </a:solidFill>
              </a:rPr>
              <a:t>DAY 2</a:t>
            </a:r>
          </a:p>
        </p:txBody>
      </p:sp>
      <p:sp>
        <p:nvSpPr>
          <p:cNvPr id="7" name="page-10">
            <a:extLst xmlns:a="http://schemas.openxmlformats.org/drawingml/2006/main">
              <a:ext uri="{FF2B5EF4-FFF2-40B4-BE49-F238E27FC236}">
                <a16:creationId xmlns:a16="http://schemas.microsoft.com/office/drawing/2014/main" id="{4FFDCF7A-E5F1-4AA2-B032-61B73D34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E9FA2"/>
                </a:solidFill>
              </a:defRPr>
            </a:pPr>
            <a:r>
              <a:rPr sz="900" b="1">
                <a:solidFill>
                  <a:srgbClr val="9E9FA2"/>
                </a:solidFill>
              </a:rPr>
              <a:t>10</a:t>
            </a:r>
          </a:p>
        </p:txBody>
      </p:sp>
      <p:sp>
        <p:nvSpPr>
          <p:cNvPr id="8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0527E23B-5474-440B-A64B-B864CDBF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362200"/>
            <a:ext cx="2857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ime-0">
            <a:extLst xmlns:a="http://schemas.openxmlformats.org/drawingml/2006/main">
              <a:ext uri="{FF2B5EF4-FFF2-40B4-BE49-F238E27FC236}">
                <a16:creationId xmlns:a16="http://schemas.microsoft.com/office/drawing/2014/main" id="{E2A6410C-DF2B-45C4-AE6E-6C931422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F40CB"/>
                </a:solidFill>
              </a:defRPr>
            </a:pPr>
            <a:r>
              <a:rPr sz="1275" b="1">
                <a:solidFill>
                  <a:srgbClr val="1F40CB"/>
                </a:solidFill>
              </a:rPr>
              <a:t>13:30</a:t>
            </a:r>
          </a:p>
        </p:txBody>
      </p:sp>
      <p:sp>
        <p:nvSpPr>
          <p:cNvPr id="10" name="dot-0">
            <a:extLst xmlns:a="http://schemas.openxmlformats.org/drawingml/2006/main">
              <a:ext uri="{FF2B5EF4-FFF2-40B4-BE49-F238E27FC236}">
                <a16:creationId xmlns:a16="http://schemas.microsoft.com/office/drawing/2014/main" id="{0CABBA0E-DDD2-4F5A-BFBB-5AE6E271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33362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tem-0">
            <a:extLst xmlns:a="http://schemas.openxmlformats.org/drawingml/2006/main">
              <a:ext uri="{FF2B5EF4-FFF2-40B4-BE49-F238E27FC236}">
                <a16:creationId xmlns:a16="http://schemas.microsoft.com/office/drawing/2014/main" id="{A11E9D98-0F2C-41F3-8D4E-7651189D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479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51C2A"/>
                </a:solidFill>
              </a:defRPr>
            </a:pPr>
            <a:r>
              <a:rPr sz="1500" b="1">
                <a:solidFill>
                  <a:srgbClr val="051C2A"/>
                </a:solidFill>
              </a:rPr>
              <a:t>Reliable agent and trajectory evaluation</a:t>
            </a:r>
          </a:p>
        </p:txBody>
      </p:sp>
      <p:sp>
        <p:nvSpPr>
          <p:cNvPr id="12" name="note-0">
            <a:extLst xmlns:a="http://schemas.openxmlformats.org/drawingml/2006/main">
              <a:ext uri="{FF2B5EF4-FFF2-40B4-BE49-F238E27FC236}">
                <a16:creationId xmlns:a16="http://schemas.microsoft.com/office/drawing/2014/main" id="{643C9DB4-8936-4DB3-9162-F25C3358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574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9E9FA2"/>
                </a:solidFill>
              </a:defRPr>
            </a:pPr>
            <a:r>
              <a:rPr sz="1125" b="0">
                <a:solidFill>
                  <a:srgbClr val="9E9FA2"/>
                </a:solidFill>
              </a:rPr>
              <a:t>60 min</a:t>
            </a:r>
          </a:p>
        </p:txBody>
      </p:sp>
      <p:sp>
        <p:nvSpPr>
          <p:cNvPr id="13" name="time-1">
            <a:extLst xmlns:a="http://schemas.openxmlformats.org/drawingml/2006/main">
              <a:ext uri="{FF2B5EF4-FFF2-40B4-BE49-F238E27FC236}">
                <a16:creationId xmlns:a16="http://schemas.microsoft.com/office/drawing/2014/main" id="{8191FF30-78A0-43AC-8796-3868D625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73738"/>
                </a:solidFill>
              </a:defRPr>
            </a:pPr>
            <a:r>
              <a:rPr sz="1275" b="1">
                <a:solidFill>
                  <a:srgbClr val="373738"/>
                </a:solidFill>
              </a:rPr>
              <a:t>14:30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C1E8BDE4-CD2D-439C-98DE-8C778668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5275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tem-1">
            <a:extLst xmlns:a="http://schemas.openxmlformats.org/drawingml/2006/main">
              <a:ext uri="{FF2B5EF4-FFF2-40B4-BE49-F238E27FC236}">
                <a16:creationId xmlns:a16="http://schemas.microsoft.com/office/drawing/2014/main" id="{99CA4AC0-D180-4D30-82EC-EF87C4AA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670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51C2A"/>
                </a:solidFill>
              </a:defRPr>
            </a:pPr>
            <a:r>
              <a:rPr sz="1500" b="1">
                <a:solidFill>
                  <a:srgbClr val="051C2A"/>
                </a:solidFill>
              </a:rPr>
              <a:t>Model Context Protocol</a:t>
            </a:r>
          </a:p>
        </p:txBody>
      </p:sp>
      <p:sp>
        <p:nvSpPr>
          <p:cNvPr id="16" name="note-1">
            <a:extLst xmlns:a="http://schemas.openxmlformats.org/drawingml/2006/main">
              <a:ext uri="{FF2B5EF4-FFF2-40B4-BE49-F238E27FC236}">
                <a16:creationId xmlns:a16="http://schemas.microsoft.com/office/drawing/2014/main" id="{CE3E5B61-0303-491D-9753-9457F20A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765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9E9FA2"/>
                </a:solidFill>
              </a:defRPr>
            </a:pPr>
            <a:r>
              <a:rPr sz="1125" b="0">
                <a:solidFill>
                  <a:srgbClr val="9E9FA2"/>
                </a:solidFill>
              </a:rPr>
              <a:t>60 min</a:t>
            </a:r>
          </a:p>
        </p:txBody>
      </p:sp>
      <p:sp>
        <p:nvSpPr>
          <p:cNvPr id="17" name="time-2">
            <a:extLst xmlns:a="http://schemas.openxmlformats.org/drawingml/2006/main">
              <a:ext uri="{FF2B5EF4-FFF2-40B4-BE49-F238E27FC236}">
                <a16:creationId xmlns:a16="http://schemas.microsoft.com/office/drawing/2014/main" id="{63410D5C-B394-4642-92FE-74934869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73738"/>
                </a:solidFill>
              </a:defRPr>
            </a:pPr>
            <a:r>
              <a:rPr sz="1275" b="1">
                <a:solidFill>
                  <a:srgbClr val="373738"/>
                </a:solidFill>
              </a:rPr>
              <a:t>15:30</a:t>
            </a:r>
          </a:p>
        </p:txBody>
      </p:sp>
      <p:sp>
        <p:nvSpPr>
          <p:cNvPr id="18" name="dot-2">
            <a:extLst xmlns:a="http://schemas.openxmlformats.org/drawingml/2006/main">
              <a:ext uri="{FF2B5EF4-FFF2-40B4-BE49-F238E27FC236}">
                <a16:creationId xmlns:a16="http://schemas.microsoft.com/office/drawing/2014/main" id="{6F2E02B2-FF3E-41DC-A4AC-0F1E338B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571875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tem-2">
            <a:extLst xmlns:a="http://schemas.openxmlformats.org/drawingml/2006/main">
              <a:ext uri="{FF2B5EF4-FFF2-40B4-BE49-F238E27FC236}">
                <a16:creationId xmlns:a16="http://schemas.microsoft.com/office/drawing/2014/main" id="{7657377C-2BE2-44A5-89E3-1DBC01C6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861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51C2A"/>
                </a:solidFill>
              </a:defRPr>
            </a:pPr>
            <a:r>
              <a:rPr sz="1500" b="1">
                <a:solidFill>
                  <a:srgbClr val="051C2A"/>
                </a:solidFill>
              </a:rPr>
              <a:t>Capstone integration challenge</a:t>
            </a:r>
          </a:p>
        </p:txBody>
      </p:sp>
      <p:sp>
        <p:nvSpPr>
          <p:cNvPr id="20" name="note-2">
            <a:extLst xmlns:a="http://schemas.openxmlformats.org/drawingml/2006/main">
              <a:ext uri="{FF2B5EF4-FFF2-40B4-BE49-F238E27FC236}">
                <a16:creationId xmlns:a16="http://schemas.microsoft.com/office/drawing/2014/main" id="{8D3E063F-452F-4DAD-8DC1-37FC5EE2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95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9E9FA2"/>
                </a:solidFill>
              </a:defRPr>
            </a:pPr>
            <a:r>
              <a:rPr sz="1125" b="0">
                <a:solidFill>
                  <a:srgbClr val="9E9FA2"/>
                </a:solidFill>
              </a:rPr>
              <a:t>60 min</a:t>
            </a:r>
          </a:p>
        </p:txBody>
      </p:sp>
      <p:sp>
        <p:nvSpPr>
          <p:cNvPr id="21" name="time-3">
            <a:extLst xmlns:a="http://schemas.openxmlformats.org/drawingml/2006/main">
              <a:ext uri="{FF2B5EF4-FFF2-40B4-BE49-F238E27FC236}">
                <a16:creationId xmlns:a16="http://schemas.microsoft.com/office/drawing/2014/main" id="{42279652-226C-4772-890B-1A2D9CD1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73738"/>
                </a:solidFill>
              </a:defRPr>
            </a:pPr>
            <a:r>
              <a:rPr sz="1275" b="1">
                <a:solidFill>
                  <a:srgbClr val="373738"/>
                </a:solidFill>
              </a:rPr>
              <a:t>16:30</a:t>
            </a:r>
          </a:p>
        </p:txBody>
      </p:sp>
      <p:sp>
        <p:nvSpPr>
          <p:cNvPr id="22" name="dot-3">
            <a:extLst xmlns:a="http://schemas.openxmlformats.org/drawingml/2006/main">
              <a:ext uri="{FF2B5EF4-FFF2-40B4-BE49-F238E27FC236}">
                <a16:creationId xmlns:a16="http://schemas.microsoft.com/office/drawing/2014/main" id="{A072D5DB-A4FC-4DD3-89B6-EE694074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19100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item-3">
            <a:extLst xmlns:a="http://schemas.openxmlformats.org/drawingml/2006/main">
              <a:ext uri="{FF2B5EF4-FFF2-40B4-BE49-F238E27FC236}">
                <a16:creationId xmlns:a16="http://schemas.microsoft.com/office/drawing/2014/main" id="{AF648EDA-B7FF-458D-B338-74AEEB4C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052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51C2A"/>
                </a:solidFill>
              </a:defRPr>
            </a:pPr>
            <a:r>
              <a:rPr sz="1500" b="1">
                <a:solidFill>
                  <a:srgbClr val="051C2A"/>
                </a:solidFill>
              </a:rPr>
              <a:t>Demonstration and architecture review</a:t>
            </a:r>
          </a:p>
        </p:txBody>
      </p:sp>
      <p:sp>
        <p:nvSpPr>
          <p:cNvPr id="24" name="note-3">
            <a:extLst xmlns:a="http://schemas.openxmlformats.org/drawingml/2006/main">
              <a:ext uri="{FF2B5EF4-FFF2-40B4-BE49-F238E27FC236}">
                <a16:creationId xmlns:a16="http://schemas.microsoft.com/office/drawing/2014/main" id="{F632243A-4A7F-45B5-AF8A-016EFCD3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148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9E9FA2"/>
                </a:solidFill>
              </a:defRPr>
            </a:pPr>
            <a:r>
              <a:rPr sz="1125" b="0">
                <a:solidFill>
                  <a:srgbClr val="9E9FA2"/>
                </a:solidFill>
              </a:rPr>
              <a:t>30 min</a:t>
            </a:r>
          </a:p>
        </p:txBody>
      </p:sp>
      <p:sp>
        <p:nvSpPr>
          <p:cNvPr id="25" name="day2-output">
            <a:extLst xmlns:a="http://schemas.openxmlformats.org/drawingml/2006/main">
              <a:ext uri="{FF2B5EF4-FFF2-40B4-BE49-F238E27FC236}">
                <a16:creationId xmlns:a16="http://schemas.microsoft.com/office/drawing/2014/main" id="{20D58877-D510-48F2-B4CF-347935B7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07D00"/>
                </a:solidFill>
              </a:defRPr>
            </a:pPr>
            <a:r>
              <a:rPr sz="1050" b="1">
                <a:solidFill>
                  <a:srgbClr val="F07D00"/>
                </a:solidFill>
              </a:rPr>
              <a:t>Final output</a:t>
            </a:r>
          </a:p>
        </p:txBody>
      </p:sp>
      <p:sp>
        <p:nvSpPr>
          <p:cNvPr id="26" name="day2-output-value">
            <a:extLst xmlns:a="http://schemas.openxmlformats.org/drawingml/2006/main">
              <a:ext uri="{FF2B5EF4-FFF2-40B4-BE49-F238E27FC236}">
                <a16:creationId xmlns:a16="http://schemas.microsoft.com/office/drawing/2014/main" id="{E6C6927E-E86B-41DE-B0C8-39560EE3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197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51C2A"/>
                </a:solidFill>
              </a:defRPr>
            </a:pPr>
            <a:r>
              <a:rPr sz="1575" b="1">
                <a:solidFill>
                  <a:srgbClr val="051C2A"/>
                </a:solidFill>
              </a:rPr>
              <a:t>A working copilot with citations, tool traces, budgets and an MCP boundary.</a:t>
            </a:r>
          </a:p>
        </p:txBody>
      </p:sp>
    </p:spTree>
    <p:extLst>
      <p:ext uri="{BB962C8B-B14F-4D97-AF65-F5344CB8AC3E}">
        <p14:creationId xmlns:p14="http://schemas.microsoft.com/office/powerpoint/2010/main" val="8463747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11">
            <a:extLst xmlns:a="http://schemas.openxmlformats.org/drawingml/2006/main">
              <a:ext uri="{FF2B5EF4-FFF2-40B4-BE49-F238E27FC236}">
                <a16:creationId xmlns:a16="http://schemas.microsoft.com/office/drawing/2014/main" id="{F29650C7-C703-4947-99FD-B6410A32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40CB"/>
                </a:solidFill>
              </a:defRPr>
            </a:pPr>
            <a:r>
              <a:rPr sz="1050" b="1">
                <a:solidFill>
                  <a:srgbClr val="1F40CB"/>
                </a:solidFill>
              </a:rPr>
              <a:t>ONE INTERFACE, TWO PROVIDERS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69E5E21B-D500-4ED8-8E18-236B6280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51C2A"/>
                </a:solidFill>
              </a:defRPr>
            </a:pPr>
            <a:r>
              <a:rPr sz="2925" b="1">
                <a:solidFill>
                  <a:srgbClr val="051C2A"/>
                </a:solidFill>
              </a:rPr>
              <a:t>The same notebooks run locally or through OpenAI</a:t>
            </a:r>
          </a:p>
        </p:txBody>
      </p:sp>
      <p:sp>
        <p:nvSpPr>
          <p:cNvPr id="3" name="progress-11">
            <a:extLst xmlns:a="http://schemas.openxmlformats.org/drawingml/2006/main">
              <a:ext uri="{FF2B5EF4-FFF2-40B4-BE49-F238E27FC236}">
                <a16:creationId xmlns:a16="http://schemas.microsoft.com/office/drawing/2014/main" id="{3565C6D5-3AE6-4FAA-8C64-3CFCE770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gress-active-11">
            <a:extLst xmlns:a="http://schemas.openxmlformats.org/drawingml/2006/main">
              <a:ext uri="{FF2B5EF4-FFF2-40B4-BE49-F238E27FC236}">
                <a16:creationId xmlns:a16="http://schemas.microsoft.com/office/drawing/2014/main" id="{67B63A83-1085-4C0D-B802-9EB2AAB9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9918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1">
            <a:extLst xmlns:a="http://schemas.openxmlformats.org/drawingml/2006/main">
              <a:ext uri="{FF2B5EF4-FFF2-40B4-BE49-F238E27FC236}">
                <a16:creationId xmlns:a16="http://schemas.microsoft.com/office/drawing/2014/main" id="{C4CF2EFE-1C9F-4E17-AB75-335E9222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E9FA2"/>
                </a:solidFill>
              </a:defRPr>
            </a:pPr>
            <a:r>
              <a:rPr sz="975" b="0">
                <a:solidFill>
                  <a:srgbClr val="9E9FA2"/>
                </a:solidFill>
              </a:rPr>
              <a:t>First Finance - Arnaud Demes</a:t>
            </a:r>
          </a:p>
        </p:txBody>
      </p:sp>
      <p:sp>
        <p:nvSpPr>
          <p:cNvPr id="6" name="section-11">
            <a:extLst xmlns:a="http://schemas.openxmlformats.org/drawingml/2006/main">
              <a:ext uri="{FF2B5EF4-FFF2-40B4-BE49-F238E27FC236}">
                <a16:creationId xmlns:a16="http://schemas.microsoft.com/office/drawing/2014/main" id="{C2C50C2A-171B-4D69-AA62-FAAF5B2D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770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E9FA2"/>
                </a:solidFill>
              </a:defRPr>
            </a:pPr>
            <a:r>
              <a:rPr sz="900" b="1">
                <a:solidFill>
                  <a:srgbClr val="9E9FA2"/>
                </a:solidFill>
              </a:rPr>
              <a:t>PORTABILITY</a:t>
            </a:r>
          </a:p>
        </p:txBody>
      </p:sp>
      <p:sp>
        <p:nvSpPr>
          <p:cNvPr id="7" name="page-11">
            <a:extLst xmlns:a="http://schemas.openxmlformats.org/drawingml/2006/main">
              <a:ext uri="{FF2B5EF4-FFF2-40B4-BE49-F238E27FC236}">
                <a16:creationId xmlns:a16="http://schemas.microsoft.com/office/drawing/2014/main" id="{DE532651-2B84-45A0-8DE9-D8C9E6EB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E9FA2"/>
                </a:solidFill>
              </a:defRPr>
            </a:pPr>
            <a:r>
              <a:rPr sz="900" b="1">
                <a:solidFill>
                  <a:srgbClr val="9E9FA2"/>
                </a:solidFill>
              </a:rPr>
              <a:t>11</a:t>
            </a:r>
          </a:p>
        </p:txBody>
      </p:sp>
      <p:sp>
        <p:nvSpPr>
          <p:cNvPr id="8" name="ollama-panel">
            <a:extLst xmlns:a="http://schemas.openxmlformats.org/drawingml/2006/main">
              <a:ext uri="{FF2B5EF4-FFF2-40B4-BE49-F238E27FC236}">
                <a16:creationId xmlns:a16="http://schemas.microsoft.com/office/drawing/2014/main" id="{07AAC439-4E8F-44E5-BB43-0455EF83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000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51C2A"/>
          </a:solidFill>
          <a:ln xmlns:a="http://schemas.openxmlformats.org/drawingml/2006/main" w="9525">
            <a:solidFill>
              <a:srgbClr val="051C2A"/>
            </a:solidFill>
            <a:prstDash val="solid"/>
          </a:ln>
        </p:spPr>
      </p:sp>
      <p:sp>
        <p:nvSpPr>
          <p:cNvPr id="9" name="ollama-label">
            <a:extLst xmlns:a="http://schemas.openxmlformats.org/drawingml/2006/main">
              <a:ext uri="{FF2B5EF4-FFF2-40B4-BE49-F238E27FC236}">
                <a16:creationId xmlns:a16="http://schemas.microsoft.com/office/drawing/2014/main" id="{31741BA3-660A-4FB0-8FBD-8C0A4BEE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A2EB"/>
                </a:solidFill>
              </a:defRPr>
            </a:pPr>
            <a:r>
              <a:rPr sz="1275" b="1">
                <a:solidFill>
                  <a:srgbClr val="00A2EB"/>
                </a:solidFill>
              </a:rPr>
              <a:t>OLLAMA</a:t>
            </a:r>
          </a:p>
        </p:txBody>
      </p:sp>
      <p:sp>
        <p:nvSpPr>
          <p:cNvPr id="10" name="ollama-model">
            <a:extLst xmlns:a="http://schemas.openxmlformats.org/drawingml/2006/main">
              <a:ext uri="{FF2B5EF4-FFF2-40B4-BE49-F238E27FC236}">
                <a16:creationId xmlns:a16="http://schemas.microsoft.com/office/drawing/2014/main" id="{485824A4-63D9-44A7-B8E2-DDD09D83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qwen3:8b</a:t>
            </a:r>
          </a:p>
        </p:txBody>
      </p:sp>
      <p:sp>
        <p:nvSpPr>
          <p:cNvPr id="11" name="ollama-copy">
            <a:extLst xmlns:a="http://schemas.openxmlformats.org/drawingml/2006/main">
              <a:ext uri="{FF2B5EF4-FFF2-40B4-BE49-F238E27FC236}">
                <a16:creationId xmlns:a16="http://schemas.microsoft.com/office/drawing/2014/main" id="{79CE6D5F-1062-40F6-AC20-7AC5AE0D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5F5F5"/>
                </a:solidFill>
              </a:defRPr>
            </a:pPr>
            <a:r>
              <a:rPr sz="1350" b="0">
                <a:solidFill>
                  <a:srgbClr val="F5F5F5"/>
                </a:solidFill>
              </a:rPr>
              <a:t>Local • private • no API spend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F5F5F5"/>
                </a:solidFill>
              </a:defRPr>
            </a:pPr>
            <a:r>
              <a:rPr sz="1350" b="0">
                <a:solidFill>
                  <a:srgbClr val="F5F5F5"/>
                </a:solidFill>
              </a:rPr>
              <a:t>Hardware-dependent quality and latency</a:t>
            </a:r>
          </a:p>
        </p:txBody>
      </p:sp>
      <p:sp>
        <p:nvSpPr>
          <p:cNvPr id="12" name="openai-panel">
            <a:extLst xmlns:a="http://schemas.openxmlformats.org/drawingml/2006/main">
              <a:ext uri="{FF2B5EF4-FFF2-40B4-BE49-F238E27FC236}">
                <a16:creationId xmlns:a16="http://schemas.microsoft.com/office/drawing/2014/main" id="{67D368F6-084D-4375-BBAC-CDD8F1F6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00250"/>
            <a:ext cx="4000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7E9"/>
            </a:solidFill>
            <a:prstDash val="solid"/>
          </a:ln>
        </p:spPr>
      </p:sp>
      <p:sp>
        <p:nvSpPr>
          <p:cNvPr id="13" name="openai-label">
            <a:extLst xmlns:a="http://schemas.openxmlformats.org/drawingml/2006/main">
              <a:ext uri="{FF2B5EF4-FFF2-40B4-BE49-F238E27FC236}">
                <a16:creationId xmlns:a16="http://schemas.microsoft.com/office/drawing/2014/main" id="{E5CD112D-9BA1-43D3-B8A4-DF8CA004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24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F40CB"/>
                </a:solidFill>
              </a:defRPr>
            </a:pPr>
            <a:r>
              <a:rPr sz="1275" b="1">
                <a:solidFill>
                  <a:srgbClr val="1F40CB"/>
                </a:solidFill>
              </a:rPr>
              <a:t>OPENAI</a:t>
            </a:r>
          </a:p>
        </p:txBody>
      </p:sp>
      <p:sp>
        <p:nvSpPr>
          <p:cNvPr id="14" name="openai-model">
            <a:extLst xmlns:a="http://schemas.openxmlformats.org/drawingml/2006/main">
              <a:ext uri="{FF2B5EF4-FFF2-40B4-BE49-F238E27FC236}">
                <a16:creationId xmlns:a16="http://schemas.microsoft.com/office/drawing/2014/main" id="{4884881A-BEB9-4137-AD80-F9236C22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03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51C2A"/>
                </a:solidFill>
              </a:defRPr>
            </a:pPr>
            <a:r>
              <a:rPr sz="2250" b="1">
                <a:solidFill>
                  <a:srgbClr val="051C2A"/>
                </a:solidFill>
              </a:rPr>
              <a:t>gpt-5-mini</a:t>
            </a:r>
          </a:p>
        </p:txBody>
      </p:sp>
      <p:sp>
        <p:nvSpPr>
          <p:cNvPr id="15" name="openai-copy">
            <a:extLst xmlns:a="http://schemas.openxmlformats.org/drawingml/2006/main">
              <a:ext uri="{FF2B5EF4-FFF2-40B4-BE49-F238E27FC236}">
                <a16:creationId xmlns:a16="http://schemas.microsoft.com/office/drawing/2014/main" id="{74427BB9-72B1-4830-B84E-49801F43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76625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373738"/>
                </a:solidFill>
              </a:defRPr>
            </a:pPr>
            <a:r>
              <a:rPr sz="1350" b="0">
                <a:solidFill>
                  <a:srgbClr val="373738"/>
                </a:solidFill>
              </a:rPr>
              <a:t>Hosted • strong structured outputs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373738"/>
                </a:solidFill>
              </a:defRPr>
            </a:pPr>
            <a:r>
              <a:rPr sz="1350" b="0">
                <a:solidFill>
                  <a:srgbClr val="373738"/>
                </a:solidFill>
              </a:rPr>
              <a:t>Measured token cost and external data path</a:t>
            </a:r>
          </a:p>
        </p:txBody>
      </p:sp>
      <p:sp>
        <p:nvSpPr>
          <p:cNvPr id="16" name="same-code">
            <a:extLst xmlns:a="http://schemas.openxmlformats.org/drawingml/2006/main">
              <a:ext uri="{FF2B5EF4-FFF2-40B4-BE49-F238E27FC236}">
                <a16:creationId xmlns:a16="http://schemas.microsoft.com/office/drawing/2014/main" id="{313473B8-384A-49EE-9D79-10E3F845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38450"/>
            <a:ext cx="2914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07D00"/>
                </a:solidFill>
              </a:defRPr>
            </a:pPr>
            <a:r>
              <a:rPr sz="1275" b="1">
                <a:solidFill>
                  <a:srgbClr val="F07D00"/>
                </a:solidFill>
              </a:rPr>
              <a:t>Settings  →  Model gateway  →  Notebook</a:t>
            </a:r>
          </a:p>
        </p:txBody>
      </p:sp>
      <p:sp>
        <p:nvSpPr>
          <p:cNvPr id="17" name="provider-command">
            <a:extLst xmlns:a="http://schemas.openxmlformats.org/drawingml/2006/main">
              <a:ext uri="{FF2B5EF4-FFF2-40B4-BE49-F238E27FC236}">
                <a16:creationId xmlns:a16="http://schemas.microsoft.com/office/drawing/2014/main" id="{7DC2EE3F-FF2E-4D9B-8F83-8ABE89EA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051C2A"/>
                </a:solidFill>
              </a:defRPr>
            </a:pPr>
            <a:r>
              <a:rPr sz="2025" b="0">
                <a:solidFill>
                  <a:srgbClr val="051C2A"/>
                </a:solidFill>
              </a:rPr>
              <a:t>Provider selection changes through configuration only.</a:t>
            </a:r>
          </a:p>
        </p:txBody>
      </p:sp>
    </p:spTree>
    <p:extLst>
      <p:ext uri="{BB962C8B-B14F-4D97-AF65-F5344CB8AC3E}">
        <p14:creationId xmlns:p14="http://schemas.microsoft.com/office/powerpoint/2010/main" val="19818979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12">
            <a:extLst xmlns:a="http://schemas.openxmlformats.org/drawingml/2006/main">
              <a:ext uri="{FF2B5EF4-FFF2-40B4-BE49-F238E27FC236}">
                <a16:creationId xmlns:a16="http://schemas.microsoft.com/office/drawing/2014/main" id="{28A461CE-0497-48C1-9780-04064A88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F40CB"/>
                </a:solidFill>
              </a:defRPr>
            </a:pPr>
            <a:r>
              <a:rPr sz="1050" b="1">
                <a:solidFill>
                  <a:srgbClr val="1F40CB"/>
                </a:solidFill>
              </a:rPr>
              <a:t>CLASS ACCEPTANCE CONTRACT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34974457-B792-4D9D-9294-0A71D7FF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51C2A"/>
                </a:solidFill>
              </a:defRPr>
            </a:pPr>
            <a:r>
              <a:rPr sz="2925" b="1">
                <a:solidFill>
                  <a:srgbClr val="051C2A"/>
                </a:solidFill>
              </a:rPr>
              <a:t>Expected deliverables and validation criteria</a:t>
            </a:r>
          </a:p>
        </p:txBody>
      </p:sp>
      <p:sp>
        <p:nvSpPr>
          <p:cNvPr id="3" name="progress-12">
            <a:extLst xmlns:a="http://schemas.openxmlformats.org/drawingml/2006/main">
              <a:ext uri="{FF2B5EF4-FFF2-40B4-BE49-F238E27FC236}">
                <a16:creationId xmlns:a16="http://schemas.microsoft.com/office/drawing/2014/main" id="{05FD0E1C-7850-47A1-B153-D86F1667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gress-active-12">
            <a:extLst xmlns:a="http://schemas.openxmlformats.org/drawingml/2006/main">
              <a:ext uri="{FF2B5EF4-FFF2-40B4-BE49-F238E27FC236}">
                <a16:creationId xmlns:a16="http://schemas.microsoft.com/office/drawing/2014/main" id="{F2145F74-0FCC-40D9-9033-CACABF9F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2">
            <a:extLst xmlns:a="http://schemas.openxmlformats.org/drawingml/2006/main">
              <a:ext uri="{FF2B5EF4-FFF2-40B4-BE49-F238E27FC236}">
                <a16:creationId xmlns:a16="http://schemas.microsoft.com/office/drawing/2014/main" id="{A0C6F80E-C7AD-453B-8D57-BF913E14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E9FA2"/>
                </a:solidFill>
              </a:defRPr>
            </a:pPr>
            <a:r>
              <a:rPr sz="975" b="0">
                <a:solidFill>
                  <a:srgbClr val="9E9FA2"/>
                </a:solidFill>
              </a:rPr>
              <a:t>First Finance - Arnaud Demes</a:t>
            </a:r>
          </a:p>
        </p:txBody>
      </p:sp>
      <p:sp>
        <p:nvSpPr>
          <p:cNvPr id="6" name="section-12">
            <a:extLst xmlns:a="http://schemas.openxmlformats.org/drawingml/2006/main">
              <a:ext uri="{FF2B5EF4-FFF2-40B4-BE49-F238E27FC236}">
                <a16:creationId xmlns:a16="http://schemas.microsoft.com/office/drawing/2014/main" id="{472FCEDA-FAB2-423B-BB7A-D8B8B5FC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770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E9FA2"/>
                </a:solidFill>
              </a:defRPr>
            </a:pPr>
            <a:r>
              <a:rPr sz="900" b="1">
                <a:solidFill>
                  <a:srgbClr val="9E9FA2"/>
                </a:solidFill>
              </a:rPr>
              <a:t>VALIDATION</a:t>
            </a:r>
          </a:p>
        </p:txBody>
      </p:sp>
      <p:sp>
        <p:nvSpPr>
          <p:cNvPr id="7" name="page-12">
            <a:extLst xmlns:a="http://schemas.openxmlformats.org/drawingml/2006/main">
              <a:ext uri="{FF2B5EF4-FFF2-40B4-BE49-F238E27FC236}">
                <a16:creationId xmlns:a16="http://schemas.microsoft.com/office/drawing/2014/main" id="{95F5B293-0BAD-42B8-9526-F1F19495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E9FA2"/>
                </a:solidFill>
              </a:defRPr>
            </a:pPr>
            <a:r>
              <a:rPr sz="900" b="1">
                <a:solidFill>
                  <a:srgbClr val="9E9FA2"/>
                </a:solidFill>
              </a:rPr>
              <a:t>12</a:t>
            </a:r>
          </a:p>
        </p:txBody>
      </p:sp>
      <p:sp>
        <p:nvSpPr>
          <p:cNvPr id="8" name="criterion-mark-0">
            <a:extLst xmlns:a="http://schemas.openxmlformats.org/drawingml/2006/main">
              <a:ext uri="{FF2B5EF4-FFF2-40B4-BE49-F238E27FC236}">
                <a16:creationId xmlns:a16="http://schemas.microsoft.com/office/drawing/2014/main" id="{A775919D-ACC1-488B-A8BA-B6664DA2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riterion-label-0">
            <a:extLst xmlns:a="http://schemas.openxmlformats.org/drawingml/2006/main">
              <a:ext uri="{FF2B5EF4-FFF2-40B4-BE49-F238E27FC236}">
                <a16:creationId xmlns:a16="http://schemas.microsoft.com/office/drawing/2014/main" id="{6863043A-C667-4818-8D95-54CD5E47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5262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F40CB"/>
                </a:solidFill>
              </a:defRPr>
            </a:pPr>
            <a:r>
              <a:rPr sz="1125" b="1">
                <a:solidFill>
                  <a:srgbClr val="1F40CB"/>
                </a:solidFill>
              </a:rPr>
              <a:t>WORKING</a:t>
            </a:r>
          </a:p>
        </p:txBody>
      </p:sp>
      <p:sp>
        <p:nvSpPr>
          <p:cNvPr id="10" name="criterion-text-0">
            <a:extLst xmlns:a="http://schemas.openxmlformats.org/drawingml/2006/main">
              <a:ext uri="{FF2B5EF4-FFF2-40B4-BE49-F238E27FC236}">
                <a16:creationId xmlns:a16="http://schemas.microsoft.com/office/drawing/2014/main" id="{54F7D259-FE11-4F05-8659-F15408B7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14525"/>
            <a:ext cx="795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1C2A"/>
                </a:solidFill>
              </a:defRPr>
            </a:pPr>
            <a:r>
              <a:rPr sz="1650" b="1">
                <a:solidFill>
                  <a:srgbClr val="051C2A"/>
                </a:solidFill>
              </a:rPr>
              <a:t>Twelve notebooks and the capstone run end to end.</a:t>
            </a:r>
          </a:p>
        </p:txBody>
      </p:sp>
      <p:sp>
        <p:nvSpPr>
          <p:cNvPr id="11" name="criterion-mark-1">
            <a:extLst xmlns:a="http://schemas.openxmlformats.org/drawingml/2006/main">
              <a:ext uri="{FF2B5EF4-FFF2-40B4-BE49-F238E27FC236}">
                <a16:creationId xmlns:a16="http://schemas.microsoft.com/office/drawing/2014/main" id="{8CC64062-4022-4EAC-BF91-AEA76FEA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riterion-label-1">
            <a:extLst xmlns:a="http://schemas.openxmlformats.org/drawingml/2006/main">
              <a:ext uri="{FF2B5EF4-FFF2-40B4-BE49-F238E27FC236}">
                <a16:creationId xmlns:a16="http://schemas.microsoft.com/office/drawing/2014/main" id="{494F4DF2-9A93-4553-8FEE-B28E4760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2892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F40CB"/>
                </a:solidFill>
              </a:defRPr>
            </a:pPr>
            <a:r>
              <a:rPr sz="1125" b="1">
                <a:solidFill>
                  <a:srgbClr val="1F40CB"/>
                </a:solidFill>
              </a:rPr>
              <a:t>INSPECTABLE</a:t>
            </a:r>
          </a:p>
        </p:txBody>
      </p:sp>
      <p:sp>
        <p:nvSpPr>
          <p:cNvPr id="13" name="criterion-text-1">
            <a:extLst xmlns:a="http://schemas.openxmlformats.org/drawingml/2006/main">
              <a:ext uri="{FF2B5EF4-FFF2-40B4-BE49-F238E27FC236}">
                <a16:creationId xmlns:a16="http://schemas.microsoft.com/office/drawing/2014/main" id="{B5308B8D-B7F4-4CA8-9926-BF7363C8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90825"/>
            <a:ext cx="795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1C2A"/>
                </a:solidFill>
              </a:defRPr>
            </a:pPr>
            <a:r>
              <a:rPr sz="1650" b="1">
                <a:solidFill>
                  <a:srgbClr val="051C2A"/>
                </a:solidFill>
              </a:rPr>
              <a:t>Sources, calculations, tool calls and trajectories remain visible.</a:t>
            </a:r>
          </a:p>
        </p:txBody>
      </p:sp>
      <p:sp>
        <p:nvSpPr>
          <p:cNvPr id="14" name="criterion-mark-2">
            <a:extLst xmlns:a="http://schemas.openxmlformats.org/drawingml/2006/main">
              <a:ext uri="{FF2B5EF4-FFF2-40B4-BE49-F238E27FC236}">
                <a16:creationId xmlns:a16="http://schemas.microsoft.com/office/drawing/2014/main" id="{32DC88C5-FD5B-476B-892E-060EA2D0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D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riterion-label-2">
            <a:extLst xmlns:a="http://schemas.openxmlformats.org/drawingml/2006/main">
              <a:ext uri="{FF2B5EF4-FFF2-40B4-BE49-F238E27FC236}">
                <a16:creationId xmlns:a16="http://schemas.microsoft.com/office/drawing/2014/main" id="{9626B817-8CD5-435F-9A03-A666F3E0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0522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07D00"/>
                </a:solidFill>
              </a:defRPr>
            </a:pPr>
            <a:r>
              <a:rPr sz="1125" b="1">
                <a:solidFill>
                  <a:srgbClr val="F07D00"/>
                </a:solidFill>
              </a:rPr>
              <a:t>DEFENSIBLE</a:t>
            </a:r>
          </a:p>
        </p:txBody>
      </p:sp>
      <p:sp>
        <p:nvSpPr>
          <p:cNvPr id="16" name="criterion-text-2">
            <a:extLst xmlns:a="http://schemas.openxmlformats.org/drawingml/2006/main">
              <a:ext uri="{FF2B5EF4-FFF2-40B4-BE49-F238E27FC236}">
                <a16:creationId xmlns:a16="http://schemas.microsoft.com/office/drawing/2014/main" id="{1414FAFF-9C94-438F-8958-E75F9245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667125"/>
            <a:ext cx="795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1C2A"/>
                </a:solidFill>
              </a:defRPr>
            </a:pPr>
            <a:r>
              <a:rPr sz="1650" b="1">
                <a:solidFill>
                  <a:srgbClr val="051C2A"/>
                </a:solidFill>
              </a:rPr>
              <a:t>Evaluation cases expose retrieval, citation and agent failures.</a:t>
            </a:r>
          </a:p>
        </p:txBody>
      </p:sp>
      <p:sp>
        <p:nvSpPr>
          <p:cNvPr id="17" name="criterion-mark-3">
            <a:extLst xmlns:a="http://schemas.openxmlformats.org/drawingml/2006/main">
              <a:ext uri="{FF2B5EF4-FFF2-40B4-BE49-F238E27FC236}">
                <a16:creationId xmlns:a16="http://schemas.microsoft.com/office/drawing/2014/main" id="{923699C3-0230-48E6-816A-A16D72BC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riterion-label-3">
            <a:extLst xmlns:a="http://schemas.openxmlformats.org/drawingml/2006/main">
              <a:ext uri="{FF2B5EF4-FFF2-40B4-BE49-F238E27FC236}">
                <a16:creationId xmlns:a16="http://schemas.microsoft.com/office/drawing/2014/main" id="{02D508D9-5349-4A67-8536-17850717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8152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F40CB"/>
                </a:solidFill>
              </a:defRPr>
            </a:pPr>
            <a:r>
              <a:rPr sz="1125" b="1">
                <a:solidFill>
                  <a:srgbClr val="1F40CB"/>
                </a:solidFill>
              </a:rPr>
              <a:t>PORTABLE</a:t>
            </a:r>
          </a:p>
        </p:txBody>
      </p:sp>
      <p:sp>
        <p:nvSpPr>
          <p:cNvPr id="19" name="criterion-text-3">
            <a:extLst xmlns:a="http://schemas.openxmlformats.org/drawingml/2006/main">
              <a:ext uri="{FF2B5EF4-FFF2-40B4-BE49-F238E27FC236}">
                <a16:creationId xmlns:a16="http://schemas.microsoft.com/office/drawing/2014/main" id="{EA89F2AD-3438-4D0F-A32B-CB15C2C6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43425"/>
            <a:ext cx="795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51C2A"/>
                </a:solidFill>
              </a:defRPr>
            </a:pPr>
            <a:r>
              <a:rPr sz="1650" b="1">
                <a:solidFill>
                  <a:srgbClr val="051C2A"/>
                </a:solidFill>
              </a:rPr>
              <a:t>Ollama and OpenAI use the same lesson code.</a:t>
            </a:r>
          </a:p>
        </p:txBody>
      </p:sp>
      <p:sp>
        <p:nvSpPr>
          <p:cNvPr id="20" name="closing">
            <a:extLst xmlns:a="http://schemas.openxmlformats.org/drawingml/2006/main">
              <a:ext uri="{FF2B5EF4-FFF2-40B4-BE49-F238E27FC236}">
                <a16:creationId xmlns:a16="http://schemas.microsoft.com/office/drawing/2014/main" id="{74B9F64C-2620-4CD3-80E2-1CA92099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29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2175" b="1">
                <a:solidFill>
                  <a:srgbClr val="051C2A"/>
                </a:solidFill>
              </a:defRPr>
            </a:pPr>
            <a:r>
              <a:rPr sz="2175" b="1">
                <a:solidFill>
                  <a:srgbClr val="051C2A"/>
                </a:solidFill>
              </a:rPr>
              <a:t>Next: Model Gateway</a:t>
            </a:r>
          </a:p>
        </p:txBody>
      </p:sp>
    </p:spTree>
    <p:extLst>
      <p:ext uri="{BB962C8B-B14F-4D97-AF65-F5344CB8AC3E}">
        <p14:creationId xmlns:p14="http://schemas.microsoft.com/office/powerpoint/2010/main" val="5857146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2026-08-15T07:51:28.7080000Z</dcterms:created>
  <dcterms:modified xsi:type="dcterms:W3CDTF">2026-08-15T07:51:28.7080000Z</dcterms:modified>
</coreProperties>
</file>