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1333d02ec74448" /><Relationship Type="http://schemas.openxmlformats.org/officeDocument/2006/relationships/extended-properties" Target="/docProps/app.xml" Id="Rcb9d86100e1641bf" /><Relationship Type="http://schemas.openxmlformats.org/officeDocument/2006/relationships/officeDocument" Target="/ppt/presentation.xml" Id="R24b05ad8e83b441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245251ffb24b81"/>
  </p:sldMasterIdLst>
  <p:notesMasterIdLst>
    <p:notesMasterId xmlns:r="http://schemas.openxmlformats.org/officeDocument/2006/relationships" r:id="R60234a886bf04a8a"/>
  </p:notesMasterIdLst>
  <p:sldIdLst>
    <p:sldId xmlns:r="http://schemas.openxmlformats.org/officeDocument/2006/relationships" id="256" r:id="R1732eceb743a45ae"/>
    <p:sldId xmlns:r="http://schemas.openxmlformats.org/officeDocument/2006/relationships" id="257" r:id="R4b325fe30d8c4cc9"/>
    <p:sldId xmlns:r="http://schemas.openxmlformats.org/officeDocument/2006/relationships" id="258" r:id="R922def102f5340d5"/>
    <p:sldId xmlns:r="http://schemas.openxmlformats.org/officeDocument/2006/relationships" id="259" r:id="R4bc1b83606d840fa"/>
    <p:sldId xmlns:r="http://schemas.openxmlformats.org/officeDocument/2006/relationships" id="260" r:id="Rd0dd271a46aa4cd5"/>
    <p:sldId xmlns:r="http://schemas.openxmlformats.org/officeDocument/2006/relationships" id="261" r:id="Rfb33c8e2eb00467c"/>
    <p:sldId xmlns:r="http://schemas.openxmlformats.org/officeDocument/2006/relationships" id="262" r:id="Re94f816271f44fcb"/>
    <p:sldId xmlns:r="http://schemas.openxmlformats.org/officeDocument/2006/relationships" id="263" r:id="R54250fc775e7432b"/>
    <p:sldId xmlns:r="http://schemas.openxmlformats.org/officeDocument/2006/relationships" id="264" r:id="R2e64da8f9d8f4695"/>
    <p:sldId xmlns:r="http://schemas.openxmlformats.org/officeDocument/2006/relationships" id="265" r:id="R6d7f5e09cdee4ee1"/>
    <p:sldId xmlns:r="http://schemas.openxmlformats.org/officeDocument/2006/relationships" id="266" r:id="Rc633dd85f16e47d5"/>
    <p:sldId xmlns:r="http://schemas.openxmlformats.org/officeDocument/2006/relationships" id="267" r:id="R32bfb4aa7356429d"/>
    <p:sldId xmlns:r="http://schemas.openxmlformats.org/officeDocument/2006/relationships" id="268" r:id="R9b93eebfa7924b4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7bfd4356c224729" /><Relationship Type="http://schemas.openxmlformats.org/officeDocument/2006/relationships/slideMaster" Target="/ppt/slideMasters/slideMaster1.xml" Id="R8b245251ffb24b81" /><Relationship Type="http://schemas.openxmlformats.org/officeDocument/2006/relationships/notesMaster" Target="/ppt/notesMasters/notesMaster1.xml" Id="R60234a886bf04a8a" /><Relationship Type="http://schemas.openxmlformats.org/officeDocument/2006/relationships/presProps" Target="/ppt/presProps.xml" Id="Ra9aae64ba7574ea2" /><Relationship Type="http://schemas.openxmlformats.org/officeDocument/2006/relationships/tableStyles" Target="/ppt/tableStyles.xml" Id="R5aa48a6bcaad4302" /><Relationship Type="http://schemas.openxmlformats.org/officeDocument/2006/relationships/slide" Target="/ppt/slides/slide1.xml" Id="R1732eceb743a45ae" /><Relationship Type="http://schemas.openxmlformats.org/officeDocument/2006/relationships/slide" Target="/ppt/slides/slide2.xml" Id="R4b325fe30d8c4cc9" /><Relationship Type="http://schemas.openxmlformats.org/officeDocument/2006/relationships/slide" Target="/ppt/slides/slide3.xml" Id="R922def102f5340d5" /><Relationship Type="http://schemas.openxmlformats.org/officeDocument/2006/relationships/slide" Target="/ppt/slides/slide4.xml" Id="R4bc1b83606d840fa" /><Relationship Type="http://schemas.openxmlformats.org/officeDocument/2006/relationships/slide" Target="/ppt/slides/slide5.xml" Id="Rd0dd271a46aa4cd5" /><Relationship Type="http://schemas.openxmlformats.org/officeDocument/2006/relationships/slide" Target="/ppt/slides/slide6.xml" Id="Rfb33c8e2eb00467c" /><Relationship Type="http://schemas.openxmlformats.org/officeDocument/2006/relationships/slide" Target="/ppt/slides/slide7.xml" Id="Re94f816271f44fcb" /><Relationship Type="http://schemas.openxmlformats.org/officeDocument/2006/relationships/slide" Target="/ppt/slides/slide8.xml" Id="R54250fc775e7432b" /><Relationship Type="http://schemas.openxmlformats.org/officeDocument/2006/relationships/slide" Target="/ppt/slides/slide9.xml" Id="R2e64da8f9d8f4695" /><Relationship Type="http://schemas.openxmlformats.org/officeDocument/2006/relationships/slide" Target="/ppt/slides/slide10.xml" Id="R6d7f5e09cdee4ee1" /><Relationship Type="http://schemas.openxmlformats.org/officeDocument/2006/relationships/slide" Target="/ppt/slides/slide11.xml" Id="Rc633dd85f16e47d5" /><Relationship Type="http://schemas.openxmlformats.org/officeDocument/2006/relationships/slide" Target="/ppt/slides/slide12.xml" Id="R32bfb4aa7356429d" /><Relationship Type="http://schemas.openxmlformats.org/officeDocument/2006/relationships/slide" Target="/ppt/slides/slide13.xml" Id="R9b93eebfa7924b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52ab897d702497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9fb1d5690fb4944" /><Relationship Type="http://schemas.openxmlformats.org/officeDocument/2006/relationships/notesMaster" Target="/ppt/notesMasters/notesMaster1.xml" Id="Re6e52cc521e740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4809f66372464d" /><Relationship Type="http://schemas.openxmlformats.org/officeDocument/2006/relationships/notesMaster" Target="/ppt/notesMasters/notesMaster1.xml" Id="R0d63e7e1a1c54ab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85218275c44b37" /><Relationship Type="http://schemas.openxmlformats.org/officeDocument/2006/relationships/notesMaster" Target="/ppt/notesMasters/notesMaster1.xml" Id="R1010b9134d8b44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ae3112cb87e497b" /><Relationship Type="http://schemas.openxmlformats.org/officeDocument/2006/relationships/notesMaster" Target="/ppt/notesMasters/notesMaster1.xml" Id="Reffeae3c1c8f4a7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5937c704ae4b61" /><Relationship Type="http://schemas.openxmlformats.org/officeDocument/2006/relationships/notesMaster" Target="/ppt/notesMasters/notesMaster1.xml" Id="R00db7de90b9047b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02f058207742ad" /><Relationship Type="http://schemas.openxmlformats.org/officeDocument/2006/relationships/notesMaster" Target="/ppt/notesMasters/notesMaster1.xml" Id="Re9699e21794d418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91ff92cc3441e4" /><Relationship Type="http://schemas.openxmlformats.org/officeDocument/2006/relationships/notesMaster" Target="/ppt/notesMasters/notesMaster1.xml" Id="R121d35bf198246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6e12d0c897c4d32" /><Relationship Type="http://schemas.openxmlformats.org/officeDocument/2006/relationships/notesMaster" Target="/ppt/notesMasters/notesMaster1.xml" Id="Refe4896cd03b4e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7b206c4ab24560" /><Relationship Type="http://schemas.openxmlformats.org/officeDocument/2006/relationships/notesMaster" Target="/ppt/notesMasters/notesMaster1.xml" Id="Rf45fc22894e045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941b3073b7e4033" /><Relationship Type="http://schemas.openxmlformats.org/officeDocument/2006/relationships/notesMaster" Target="/ppt/notesMasters/notesMaster1.xml" Id="R0e25cc906c7343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f43fa0230e4f05" /><Relationship Type="http://schemas.openxmlformats.org/officeDocument/2006/relationships/notesMaster" Target="/ppt/notesMasters/notesMaster1.xml" Id="R82e5b978b4114c0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87122389e74304" /><Relationship Type="http://schemas.openxmlformats.org/officeDocument/2006/relationships/notesMaster" Target="/ppt/notesMasters/notesMaster1.xml" Id="R5451fb667ce941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f1eb5aa47fd4a6b" /><Relationship Type="http://schemas.openxmlformats.org/officeDocument/2006/relationships/notesMaster" Target="/ppt/notesMasters/notesMaster1.xml" Id="R012fd3470252475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the environment before the first live model call.</a:t>
            </a:r>
          </a:p>
          <a:p xmlns:a="http://schemas.openxmlformats.org/drawingml/2006/main">
            <a:r>
              <a:t>The written guide contains the complete macOS, Windows, OpenAI and Docker paths.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course source: docs/getting-started.md</a:t>
            </a:r>
          </a:p>
          <a:p xmlns:a="http://schemas.openxmlformats.org/drawingml/2006/main">
            <a:r>
              <a:t>- Internal course source: .env.example</a:t>
            </a:r>
          </a:p>
          <a:p xmlns:a="http://schemas.openxmlformats.org/drawingml/2006/main">
            <a:r>
              <a:t>- Internal course source: src/finai_academy/settings.py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e83334970b4e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647bb177bc4843" /><Relationship Type="http://schemas.openxmlformats.org/officeDocument/2006/relationships/slideLayout" Target="/ppt/slideLayouts/slideLayout1.xml" Id="R5ddf494be48848a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df494be48848a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d0a652b3942ab" /><Relationship Type="http://schemas.openxmlformats.org/officeDocument/2006/relationships/notesSlide" Target="/ppt/notesSlides/notesSlide1.xml" Id="Rcd5d1826ac34473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f18cbeaec24055" /><Relationship Type="http://schemas.openxmlformats.org/officeDocument/2006/relationships/notesSlide" Target="/ppt/notesSlides/notesSlide2.xml" Id="R0a514fe2bc8940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e72a268e44c2f" /><Relationship Type="http://schemas.openxmlformats.org/officeDocument/2006/relationships/notesSlide" Target="/ppt/notesSlides/notesSlide3.xml" Id="R5d700c101c5045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a64d720bbf4671" /><Relationship Type="http://schemas.openxmlformats.org/officeDocument/2006/relationships/notesSlide" Target="/ppt/notesSlides/notesSlide4.xml" Id="Rf61bd39cc25644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484c2ee0ea4780" /><Relationship Type="http://schemas.openxmlformats.org/officeDocument/2006/relationships/notesSlide" Target="/ppt/notesSlides/notesSlide5.xml" Id="Re50a28af13aa40f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dca94fb3a4f94" /><Relationship Type="http://schemas.openxmlformats.org/officeDocument/2006/relationships/notesSlide" Target="/ppt/notesSlides/notesSlide6.xml" Id="Ra4629065382b478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8316e496464ab1" /><Relationship Type="http://schemas.openxmlformats.org/officeDocument/2006/relationships/notesSlide" Target="/ppt/notesSlides/notesSlide7.xml" Id="R7e15e3e5e80f416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00bc605c334590" /><Relationship Type="http://schemas.openxmlformats.org/officeDocument/2006/relationships/notesSlide" Target="/ppt/notesSlides/notesSlide8.xml" Id="Ref80c901c9154d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865c04b174fbf" /><Relationship Type="http://schemas.openxmlformats.org/officeDocument/2006/relationships/notesSlide" Target="/ppt/notesSlides/notesSlide9.xml" Id="Ra2381185ba97484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6fee934be043c1" /><Relationship Type="http://schemas.openxmlformats.org/officeDocument/2006/relationships/notesSlide" Target="/ppt/notesSlides/notesSlide10.xml" Id="R8cdcee0ae48449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bad8c2deb945c1" /><Relationship Type="http://schemas.openxmlformats.org/officeDocument/2006/relationships/notesSlide" Target="/ppt/notesSlides/notesSlide11.xml" Id="Rfed05f17ea1e42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121b426c34c3b" /><Relationship Type="http://schemas.openxmlformats.org/officeDocument/2006/relationships/notesSlide" Target="/ppt/notesSlides/notesSlide12.xml" Id="R3875ef68abd5438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efe62f286e460f" /><Relationship Type="http://schemas.openxmlformats.org/officeDocument/2006/relationships/notesSlide" Target="/ppt/notesSlides/notesSlide13.xml" Id="R2eaf55f792f340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1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yan-rule">
            <a:extLst xmlns:a="http://schemas.openxmlformats.org/drawingml/2006/main">
              <a:ext uri="{FF2B5EF4-FFF2-40B4-BE49-F238E27FC236}">
                <a16:creationId xmlns:a16="http://schemas.microsoft.com/office/drawing/2014/main" id="{DD41D299-7FFB-4306-8847-7801126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BB86EA8-066C-46D2-829F-F9E66A5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FIRST FINANCE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49987-FA3A-4955-8F01-DF814FFF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8572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AI Engineering</a:t>
            </a:r>
          </a:p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for Asset Management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40830BF-7B96-4989-A068-953AE9B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5F5F5"/>
                </a:solidFill>
              </a:defRPr>
            </a:pPr>
            <a:r>
              <a:rPr sz="1875" b="0">
                <a:solidFill>
                  <a:srgbClr val="F5F5F5"/>
                </a:solidFill>
              </a:rPr>
              <a:t>Two-day technical course and capstone project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7598C02-B8E3-4047-B8F9-E31FB00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E9FA2"/>
                </a:solidFill>
              </a:defRPr>
            </a:pPr>
            <a:r>
              <a:rPr sz="1350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6BF625A3-4B56-4D80-B001-A213BBA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816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2 DAYS  •  12 NOTEBOOKS  •  1 CAPSTONE</a:t>
            </a:r>
          </a:p>
        </p:txBody>
      </p:sp>
    </p:spTree>
    <p:extLst>
      <p:ext uri="{BB962C8B-B14F-4D97-AF65-F5344CB8AC3E}">
        <p14:creationId xmlns:p14="http://schemas.microsoft.com/office/powerpoint/2010/main" val="365773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2">
            <a:extLst xmlns:a="http://schemas.openxmlformats.org/drawingml/2006/main">
              <a:ext uri="{FF2B5EF4-FFF2-40B4-BE49-F238E27FC236}">
                <a16:creationId xmlns:a16="http://schemas.microsoft.com/office/drawing/2014/main" id="{B6B0F22F-2174-4D33-ADB9-5428B1A9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COURSE OUTCOME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8A34DFF-FDBA-4B8C-BB65-D1073FA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Course objective: build a financial analyst copilot across the full stack</a:t>
            </a:r>
          </a:p>
        </p:txBody>
      </p:sp>
      <p:sp>
        <p:nvSpPr>
          <p:cNvPr id="3" name="progress-2">
            <a:extLst xmlns:a="http://schemas.openxmlformats.org/drawingml/2006/main">
              <a:ext uri="{FF2B5EF4-FFF2-40B4-BE49-F238E27FC236}">
                <a16:creationId xmlns:a16="http://schemas.microsoft.com/office/drawing/2014/main" id="{C35D95B7-D18A-415D-9089-C220BBBA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2">
            <a:extLst xmlns:a="http://schemas.openxmlformats.org/drawingml/2006/main">
              <a:ext uri="{FF2B5EF4-FFF2-40B4-BE49-F238E27FC236}">
                <a16:creationId xmlns:a16="http://schemas.microsoft.com/office/drawing/2014/main" id="{370D08C7-9412-4ED5-A2DD-1118DA59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80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C2F4F0B1-CA38-4B5C-A8C1-A473AB4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82C43427-6068-4036-92FB-303FDB37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OBJECTIVE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87B1A521-7C73-4C5F-9AFD-AF13176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02</a:t>
            </a:r>
          </a:p>
        </p:txBody>
      </p:sp>
      <p:sp>
        <p:nvSpPr>
          <p:cNvPr id="8" name="stage-index-0">
            <a:extLst xmlns:a="http://schemas.openxmlformats.org/drawingml/2006/main">
              <a:ext uri="{FF2B5EF4-FFF2-40B4-BE49-F238E27FC236}">
                <a16:creationId xmlns:a16="http://schemas.microsoft.com/office/drawing/2014/main" id="{0F2DCE3D-FD9C-46EC-B46E-48D072E5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stage-rule-0">
            <a:extLst xmlns:a="http://schemas.openxmlformats.org/drawingml/2006/main">
              <a:ext uri="{FF2B5EF4-FFF2-40B4-BE49-F238E27FC236}">
                <a16:creationId xmlns:a16="http://schemas.microsoft.com/office/drawing/2014/main" id="{5D279491-F5FF-452B-A565-53828FB0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label-0">
            <a:extLst xmlns:a="http://schemas.openxmlformats.org/drawingml/2006/main">
              <a:ext uri="{FF2B5EF4-FFF2-40B4-BE49-F238E27FC236}">
                <a16:creationId xmlns:a16="http://schemas.microsoft.com/office/drawing/2014/main" id="{F4F77EEA-543F-4E67-A0C3-ED519828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5347E9ED-C0E0-4BA5-ACB2-B16042A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useful response</a:t>
            </a:r>
          </a:p>
        </p:txBody>
      </p:sp>
      <p:sp>
        <p:nvSpPr>
          <p:cNvPr id="12" name="stage-index-1">
            <a:extLst xmlns:a="http://schemas.openxmlformats.org/drawingml/2006/main">
              <a:ext uri="{FF2B5EF4-FFF2-40B4-BE49-F238E27FC236}">
                <a16:creationId xmlns:a16="http://schemas.microsoft.com/office/drawing/2014/main" id="{32E366A7-02B4-4074-BCD7-FC360A7C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stage-rule-1">
            <a:extLst xmlns:a="http://schemas.openxmlformats.org/drawingml/2006/main">
              <a:ext uri="{FF2B5EF4-FFF2-40B4-BE49-F238E27FC236}">
                <a16:creationId xmlns:a16="http://schemas.microsoft.com/office/drawing/2014/main" id="{9CDCA783-C516-4F25-BE09-79065CDC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E7C9E890-AD4D-4E4B-BB00-76105099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EVIDENCE</a:t>
            </a:r>
          </a:p>
        </p:txBody>
      </p:sp>
      <p:sp>
        <p:nvSpPr>
          <p:cNvPr id="15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EA796D7B-AD53-4AB9-8112-4F4B280A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cited answer</a:t>
            </a:r>
          </a:p>
        </p:txBody>
      </p:sp>
      <p:sp>
        <p:nvSpPr>
          <p:cNvPr id="16" name="stage-index-2">
            <a:extLst xmlns:a="http://schemas.openxmlformats.org/drawingml/2006/main">
              <a:ext uri="{FF2B5EF4-FFF2-40B4-BE49-F238E27FC236}">
                <a16:creationId xmlns:a16="http://schemas.microsoft.com/office/drawing/2014/main" id="{6D15A78A-B69C-4F2A-9616-0B039C4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7" name="stage-rule-2">
            <a:extLst xmlns:a="http://schemas.openxmlformats.org/drawingml/2006/main">
              <a:ext uri="{FF2B5EF4-FFF2-40B4-BE49-F238E27FC236}">
                <a16:creationId xmlns:a16="http://schemas.microsoft.com/office/drawing/2014/main" id="{9AD4B3FC-8683-41FF-84A8-CD39E15F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C6966E92-2397-4EF0-B82C-EC45089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19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086D6630-113F-4D35-B7A9-E8E1BE94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research workflow</a:t>
            </a:r>
          </a:p>
        </p:txBody>
      </p:sp>
      <p:sp>
        <p:nvSpPr>
          <p:cNvPr id="20" name="stage-index-3">
            <a:extLst xmlns:a="http://schemas.openxmlformats.org/drawingml/2006/main">
              <a:ext uri="{FF2B5EF4-FFF2-40B4-BE49-F238E27FC236}">
                <a16:creationId xmlns:a16="http://schemas.microsoft.com/office/drawing/2014/main" id="{1B0C363A-9AD3-4844-BC86-28C7082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stage-rule-3">
            <a:extLst xmlns:a="http://schemas.openxmlformats.org/drawingml/2006/main">
              <a:ext uri="{FF2B5EF4-FFF2-40B4-BE49-F238E27FC236}">
                <a16:creationId xmlns:a16="http://schemas.microsoft.com/office/drawing/2014/main" id="{F810CCF9-A1FC-4CB2-8011-34B36A0D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9A14B072-D628-4B03-B8C0-280DDE8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23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23E6CE52-61FA-4E7F-B84F-791C421B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bounded decision loop</a:t>
            </a:r>
          </a:p>
        </p:txBody>
      </p:sp>
      <p:sp>
        <p:nvSpPr>
          <p:cNvPr id="24" name="stage-index-4">
            <a:extLst xmlns:a="http://schemas.openxmlformats.org/drawingml/2006/main">
              <a:ext uri="{FF2B5EF4-FFF2-40B4-BE49-F238E27FC236}">
                <a16:creationId xmlns:a16="http://schemas.microsoft.com/office/drawing/2014/main" id="{AAA3EFBD-D59C-4DBA-9E3C-05DD6CA6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05</a:t>
            </a:r>
          </a:p>
        </p:txBody>
      </p:sp>
      <p:sp>
        <p:nvSpPr>
          <p:cNvPr id="25" name="stage-rule-4">
            <a:extLst xmlns:a="http://schemas.openxmlformats.org/drawingml/2006/main">
              <a:ext uri="{FF2B5EF4-FFF2-40B4-BE49-F238E27FC236}">
                <a16:creationId xmlns:a16="http://schemas.microsoft.com/office/drawing/2014/main" id="{311C1013-1C28-449B-B579-29289599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ge-label-4">
            <a:extLst xmlns:a="http://schemas.openxmlformats.org/drawingml/2006/main">
              <a:ext uri="{FF2B5EF4-FFF2-40B4-BE49-F238E27FC236}">
                <a16:creationId xmlns:a16="http://schemas.microsoft.com/office/drawing/2014/main" id="{67829646-D738-4E87-AA6E-E226B07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MCP</a:t>
            </a:r>
          </a:p>
        </p:txBody>
      </p:sp>
      <p:sp>
        <p:nvSpPr>
          <p:cNvPr id="27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9C404E99-33D9-49B7-B607-D3892AB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An interoperable system</a:t>
            </a:r>
          </a:p>
        </p:txBody>
      </p:sp>
      <p:sp>
        <p:nvSpPr>
          <p:cNvPr id="28" name="promise-bottom">
            <a:extLst xmlns:a="http://schemas.openxmlformats.org/drawingml/2006/main">
              <a:ext uri="{FF2B5EF4-FFF2-40B4-BE49-F238E27FC236}">
                <a16:creationId xmlns:a16="http://schemas.microsoft.com/office/drawing/2014/main" id="{D3A91DDB-E282-498D-811B-074316A8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38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051C2A"/>
                </a:solidFill>
              </a:defRPr>
            </a:pPr>
            <a:r>
              <a:rPr sz="2175" b="0">
                <a:solidFill>
                  <a:srgbClr val="051C2A"/>
                </a:solidFill>
              </a:rPr>
              <a:t>At the end of the course, the application runs end to end and exposes its sources, calculations, tool calls and evaluations.</a:t>
            </a:r>
          </a:p>
        </p:txBody>
      </p:sp>
    </p:spTree>
    <p:extLst>
      <p:ext uri="{BB962C8B-B14F-4D97-AF65-F5344CB8AC3E}">
        <p14:creationId xmlns:p14="http://schemas.microsoft.com/office/powerpoint/2010/main" val="18073227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3">
            <a:extLst xmlns:a="http://schemas.openxmlformats.org/drawingml/2006/main">
              <a:ext uri="{FF2B5EF4-FFF2-40B4-BE49-F238E27FC236}">
                <a16:creationId xmlns:a16="http://schemas.microsoft.com/office/drawing/2014/main" id="{8B222AC1-3B35-471E-A04D-4DB42361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CAPSTONE MISSION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06FBC137-05D8-43ED-AC25-9D2B1FC5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Capstone project: Financial Analyst Copilot</a:t>
            </a:r>
          </a:p>
        </p:txBody>
      </p:sp>
      <p:sp>
        <p:nvSpPr>
          <p:cNvPr id="3" name="progress-3">
            <a:extLst xmlns:a="http://schemas.openxmlformats.org/drawingml/2006/main">
              <a:ext uri="{FF2B5EF4-FFF2-40B4-BE49-F238E27FC236}">
                <a16:creationId xmlns:a16="http://schemas.microsoft.com/office/drawing/2014/main" id="{A2291B59-F79D-4BB4-B2CB-8DAE3EC9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3">
            <a:extLst xmlns:a="http://schemas.openxmlformats.org/drawingml/2006/main">
              <a:ext uri="{FF2B5EF4-FFF2-40B4-BE49-F238E27FC236}">
                <a16:creationId xmlns:a16="http://schemas.microsoft.com/office/drawing/2014/main" id="{79BAA72E-48FB-47C4-A6B1-AAF1789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2705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E1DD4E56-62F5-4DF7-86E5-6499AA5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3">
            <a:extLst xmlns:a="http://schemas.openxmlformats.org/drawingml/2006/main">
              <a:ext uri="{FF2B5EF4-FFF2-40B4-BE49-F238E27FC236}">
                <a16:creationId xmlns:a16="http://schemas.microsoft.com/office/drawing/2014/main" id="{33AB9D8D-5EA8-4890-812F-9EE19DA9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CAPSTONE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8AF41587-4A87-4B0A-B7F9-6BF56D42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03</a:t>
            </a:r>
          </a:p>
        </p:txBody>
      </p:sp>
      <p:sp>
        <p:nvSpPr>
          <p:cNvPr id="8" name="mission">
            <a:extLst xmlns:a="http://schemas.openxmlformats.org/drawingml/2006/main">
              <a:ext uri="{FF2B5EF4-FFF2-40B4-BE49-F238E27FC236}">
                <a16:creationId xmlns:a16="http://schemas.microsoft.com/office/drawing/2014/main" id="{8DDC99B7-162A-413A-873B-577DEE0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51C2A"/>
                </a:solidFill>
              </a:defRPr>
            </a:pPr>
            <a:r>
              <a:rPr sz="2100" b="0">
                <a:solidFill>
                  <a:srgbClr val="051C2A"/>
                </a:solidFill>
              </a:rPr>
              <a:t>Compare NVIDIA and Schneider Electric on data-centre demand, financial implications, risks and recent developments.</a:t>
            </a:r>
          </a:p>
        </p:txBody>
      </p:sp>
      <p:sp>
        <p:nvSpPr>
          <p:cNvPr id="9" name="mission-rule">
            <a:extLst xmlns:a="http://schemas.openxmlformats.org/drawingml/2006/main">
              <a:ext uri="{FF2B5EF4-FFF2-40B4-BE49-F238E27FC236}">
                <a16:creationId xmlns:a16="http://schemas.microsoft.com/office/drawing/2014/main" id="{07BA6BE8-0FC8-4FE7-AD93-D2EB2EBB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ssion-contract">
            <a:extLst xmlns:a="http://schemas.openxmlformats.org/drawingml/2006/main">
              <a:ext uri="{FF2B5EF4-FFF2-40B4-BE49-F238E27FC236}">
                <a16:creationId xmlns:a16="http://schemas.microsoft.com/office/drawing/2014/main" id="{0CDBFECC-4E44-4EED-B339-7EB118E2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73738"/>
                </a:solidFill>
              </a:defRPr>
            </a:pPr>
            <a:r>
              <a:rPr sz="1575" b="1">
                <a:solidFill>
                  <a:srgbClr val="373738"/>
                </a:solidFill>
              </a:rPr>
              <a:t>Every material claim keeps its source and its evidence type.</a:t>
            </a:r>
          </a:p>
        </p:txBody>
      </p:sp>
      <p:sp>
        <p:nvSpPr>
          <p:cNvPr id="11" name="evidence-num-0">
            <a:extLst xmlns:a="http://schemas.openxmlformats.org/drawingml/2006/main">
              <a:ext uri="{FF2B5EF4-FFF2-40B4-BE49-F238E27FC236}">
                <a16:creationId xmlns:a16="http://schemas.microsoft.com/office/drawing/2014/main" id="{1183BD2B-400F-4205-91D0-B64913D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12" name="evidence-0">
            <a:extLst xmlns:a="http://schemas.openxmlformats.org/drawingml/2006/main">
              <a:ext uri="{FF2B5EF4-FFF2-40B4-BE49-F238E27FC236}">
                <a16:creationId xmlns:a16="http://schemas.microsoft.com/office/drawing/2014/main" id="{1CF36CC0-41CF-458A-94FD-AE5AFF80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Official documents</a:t>
            </a:r>
          </a:p>
        </p:txBody>
      </p:sp>
      <p:sp>
        <p:nvSpPr>
          <p:cNvPr id="13" name="evidence-line-0">
            <a:extLst xmlns:a="http://schemas.openxmlformats.org/drawingml/2006/main">
              <a:ext uri="{FF2B5EF4-FFF2-40B4-BE49-F238E27FC236}">
                <a16:creationId xmlns:a16="http://schemas.microsoft.com/office/drawing/2014/main" id="{01396F6A-444D-4D10-9393-7FB0C14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evidence-num-1">
            <a:extLst xmlns:a="http://schemas.openxmlformats.org/drawingml/2006/main">
              <a:ext uri="{FF2B5EF4-FFF2-40B4-BE49-F238E27FC236}">
                <a16:creationId xmlns:a16="http://schemas.microsoft.com/office/drawing/2014/main" id="{3BA2CC94-14BB-425B-BED2-0C7D67BD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5" name="evidence-1">
            <a:extLst xmlns:a="http://schemas.openxmlformats.org/drawingml/2006/main">
              <a:ext uri="{FF2B5EF4-FFF2-40B4-BE49-F238E27FC236}">
                <a16:creationId xmlns:a16="http://schemas.microsoft.com/office/drawing/2014/main" id="{8DB6FA7B-FFB8-4F86-9890-9405C555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Financial facts</a:t>
            </a:r>
          </a:p>
        </p:txBody>
      </p:sp>
      <p:sp>
        <p:nvSpPr>
          <p:cNvPr id="16" name="evidence-line-1">
            <a:extLst xmlns:a="http://schemas.openxmlformats.org/drawingml/2006/main">
              <a:ext uri="{FF2B5EF4-FFF2-40B4-BE49-F238E27FC236}">
                <a16:creationId xmlns:a16="http://schemas.microsoft.com/office/drawing/2014/main" id="{F85D1244-4C34-4351-9A34-8BFDDACB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813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num-2">
            <a:extLst xmlns:a="http://schemas.openxmlformats.org/drawingml/2006/main">
              <a:ext uri="{FF2B5EF4-FFF2-40B4-BE49-F238E27FC236}">
                <a16:creationId xmlns:a16="http://schemas.microsoft.com/office/drawing/2014/main" id="{F3548631-99E5-4E9E-A952-FF6BBAD6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8" name="evidence-2">
            <a:extLst xmlns:a="http://schemas.openxmlformats.org/drawingml/2006/main">
              <a:ext uri="{FF2B5EF4-FFF2-40B4-BE49-F238E27FC236}">
                <a16:creationId xmlns:a16="http://schemas.microsoft.com/office/drawing/2014/main" id="{4896AC42-AF32-4806-A907-6179516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Calculations</a:t>
            </a:r>
          </a:p>
        </p:txBody>
      </p:sp>
      <p:sp>
        <p:nvSpPr>
          <p:cNvPr id="19" name="evidence-line-2">
            <a:extLst xmlns:a="http://schemas.openxmlformats.org/drawingml/2006/main">
              <a:ext uri="{FF2B5EF4-FFF2-40B4-BE49-F238E27FC236}">
                <a16:creationId xmlns:a16="http://schemas.microsoft.com/office/drawing/2014/main" id="{EB199C4A-060A-43DC-917E-316D9AC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624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vidence-num-3">
            <a:extLst xmlns:a="http://schemas.openxmlformats.org/drawingml/2006/main">
              <a:ext uri="{FF2B5EF4-FFF2-40B4-BE49-F238E27FC236}">
                <a16:creationId xmlns:a16="http://schemas.microsoft.com/office/drawing/2014/main" id="{54BA4E7E-4258-4AF8-BB81-8C561A62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04</a:t>
            </a:r>
          </a:p>
        </p:txBody>
      </p:sp>
      <p:sp>
        <p:nvSpPr>
          <p:cNvPr id="21" name="evidence-3">
            <a:extLst xmlns:a="http://schemas.openxmlformats.org/drawingml/2006/main">
              <a:ext uri="{FF2B5EF4-FFF2-40B4-BE49-F238E27FC236}">
                <a16:creationId xmlns:a16="http://schemas.microsoft.com/office/drawing/2014/main" id="{06CB3603-3D80-473A-9A4A-934EE4C6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053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Current news</a:t>
            </a:r>
          </a:p>
        </p:txBody>
      </p:sp>
      <p:sp>
        <p:nvSpPr>
          <p:cNvPr id="22" name="evidence-line-3">
            <a:extLst xmlns:a="http://schemas.openxmlformats.org/drawingml/2006/main">
              <a:ext uri="{FF2B5EF4-FFF2-40B4-BE49-F238E27FC236}">
                <a16:creationId xmlns:a16="http://schemas.microsoft.com/office/drawing/2014/main" id="{87542820-0769-41A8-BF1A-9A6185B5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6914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kicker-4">
            <a:extLst xmlns:a="http://schemas.openxmlformats.org/drawingml/2006/main">
              <a:ext uri="{FF2B5EF4-FFF2-40B4-BE49-F238E27FC236}">
                <a16:creationId xmlns:a16="http://schemas.microsoft.com/office/drawing/2014/main" id="{24913089-DE67-4DF3-B500-587A698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LEARNING PROGRESSION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9E4BB56-F7F7-4D01-A1FB-3C7BE751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Technical progression of the application</a:t>
            </a:r>
          </a:p>
        </p:txBody>
      </p:sp>
      <p:sp>
        <p:nvSpPr>
          <p:cNvPr id="3" name="progress-4">
            <a:extLst xmlns:a="http://schemas.openxmlformats.org/drawingml/2006/main">
              <a:ext uri="{FF2B5EF4-FFF2-40B4-BE49-F238E27FC236}">
                <a16:creationId xmlns:a16="http://schemas.microsoft.com/office/drawing/2014/main" id="{61EA33F7-A46A-4084-9E4B-9D08CB7E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4">
            <a:extLst xmlns:a="http://schemas.openxmlformats.org/drawingml/2006/main">
              <a:ext uri="{FF2B5EF4-FFF2-40B4-BE49-F238E27FC236}">
                <a16:creationId xmlns:a16="http://schemas.microsoft.com/office/drawing/2014/main" id="{145B8D45-6D07-44C9-9C12-3D479AFD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360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3FE1FD3D-0791-40E1-80BF-4AFD64B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4">
            <a:extLst xmlns:a="http://schemas.openxmlformats.org/drawingml/2006/main">
              <a:ext uri="{FF2B5EF4-FFF2-40B4-BE49-F238E27FC236}">
                <a16:creationId xmlns:a16="http://schemas.microsoft.com/office/drawing/2014/main" id="{7A1CCAF6-0048-437F-8A61-0623BC96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ARCHITECTURE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1F534899-5DD5-422B-9E96-80727251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04</a:t>
            </a:r>
          </a:p>
        </p:txBody>
      </p:sp>
      <p:sp>
        <p:nvSpPr>
          <p:cNvPr id="8" name="layer-0">
            <a:extLst xmlns:a="http://schemas.openxmlformats.org/drawingml/2006/main">
              <a:ext uri="{FF2B5EF4-FFF2-40B4-BE49-F238E27FC236}">
                <a16:creationId xmlns:a16="http://schemas.microsoft.com/office/drawing/2014/main" id="{FF8548FF-A72B-475D-B2AD-EB497664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9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A5B4F0C8-EB32-4F4F-A3CF-DE3AACA8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0" name="layer-desc-0">
            <a:extLst xmlns:a="http://schemas.openxmlformats.org/drawingml/2006/main">
              <a:ext uri="{FF2B5EF4-FFF2-40B4-BE49-F238E27FC236}">
                <a16:creationId xmlns:a16="http://schemas.microsoft.com/office/drawing/2014/main" id="{BCFD0FA1-EBD2-40B9-A4B1-3BDDEF9B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response</a:t>
            </a:r>
          </a:p>
        </p:txBody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96747EB7-DCE3-4809-A418-215C995F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2" name="layer-1">
            <a:extLst xmlns:a="http://schemas.openxmlformats.org/drawingml/2006/main">
              <a:ext uri="{FF2B5EF4-FFF2-40B4-BE49-F238E27FC236}">
                <a16:creationId xmlns:a16="http://schemas.microsoft.com/office/drawing/2014/main" id="{76C51DD8-A21B-4241-9F02-B4586AF6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383997E9-865B-4DB8-8B61-439EED34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Prompt</a:t>
            </a:r>
          </a:p>
        </p:txBody>
      </p:sp>
      <p:sp>
        <p:nvSpPr>
          <p:cNvPr id="14" name="layer-desc-1">
            <a:extLst xmlns:a="http://schemas.openxmlformats.org/drawingml/2006/main">
              <a:ext uri="{FF2B5EF4-FFF2-40B4-BE49-F238E27FC236}">
                <a16:creationId xmlns:a16="http://schemas.microsoft.com/office/drawing/2014/main" id="{E2FB3EE6-114E-492C-ACA9-DF4C316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contract</a:t>
            </a:r>
          </a:p>
        </p:txBody>
      </p:sp>
      <p:sp>
        <p:nvSpPr>
          <p:cNvPr id="15" name="arrow-1">
            <a:extLst xmlns:a="http://schemas.openxmlformats.org/drawingml/2006/main">
              <a:ext uri="{FF2B5EF4-FFF2-40B4-BE49-F238E27FC236}">
                <a16:creationId xmlns:a16="http://schemas.microsoft.com/office/drawing/2014/main" id="{DAFC60EA-0E7C-41C1-B388-DE67029D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4D7405E8-BC4E-4BFD-870C-683400FD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7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9D4E8861-1955-4F3E-8DC6-79C6E1C9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Context</a:t>
            </a:r>
          </a:p>
        </p:txBody>
      </p:sp>
      <p:sp>
        <p:nvSpPr>
          <p:cNvPr id="18" name="layer-desc-2">
            <a:extLst xmlns:a="http://schemas.openxmlformats.org/drawingml/2006/main">
              <a:ext uri="{FF2B5EF4-FFF2-40B4-BE49-F238E27FC236}">
                <a16:creationId xmlns:a16="http://schemas.microsoft.com/office/drawing/2014/main" id="{0B5B1D99-FF83-40CA-B7EA-64E545F7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source</a:t>
            </a:r>
          </a:p>
        </p:txBody>
      </p:sp>
      <p:sp>
        <p:nvSpPr>
          <p:cNvPr id="19" name="arrow-2">
            <a:extLst xmlns:a="http://schemas.openxmlformats.org/drawingml/2006/main">
              <a:ext uri="{FF2B5EF4-FFF2-40B4-BE49-F238E27FC236}">
                <a16:creationId xmlns:a16="http://schemas.microsoft.com/office/drawing/2014/main" id="{CC6D6314-3F6F-4DA5-A5BB-5375ADC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0" name="layer-3">
            <a:extLst xmlns:a="http://schemas.openxmlformats.org/drawingml/2006/main">
              <a:ext uri="{FF2B5EF4-FFF2-40B4-BE49-F238E27FC236}">
                <a16:creationId xmlns:a16="http://schemas.microsoft.com/office/drawing/2014/main" id="{06864880-8D37-40EA-9858-D5B3B60F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1" name="layer-name-3">
            <a:extLst xmlns:a="http://schemas.openxmlformats.org/drawingml/2006/main">
              <a:ext uri="{FF2B5EF4-FFF2-40B4-BE49-F238E27FC236}">
                <a16:creationId xmlns:a16="http://schemas.microsoft.com/office/drawing/2014/main" id="{10C9EA6A-9297-4745-A33C-A8EB7FBF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RAG</a:t>
            </a:r>
          </a:p>
        </p:txBody>
      </p:sp>
      <p:sp>
        <p:nvSpPr>
          <p:cNvPr id="22" name="layer-desc-3">
            <a:extLst xmlns:a="http://schemas.openxmlformats.org/drawingml/2006/main">
              <a:ext uri="{FF2B5EF4-FFF2-40B4-BE49-F238E27FC236}">
                <a16:creationId xmlns:a16="http://schemas.microsoft.com/office/drawing/2014/main" id="{78F341F4-3CFD-40AF-9A8F-FDE2CA8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evidence</a:t>
            </a:r>
          </a:p>
        </p:txBody>
      </p:sp>
      <p:sp>
        <p:nvSpPr>
          <p:cNvPr id="23" name="layer-4">
            <a:extLst xmlns:a="http://schemas.openxmlformats.org/drawingml/2006/main">
              <a:ext uri="{FF2B5EF4-FFF2-40B4-BE49-F238E27FC236}">
                <a16:creationId xmlns:a16="http://schemas.microsoft.com/office/drawing/2014/main" id="{CC878C23-8FA9-4A61-8E2C-29260D1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4" name="layer-name-4">
            <a:extLst xmlns:a="http://schemas.openxmlformats.org/drawingml/2006/main">
              <a:ext uri="{FF2B5EF4-FFF2-40B4-BE49-F238E27FC236}">
                <a16:creationId xmlns:a16="http://schemas.microsoft.com/office/drawing/2014/main" id="{281D35DA-487C-4AB5-98D8-AE4A88B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25" name="layer-desc-4">
            <a:extLst xmlns:a="http://schemas.openxmlformats.org/drawingml/2006/main">
              <a:ext uri="{FF2B5EF4-FFF2-40B4-BE49-F238E27FC236}">
                <a16:creationId xmlns:a16="http://schemas.microsoft.com/office/drawing/2014/main" id="{B873E97F-EBC6-41BA-86DF-BC3559FB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External facts</a:t>
            </a:r>
          </a:p>
        </p:txBody>
      </p:sp>
      <p:sp>
        <p:nvSpPr>
          <p:cNvPr id="26" name="arrow-4">
            <a:extLst xmlns:a="http://schemas.openxmlformats.org/drawingml/2006/main">
              <a:ext uri="{FF2B5EF4-FFF2-40B4-BE49-F238E27FC236}">
                <a16:creationId xmlns:a16="http://schemas.microsoft.com/office/drawing/2014/main" id="{E12292A9-809E-4231-A4FE-B4931016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7" name="layer-5">
            <a:extLst xmlns:a="http://schemas.openxmlformats.org/drawingml/2006/main">
              <a:ext uri="{FF2B5EF4-FFF2-40B4-BE49-F238E27FC236}">
                <a16:creationId xmlns:a16="http://schemas.microsoft.com/office/drawing/2014/main" id="{AB9DA56B-757B-4BC4-875D-1040C8FA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8" name="layer-name-5">
            <a:extLst xmlns:a="http://schemas.openxmlformats.org/drawingml/2006/main">
              <a:ext uri="{FF2B5EF4-FFF2-40B4-BE49-F238E27FC236}">
                <a16:creationId xmlns:a16="http://schemas.microsoft.com/office/drawing/2014/main" id="{729514BA-BB24-4FEF-8E85-9C749FE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Workflow</a:t>
            </a:r>
          </a:p>
        </p:txBody>
      </p:sp>
      <p:sp>
        <p:nvSpPr>
          <p:cNvPr id="29" name="layer-desc-5">
            <a:extLst xmlns:a="http://schemas.openxmlformats.org/drawingml/2006/main">
              <a:ext uri="{FF2B5EF4-FFF2-40B4-BE49-F238E27FC236}">
                <a16:creationId xmlns:a16="http://schemas.microsoft.com/office/drawing/2014/main" id="{5E21D363-69B1-413B-9BED-8065B9B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Known order</a:t>
            </a:r>
          </a:p>
        </p:txBody>
      </p:sp>
      <p:sp>
        <p:nvSpPr>
          <p:cNvPr id="30" name="arrow-5">
            <a:extLst xmlns:a="http://schemas.openxmlformats.org/drawingml/2006/main">
              <a:ext uri="{FF2B5EF4-FFF2-40B4-BE49-F238E27FC236}">
                <a16:creationId xmlns:a16="http://schemas.microsoft.com/office/drawing/2014/main" id="{05043EC8-668F-4D35-991B-80FD029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1" name="layer-6">
            <a:extLst xmlns:a="http://schemas.openxmlformats.org/drawingml/2006/main">
              <a:ext uri="{FF2B5EF4-FFF2-40B4-BE49-F238E27FC236}">
                <a16:creationId xmlns:a16="http://schemas.microsoft.com/office/drawing/2014/main" id="{5DE48A17-F508-42A4-968D-D81C098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32" name="layer-name-6">
            <a:extLst xmlns:a="http://schemas.openxmlformats.org/drawingml/2006/main">
              <a:ext uri="{FF2B5EF4-FFF2-40B4-BE49-F238E27FC236}">
                <a16:creationId xmlns:a16="http://schemas.microsoft.com/office/drawing/2014/main" id="{907920C1-6464-413D-ACCE-B4A9AE57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33" name="layer-desc-6">
            <a:extLst xmlns:a="http://schemas.openxmlformats.org/drawingml/2006/main">
              <a:ext uri="{FF2B5EF4-FFF2-40B4-BE49-F238E27FC236}">
                <a16:creationId xmlns:a16="http://schemas.microsoft.com/office/drawing/2014/main" id="{00B57926-6A25-4D16-A6CC-25015EAD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Dynamic choice</a:t>
            </a:r>
          </a:p>
        </p:txBody>
      </p:sp>
      <p:sp>
        <p:nvSpPr>
          <p:cNvPr id="34" name="arrow-6">
            <a:extLst xmlns:a="http://schemas.openxmlformats.org/drawingml/2006/main">
              <a:ext uri="{FF2B5EF4-FFF2-40B4-BE49-F238E27FC236}">
                <a16:creationId xmlns:a16="http://schemas.microsoft.com/office/drawing/2014/main" id="{0F0EE0BC-E08B-4A4D-A8F5-941A937E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5" name="layer-7">
            <a:extLst xmlns:a="http://schemas.openxmlformats.org/drawingml/2006/main">
              <a:ext uri="{FF2B5EF4-FFF2-40B4-BE49-F238E27FC236}">
                <a16:creationId xmlns:a16="http://schemas.microsoft.com/office/drawing/2014/main" id="{B7CEBF3B-EA8C-499E-9AC2-C8EAA32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6" name="layer-name-7">
            <a:extLst xmlns:a="http://schemas.openxmlformats.org/drawingml/2006/main">
              <a:ext uri="{FF2B5EF4-FFF2-40B4-BE49-F238E27FC236}">
                <a16:creationId xmlns:a16="http://schemas.microsoft.com/office/drawing/2014/main" id="{B8011326-66F1-47C9-90E7-E1ECF7C4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7" name="layer-desc-7">
            <a:extLst xmlns:a="http://schemas.openxmlformats.org/drawingml/2006/main">
              <a:ext uri="{FF2B5EF4-FFF2-40B4-BE49-F238E27FC236}">
                <a16:creationId xmlns:a16="http://schemas.microsoft.com/office/drawing/2014/main" id="{C77ADDE9-F820-4755-9D32-6F05EBB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A2EB"/>
                </a:solidFill>
              </a:defRPr>
            </a:pPr>
            <a:r>
              <a:rPr sz="1200" b="0">
                <a:solidFill>
                  <a:srgbClr val="00A2EB"/>
                </a:solidFill>
              </a:rPr>
              <a:t>Interoperability</a:t>
            </a:r>
          </a:p>
        </p:txBody>
      </p:sp>
    </p:spTree>
    <p:extLst>
      <p:ext uri="{BB962C8B-B14F-4D97-AF65-F5344CB8AC3E}">
        <p14:creationId xmlns:p14="http://schemas.microsoft.com/office/powerpoint/2010/main" val="1332072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5">
            <a:extLst xmlns:a="http://schemas.openxmlformats.org/drawingml/2006/main">
              <a:ext uri="{FF2B5EF4-FFF2-40B4-BE49-F238E27FC236}">
                <a16:creationId xmlns:a16="http://schemas.microsoft.com/office/drawing/2014/main" id="{E7504EC8-DF14-4AAC-A243-F82E6862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TEACHING RHYTHM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E272AA1-DF1A-474F-A632-21E18F86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Every lesson alternates explanation, code, failure and verification</a:t>
            </a:r>
          </a:p>
        </p:txBody>
      </p:sp>
      <p:sp>
        <p:nvSpPr>
          <p:cNvPr id="3" name="progress-5">
            <a:extLst xmlns:a="http://schemas.openxmlformats.org/drawingml/2006/main">
              <a:ext uri="{FF2B5EF4-FFF2-40B4-BE49-F238E27FC236}">
                <a16:creationId xmlns:a16="http://schemas.microsoft.com/office/drawing/2014/main" id="{9632D6C1-35DC-46B7-B24D-7E38192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5">
            <a:extLst xmlns:a="http://schemas.openxmlformats.org/drawingml/2006/main">
              <a:ext uri="{FF2B5EF4-FFF2-40B4-BE49-F238E27FC236}">
                <a16:creationId xmlns:a16="http://schemas.microsoft.com/office/drawing/2014/main" id="{5888CBB1-9DC1-4F9B-968D-A3DC92E0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450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4BAAE458-07D9-4E2B-8FDB-9CDC8FBC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5">
            <a:extLst xmlns:a="http://schemas.openxmlformats.org/drawingml/2006/main">
              <a:ext uri="{FF2B5EF4-FFF2-40B4-BE49-F238E27FC236}">
                <a16:creationId xmlns:a16="http://schemas.microsoft.com/office/drawing/2014/main" id="{C8E2E165-C551-45E9-8356-C764AF96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METHOD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EAFCF600-0E74-440F-8583-7C5DF252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05</a:t>
            </a:r>
          </a:p>
        </p:txBody>
      </p:sp>
      <p:sp>
        <p:nvSpPr>
          <p:cNvPr id="8" name="rhythm-num-0">
            <a:extLst xmlns:a="http://schemas.openxmlformats.org/drawingml/2006/main">
              <a:ext uri="{FF2B5EF4-FFF2-40B4-BE49-F238E27FC236}">
                <a16:creationId xmlns:a16="http://schemas.microsoft.com/office/drawing/2014/main" id="{BBC8741E-5A43-42EC-B43B-D98CA407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rhythm-label-0">
            <a:extLst xmlns:a="http://schemas.openxmlformats.org/drawingml/2006/main">
              <a:ext uri="{FF2B5EF4-FFF2-40B4-BE49-F238E27FC236}">
                <a16:creationId xmlns:a16="http://schemas.microsoft.com/office/drawing/2014/main" id="{2536E8B0-943B-4FCD-BF11-FD440059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669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WHY</a:t>
            </a:r>
          </a:p>
        </p:txBody>
      </p:sp>
      <p:sp>
        <p:nvSpPr>
          <p:cNvPr id="10" name="rhythm-desc-0">
            <a:extLst xmlns:a="http://schemas.openxmlformats.org/drawingml/2006/main">
              <a:ext uri="{FF2B5EF4-FFF2-40B4-BE49-F238E27FC236}">
                <a16:creationId xmlns:a16="http://schemas.microsoft.com/office/drawing/2014/main" id="{282402A2-C6A1-41AC-817C-1CEAF6F9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764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engineering problem</a:t>
            </a:r>
          </a:p>
        </p:txBody>
      </p:sp>
      <p:sp>
        <p:nvSpPr>
          <p:cNvPr id="11" name="rhythm-rule-0">
            <a:extLst xmlns:a="http://schemas.openxmlformats.org/drawingml/2006/main">
              <a:ext uri="{FF2B5EF4-FFF2-40B4-BE49-F238E27FC236}">
                <a16:creationId xmlns:a16="http://schemas.microsoft.com/office/drawing/2014/main" id="{26450573-6CE2-4699-ABC9-B2448018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90725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hythm-num-1">
            <a:extLst xmlns:a="http://schemas.openxmlformats.org/drawingml/2006/main">
              <a:ext uri="{FF2B5EF4-FFF2-40B4-BE49-F238E27FC236}">
                <a16:creationId xmlns:a16="http://schemas.microsoft.com/office/drawing/2014/main" id="{2A3C8E32-3BA4-43EF-986F-D3E71B9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rhythm-label-1">
            <a:extLst xmlns:a="http://schemas.openxmlformats.org/drawingml/2006/main">
              <a:ext uri="{FF2B5EF4-FFF2-40B4-BE49-F238E27FC236}">
                <a16:creationId xmlns:a16="http://schemas.microsoft.com/office/drawing/2014/main" id="{DACA77AC-D62C-413B-990B-EF413863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050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BUILD</a:t>
            </a:r>
          </a:p>
        </p:txBody>
      </p:sp>
      <p:sp>
        <p:nvSpPr>
          <p:cNvPr id="14" name="rhythm-desc-1">
            <a:extLst xmlns:a="http://schemas.openxmlformats.org/drawingml/2006/main">
              <a:ext uri="{FF2B5EF4-FFF2-40B4-BE49-F238E27FC236}">
                <a16:creationId xmlns:a16="http://schemas.microsoft.com/office/drawing/2014/main" id="{2A542925-7FA4-4F2F-8E64-B6E9F17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146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smallest working version</a:t>
            </a:r>
          </a:p>
        </p:txBody>
      </p:sp>
      <p:sp>
        <p:nvSpPr>
          <p:cNvPr id="15" name="rhythm-rule-1">
            <a:extLst xmlns:a="http://schemas.openxmlformats.org/drawingml/2006/main">
              <a:ext uri="{FF2B5EF4-FFF2-40B4-BE49-F238E27FC236}">
                <a16:creationId xmlns:a16="http://schemas.microsoft.com/office/drawing/2014/main" id="{24DB0CB3-06E6-423F-8AE9-DE9A3C01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289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hythm-num-2">
            <a:extLst xmlns:a="http://schemas.openxmlformats.org/drawingml/2006/main">
              <a:ext uri="{FF2B5EF4-FFF2-40B4-BE49-F238E27FC236}">
                <a16:creationId xmlns:a16="http://schemas.microsoft.com/office/drawing/2014/main" id="{08C4B809-41A1-4736-A639-0332B802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03</a:t>
            </a:r>
          </a:p>
        </p:txBody>
      </p:sp>
      <p:sp>
        <p:nvSpPr>
          <p:cNvPr id="17" name="rhythm-label-2">
            <a:extLst xmlns:a="http://schemas.openxmlformats.org/drawingml/2006/main">
              <a:ext uri="{FF2B5EF4-FFF2-40B4-BE49-F238E27FC236}">
                <a16:creationId xmlns:a16="http://schemas.microsoft.com/office/drawing/2014/main" id="{D11BA380-69F6-4D3E-9C0F-2F58BD8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8" name="rhythm-desc-2">
            <a:extLst xmlns:a="http://schemas.openxmlformats.org/drawingml/2006/main">
              <a:ext uri="{FF2B5EF4-FFF2-40B4-BE49-F238E27FC236}">
                <a16:creationId xmlns:a16="http://schemas.microsoft.com/office/drawing/2014/main" id="{D25C1ACE-12C7-46FF-94CC-995121F6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controlled failure</a:t>
            </a:r>
          </a:p>
        </p:txBody>
      </p:sp>
      <p:sp>
        <p:nvSpPr>
          <p:cNvPr id="19" name="rhythm-rule-2">
            <a:extLst xmlns:a="http://schemas.openxmlformats.org/drawingml/2006/main">
              <a:ext uri="{FF2B5EF4-FFF2-40B4-BE49-F238E27FC236}">
                <a16:creationId xmlns:a16="http://schemas.microsoft.com/office/drawing/2014/main" id="{EA417B79-D3ED-421B-9B80-6381EAA6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67075"/>
            <a:ext cx="1200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hythm-num-3">
            <a:extLst xmlns:a="http://schemas.openxmlformats.org/drawingml/2006/main">
              <a:ext uri="{FF2B5EF4-FFF2-40B4-BE49-F238E27FC236}">
                <a16:creationId xmlns:a16="http://schemas.microsoft.com/office/drawing/2014/main" id="{333BFB38-1C02-4AE0-AA73-282A9A60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rhythm-label-3">
            <a:extLst xmlns:a="http://schemas.openxmlformats.org/drawingml/2006/main">
              <a:ext uri="{FF2B5EF4-FFF2-40B4-BE49-F238E27FC236}">
                <a16:creationId xmlns:a16="http://schemas.microsoft.com/office/drawing/2014/main" id="{437D3B0A-0B91-4F18-AE7D-7D37E558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8142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IMPROVE</a:t>
            </a:r>
          </a:p>
        </p:txBody>
      </p:sp>
      <p:sp>
        <p:nvSpPr>
          <p:cNvPr id="22" name="rhythm-desc-3">
            <a:extLst xmlns:a="http://schemas.openxmlformats.org/drawingml/2006/main">
              <a:ext uri="{FF2B5EF4-FFF2-40B4-BE49-F238E27FC236}">
                <a16:creationId xmlns:a16="http://schemas.microsoft.com/office/drawing/2014/main" id="{FC92A149-4E87-40E0-986A-F044468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relevant pattern</a:t>
            </a:r>
          </a:p>
        </p:txBody>
      </p:sp>
      <p:sp>
        <p:nvSpPr>
          <p:cNvPr id="23" name="rhythm-rule-3">
            <a:extLst xmlns:a="http://schemas.openxmlformats.org/drawingml/2006/main">
              <a:ext uri="{FF2B5EF4-FFF2-40B4-BE49-F238E27FC236}">
                <a16:creationId xmlns:a16="http://schemas.microsoft.com/office/drawing/2014/main" id="{AFA69EC6-4DD1-43AB-8497-668B0256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hythm-num-4">
            <a:extLst xmlns:a="http://schemas.openxmlformats.org/drawingml/2006/main">
              <a:ext uri="{FF2B5EF4-FFF2-40B4-BE49-F238E27FC236}">
                <a16:creationId xmlns:a16="http://schemas.microsoft.com/office/drawing/2014/main" id="{2ACFA19A-C40B-4159-8989-6152D772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05</a:t>
            </a:r>
          </a:p>
        </p:txBody>
      </p:sp>
      <p:sp>
        <p:nvSpPr>
          <p:cNvPr id="25" name="rhythm-label-4">
            <a:extLst xmlns:a="http://schemas.openxmlformats.org/drawingml/2006/main">
              <a:ext uri="{FF2B5EF4-FFF2-40B4-BE49-F238E27FC236}">
                <a16:creationId xmlns:a16="http://schemas.microsoft.com/office/drawing/2014/main" id="{A2480783-D5D6-4B60-96FE-392AE0C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VERIFY</a:t>
            </a:r>
          </a:p>
        </p:txBody>
      </p:sp>
      <p:sp>
        <p:nvSpPr>
          <p:cNvPr id="26" name="rhythm-desc-4">
            <a:extLst xmlns:a="http://schemas.openxmlformats.org/drawingml/2006/main">
              <a:ext uri="{FF2B5EF4-FFF2-40B4-BE49-F238E27FC236}">
                <a16:creationId xmlns:a16="http://schemas.microsoft.com/office/drawing/2014/main" id="{05013568-8638-4BB9-B868-6E64398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291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test or evaluation</a:t>
            </a:r>
          </a:p>
        </p:txBody>
      </p:sp>
      <p:sp>
        <p:nvSpPr>
          <p:cNvPr id="27" name="rhythm-rule-4">
            <a:extLst xmlns:a="http://schemas.openxmlformats.org/drawingml/2006/main">
              <a:ext uri="{FF2B5EF4-FFF2-40B4-BE49-F238E27FC236}">
                <a16:creationId xmlns:a16="http://schemas.microsoft.com/office/drawing/2014/main" id="{80016713-5D42-42A2-8EEF-6F023C0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hythm-num-5">
            <a:extLst xmlns:a="http://schemas.openxmlformats.org/drawingml/2006/main">
              <a:ext uri="{FF2B5EF4-FFF2-40B4-BE49-F238E27FC236}">
                <a16:creationId xmlns:a16="http://schemas.microsoft.com/office/drawing/2014/main" id="{76B17378-0991-43D9-AD58-25D10DE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06</a:t>
            </a:r>
          </a:p>
        </p:txBody>
      </p:sp>
      <p:sp>
        <p:nvSpPr>
          <p:cNvPr id="29" name="rhythm-label-5">
            <a:extLst xmlns:a="http://schemas.openxmlformats.org/drawingml/2006/main">
              <a:ext uri="{FF2B5EF4-FFF2-40B4-BE49-F238E27FC236}">
                <a16:creationId xmlns:a16="http://schemas.microsoft.com/office/drawing/2014/main" id="{01356DA9-F4A9-4668-8E33-B303E27C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577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INTEGRATE</a:t>
            </a:r>
          </a:p>
        </p:txBody>
      </p:sp>
      <p:sp>
        <p:nvSpPr>
          <p:cNvPr id="30" name="rhythm-desc-5">
            <a:extLst xmlns:a="http://schemas.openxmlformats.org/drawingml/2006/main">
              <a:ext uri="{FF2B5EF4-FFF2-40B4-BE49-F238E27FC236}">
                <a16:creationId xmlns:a16="http://schemas.microsoft.com/office/drawing/2014/main" id="{807DC0EC-84D8-4D6A-B44F-D88B861C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capstone increment</a:t>
            </a:r>
          </a:p>
        </p:txBody>
      </p:sp>
      <p:sp>
        <p:nvSpPr>
          <p:cNvPr id="31" name="rhythm-rule-5">
            <a:extLst xmlns:a="http://schemas.openxmlformats.org/drawingml/2006/main">
              <a:ext uri="{FF2B5EF4-FFF2-40B4-BE49-F238E27FC236}">
                <a16:creationId xmlns:a16="http://schemas.microsoft.com/office/drawing/2014/main" id="{6620A4C0-723C-47B2-9D5E-81068CAF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4449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6">
            <a:extLst xmlns:a="http://schemas.openxmlformats.org/drawingml/2006/main">
              <a:ext uri="{FF2B5EF4-FFF2-40B4-BE49-F238E27FC236}">
                <a16:creationId xmlns:a16="http://schemas.microsoft.com/office/drawing/2014/main" id="{72E18E22-BE4E-4FB2-B709-8F264556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6457F29-E7AB-4182-A216-7836A385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morning: model calls become evidence-grounded answers</a:t>
            </a:r>
          </a:p>
        </p:txBody>
      </p:sp>
      <p:sp>
        <p:nvSpPr>
          <p:cNvPr id="3" name="progress-6">
            <a:extLst xmlns:a="http://schemas.openxmlformats.org/drawingml/2006/main">
              <a:ext uri="{FF2B5EF4-FFF2-40B4-BE49-F238E27FC236}">
                <a16:creationId xmlns:a16="http://schemas.microsoft.com/office/drawing/2014/main" id="{63375691-A335-4225-ADFA-38DEE279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6">
            <a:extLst xmlns:a="http://schemas.openxmlformats.org/drawingml/2006/main">
              <a:ext uri="{FF2B5EF4-FFF2-40B4-BE49-F238E27FC236}">
                <a16:creationId xmlns:a16="http://schemas.microsoft.com/office/drawing/2014/main" id="{98142CD7-2A99-4FF3-9964-EAFE037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541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AA282FE1-4086-47BB-A416-C7441D59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6">
            <a:extLst xmlns:a="http://schemas.openxmlformats.org/drawingml/2006/main">
              <a:ext uri="{FF2B5EF4-FFF2-40B4-BE49-F238E27FC236}">
                <a16:creationId xmlns:a16="http://schemas.microsoft.com/office/drawing/2014/main" id="{EA0BBC8D-8644-47B2-A6AA-39B9777B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270ED7A7-9089-49D7-95EE-B8EDF70A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06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B71F4C86-8964-4900-AB83-E53A324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24075"/>
            <a:ext cx="285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9DA96E28-9586-4F06-AE21-7228F535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4DEB0F1E-7D8E-446E-A2CC-0D21C31E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0955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EB866A66-7FBC-47CB-B1B1-649C1BF0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097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Product demo and system architecture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FA69C7B6-1B7E-4C0C-A85C-D931E050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E5F1B0B-2D4F-489C-95E2-B771A6F1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BFC81BE4-288E-4D49-83E7-FADDADD3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714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104CCE85-1B84-498D-86BB-158F3DB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28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Local and hosted model gateway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51B906C-B7F3-4731-8523-0D55FA8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02A25B1C-E523-48B7-B3C1-22789D9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10:00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74C17CF4-519D-4C9D-A3AE-9BA5B29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333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21A87BBB-893B-46B6-BB87-3189E7E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Prompts and structured outputs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FB5D5A32-34A8-4F5C-8811-FD3E7D45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6A96FF2-F727-4EEB-A5A6-6EDABF23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DC1B8157-75EB-414E-8019-B51A22E0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52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DF4C5A9A-EF92-4951-BBDD-B4DD40AC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67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C7BC6FF-D8B9-4DC2-BF80-A4A57CB5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76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F142849F-69D6-4A02-A5A6-1C6C4EA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49ADCF49-AF50-4217-967F-2B723C31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502AB9F7-D183-4EAE-AB33-B4E6B78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86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Context engineering and CAG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10C89372-E95D-45E0-B847-1F821B8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95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time-5">
            <a:extLst xmlns:a="http://schemas.openxmlformats.org/drawingml/2006/main">
              <a:ext uri="{FF2B5EF4-FFF2-40B4-BE49-F238E27FC236}">
                <a16:creationId xmlns:a16="http://schemas.microsoft.com/office/drawing/2014/main" id="{373AF5F3-8D55-4736-89A5-A3146297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11:30</a:t>
            </a:r>
          </a:p>
        </p:txBody>
      </p:sp>
      <p:sp>
        <p:nvSpPr>
          <p:cNvPr id="30" name="dot-5">
            <a:extLst xmlns:a="http://schemas.openxmlformats.org/drawingml/2006/main">
              <a:ext uri="{FF2B5EF4-FFF2-40B4-BE49-F238E27FC236}">
                <a16:creationId xmlns:a16="http://schemas.microsoft.com/office/drawing/2014/main" id="{37C6E0A0-A839-4987-8ACD-38B1DFE4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191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item-5">
            <a:extLst xmlns:a="http://schemas.openxmlformats.org/drawingml/2006/main">
              <a:ext uri="{FF2B5EF4-FFF2-40B4-BE49-F238E27FC236}">
                <a16:creationId xmlns:a16="http://schemas.microsoft.com/office/drawing/2014/main" id="{7086FA79-0825-4E41-8616-FDA0D8E7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05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from first principles</a:t>
            </a:r>
          </a:p>
        </p:txBody>
      </p:sp>
      <p:sp>
        <p:nvSpPr>
          <p:cNvPr id="32" name="note-5">
            <a:extLst xmlns:a="http://schemas.openxmlformats.org/drawingml/2006/main">
              <a:ext uri="{FF2B5EF4-FFF2-40B4-BE49-F238E27FC236}">
                <a16:creationId xmlns:a16="http://schemas.microsoft.com/office/drawing/2014/main" id="{5A6F5552-87AA-41E0-A1F4-38E15CC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14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</p:spTree>
    <p:extLst>
      <p:ext uri="{BB962C8B-B14F-4D97-AF65-F5344CB8AC3E}">
        <p14:creationId xmlns:p14="http://schemas.microsoft.com/office/powerpoint/2010/main" val="2093903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7">
            <a:extLst xmlns:a="http://schemas.openxmlformats.org/drawingml/2006/main">
              <a:ext uri="{FF2B5EF4-FFF2-40B4-BE49-F238E27FC236}">
                <a16:creationId xmlns:a16="http://schemas.microsoft.com/office/drawing/2014/main" id="{1411DDB5-0EC6-4D76-9EFB-3E5A34C3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C74461C4-B43D-494C-B545-CD8D8842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afternoon: document structure determines retrieval quality</a:t>
            </a:r>
          </a:p>
        </p:txBody>
      </p:sp>
      <p:sp>
        <p:nvSpPr>
          <p:cNvPr id="3" name="progress-7">
            <a:extLst xmlns:a="http://schemas.openxmlformats.org/drawingml/2006/main">
              <a:ext uri="{FF2B5EF4-FFF2-40B4-BE49-F238E27FC236}">
                <a16:creationId xmlns:a16="http://schemas.microsoft.com/office/drawing/2014/main" id="{46EF5F1E-190B-446C-8828-1BC5BC21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7">
            <a:extLst xmlns:a="http://schemas.openxmlformats.org/drawingml/2006/main">
              <a:ext uri="{FF2B5EF4-FFF2-40B4-BE49-F238E27FC236}">
                <a16:creationId xmlns:a16="http://schemas.microsoft.com/office/drawing/2014/main" id="{B5BE6FDE-2715-4955-81FA-CD7D4749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631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D4494CA4-D7B4-4B8E-AA0F-7B0B12E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7">
            <a:extLst xmlns:a="http://schemas.openxmlformats.org/drawingml/2006/main">
              <a:ext uri="{FF2B5EF4-FFF2-40B4-BE49-F238E27FC236}">
                <a16:creationId xmlns:a16="http://schemas.microsoft.com/office/drawing/2014/main" id="{26EFFEDF-1A25-4C83-9290-B9045DA1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E8110F46-8506-40F0-A150-1FD3BF36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07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E719FB6B-D3A3-467A-AF2C-418C55DB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C05330BF-D425-4E93-836A-D966BB65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2D710BF0-327B-4F4A-9909-BD4A142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59D61D7-D073-4664-ACD8-91AF5C52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documents and chunking laboratory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1719F86A-FC86-489B-9813-6165990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90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3B473EBD-D0DE-427A-9F84-CA4B1DE1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15:00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53672913-A116-4744-8F63-5E05778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6B3D7711-BD34-4DB2-B161-6F7EAD0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9C7E997D-5180-4DB4-9774-7D9E3B5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C3B572FB-6231-4744-A0D0-D39620F6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B9652C02-B1C0-4FE5-A711-CCEBCAF5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F95C43CE-60BD-4DD1-BCB7-D7E5304D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Embeddings and hybrid retrieval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21A00B4C-C98B-4A94-908D-18B7E20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03EC955A-0F50-4AC5-AD34-664C3DFC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16:00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110B38F-3C1F-4673-B56B-0D033EF6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5EAA75C3-CE9F-41A4-A9AC-756F04E0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evaluation and tracing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C2024ED0-030F-48A2-9775-55DBEEC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B935B309-3BEB-4EBC-A06D-334F851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2F37FF84-0257-465E-B810-9AEC450B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776856B4-71D6-4BAD-AD5D-19BA2691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Integration checkpoint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DC8B9A41-AA2A-4360-80EE-31025A59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15 min</a:t>
            </a:r>
          </a:p>
        </p:txBody>
      </p:sp>
      <p:sp>
        <p:nvSpPr>
          <p:cNvPr id="29" name="day1-question">
            <a:extLst xmlns:a="http://schemas.openxmlformats.org/drawingml/2006/main">
              <a:ext uri="{FF2B5EF4-FFF2-40B4-BE49-F238E27FC236}">
                <a16:creationId xmlns:a16="http://schemas.microsoft.com/office/drawing/2014/main" id="{F23BCF17-E5B9-4B72-90A6-86FB080A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Which chunking strategy actually retrieves the right financial evidence?</a:t>
            </a:r>
          </a:p>
        </p:txBody>
      </p:sp>
    </p:spTree>
    <p:extLst>
      <p:ext uri="{BB962C8B-B14F-4D97-AF65-F5344CB8AC3E}">
        <p14:creationId xmlns:p14="http://schemas.microsoft.com/office/powerpoint/2010/main" val="9004520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8">
            <a:extLst xmlns:a="http://schemas.openxmlformats.org/drawingml/2006/main">
              <a:ext uri="{FF2B5EF4-FFF2-40B4-BE49-F238E27FC236}">
                <a16:creationId xmlns:a16="http://schemas.microsoft.com/office/drawing/2014/main" id="{7D8C1A60-B0DD-47D1-AEB0-8170FE9D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WORKING DELIVERABLE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3A0F5277-FD7E-48EF-9395-006245C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ends with an evaluated financial RAG pipeline</a:t>
            </a:r>
          </a:p>
        </p:txBody>
      </p:sp>
      <p:sp>
        <p:nvSpPr>
          <p:cNvPr id="3" name="progress-8">
            <a:extLst xmlns:a="http://schemas.openxmlformats.org/drawingml/2006/main">
              <a:ext uri="{FF2B5EF4-FFF2-40B4-BE49-F238E27FC236}">
                <a16:creationId xmlns:a16="http://schemas.microsoft.com/office/drawing/2014/main" id="{9C6ED6F1-DE66-4946-A718-2E07800B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8">
            <a:extLst xmlns:a="http://schemas.openxmlformats.org/drawingml/2006/main">
              <a:ext uri="{FF2B5EF4-FFF2-40B4-BE49-F238E27FC236}">
                <a16:creationId xmlns:a16="http://schemas.microsoft.com/office/drawing/2014/main" id="{1B8B5A67-BB21-481C-BE81-84188500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21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6F643744-23F3-4EE2-91C3-FF0BF07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8">
            <a:extLst xmlns:a="http://schemas.openxmlformats.org/drawingml/2006/main">
              <a:ext uri="{FF2B5EF4-FFF2-40B4-BE49-F238E27FC236}">
                <a16:creationId xmlns:a16="http://schemas.microsoft.com/office/drawing/2014/main" id="{5E2F9653-5EF2-46FC-B03D-BD572703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CHECKPOINT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B16EF1E6-E197-4231-B282-56B1213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08</a:t>
            </a:r>
          </a:p>
        </p:txBody>
      </p:sp>
      <p:sp>
        <p:nvSpPr>
          <p:cNvPr id="8" name="outcome-verb-0">
            <a:extLst xmlns:a="http://schemas.openxmlformats.org/drawingml/2006/main">
              <a:ext uri="{FF2B5EF4-FFF2-40B4-BE49-F238E27FC236}">
                <a16:creationId xmlns:a16="http://schemas.microsoft.com/office/drawing/2014/main" id="{841FD301-9699-41D6-A222-E70D4DC2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PARSE</a:t>
            </a:r>
          </a:p>
        </p:txBody>
      </p:sp>
      <p:sp>
        <p:nvSpPr>
          <p:cNvPr id="9" name="outcome-text-0">
            <a:extLst xmlns:a="http://schemas.openxmlformats.org/drawingml/2006/main">
              <a:ext uri="{FF2B5EF4-FFF2-40B4-BE49-F238E27FC236}">
                <a16:creationId xmlns:a16="http://schemas.microsoft.com/office/drawing/2014/main" id="{A89B92F9-4AB9-47D3-9E35-9F75602D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9145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Documents keep structure and provenance</a:t>
            </a:r>
          </a:p>
        </p:txBody>
      </p:sp>
      <p:sp>
        <p:nvSpPr>
          <p:cNvPr id="10" name="outcome-line-0">
            <a:extLst xmlns:a="http://schemas.openxmlformats.org/drawingml/2006/main">
              <a:ext uri="{FF2B5EF4-FFF2-40B4-BE49-F238E27FC236}">
                <a16:creationId xmlns:a16="http://schemas.microsoft.com/office/drawing/2014/main" id="{5AFFB169-FC8E-4DE1-9AFB-3201E960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utcome-verb-1">
            <a:extLst xmlns:a="http://schemas.openxmlformats.org/drawingml/2006/main">
              <a:ext uri="{FF2B5EF4-FFF2-40B4-BE49-F238E27FC236}">
                <a16:creationId xmlns:a16="http://schemas.microsoft.com/office/drawing/2014/main" id="{C941DED6-B0BE-4591-826B-8F9285A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CHUNK</a:t>
            </a:r>
          </a:p>
        </p:txBody>
      </p:sp>
      <p:sp>
        <p:nvSpPr>
          <p:cNvPr id="12" name="outcome-text-1">
            <a:extLst xmlns:a="http://schemas.openxmlformats.org/drawingml/2006/main">
              <a:ext uri="{FF2B5EF4-FFF2-40B4-BE49-F238E27FC236}">
                <a16:creationId xmlns:a16="http://schemas.microsoft.com/office/drawing/2014/main" id="{05B780B2-A38D-480D-BED1-9069804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384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Strategies are configurable and comparable</a:t>
            </a:r>
          </a:p>
        </p:txBody>
      </p:sp>
      <p:sp>
        <p:nvSpPr>
          <p:cNvPr id="13" name="outcome-line-1">
            <a:extLst xmlns:a="http://schemas.openxmlformats.org/drawingml/2006/main">
              <a:ext uri="{FF2B5EF4-FFF2-40B4-BE49-F238E27FC236}">
                <a16:creationId xmlns:a16="http://schemas.microsoft.com/office/drawing/2014/main" id="{124B25F2-A9E6-40D9-8203-428008A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utcome-verb-2">
            <a:extLst xmlns:a="http://schemas.openxmlformats.org/drawingml/2006/main">
              <a:ext uri="{FF2B5EF4-FFF2-40B4-BE49-F238E27FC236}">
                <a16:creationId xmlns:a16="http://schemas.microsoft.com/office/drawing/2014/main" id="{5B2EA6D3-686E-4BB9-BDAA-47D810B8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RETRIEVE</a:t>
            </a:r>
          </a:p>
        </p:txBody>
      </p:sp>
      <p:sp>
        <p:nvSpPr>
          <p:cNvPr id="15" name="outcome-text-2">
            <a:extLst xmlns:a="http://schemas.openxmlformats.org/drawingml/2006/main">
              <a:ext uri="{FF2B5EF4-FFF2-40B4-BE49-F238E27FC236}">
                <a16:creationId xmlns:a16="http://schemas.microsoft.com/office/drawing/2014/main" id="{E69C12D4-9A43-4A8C-9523-CEF38B9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Hybrid search respects company and period</a:t>
            </a:r>
          </a:p>
        </p:txBody>
      </p:sp>
      <p:sp>
        <p:nvSpPr>
          <p:cNvPr id="16" name="outcome-line-2">
            <a:extLst xmlns:a="http://schemas.openxmlformats.org/drawingml/2006/main">
              <a:ext uri="{FF2B5EF4-FFF2-40B4-BE49-F238E27FC236}">
                <a16:creationId xmlns:a16="http://schemas.microsoft.com/office/drawing/2014/main" id="{0CF26CDF-2B77-4909-93FB-B334C9A0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004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utcome-verb-3">
            <a:extLst xmlns:a="http://schemas.openxmlformats.org/drawingml/2006/main">
              <a:ext uri="{FF2B5EF4-FFF2-40B4-BE49-F238E27FC236}">
                <a16:creationId xmlns:a16="http://schemas.microsoft.com/office/drawing/2014/main" id="{3A955198-EBF6-428B-B98D-8625C894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ANSWER</a:t>
            </a:r>
          </a:p>
        </p:txBody>
      </p:sp>
      <p:sp>
        <p:nvSpPr>
          <p:cNvPr id="18" name="outcome-text-3">
            <a:extLst xmlns:a="http://schemas.openxmlformats.org/drawingml/2006/main">
              <a:ext uri="{FF2B5EF4-FFF2-40B4-BE49-F238E27FC236}">
                <a16:creationId xmlns:a16="http://schemas.microsoft.com/office/drawing/2014/main" id="{CDD24A06-D3C1-4322-8653-AB3EB15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862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Claims carry citations and evidence types</a:t>
            </a:r>
          </a:p>
        </p:txBody>
      </p:sp>
      <p:sp>
        <p:nvSpPr>
          <p:cNvPr id="19" name="outcome-line-3">
            <a:extLst xmlns:a="http://schemas.openxmlformats.org/drawingml/2006/main">
              <a:ext uri="{FF2B5EF4-FFF2-40B4-BE49-F238E27FC236}">
                <a16:creationId xmlns:a16="http://schemas.microsoft.com/office/drawing/2014/main" id="{AAC9E3E5-ED9A-4F6B-A222-7FE73929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243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verb-4">
            <a:extLst xmlns:a="http://schemas.openxmlformats.org/drawingml/2006/main">
              <a:ext uri="{FF2B5EF4-FFF2-40B4-BE49-F238E27FC236}">
                <a16:creationId xmlns:a16="http://schemas.microsoft.com/office/drawing/2014/main" id="{8AD46A72-8F62-46CF-A02D-103A6F0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EVALUATE</a:t>
            </a:r>
          </a:p>
        </p:txBody>
      </p:sp>
      <p:sp>
        <p:nvSpPr>
          <p:cNvPr id="21" name="outcome-text-4">
            <a:extLst xmlns:a="http://schemas.openxmlformats.org/drawingml/2006/main">
              <a:ext uri="{FF2B5EF4-FFF2-40B4-BE49-F238E27FC236}">
                <a16:creationId xmlns:a16="http://schemas.microsoft.com/office/drawing/2014/main" id="{0C9D45A1-D0D4-481C-AF3B-27EF65F9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101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Failures are measured in traces and metrics</a:t>
            </a:r>
          </a:p>
        </p:txBody>
      </p:sp>
      <p:sp>
        <p:nvSpPr>
          <p:cNvPr id="22" name="outcome-line-4">
            <a:extLst xmlns:a="http://schemas.openxmlformats.org/drawingml/2006/main">
              <a:ext uri="{FF2B5EF4-FFF2-40B4-BE49-F238E27FC236}">
                <a16:creationId xmlns:a16="http://schemas.microsoft.com/office/drawing/2014/main" id="{F0EBCDFA-9EC0-4D6E-8D02-14AFE9A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482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2533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9">
            <a:extLst xmlns:a="http://schemas.openxmlformats.org/drawingml/2006/main">
              <a:ext uri="{FF2B5EF4-FFF2-40B4-BE49-F238E27FC236}">
                <a16:creationId xmlns:a16="http://schemas.microsoft.com/office/drawing/2014/main" id="{3FBF2B83-43C8-40B5-810C-BBBF84CD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9C9D658-76D5-4DE2-95F5-1412E768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morning: deterministic workflows become bounded agents</a:t>
            </a:r>
          </a:p>
        </p:txBody>
      </p:sp>
      <p:sp>
        <p:nvSpPr>
          <p:cNvPr id="3" name="progress-9">
            <a:extLst xmlns:a="http://schemas.openxmlformats.org/drawingml/2006/main">
              <a:ext uri="{FF2B5EF4-FFF2-40B4-BE49-F238E27FC236}">
                <a16:creationId xmlns:a16="http://schemas.microsoft.com/office/drawing/2014/main" id="{549B736D-C97A-4DDF-8B86-861E3A3C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9">
            <a:extLst xmlns:a="http://schemas.openxmlformats.org/drawingml/2006/main">
              <a:ext uri="{FF2B5EF4-FFF2-40B4-BE49-F238E27FC236}">
                <a16:creationId xmlns:a16="http://schemas.microsoft.com/office/drawing/2014/main" id="{97DFBFE1-1EE1-454F-AFB4-263B6BED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811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4FB702D6-0B67-476E-A01E-A698E1D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9">
            <a:extLst xmlns:a="http://schemas.openxmlformats.org/drawingml/2006/main">
              <a:ext uri="{FF2B5EF4-FFF2-40B4-BE49-F238E27FC236}">
                <a16:creationId xmlns:a16="http://schemas.microsoft.com/office/drawing/2014/main" id="{595FF209-653C-4AFB-AFF3-D34D1D61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E0C4473E-73C1-4CFA-9F42-CB01F082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09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244F507F-ECC0-4BFB-9631-3DDD051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F616473-142E-4D43-84B5-54BE5F6E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FDAF509C-C948-4EF9-8E2D-B6D48117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051F9EF6-5F7F-417B-B950-13AD509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Debugging review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9B2240AF-29F3-4352-BFC8-B5E9523F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5580D440-D852-4264-A1AB-906536C8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ECC20180-921B-47C3-AFEE-6CCC7BD8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CEE184A0-AE24-4DE5-B326-8AF1C716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Stateful RAG workflow with LangGraph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B139D65-FA42-4651-915E-C082D270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8906380B-C6AD-4E89-A1E7-D5C7134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46E99DC2-7C86-4183-9308-F39BCB94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88CF40CC-1458-4F0B-ACEB-3F1604AA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3B1F425-D121-4653-A1F6-121E5F0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1852052-06F7-45ED-B4E6-3009C83F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BE850EE2-6C65-47E7-82E5-A98928C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73FF1C0D-E103-4890-8DB8-C93564A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tools and deterministic workflows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B51DF6CF-6302-4E97-9EF6-6BFBE99B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788A77A8-7D7B-4D10-A57A-B4B161F7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11:15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355C8AC4-DBBC-4455-866B-699E9258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EC32A5C7-DFED-4509-A96C-F40868C8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Workflow versus agent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CCD07193-6803-47BA-A2DB-7D69546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day2-question">
            <a:extLst xmlns:a="http://schemas.openxmlformats.org/drawingml/2006/main">
              <a:ext uri="{FF2B5EF4-FFF2-40B4-BE49-F238E27FC236}">
                <a16:creationId xmlns:a16="http://schemas.microsoft.com/office/drawing/2014/main" id="{FA4214EF-15B6-4A9C-AA3E-080924B5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Autonomy is introduced only where dynamic tool choice creates value.</a:t>
            </a:r>
          </a:p>
        </p:txBody>
      </p:sp>
    </p:spTree>
    <p:extLst>
      <p:ext uri="{BB962C8B-B14F-4D97-AF65-F5344CB8AC3E}">
        <p14:creationId xmlns:p14="http://schemas.microsoft.com/office/powerpoint/2010/main" val="10932263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10">
            <a:extLst xmlns:a="http://schemas.openxmlformats.org/drawingml/2006/main">
              <a:ext uri="{FF2B5EF4-FFF2-40B4-BE49-F238E27FC236}">
                <a16:creationId xmlns:a16="http://schemas.microsoft.com/office/drawing/2014/main" id="{E455E0F2-A740-49B0-B56C-2C8D4BCB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1CD262B-A4C8-46A9-AB27-AABDDE9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afternoon: MCP and evaluation complete the application</a:t>
            </a:r>
          </a:p>
        </p:txBody>
      </p:sp>
      <p:sp>
        <p:nvSpPr>
          <p:cNvPr id="3" name="progress-10">
            <a:extLst xmlns:a="http://schemas.openxmlformats.org/drawingml/2006/main">
              <a:ext uri="{FF2B5EF4-FFF2-40B4-BE49-F238E27FC236}">
                <a16:creationId xmlns:a16="http://schemas.microsoft.com/office/drawing/2014/main" id="{AF14526B-CDE4-49C4-B3CB-2CF4B92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0">
            <a:extLst xmlns:a="http://schemas.openxmlformats.org/drawingml/2006/main">
              <a:ext uri="{FF2B5EF4-FFF2-40B4-BE49-F238E27FC236}">
                <a16:creationId xmlns:a16="http://schemas.microsoft.com/office/drawing/2014/main" id="{2BCED088-24D0-4853-BA21-9ABD7839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01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2396BC5D-829E-461D-86EF-2753361B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0">
            <a:extLst xmlns:a="http://schemas.openxmlformats.org/drawingml/2006/main">
              <a:ext uri="{FF2B5EF4-FFF2-40B4-BE49-F238E27FC236}">
                <a16:creationId xmlns:a16="http://schemas.microsoft.com/office/drawing/2014/main" id="{4B624C60-FF4F-4CBB-B0AF-1402CBB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4FFDCF7A-E5F1-4AA2-B032-61B73D3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10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0527E23B-5474-440B-A64B-B864CDBF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62200"/>
            <a:ext cx="2857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2A6410C-DF2B-45C4-AE6E-6C931422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0CABBA0E-DDD2-4F5A-BFBB-5AE6E27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333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11E9D98-0F2C-41F3-8D4E-7651189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47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Reliable agent and trajectory evaluation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643C9DB4-8936-4DB3-9162-F25C3358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57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191FF30-78A0-43AC-8796-3868D625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14:30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C1E8BDE4-CD2D-439C-98DE-8C778668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952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99CA4AC0-D180-4D30-82EC-EF87C4A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Model Context Protocol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E3E5B61-0303-491D-9753-9457F20A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63410D5C-B394-4642-92FE-74934869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15:30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6F2E02B2-FF3E-41DC-A4AC-0F1E338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571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7657377C-2BE2-44A5-89E3-1DBC01C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86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Capstone integration challenge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D3E063F-452F-4DAD-8DC1-37FC5EE2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42279652-226C-4772-890B-1A2D9CD1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072D5DB-A4FC-4DD3-89B6-EE69407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91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AF648EDA-B7FF-458D-B338-74AEEB4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Demonstration and architecture review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632243A-4A7F-45B5-AF8A-016EFCD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5" name="day2-output">
            <a:extLst xmlns:a="http://schemas.openxmlformats.org/drawingml/2006/main">
              <a:ext uri="{FF2B5EF4-FFF2-40B4-BE49-F238E27FC236}">
                <a16:creationId xmlns:a16="http://schemas.microsoft.com/office/drawing/2014/main" id="{20D58877-D510-48F2-B4CF-347935B7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Final output</a:t>
            </a:r>
          </a:p>
        </p:txBody>
      </p:sp>
      <p:sp>
        <p:nvSpPr>
          <p:cNvPr id="26" name="day2-output-value">
            <a:extLst xmlns:a="http://schemas.openxmlformats.org/drawingml/2006/main">
              <a:ext uri="{FF2B5EF4-FFF2-40B4-BE49-F238E27FC236}">
                <a16:creationId xmlns:a16="http://schemas.microsoft.com/office/drawing/2014/main" id="{E6C6927E-E86B-41DE-B0C8-39560EE3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1970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1C2A"/>
                </a:solidFill>
              </a:defRPr>
            </a:pPr>
            <a:r>
              <a:rPr sz="1575" b="1">
                <a:solidFill>
                  <a:srgbClr val="051C2A"/>
                </a:solidFill>
              </a:rPr>
              <a:t>A working copilot with citations, tool traces, budgets and an MCP boundary.</a:t>
            </a:r>
          </a:p>
        </p:txBody>
      </p:sp>
    </p:spTree>
    <p:extLst>
      <p:ext uri="{BB962C8B-B14F-4D97-AF65-F5344CB8AC3E}">
        <p14:creationId xmlns:p14="http://schemas.microsoft.com/office/powerpoint/2010/main" val="846374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11">
            <a:extLst xmlns:a="http://schemas.openxmlformats.org/drawingml/2006/main">
              <a:ext uri="{FF2B5EF4-FFF2-40B4-BE49-F238E27FC236}">
                <a16:creationId xmlns:a16="http://schemas.microsoft.com/office/drawing/2014/main" id="{F29650C7-C703-4947-99FD-B6410A3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ONE INTERFACE, TWO PROVIDERS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9E5E21B-D500-4ED8-8E18-236B6280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The same notebooks run locally or through OpenAI</a:t>
            </a:r>
          </a:p>
        </p:txBody>
      </p:sp>
      <p:sp>
        <p:nvSpPr>
          <p:cNvPr id="3" name="progress-11">
            <a:extLst xmlns:a="http://schemas.openxmlformats.org/drawingml/2006/main">
              <a:ext uri="{FF2B5EF4-FFF2-40B4-BE49-F238E27FC236}">
                <a16:creationId xmlns:a16="http://schemas.microsoft.com/office/drawing/2014/main" id="{3565C6D5-3AE6-4FAA-8C64-3CFCE770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1">
            <a:extLst xmlns:a="http://schemas.openxmlformats.org/drawingml/2006/main">
              <a:ext uri="{FF2B5EF4-FFF2-40B4-BE49-F238E27FC236}">
                <a16:creationId xmlns:a16="http://schemas.microsoft.com/office/drawing/2014/main" id="{67B63A83-1085-4C0D-B802-9EB2AAB9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91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C4CF2EFE-1C9F-4E17-AB75-335E9222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1">
            <a:extLst xmlns:a="http://schemas.openxmlformats.org/drawingml/2006/main">
              <a:ext uri="{FF2B5EF4-FFF2-40B4-BE49-F238E27FC236}">
                <a16:creationId xmlns:a16="http://schemas.microsoft.com/office/drawing/2014/main" id="{C2C50C2A-171B-4D69-AA62-FAAF5B2D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PORTABILITY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DE532651-2B84-45A0-8DE9-D8C9E6EB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11</a:t>
            </a:r>
          </a:p>
        </p:txBody>
      </p:sp>
      <p:sp>
        <p:nvSpPr>
          <p:cNvPr id="8" name="ollama-panel">
            <a:extLst xmlns:a="http://schemas.openxmlformats.org/drawingml/2006/main">
              <a:ext uri="{FF2B5EF4-FFF2-40B4-BE49-F238E27FC236}">
                <a16:creationId xmlns:a16="http://schemas.microsoft.com/office/drawing/2014/main" id="{07AAC439-4E8F-44E5-BB43-0455EF83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ollama-label">
            <a:extLst xmlns:a="http://schemas.openxmlformats.org/drawingml/2006/main">
              <a:ext uri="{FF2B5EF4-FFF2-40B4-BE49-F238E27FC236}">
                <a16:creationId xmlns:a16="http://schemas.microsoft.com/office/drawing/2014/main" id="{31741BA3-660A-4FB0-8FBD-8C0A4BEE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OLLAMA</a:t>
            </a:r>
          </a:p>
        </p:txBody>
      </p:sp>
      <p:sp>
        <p:nvSpPr>
          <p:cNvPr id="10" name="ollama-model">
            <a:extLst xmlns:a="http://schemas.openxmlformats.org/drawingml/2006/main">
              <a:ext uri="{FF2B5EF4-FFF2-40B4-BE49-F238E27FC236}">
                <a16:creationId xmlns:a16="http://schemas.microsoft.com/office/drawing/2014/main" id="{485824A4-63D9-44A7-B8E2-DDD09D83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qwen3:8b</a:t>
            </a:r>
          </a:p>
        </p:txBody>
      </p:sp>
      <p:sp>
        <p:nvSpPr>
          <p:cNvPr id="11" name="ollama-copy">
            <a:extLst xmlns:a="http://schemas.openxmlformats.org/drawingml/2006/main">
              <a:ext uri="{FF2B5EF4-FFF2-40B4-BE49-F238E27FC236}">
                <a16:creationId xmlns:a16="http://schemas.microsoft.com/office/drawing/2014/main" id="{79CE6D5F-1062-40F6-AC20-7AC5AE0D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Local • private • no API spend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Hardware-dependent quality and latency</a:t>
            </a:r>
          </a:p>
        </p:txBody>
      </p:sp>
      <p:sp>
        <p:nvSpPr>
          <p:cNvPr id="12" name="openai-panel">
            <a:extLst xmlns:a="http://schemas.openxmlformats.org/drawingml/2006/main">
              <a:ext uri="{FF2B5EF4-FFF2-40B4-BE49-F238E27FC236}">
                <a16:creationId xmlns:a16="http://schemas.microsoft.com/office/drawing/2014/main" id="{67D368F6-084D-4375-BBAC-CDD8F1F6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openai-label">
            <a:extLst xmlns:a="http://schemas.openxmlformats.org/drawingml/2006/main">
              <a:ext uri="{FF2B5EF4-FFF2-40B4-BE49-F238E27FC236}">
                <a16:creationId xmlns:a16="http://schemas.microsoft.com/office/drawing/2014/main" id="{E5CD112D-9BA1-43D3-B8A4-DF8CA004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OPENAI</a:t>
            </a:r>
          </a:p>
        </p:txBody>
      </p:sp>
      <p:sp>
        <p:nvSpPr>
          <p:cNvPr id="14" name="openai-model">
            <a:extLst xmlns:a="http://schemas.openxmlformats.org/drawingml/2006/main">
              <a:ext uri="{FF2B5EF4-FFF2-40B4-BE49-F238E27FC236}">
                <a16:creationId xmlns:a16="http://schemas.microsoft.com/office/drawing/2014/main" id="{4884881A-BEB9-4137-AD80-F9236C22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51C2A"/>
                </a:solidFill>
              </a:defRPr>
            </a:pPr>
            <a:r>
              <a:rPr sz="2250" b="1">
                <a:solidFill>
                  <a:srgbClr val="051C2A"/>
                </a:solidFill>
              </a:rPr>
              <a:t>gpt-5-mini</a:t>
            </a:r>
          </a:p>
        </p:txBody>
      </p:sp>
      <p:sp>
        <p:nvSpPr>
          <p:cNvPr id="15" name="openai-copy">
            <a:extLst xmlns:a="http://schemas.openxmlformats.org/drawingml/2006/main">
              <a:ext uri="{FF2B5EF4-FFF2-40B4-BE49-F238E27FC236}">
                <a16:creationId xmlns:a16="http://schemas.microsoft.com/office/drawing/2014/main" id="{74427BB9-72B1-4830-B84E-49801F43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Hosted • strong structured outputs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Measured token cost and external data path</a:t>
            </a:r>
          </a:p>
        </p:txBody>
      </p:sp>
      <p:sp>
        <p:nvSpPr>
          <p:cNvPr id="16" name="same-code">
            <a:extLst xmlns:a="http://schemas.openxmlformats.org/drawingml/2006/main">
              <a:ext uri="{FF2B5EF4-FFF2-40B4-BE49-F238E27FC236}">
                <a16:creationId xmlns:a16="http://schemas.microsoft.com/office/drawing/2014/main" id="{313473B8-384A-49EE-9D79-10E3F845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3845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07D00"/>
                </a:solidFill>
              </a:defRPr>
            </a:pPr>
            <a:r>
              <a:rPr sz="1275" b="1">
                <a:solidFill>
                  <a:srgbClr val="F07D00"/>
                </a:solidFill>
              </a:rPr>
              <a:t>Settings  →  Model gateway  →  Notebook</a:t>
            </a:r>
          </a:p>
        </p:txBody>
      </p:sp>
      <p:sp>
        <p:nvSpPr>
          <p:cNvPr id="17" name="provider-command">
            <a:extLst xmlns:a="http://schemas.openxmlformats.org/drawingml/2006/main">
              <a:ext uri="{FF2B5EF4-FFF2-40B4-BE49-F238E27FC236}">
                <a16:creationId xmlns:a16="http://schemas.microsoft.com/office/drawing/2014/main" id="{7DC2EE3F-FF2E-4D9B-8F83-8ABE89EA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051C2A"/>
                </a:solidFill>
              </a:defRPr>
            </a:pPr>
            <a:r>
              <a:rPr sz="2025" b="0">
                <a:solidFill>
                  <a:srgbClr val="051C2A"/>
                </a:solidFill>
              </a:rPr>
              <a:t>Provider selection changes through configuration only.</a:t>
            </a:r>
          </a:p>
        </p:txBody>
      </p:sp>
    </p:spTree>
    <p:extLst>
      <p:ext uri="{BB962C8B-B14F-4D97-AF65-F5344CB8AC3E}">
        <p14:creationId xmlns:p14="http://schemas.microsoft.com/office/powerpoint/2010/main" val="19818979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12">
            <a:extLst xmlns:a="http://schemas.openxmlformats.org/drawingml/2006/main">
              <a:ext uri="{FF2B5EF4-FFF2-40B4-BE49-F238E27FC236}">
                <a16:creationId xmlns:a16="http://schemas.microsoft.com/office/drawing/2014/main" id="{28A461CE-0497-48C1-9780-04064A8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ENVIRONMENT READY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34974457-B792-4D9D-9294-0A71D7F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Four checks before opening Lesson 01</a:t>
            </a:r>
          </a:p>
        </p:txBody>
      </p:sp>
      <p:sp>
        <p:nvSpPr>
          <p:cNvPr id="3" name="progress-12">
            <a:extLst xmlns:a="http://schemas.openxmlformats.org/drawingml/2006/main">
              <a:ext uri="{FF2B5EF4-FFF2-40B4-BE49-F238E27FC236}">
                <a16:creationId xmlns:a16="http://schemas.microsoft.com/office/drawing/2014/main" id="{05FD0E1C-7850-47A1-B153-D86F1667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2">
            <a:extLst xmlns:a="http://schemas.openxmlformats.org/drawingml/2006/main">
              <a:ext uri="{FF2B5EF4-FFF2-40B4-BE49-F238E27FC236}">
                <a16:creationId xmlns:a16="http://schemas.microsoft.com/office/drawing/2014/main" id="{F2145F74-0FCC-40D9-9033-CACABF9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A0C6F80E-C7AD-453B-8D57-BF913E1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2">
            <a:extLst xmlns:a="http://schemas.openxmlformats.org/drawingml/2006/main">
              <a:ext uri="{FF2B5EF4-FFF2-40B4-BE49-F238E27FC236}">
                <a16:creationId xmlns:a16="http://schemas.microsoft.com/office/drawing/2014/main" id="{472FCEDA-FAB2-423B-BB7A-D8B8B5F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SETUP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95F5B293-0BAD-42B8-9526-F1F19495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12</a:t>
            </a:r>
          </a:p>
        </p:txBody>
      </p:sp>
      <p:sp>
        <p:nvSpPr>
          <p:cNvPr id="8" name="criterion-mark-0">
            <a:extLst xmlns:a="http://schemas.openxmlformats.org/drawingml/2006/main">
              <a:ext uri="{FF2B5EF4-FFF2-40B4-BE49-F238E27FC236}">
                <a16:creationId xmlns:a16="http://schemas.microsoft.com/office/drawing/2014/main" id="{A775919D-ACC1-488B-A8BA-B6664DA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riterion-label-0">
            <a:extLst xmlns:a="http://schemas.openxmlformats.org/drawingml/2006/main">
              <a:ext uri="{FF2B5EF4-FFF2-40B4-BE49-F238E27FC236}">
                <a16:creationId xmlns:a16="http://schemas.microsoft.com/office/drawing/2014/main" id="{6863043A-C667-4818-8D95-54CD5E47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ENV</a:t>
            </a:r>
          </a:p>
        </p:txBody>
      </p:sp>
      <p:sp>
        <p:nvSpPr>
          <p:cNvPr id="10" name="criterion-text-0">
            <a:extLst xmlns:a="http://schemas.openxmlformats.org/drawingml/2006/main">
              <a:ext uri="{FF2B5EF4-FFF2-40B4-BE49-F238E27FC236}">
                <a16:creationId xmlns:a16="http://schemas.microsoft.com/office/drawing/2014/main" id="{54F7D259-FE11-4F05-8659-F15408B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145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uv sync</a:t>
            </a:r>
          </a:p>
        </p:txBody>
      </p:sp>
      <p:sp>
        <p:nvSpPr>
          <p:cNvPr id="11" name="criterion-mark-1">
            <a:extLst xmlns:a="http://schemas.openxmlformats.org/drawingml/2006/main">
              <a:ext uri="{FF2B5EF4-FFF2-40B4-BE49-F238E27FC236}">
                <a16:creationId xmlns:a16="http://schemas.microsoft.com/office/drawing/2014/main" id="{8CC64062-4022-4EAC-BF91-AEA76FE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riterion-label-1">
            <a:extLst xmlns:a="http://schemas.openxmlformats.org/drawingml/2006/main">
              <a:ext uri="{FF2B5EF4-FFF2-40B4-BE49-F238E27FC236}">
                <a16:creationId xmlns:a16="http://schemas.microsoft.com/office/drawing/2014/main" id="{494F4DF2-9A93-4553-8FEE-B28E476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289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CHAT</a:t>
            </a:r>
          </a:p>
        </p:txBody>
      </p:sp>
      <p:sp>
        <p:nvSpPr>
          <p:cNvPr id="13" name="criterion-text-1">
            <a:extLst xmlns:a="http://schemas.openxmlformats.org/drawingml/2006/main">
              <a:ext uri="{FF2B5EF4-FFF2-40B4-BE49-F238E27FC236}">
                <a16:creationId xmlns:a16="http://schemas.microsoft.com/office/drawing/2014/main" id="{B5308B8D-B7F4-4CA8-9926-BF7363C8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pull qwen3:8b</a:t>
            </a:r>
          </a:p>
        </p:txBody>
      </p:sp>
      <p:sp>
        <p:nvSpPr>
          <p:cNvPr id="14" name="criterion-mark-2">
            <a:extLst xmlns:a="http://schemas.openxmlformats.org/drawingml/2006/main">
              <a:ext uri="{FF2B5EF4-FFF2-40B4-BE49-F238E27FC236}">
                <a16:creationId xmlns:a16="http://schemas.microsoft.com/office/drawing/2014/main" id="{32DC88C5-FD5B-476B-892E-060EA2D0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riterion-label-2">
            <a:extLst xmlns:a="http://schemas.openxmlformats.org/drawingml/2006/main">
              <a:ext uri="{FF2B5EF4-FFF2-40B4-BE49-F238E27FC236}">
                <a16:creationId xmlns:a16="http://schemas.microsoft.com/office/drawing/2014/main" id="{9626B817-8CD5-435F-9A03-A666F3E0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052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EMBED</a:t>
            </a:r>
          </a:p>
        </p:txBody>
      </p:sp>
      <p:sp>
        <p:nvSpPr>
          <p:cNvPr id="16" name="criterion-text-2">
            <a:extLst xmlns:a="http://schemas.openxmlformats.org/drawingml/2006/main">
              <a:ext uri="{FF2B5EF4-FFF2-40B4-BE49-F238E27FC236}">
                <a16:creationId xmlns:a16="http://schemas.microsoft.com/office/drawing/2014/main" id="{1414FAFF-9C94-438F-8958-E75F9245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671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pull qwen3-embedding:0.6b</a:t>
            </a:r>
          </a:p>
        </p:txBody>
      </p:sp>
      <p:sp>
        <p:nvSpPr>
          <p:cNvPr id="17" name="criterion-mark-3">
            <a:extLst xmlns:a="http://schemas.openxmlformats.org/drawingml/2006/main">
              <a:ext uri="{FF2B5EF4-FFF2-40B4-BE49-F238E27FC236}">
                <a16:creationId xmlns:a16="http://schemas.microsoft.com/office/drawing/2014/main" id="{923699C3-0230-48E6-816A-A16D72B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riterion-label-3">
            <a:extLst xmlns:a="http://schemas.openxmlformats.org/drawingml/2006/main">
              <a:ext uri="{FF2B5EF4-FFF2-40B4-BE49-F238E27FC236}">
                <a16:creationId xmlns:a16="http://schemas.microsoft.com/office/drawing/2014/main" id="{02D508D9-5349-4A67-8536-1785071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VERIFY</a:t>
            </a:r>
          </a:p>
        </p:txBody>
      </p:sp>
      <p:sp>
        <p:nvSpPr>
          <p:cNvPr id="19" name="criterion-text-3">
            <a:extLst xmlns:a="http://schemas.openxmlformats.org/drawingml/2006/main">
              <a:ext uri="{FF2B5EF4-FFF2-40B4-BE49-F238E27FC236}">
                <a16:creationId xmlns:a16="http://schemas.microsoft.com/office/drawing/2014/main" id="{EA89F2AD-3438-4D0F-A32B-CB15C2C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scripts/setup_check.py --provider ollama</a:t>
            </a:r>
          </a:p>
        </p:txBody>
      </p:sp>
      <p:sp>
        <p:nvSpPr>
          <p:cNvPr id="20" name="closing">
            <a:extLst xmlns:a="http://schemas.openxmlformats.org/drawingml/2006/main">
              <a:ext uri="{FF2B5EF4-FFF2-40B4-BE49-F238E27FC236}">
                <a16:creationId xmlns:a16="http://schemas.microsoft.com/office/drawing/2014/main" id="{74B9F64C-2620-4CD3-80E2-1CA9209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2175" b="1">
                <a:solidFill>
                  <a:srgbClr val="051C2A"/>
                </a:solidFill>
              </a:defRPr>
            </a:pPr>
            <a:r>
              <a:rPr sz="2175" b="1">
                <a:solidFill>
                  <a:srgbClr val="051C2A"/>
                </a:solidFill>
              </a:rPr>
              <a:t>START  01_model_gateway.ipynb</a:t>
            </a:r>
          </a:p>
        </p:txBody>
      </p:sp>
    </p:spTree>
    <p:extLst>
      <p:ext uri="{BB962C8B-B14F-4D97-AF65-F5344CB8AC3E}">
        <p14:creationId xmlns:p14="http://schemas.microsoft.com/office/powerpoint/2010/main" val="58571463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12">
            <a:extLst xmlns:a="http://schemas.openxmlformats.org/drawingml/2006/main">
              <a:ext uri="{FF2B5EF4-FFF2-40B4-BE49-F238E27FC236}">
                <a16:creationId xmlns:a16="http://schemas.microsoft.com/office/drawing/2014/main" id="{28A461CE-0497-48C1-9780-04064A8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CLASS ACCEPTANCE CONTRACT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34974457-B792-4D9D-9294-0A71D7F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Expected deliverables and validation criteria</a:t>
            </a:r>
          </a:p>
        </p:txBody>
      </p:sp>
      <p:sp>
        <p:nvSpPr>
          <p:cNvPr id="3" name="progress-12">
            <a:extLst xmlns:a="http://schemas.openxmlformats.org/drawingml/2006/main">
              <a:ext uri="{FF2B5EF4-FFF2-40B4-BE49-F238E27FC236}">
                <a16:creationId xmlns:a16="http://schemas.microsoft.com/office/drawing/2014/main" id="{05FD0E1C-7850-47A1-B153-D86F1667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2">
            <a:extLst xmlns:a="http://schemas.openxmlformats.org/drawingml/2006/main">
              <a:ext uri="{FF2B5EF4-FFF2-40B4-BE49-F238E27FC236}">
                <a16:creationId xmlns:a16="http://schemas.microsoft.com/office/drawing/2014/main" id="{F2145F74-0FCC-40D9-9033-CACABF9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A0C6F80E-C7AD-453B-8D57-BF913E1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2">
            <a:extLst xmlns:a="http://schemas.openxmlformats.org/drawingml/2006/main">
              <a:ext uri="{FF2B5EF4-FFF2-40B4-BE49-F238E27FC236}">
                <a16:creationId xmlns:a16="http://schemas.microsoft.com/office/drawing/2014/main" id="{472FCEDA-FAB2-423B-BB7A-D8B8B5F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VALIDATION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95F5B293-0BAD-42B8-9526-F1F19495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13</a:t>
            </a:r>
          </a:p>
        </p:txBody>
      </p:sp>
      <p:sp>
        <p:nvSpPr>
          <p:cNvPr id="8" name="criterion-mark-0">
            <a:extLst xmlns:a="http://schemas.openxmlformats.org/drawingml/2006/main">
              <a:ext uri="{FF2B5EF4-FFF2-40B4-BE49-F238E27FC236}">
                <a16:creationId xmlns:a16="http://schemas.microsoft.com/office/drawing/2014/main" id="{A775919D-ACC1-488B-A8BA-B6664DA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riterion-label-0">
            <a:extLst xmlns:a="http://schemas.openxmlformats.org/drawingml/2006/main">
              <a:ext uri="{FF2B5EF4-FFF2-40B4-BE49-F238E27FC236}">
                <a16:creationId xmlns:a16="http://schemas.microsoft.com/office/drawing/2014/main" id="{6863043A-C667-4818-8D95-54CD5E47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WORKING</a:t>
            </a:r>
          </a:p>
        </p:txBody>
      </p:sp>
      <p:sp>
        <p:nvSpPr>
          <p:cNvPr id="10" name="criterion-text-0">
            <a:extLst xmlns:a="http://schemas.openxmlformats.org/drawingml/2006/main">
              <a:ext uri="{FF2B5EF4-FFF2-40B4-BE49-F238E27FC236}">
                <a16:creationId xmlns:a16="http://schemas.microsoft.com/office/drawing/2014/main" id="{54F7D259-FE11-4F05-8659-F15408B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145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Twelve notebooks and the capstone run end to end.</a:t>
            </a:r>
          </a:p>
        </p:txBody>
      </p:sp>
      <p:sp>
        <p:nvSpPr>
          <p:cNvPr id="11" name="criterion-mark-1">
            <a:extLst xmlns:a="http://schemas.openxmlformats.org/drawingml/2006/main">
              <a:ext uri="{FF2B5EF4-FFF2-40B4-BE49-F238E27FC236}">
                <a16:creationId xmlns:a16="http://schemas.microsoft.com/office/drawing/2014/main" id="{8CC64062-4022-4EAC-BF91-AEA76FE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riterion-label-1">
            <a:extLst xmlns:a="http://schemas.openxmlformats.org/drawingml/2006/main">
              <a:ext uri="{FF2B5EF4-FFF2-40B4-BE49-F238E27FC236}">
                <a16:creationId xmlns:a16="http://schemas.microsoft.com/office/drawing/2014/main" id="{494F4DF2-9A93-4553-8FEE-B28E476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289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INSPECTABLE</a:t>
            </a:r>
          </a:p>
        </p:txBody>
      </p:sp>
      <p:sp>
        <p:nvSpPr>
          <p:cNvPr id="13" name="criterion-text-1">
            <a:extLst xmlns:a="http://schemas.openxmlformats.org/drawingml/2006/main">
              <a:ext uri="{FF2B5EF4-FFF2-40B4-BE49-F238E27FC236}">
                <a16:creationId xmlns:a16="http://schemas.microsoft.com/office/drawing/2014/main" id="{B5308B8D-B7F4-4CA8-9926-BF7363C8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Sources, calculations, tool calls and trajectories remain visible.</a:t>
            </a:r>
          </a:p>
        </p:txBody>
      </p:sp>
      <p:sp>
        <p:nvSpPr>
          <p:cNvPr id="14" name="criterion-mark-2">
            <a:extLst xmlns:a="http://schemas.openxmlformats.org/drawingml/2006/main">
              <a:ext uri="{FF2B5EF4-FFF2-40B4-BE49-F238E27FC236}">
                <a16:creationId xmlns:a16="http://schemas.microsoft.com/office/drawing/2014/main" id="{32DC88C5-FD5B-476B-892E-060EA2D0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riterion-label-2">
            <a:extLst xmlns:a="http://schemas.openxmlformats.org/drawingml/2006/main">
              <a:ext uri="{FF2B5EF4-FFF2-40B4-BE49-F238E27FC236}">
                <a16:creationId xmlns:a16="http://schemas.microsoft.com/office/drawing/2014/main" id="{9626B817-8CD5-435F-9A03-A666F3E0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052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DEFENSIBLE</a:t>
            </a:r>
          </a:p>
        </p:txBody>
      </p:sp>
      <p:sp>
        <p:nvSpPr>
          <p:cNvPr id="16" name="criterion-text-2">
            <a:extLst xmlns:a="http://schemas.openxmlformats.org/drawingml/2006/main">
              <a:ext uri="{FF2B5EF4-FFF2-40B4-BE49-F238E27FC236}">
                <a16:creationId xmlns:a16="http://schemas.microsoft.com/office/drawing/2014/main" id="{1414FAFF-9C94-438F-8958-E75F9245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671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Evaluation cases expose retrieval, citation and agent failures.</a:t>
            </a:r>
          </a:p>
        </p:txBody>
      </p:sp>
      <p:sp>
        <p:nvSpPr>
          <p:cNvPr id="17" name="criterion-mark-3">
            <a:extLst xmlns:a="http://schemas.openxmlformats.org/drawingml/2006/main">
              <a:ext uri="{FF2B5EF4-FFF2-40B4-BE49-F238E27FC236}">
                <a16:creationId xmlns:a16="http://schemas.microsoft.com/office/drawing/2014/main" id="{923699C3-0230-48E6-816A-A16D72B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riterion-label-3">
            <a:extLst xmlns:a="http://schemas.openxmlformats.org/drawingml/2006/main">
              <a:ext uri="{FF2B5EF4-FFF2-40B4-BE49-F238E27FC236}">
                <a16:creationId xmlns:a16="http://schemas.microsoft.com/office/drawing/2014/main" id="{02D508D9-5349-4A67-8536-1785071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PORTABLE</a:t>
            </a:r>
          </a:p>
        </p:txBody>
      </p:sp>
      <p:sp>
        <p:nvSpPr>
          <p:cNvPr id="19" name="criterion-text-3">
            <a:extLst xmlns:a="http://schemas.openxmlformats.org/drawingml/2006/main">
              <a:ext uri="{FF2B5EF4-FFF2-40B4-BE49-F238E27FC236}">
                <a16:creationId xmlns:a16="http://schemas.microsoft.com/office/drawing/2014/main" id="{EA89F2AD-3438-4D0F-A32B-CB15C2C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and OpenAI use the same lesson code.</a:t>
            </a:r>
          </a:p>
        </p:txBody>
      </p:sp>
      <p:sp>
        <p:nvSpPr>
          <p:cNvPr id="20" name="closing">
            <a:extLst xmlns:a="http://schemas.openxmlformats.org/drawingml/2006/main">
              <a:ext uri="{FF2B5EF4-FFF2-40B4-BE49-F238E27FC236}">
                <a16:creationId xmlns:a16="http://schemas.microsoft.com/office/drawing/2014/main" id="{74B9F64C-2620-4CD3-80E2-1CA9209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2175" b="1">
                <a:solidFill>
                  <a:srgbClr val="051C2A"/>
                </a:solidFill>
              </a:defRPr>
            </a:pPr>
            <a:r>
              <a:rPr sz="2175" b="1">
                <a:solidFill>
                  <a:srgbClr val="051C2A"/>
                </a:solidFill>
              </a:rPr>
              <a:t>Next: Model Gateway</a:t>
            </a:r>
          </a:p>
        </p:txBody>
      </p:sp>
    </p:spTree>
    <p:extLst>
      <p:ext uri="{BB962C8B-B14F-4D97-AF65-F5344CB8AC3E}">
        <p14:creationId xmlns:p14="http://schemas.microsoft.com/office/powerpoint/2010/main" val="58571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2026-08-21T06:19:11.3360000Z</dcterms:created>
  <dcterms:modified xsi:type="dcterms:W3CDTF">2026-08-21T06:19:11.3360000Z</dcterms:modified>
</coreProperties>
</file>